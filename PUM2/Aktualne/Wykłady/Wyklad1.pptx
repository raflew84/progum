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96" r:id="rId1"/>
  </p:sldMasterIdLst>
  <p:notesMasterIdLst>
    <p:notesMasterId r:id="rId29"/>
  </p:notesMasterIdLst>
  <p:handoutMasterIdLst>
    <p:handoutMasterId r:id="rId30"/>
  </p:handoutMasterIdLst>
  <p:sldIdLst>
    <p:sldId id="346" r:id="rId2"/>
    <p:sldId id="503" r:id="rId3"/>
    <p:sldId id="539" r:id="rId4"/>
    <p:sldId id="540" r:id="rId5"/>
    <p:sldId id="541" r:id="rId6"/>
    <p:sldId id="542" r:id="rId7"/>
    <p:sldId id="543" r:id="rId8"/>
    <p:sldId id="506" r:id="rId9"/>
    <p:sldId id="544" r:id="rId10"/>
    <p:sldId id="508" r:id="rId11"/>
    <p:sldId id="545" r:id="rId12"/>
    <p:sldId id="546" r:id="rId13"/>
    <p:sldId id="547" r:id="rId14"/>
    <p:sldId id="548" r:id="rId15"/>
    <p:sldId id="549" r:id="rId16"/>
    <p:sldId id="550" r:id="rId17"/>
    <p:sldId id="551" r:id="rId18"/>
    <p:sldId id="552" r:id="rId19"/>
    <p:sldId id="553" r:id="rId20"/>
    <p:sldId id="554" r:id="rId21"/>
    <p:sldId id="555" r:id="rId22"/>
    <p:sldId id="556" r:id="rId23"/>
    <p:sldId id="557" r:id="rId24"/>
    <p:sldId id="558" r:id="rId25"/>
    <p:sldId id="559" r:id="rId26"/>
    <p:sldId id="560" r:id="rId27"/>
    <p:sldId id="561" r:id="rId28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1pPr>
    <a:lvl2pPr marL="4572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2pPr>
    <a:lvl3pPr marL="9144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3pPr>
    <a:lvl4pPr marL="13716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4pPr>
    <a:lvl5pPr marL="1828800" algn="l" rtl="0" fontAlgn="base">
      <a:spcBef>
        <a:spcPct val="0"/>
      </a:spcBef>
      <a:spcAft>
        <a:spcPct val="0"/>
      </a:spcAft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5pPr>
    <a:lvl6pPr marL="22860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6pPr>
    <a:lvl7pPr marL="27432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7pPr>
    <a:lvl8pPr marL="32004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8pPr>
    <a:lvl9pPr marL="3657600" algn="l" defTabSz="914400" rtl="0" eaLnBrk="1" latinLnBrk="0" hangingPunct="1">
      <a:defRPr sz="1200" kern="1200">
        <a:solidFill>
          <a:srgbClr val="000000"/>
        </a:solidFill>
        <a:latin typeface="Arial" charset="0"/>
        <a:ea typeface="ヒラギノ角ゴ ProN W3" charset="0"/>
        <a:cs typeface="ヒラギノ角ゴ ProN W3" charset="0"/>
        <a:sym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i Lew" initials="RL" lastIdx="1" clrIdx="0">
    <p:extLst>
      <p:ext uri="{19B8F6BF-5375-455C-9EA6-DF929625EA0E}">
        <p15:presenceInfo xmlns:p15="http://schemas.microsoft.com/office/powerpoint/2012/main" userId="218299075d94207c" providerId="Windows Live"/>
      </p:ext>
    </p:extLst>
  </p:cmAuthor>
  <p:cmAuthor id="2" name="Rafał Lewandków" initials="RL" lastIdx="4" clrIdx="1">
    <p:extLst>
      <p:ext uri="{19B8F6BF-5375-455C-9EA6-DF929625EA0E}">
        <p15:presenceInfo xmlns:p15="http://schemas.microsoft.com/office/powerpoint/2012/main" userId="Rafał Lewandków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00FFFF"/>
    <a:srgbClr val="FF00FF"/>
    <a:srgbClr val="006600"/>
    <a:srgbClr val="BCE29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892" autoAdjust="0"/>
  </p:normalViewPr>
  <p:slideViewPr>
    <p:cSldViewPr>
      <p:cViewPr varScale="1">
        <p:scale>
          <a:sx n="96" d="100"/>
          <a:sy n="96" d="100"/>
        </p:scale>
        <p:origin x="1098" y="5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1" d="100"/>
          <a:sy n="61" d="100"/>
        </p:scale>
        <p:origin x="859" y="3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3504E-0C99-2340-A5F6-DD6E1A87C372}" type="datetimeFigureOut">
              <a:rPr lang="pl-PL" smtClean="0"/>
              <a:t>7.10.2026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6285F6-EDF4-6942-8E96-D0A50380D90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7508038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C933E-44E9-2D43-91B0-0D2BEEFA7EB9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E77F9-1A7F-B148-A0AA-5828300D10B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393826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8192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73981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7376D-C253-CC47-A3B0-581016F4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7217-160D-930B-142C-E83618B51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676CC-3AFE-D0E8-7EB5-3739CC2D6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28C3F-0027-D6A3-9EF1-68BAB3907F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3627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AA44D-3F48-3850-7439-E534E686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DC2DD-5367-7667-F438-208EFD2F4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84D0A-147D-D085-DB34-0B9A388FD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7DF1E-BA89-6206-C9BB-41C692D5C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8755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780B8-5E71-2F64-4AEB-05E986A2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A9C64-C3E7-F551-D509-18A3AE4B4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ACE6D-EB56-AFD3-34AC-81C816195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DE9A9-71A9-D088-6ABC-3FAD1E9E0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56870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00453-79D5-F170-C7C1-9AB4D1BE3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DCDAA8-0942-0EBE-36AC-F1DFE6A70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CA532-F443-6FE1-DF6A-FA4049072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11A03-D4CD-5FB7-CF58-60044CF945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0607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3F49-2A40-3954-023E-781B38EC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5734F-306E-4923-499D-65D428BC2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B8561A-AD7C-D061-3225-C40FB0802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96F95-4294-40D8-A53B-536217413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18666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75853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45139-1751-52AF-C50C-E2523F518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D4BA4-4321-BF41-A406-93BBF8BAB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1C51A-9BBC-D00A-E338-21AF6E31E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A87FD-445E-5BB6-3FE2-C195976BBE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34046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68032-C042-4B91-2BF0-9B26B9662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BF75-C736-475E-E2D9-D1BB6B438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AFBD3-6979-69F4-AD91-5F6D196F13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82D2-0EB8-5987-5607-D8C3E5DE9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2037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FBE68-44F2-C946-B48E-58191EDC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59D5E-B205-0709-1FA3-97A1F5B83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00F929-12EA-9BA5-FA2F-1F0E93823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64FD-4CFA-7A59-EB5D-934B689A5F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348878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36AE-3621-CA2B-66FD-03AE5E1B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D1E407-6DE5-2675-5292-8ECDF70AB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7D07E-18BF-4706-3097-58E5D5F1E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51E7C-0742-0F8E-34E4-12C167C09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357334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8FF49-0DE7-557D-E19C-12CBC8794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88D272-BFEE-19A5-3A87-3A1B9C8A0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5372A-245C-DCC7-313B-1021C021D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FC627-FB4F-DFA6-D1D4-54F664B4B5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96020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5A979-20EE-5F91-C53E-4FE8C0FEA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97F21-FFA8-AB88-2EC9-EC47ABD724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54D50B-2A67-407D-80DC-CA7CABD52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24ACF-ECC3-DE3C-809A-0C42E76C88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50121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BA75-B405-7ADD-9163-F0CE0003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B0EEF-5631-73DB-7512-D4186909F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316A-21EB-CA1B-7454-D7C945FE0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53C94-4FB1-DAE2-B7B0-56E7535D3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0269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34AD9-89F7-B33D-229C-74CB936B3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A6D06-FDC1-76BB-0791-A97D5E615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0F6AA-FD38-3480-DE22-0C93435F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86BC6-CD95-1905-3E2F-DE22C3DAE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18513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5885-CA0B-4E49-C91F-3492A6D8A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A367F-B8CA-2D90-606A-88DF544FB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7EAE9-E81B-B4D1-5D94-9349AB70C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72DED-F028-6741-8016-4189E7AB81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125451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9BD-DF48-F6A7-510F-FC062E6CA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86AD2-284C-E67B-CC5D-92CE6165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970BD-9113-EC74-1338-7913CE4D1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816F5-F14F-DF61-F488-EB57EC3897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74446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A633B-E76E-A2AD-5EB1-6D3A2F86F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BA2B0-93C5-6098-488A-90A0D7E4B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E4C7FC-5606-FECA-AE3A-7E10489C2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BBFDE-17F0-5421-D8DA-2E5284CBB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19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485638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96542-AB7D-C073-16BD-6B5386FCD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53155-FDF3-8DAE-E13F-0F08E03DC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8BAE01-E005-7776-8529-0F917B2F0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0F2A2-09D6-C242-EFBD-6CA68AEA0B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184741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16E0B-2874-3523-EE47-97D960322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D04C0-4578-D230-997B-1554747FB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95EDA-C3AC-83E7-453E-B4C06B7D1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E5983-5AF2-280E-FAA2-85708B7B97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812085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F28B-FF1A-7413-AC3A-7523E3C7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D2882-09D5-E670-E407-A6CB3669E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42646-C1AD-CB33-668C-225881377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8D8ED-FE29-3B63-07D9-ADEB4579E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811312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5908-2A1B-C00C-A5F0-5C1EF8876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BABF4-14E1-C00E-743C-677549BD8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3D984D-7FFD-C9B1-81A7-872C61F7D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40ED-8EF1-FED5-7C30-393ADAE839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63045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71E24-6E91-C248-2FA0-8EFAFCC3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A24D21-BE0D-CAF5-615B-8F9CDB299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33AD6-7257-4E9A-A416-20A5A666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A0A48F-63B8-286D-B005-1747ECA57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024686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958B-90F6-BA38-03B6-7DBE5171A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50853-252D-9D7E-04DA-5F0570A1A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EEA368-C1A2-EFF4-70B9-F8672B55B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7155D-4E0C-B937-8FF9-FD4659B054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8408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91CFA-43E2-3933-5987-5E92E27B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0A4FF-295D-212C-D7C6-621B734AD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4341A-0C7B-1E02-C860-161CE337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90C50-E714-D74F-A7E8-779DBDFBF9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43734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6736-BF32-B7E1-DF70-0885407B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883D5-C6B1-984A-9C38-3B7846962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F62B5-7939-8E01-6CFF-8AA3EEA75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pl-PL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BD1E3-5E56-E7B3-821D-C37699145C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CE77F9-1A7F-B148-A0AA-5828300D10BC}" type="slidenum">
              <a:rPr lang="pl-PL" smtClean="0"/>
              <a:t>27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9554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3FEF5-976C-4EA3-84A7-FBC3543521F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9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B2623-FECC-458E-8887-8971830FA08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404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EC418-961B-4A97-8A49-C7EB1AA505E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81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BCE437-C745-4797-8E12-AE887F9C67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69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ED58DE-157A-47FB-B6FE-2BF3DBE0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114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702-A4CE-4E37-AD1A-55778605B19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13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2454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F751C0-3663-4EFE-8A6A-10BE31BDC9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85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Przeciągnij obraz na symbol zastępczy lub kliknij ikonę, aby go dodać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FEB7E-1F88-4AE7-AA89-93BE3C1A9C1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195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C5AF-A148-4762-92DF-376362746B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36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pionowego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DDEFBB-CA7F-4380-AF49-7EC026DA26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69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edyt. styl wz. tyt.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17B01-0C30-B241-B19F-621BE4770608}" type="datetimeFigureOut">
              <a:rPr lang="pl-PL" smtClean="0"/>
              <a:t>6.10.2026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1E45C1-B7A3-4D83-AEC0-13697CCD1D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097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96" y="260648"/>
            <a:ext cx="4752274" cy="3988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79512" y="1628800"/>
            <a:ext cx="84249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3200" b="1" dirty="0">
                <a:solidFill>
                  <a:schemeClr val="bg1"/>
                </a:solidFill>
              </a:rPr>
              <a:t>PROGRAMOWANIE URZĄDZEŃ</a:t>
            </a:r>
          </a:p>
          <a:p>
            <a:pPr algn="ctr"/>
            <a:r>
              <a:rPr lang="pl-PL" sz="3200" b="1" dirty="0">
                <a:solidFill>
                  <a:schemeClr val="bg1"/>
                </a:solidFill>
              </a:rPr>
              <a:t>MOBILNYCH 2</a:t>
            </a:r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B3CC2FAF-D489-4F42-90E1-D634E6FA5CAF}"/>
              </a:ext>
            </a:extLst>
          </p:cNvPr>
          <p:cNvSpPr txBox="1"/>
          <p:nvPr/>
        </p:nvSpPr>
        <p:spPr>
          <a:xfrm>
            <a:off x="179512" y="3861048"/>
            <a:ext cx="84249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400" dirty="0">
                <a:solidFill>
                  <a:schemeClr val="bg1"/>
                </a:solidFill>
              </a:rPr>
              <a:t>WYKŁAD 1</a:t>
            </a: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A5201681-6767-4194-BF52-C2BE7C096DA3}"/>
              </a:ext>
            </a:extLst>
          </p:cNvPr>
          <p:cNvSpPr txBox="1"/>
          <p:nvPr/>
        </p:nvSpPr>
        <p:spPr>
          <a:xfrm>
            <a:off x="3116266" y="4767535"/>
            <a:ext cx="5472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Organizacja kursu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Nawigacja w </a:t>
            </a:r>
            <a:r>
              <a:rPr lang="pl-PL" sz="1800" dirty="0" err="1">
                <a:solidFill>
                  <a:schemeClr val="bg1"/>
                </a:solidFill>
              </a:rPr>
              <a:t>Jetpack</a:t>
            </a:r>
            <a:r>
              <a:rPr lang="pl-PL" sz="1800" dirty="0">
                <a:solidFill>
                  <a:schemeClr val="bg1"/>
                </a:solidFill>
              </a:rPr>
              <a:t> </a:t>
            </a:r>
            <a:r>
              <a:rPr lang="pl-PL" sz="1800" dirty="0" err="1">
                <a:solidFill>
                  <a:schemeClr val="bg1"/>
                </a:solidFill>
              </a:rPr>
              <a:t>Compose</a:t>
            </a:r>
            <a:endParaRPr lang="pl-PL" sz="1800" dirty="0">
              <a:solidFill>
                <a:schemeClr val="bg1"/>
              </a:solidFill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pl-PL" sz="1800" dirty="0">
                <a:solidFill>
                  <a:schemeClr val="bg1"/>
                </a:solidFill>
              </a:rPr>
              <a:t>Typowane trasy, menu i grafy</a:t>
            </a:r>
          </a:p>
        </p:txBody>
      </p:sp>
    </p:spTree>
    <p:extLst>
      <p:ext uri="{BB962C8B-B14F-4D97-AF65-F5344CB8AC3E}">
        <p14:creationId xmlns:p14="http://schemas.microsoft.com/office/powerpoint/2010/main" val="3098348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PODSTAWOWE INFORMACJE</a:t>
            </a:r>
          </a:p>
        </p:txBody>
      </p:sp>
      <p:sp>
        <p:nvSpPr>
          <p:cNvPr id="4" name="Rafał Lewandków">
            <a:extLst>
              <a:ext uri="{FF2B5EF4-FFF2-40B4-BE49-F238E27FC236}">
                <a16:creationId xmlns:a16="http://schemas.microsoft.com/office/drawing/2014/main" id="{A4334D46-2A30-0E04-17FD-F0ABE4960882}"/>
              </a:ext>
            </a:extLst>
          </p:cNvPr>
          <p:cNvSpPr>
            <a:spLocks noGrp="1"/>
          </p:cNvSpPr>
          <p:nvPr/>
        </p:nvSpPr>
        <p:spPr>
          <a:xfrm>
            <a:off x="1333500" y="1238250"/>
            <a:ext cx="7381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50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550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Rafał Lewandków</a:t>
            </a:r>
          </a:p>
        </p:txBody>
      </p:sp>
      <p:sp>
        <p:nvSpPr>
          <p:cNvPr id="6" name="pokój 075&#10;rafal.lewandkow2@uwr.edu.pl">
            <a:extLst>
              <a:ext uri="{FF2B5EF4-FFF2-40B4-BE49-F238E27FC236}">
                <a16:creationId xmlns:a16="http://schemas.microsoft.com/office/drawing/2014/main" id="{02CB2400-E4AC-5A4D-C5A5-D3BEDFF6DA88}"/>
              </a:ext>
            </a:extLst>
          </p:cNvPr>
          <p:cNvSpPr>
            <a:spLocks noGrp="1"/>
          </p:cNvSpPr>
          <p:nvPr/>
        </p:nvSpPr>
        <p:spPr>
          <a:xfrm>
            <a:off x="1333500" y="1762125"/>
            <a:ext cx="73818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pokój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075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rafal.lewandkow2@uwr.edu.pl</a:t>
            </a:r>
          </a:p>
        </p:txBody>
      </p:sp>
      <p:sp>
        <p:nvSpPr>
          <p:cNvPr id="9" name="Wykład: 15 godz.   Laboratorium: 30 godz.">
            <a:extLst>
              <a:ext uri="{FF2B5EF4-FFF2-40B4-BE49-F238E27FC236}">
                <a16:creationId xmlns:a16="http://schemas.microsoft.com/office/drawing/2014/main" id="{6B26E33E-1705-2D83-7CFE-CFDB77591DE8}"/>
              </a:ext>
            </a:extLst>
          </p:cNvPr>
          <p:cNvSpPr>
            <a:spLocks noGrp="1"/>
          </p:cNvSpPr>
          <p:nvPr/>
        </p:nvSpPr>
        <p:spPr>
          <a:xfrm>
            <a:off x="1333500" y="2857500"/>
            <a:ext cx="73818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Wykład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15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  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30 </a:t>
            </a:r>
            <a:r>
              <a:rPr sz="21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godz</a:t>
            </a:r>
            <a:r>
              <a:rPr sz="21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Materiały: rlewandkow.com">
            <a:extLst>
              <a:ext uri="{FF2B5EF4-FFF2-40B4-BE49-F238E27FC236}">
                <a16:creationId xmlns:a16="http://schemas.microsoft.com/office/drawing/2014/main" id="{1FB2DDBE-5EC8-FEAE-524A-D0AA35F28369}"/>
              </a:ext>
            </a:extLst>
          </p:cNvPr>
          <p:cNvSpPr>
            <a:spLocks noGrp="1"/>
          </p:cNvSpPr>
          <p:nvPr/>
        </p:nvSpPr>
        <p:spPr>
          <a:xfrm>
            <a:off x="1333500" y="3600450"/>
            <a:ext cx="73818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Materiały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pl-PL"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https://github.com/RafLew84/ProgUM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Literatura obowiązkowa i zalecana">
            <a:extLst>
              <a:ext uri="{FF2B5EF4-FFF2-40B4-BE49-F238E27FC236}">
                <a16:creationId xmlns:a16="http://schemas.microsoft.com/office/drawing/2014/main" id="{43A0870E-4E1D-0570-0C88-B07F4CC86666}"/>
              </a:ext>
            </a:extLst>
          </p:cNvPr>
          <p:cNvSpPr>
            <a:spLocks noGrp="1"/>
          </p:cNvSpPr>
          <p:nvPr/>
        </p:nvSpPr>
        <p:spPr>
          <a:xfrm>
            <a:off x="1333500" y="4524375"/>
            <a:ext cx="7381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Literatura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obowiązkowa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zalecana</a:t>
            </a:r>
            <a:endParaRPr sz="2025" b="1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Dokumentacja: kotlinlang.org/docs/home.html&#10;Kurs">
            <a:extLst>
              <a:ext uri="{FF2B5EF4-FFF2-40B4-BE49-F238E27FC236}">
                <a16:creationId xmlns:a16="http://schemas.microsoft.com/office/drawing/2014/main" id="{41AC9676-E130-82A4-E760-C133769424F7}"/>
              </a:ext>
            </a:extLst>
          </p:cNvPr>
          <p:cNvSpPr>
            <a:spLocks noGrp="1"/>
          </p:cNvSpPr>
          <p:nvPr/>
        </p:nvSpPr>
        <p:spPr>
          <a:xfrm>
            <a:off x="1333500" y="49530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Dokumentacja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kotlinlang.org/docs/home.html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Kursy</a:t>
            </a:r>
            <a:r>
              <a:rPr sz="1875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developer.android.com/courses</a:t>
            </a:r>
          </a:p>
        </p:txBody>
      </p:sp>
    </p:spTree>
    <p:extLst>
      <p:ext uri="{BB962C8B-B14F-4D97-AF65-F5344CB8AC3E}">
        <p14:creationId xmlns:p14="http://schemas.microsoft.com/office/powerpoint/2010/main" val="417582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3B1438-F7C5-64CD-3DBB-1D800613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69AED-5CBF-9883-492F-46B2813C74E1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Organizacja Zaliczenia</a:t>
            </a:r>
          </a:p>
        </p:txBody>
      </p:sp>
      <p:sp>
        <p:nvSpPr>
          <p:cNvPr id="5" name="6 list zadań">
            <a:extLst>
              <a:ext uri="{FF2B5EF4-FFF2-40B4-BE49-F238E27FC236}">
                <a16:creationId xmlns:a16="http://schemas.microsoft.com/office/drawing/2014/main" id="{5C1C4080-1DAA-D295-AB62-CC923036187D}"/>
              </a:ext>
            </a:extLst>
          </p:cNvPr>
          <p:cNvSpPr>
            <a:spLocks noGrp="1"/>
          </p:cNvSpPr>
          <p:nvPr/>
        </p:nvSpPr>
        <p:spPr>
          <a:xfrm>
            <a:off x="1475656" y="947738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 list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zadań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Każda lista zawiera zadania i pulę pytań.&#10;Z każd">
            <a:extLst>
              <a:ext uri="{FF2B5EF4-FFF2-40B4-BE49-F238E27FC236}">
                <a16:creationId xmlns:a16="http://schemas.microsoft.com/office/drawing/2014/main" id="{BA40DADC-57F2-73AF-299F-1D535B458532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zawiera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pulę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student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osobną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Jedna lista może pozostać niezaliczona">
            <a:extLst>
              <a:ext uri="{FF2B5EF4-FFF2-40B4-BE49-F238E27FC236}">
                <a16:creationId xmlns:a16="http://schemas.microsoft.com/office/drawing/2014/main" id="{36967C65-55CC-C056-9BA0-1CB953E85A2A}"/>
              </a:ext>
            </a:extLst>
          </p:cNvPr>
          <p:cNvSpPr>
            <a:spLocks noGrp="1"/>
          </p:cNvSpPr>
          <p:nvPr/>
        </p:nvSpPr>
        <p:spPr>
          <a:xfrm>
            <a:off x="1333500" y="26860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Jedna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niezaliczona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Za nieoddaną lub niezaliczoną listę wpisuje się ">
            <a:extLst>
              <a:ext uri="{FF2B5EF4-FFF2-40B4-BE49-F238E27FC236}">
                <a16:creationId xmlns:a16="http://schemas.microsoft.com/office/drawing/2014/main" id="{E3A984F9-A8A5-5374-43A5-6E6171792A5D}"/>
              </a:ext>
            </a:extLst>
          </p:cNvPr>
          <p:cNvSpPr>
            <a:spLocks noGrp="1"/>
          </p:cNvSpPr>
          <p:nvPr/>
        </p:nvSpPr>
        <p:spPr>
          <a:xfrm>
            <a:off x="1333500" y="30194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nieoddaną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lub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niezaliczoną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wpisuje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2,0.</a:t>
            </a:r>
          </a:p>
        </p:txBody>
      </p:sp>
      <p:sp>
        <p:nvSpPr>
          <p:cNvPr id="18" name="Średnia ze wszystkich sześciu ocen">
            <a:extLst>
              <a:ext uri="{FF2B5EF4-FFF2-40B4-BE49-F238E27FC236}">
                <a16:creationId xmlns:a16="http://schemas.microsoft.com/office/drawing/2014/main" id="{787738B4-D142-8AD7-C310-8C2FC3DA3A8B}"/>
              </a:ext>
            </a:extLst>
          </p:cNvPr>
          <p:cNvSpPr>
            <a:spLocks noGrp="1"/>
          </p:cNvSpPr>
          <p:nvPr/>
        </p:nvSpPr>
        <p:spPr>
          <a:xfrm>
            <a:off x="1333500" y="39052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Średnia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wszystkich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sześciu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ocen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Do uzyskania oceny 3,0 potrzebna jest średnia&#10;co">
            <a:extLst>
              <a:ext uri="{FF2B5EF4-FFF2-40B4-BE49-F238E27FC236}">
                <a16:creationId xmlns:a16="http://schemas.microsoft.com/office/drawing/2014/main" id="{14ACEB97-B2BC-CAF6-6115-2D57F5AC57ED}"/>
              </a:ext>
            </a:extLst>
          </p:cNvPr>
          <p:cNvSpPr>
            <a:spLocks noGrp="1"/>
          </p:cNvSpPr>
          <p:nvPr/>
        </p:nvSpPr>
        <p:spPr>
          <a:xfrm>
            <a:off x="1333500" y="42386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uzyskania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potrzebna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średnia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co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najmniej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3,0.</a:t>
            </a:r>
          </a:p>
        </p:txBody>
      </p:sp>
      <p:sp>
        <p:nvSpPr>
          <p:cNvPr id="22" name="Listy oddaje się podczas zajęć laboratoryjnych.">
            <a:extLst>
              <a:ext uri="{FF2B5EF4-FFF2-40B4-BE49-F238E27FC236}">
                <a16:creationId xmlns:a16="http://schemas.microsoft.com/office/drawing/2014/main" id="{45C1D9B4-51B9-948B-D206-B855D775721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Listy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oddaje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się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podczas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zajęć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laboratoryjnych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79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A8DFED-B306-DBA0-40DE-E9877507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A0D91D-F3AC-0E73-A51C-1DABF2CAD4D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Punktacja Każdej Listy</a:t>
            </a:r>
          </a:p>
        </p:txBody>
      </p:sp>
      <p:sp>
        <p:nvSpPr>
          <p:cNvPr id="4" name="Zadania + odpowiedzi = maksymalnie 10 pkt">
            <a:extLst>
              <a:ext uri="{FF2B5EF4-FFF2-40B4-BE49-F238E27FC236}">
                <a16:creationId xmlns:a16="http://schemas.microsoft.com/office/drawing/2014/main" id="{923A42DA-AE63-8758-15E5-DC00DA7250A3}"/>
              </a:ext>
            </a:extLst>
          </p:cNvPr>
          <p:cNvSpPr>
            <a:spLocks noGrp="1"/>
          </p:cNvSpPr>
          <p:nvPr/>
        </p:nvSpPr>
        <p:spPr>
          <a:xfrm>
            <a:off x="1333500" y="1162050"/>
            <a:ext cx="738187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odpowiedzi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maksymalnie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10 pkt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A30CD66-9736-E9C4-3D4A-16F47D6622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7988424"/>
              </p:ext>
            </p:extLst>
          </p:nvPr>
        </p:nvGraphicFramePr>
        <p:xfrm>
          <a:off x="1331640" y="2047875"/>
          <a:ext cx="7383735" cy="2428876"/>
        </p:xfrm>
        <a:graphic>
          <a:graphicData uri="http://schemas.openxmlformats.org/drawingml/2006/table">
            <a:tbl>
              <a:tblPr/>
              <a:tblGrid>
                <a:gridCol w="309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Punktacja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1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2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Przykład</a:t>
                      </a:r>
                      <a:r>
                        <a:rPr sz="20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3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Zadania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Pytania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(po 1 pkt)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Razem</a:t>
                      </a:r>
                      <a:endParaRPr sz="195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Za odpowiedź: 0 albo 1 pkt.&#10;Bez punktów częściow">
            <a:extLst>
              <a:ext uri="{FF2B5EF4-FFF2-40B4-BE49-F238E27FC236}">
                <a16:creationId xmlns:a16="http://schemas.microsoft.com/office/drawing/2014/main" id="{C967F2D6-837B-C0A5-A0B1-7F1A8020DE1F}"/>
              </a:ext>
            </a:extLst>
          </p:cNvPr>
          <p:cNvSpPr>
            <a:spLocks noGrp="1"/>
          </p:cNvSpPr>
          <p:nvPr/>
        </p:nvSpPr>
        <p:spPr>
          <a:xfrm>
            <a:off x="1333500" y="4800600"/>
            <a:ext cx="73818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odpowiedź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0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albo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1 pkt.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Bez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punktów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częściowych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Liczba pytań zależy od maksimum za zadania,&#10;a ni">
            <a:extLst>
              <a:ext uri="{FF2B5EF4-FFF2-40B4-BE49-F238E27FC236}">
                <a16:creationId xmlns:a16="http://schemas.microsoft.com/office/drawing/2014/main" id="{D66F6632-2F3D-EE5A-46C6-5234FEE78FE7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Liczba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pytań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zależy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maksimum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od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wyniku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uzyskanego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3929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A51AC1-97F4-76AE-6340-B142E811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078DB7-2FA3-5DA6-7CCA-3CE555386298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392C5D3F-59B1-BCF6-6F46-51EA47606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798662"/>
              </p:ext>
            </p:extLst>
          </p:nvPr>
        </p:nvGraphicFramePr>
        <p:xfrm>
          <a:off x="1333500" y="1352550"/>
          <a:ext cx="3952875" cy="4143377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1911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Punkty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Ocena</a:t>
                      </a:r>
                      <a:endParaRPr sz="1875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poniżej</a:t>
                      </a:r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2,0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lang="pl-PL"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  <a:endParaRPr sz="2400" b="1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lang="pl-PL"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sz="2400" b="1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3,5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lang="pl-PL"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  <a:endParaRPr sz="2400" b="1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lang="pl-PL"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9</a:t>
                      </a:r>
                      <a:endParaRPr sz="2400" b="1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911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5,0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Przykład">
            <a:extLst>
              <a:ext uri="{FF2B5EF4-FFF2-40B4-BE49-F238E27FC236}">
                <a16:creationId xmlns:a16="http://schemas.microsoft.com/office/drawing/2014/main" id="{C7BFFB92-B095-8D9F-FF04-DE30018E608D}"/>
              </a:ext>
            </a:extLst>
          </p:cNvPr>
          <p:cNvSpPr>
            <a:spLocks noGrp="1"/>
          </p:cNvSpPr>
          <p:nvPr/>
        </p:nvSpPr>
        <p:spPr>
          <a:xfrm>
            <a:off x="5600700" y="1409700"/>
            <a:ext cx="3000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Przykład</a:t>
            </a:r>
            <a:endParaRPr sz="23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Zadania: 4 z 6 pkt&#10;Pytania: 3 z 4 pkt">
            <a:extLst>
              <a:ext uri="{FF2B5EF4-FFF2-40B4-BE49-F238E27FC236}">
                <a16:creationId xmlns:a16="http://schemas.microsoft.com/office/drawing/2014/main" id="{FC760E9D-D03F-B318-DA61-B4AAB7773C06}"/>
              </a:ext>
            </a:extLst>
          </p:cNvPr>
          <p:cNvSpPr>
            <a:spLocks noGrp="1"/>
          </p:cNvSpPr>
          <p:nvPr/>
        </p:nvSpPr>
        <p:spPr>
          <a:xfrm>
            <a:off x="5600700" y="2000250"/>
            <a:ext cx="3000375" cy="1428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4 z 6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1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1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 z 4 pkt</a:t>
            </a:r>
          </a:p>
        </p:txBody>
      </p:sp>
      <p:sp>
        <p:nvSpPr>
          <p:cNvPr id="14" name="Razem: 7/10 pkt&#10;Ocena: 3,5">
            <a:extLst>
              <a:ext uri="{FF2B5EF4-FFF2-40B4-BE49-F238E27FC236}">
                <a16:creationId xmlns:a16="http://schemas.microsoft.com/office/drawing/2014/main" id="{7D8BE28D-0F2E-3F44-5416-D0510A19E478}"/>
              </a:ext>
            </a:extLst>
          </p:cNvPr>
          <p:cNvSpPr>
            <a:spLocks noGrp="1"/>
          </p:cNvSpPr>
          <p:nvPr/>
        </p:nvSpPr>
        <p:spPr>
          <a:xfrm>
            <a:off x="5600700" y="3590925"/>
            <a:ext cx="30003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Razem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7/10 pkt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325" b="1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325" b="1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325" b="1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: 3,5</a:t>
            </a:r>
          </a:p>
        </p:txBody>
      </p:sp>
      <p:sp>
        <p:nvSpPr>
          <p:cNvPr id="16" name="Student losuje 4 pytania, choć za zadania otrzym">
            <a:extLst>
              <a:ext uri="{FF2B5EF4-FFF2-40B4-BE49-F238E27FC236}">
                <a16:creationId xmlns:a16="http://schemas.microsoft.com/office/drawing/2014/main" id="{386BCF00-7C8F-0CAB-8088-F9F67254B2A8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Student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losuje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pytania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choć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zadania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otrzymał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4 pkt.</a:t>
            </a:r>
          </a:p>
        </p:txBody>
      </p:sp>
    </p:spTree>
    <p:extLst>
      <p:ext uri="{BB962C8B-B14F-4D97-AF65-F5344CB8AC3E}">
        <p14:creationId xmlns:p14="http://schemas.microsoft.com/office/powerpoint/2010/main" val="1887387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5E07ED-AA8C-5A63-DB38-8FF24E6F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E462EF-877D-DBB9-4B56-E4D0A05A72F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Ocena z Listy</a:t>
            </a:r>
          </a:p>
        </p:txBody>
      </p:sp>
      <p:sp>
        <p:nvSpPr>
          <p:cNvPr id="4" name="Termin oddania">
            <a:extLst>
              <a:ext uri="{FF2B5EF4-FFF2-40B4-BE49-F238E27FC236}">
                <a16:creationId xmlns:a16="http://schemas.microsoft.com/office/drawing/2014/main" id="{B1019518-7904-874B-A6E8-40465830BFF3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Termin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oddania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Każda lista ma własny termin podany w jej treści">
            <a:extLst>
              <a:ext uri="{FF2B5EF4-FFF2-40B4-BE49-F238E27FC236}">
                <a16:creationId xmlns:a16="http://schemas.microsoft.com/office/drawing/2014/main" id="{060D024D-CD81-B729-A83D-1207574A0A9E}"/>
              </a:ext>
            </a:extLst>
          </p:cNvPr>
          <p:cNvSpPr>
            <a:spLocks noGrp="1"/>
          </p:cNvSpPr>
          <p:nvPr/>
        </p:nvSpPr>
        <p:spPr>
          <a:xfrm>
            <a:off x="1333500" y="16668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własny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termin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podany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w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jej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treści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Opóźnienie">
            <a:extLst>
              <a:ext uri="{FF2B5EF4-FFF2-40B4-BE49-F238E27FC236}">
                <a16:creationId xmlns:a16="http://schemas.microsoft.com/office/drawing/2014/main" id="{18771A6D-74FF-C180-91A1-C423A42AA293}"/>
              </a:ext>
            </a:extLst>
          </p:cNvPr>
          <p:cNvSpPr>
            <a:spLocks noGrp="1"/>
          </p:cNvSpPr>
          <p:nvPr/>
        </p:nvSpPr>
        <p:spPr>
          <a:xfrm>
            <a:off x="1333500" y="259080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Opóźnienie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Za każdy tydzień opóźnienia ocena z listy&#10;jest o">
            <a:extLst>
              <a:ext uri="{FF2B5EF4-FFF2-40B4-BE49-F238E27FC236}">
                <a16:creationId xmlns:a16="http://schemas.microsoft.com/office/drawing/2014/main" id="{F67E9FC2-9B2A-81B1-3C06-DC0A1B7A0DDA}"/>
              </a:ext>
            </a:extLst>
          </p:cNvPr>
          <p:cNvSpPr>
            <a:spLocks noGrp="1"/>
          </p:cNvSpPr>
          <p:nvPr/>
        </p:nvSpPr>
        <p:spPr>
          <a:xfrm>
            <a:off x="1333500" y="292417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każdy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tydzień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opóźnienia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ocena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listy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jest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obniżana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o 1,0.</a:t>
            </a:r>
          </a:p>
        </p:txBody>
      </p:sp>
      <p:sp>
        <p:nvSpPr>
          <p:cNvPr id="17" name="Obecność">
            <a:extLst>
              <a:ext uri="{FF2B5EF4-FFF2-40B4-BE49-F238E27FC236}">
                <a16:creationId xmlns:a16="http://schemas.microsoft.com/office/drawing/2014/main" id="{03519B85-E300-A8E5-845E-DDE3EECF289E}"/>
              </a:ext>
            </a:extLst>
          </p:cNvPr>
          <p:cNvSpPr>
            <a:spLocks noGrp="1"/>
          </p:cNvSpPr>
          <p:nvPr/>
        </p:nvSpPr>
        <p:spPr>
          <a:xfrm>
            <a:off x="1333500" y="4171950"/>
            <a:ext cx="7381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Obecność</a:t>
            </a:r>
            <a:endParaRPr sz="2025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Dopuszczalne są trzy nieobecności&#10;nieusprawiedli">
            <a:extLst>
              <a:ext uri="{FF2B5EF4-FFF2-40B4-BE49-F238E27FC236}">
                <a16:creationId xmlns:a16="http://schemas.microsoft.com/office/drawing/2014/main" id="{5E07938B-344B-5023-9F80-08FA9A4CC69D}"/>
              </a:ext>
            </a:extLst>
          </p:cNvPr>
          <p:cNvSpPr>
            <a:spLocks noGrp="1"/>
          </p:cNvSpPr>
          <p:nvPr/>
        </p:nvSpPr>
        <p:spPr>
          <a:xfrm>
            <a:off x="1333500" y="4505325"/>
            <a:ext cx="7381875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Dopuszczalne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trzy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nieobecności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nieusprawiedliwione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laboratorium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7965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CB0E2E-FEDE-A219-5277-198FF2839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8E1DD2-1B66-FF50-389D-377791AEFB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5" name="1">
            <a:extLst>
              <a:ext uri="{FF2B5EF4-FFF2-40B4-BE49-F238E27FC236}">
                <a16:creationId xmlns:a16="http://schemas.microsoft.com/office/drawing/2014/main" id="{49D26C77-EED4-DE10-5AC0-B8188AD13B0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Organizacja kursu i nawigacja Compose">
            <a:extLst>
              <a:ext uri="{FF2B5EF4-FFF2-40B4-BE49-F238E27FC236}">
                <a16:creationId xmlns:a16="http://schemas.microsoft.com/office/drawing/2014/main" id="{424DA236-BFB7-CA9F-EE7D-84E3D85D98C6}"/>
              </a:ext>
            </a:extLst>
          </p:cNvPr>
          <p:cNvSpPr>
            <a:spLocks noGrp="1"/>
          </p:cNvSpPr>
          <p:nvPr/>
        </p:nvSpPr>
        <p:spPr>
          <a:xfrm>
            <a:off x="1857375" y="12668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Organizacja kursu i nawigacja Compose</a:t>
            </a:r>
          </a:p>
        </p:txBody>
      </p:sp>
      <p:sp>
        <p:nvSpPr>
          <p:cNvPr id="11" name="2">
            <a:extLst>
              <a:ext uri="{FF2B5EF4-FFF2-40B4-BE49-F238E27FC236}">
                <a16:creationId xmlns:a16="http://schemas.microsoft.com/office/drawing/2014/main" id="{61A09BCA-2289-DD28-550F-74DDE0959FAB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Korutyny i wątek główny">
            <a:extLst>
              <a:ext uri="{FF2B5EF4-FFF2-40B4-BE49-F238E27FC236}">
                <a16:creationId xmlns:a16="http://schemas.microsoft.com/office/drawing/2014/main" id="{801DACD1-7874-76E2-01BB-6C522B492D6D}"/>
              </a:ext>
            </a:extLst>
          </p:cNvPr>
          <p:cNvSpPr>
            <a:spLocks noGrp="1"/>
          </p:cNvSpPr>
          <p:nvPr/>
        </p:nvSpPr>
        <p:spPr>
          <a:xfrm>
            <a:off x="1857375" y="19621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Korutyny i wątek główny</a:t>
            </a:r>
          </a:p>
        </p:txBody>
      </p:sp>
      <p:sp>
        <p:nvSpPr>
          <p:cNvPr id="16" name="3">
            <a:extLst>
              <a:ext uri="{FF2B5EF4-FFF2-40B4-BE49-F238E27FC236}">
                <a16:creationId xmlns:a16="http://schemas.microsoft.com/office/drawing/2014/main" id="{3C2AAE0F-1549-789F-AD9A-9142EDD8597D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Współbieżność, równoległość i asynchroniczność">
            <a:extLst>
              <a:ext uri="{FF2B5EF4-FFF2-40B4-BE49-F238E27FC236}">
                <a16:creationId xmlns:a16="http://schemas.microsoft.com/office/drawing/2014/main" id="{1D1E89CA-EBE9-7167-5DA5-3F15B3E36E0B}"/>
              </a:ext>
            </a:extLst>
          </p:cNvPr>
          <p:cNvSpPr>
            <a:spLocks noGrp="1"/>
          </p:cNvSpPr>
          <p:nvPr/>
        </p:nvSpPr>
        <p:spPr>
          <a:xfrm>
            <a:off x="1857375" y="26574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Współbieżność, równoległość i asynchroniczność</a:t>
            </a:r>
          </a:p>
        </p:txBody>
      </p:sp>
      <p:sp>
        <p:nvSpPr>
          <p:cNvPr id="22" name="4">
            <a:extLst>
              <a:ext uri="{FF2B5EF4-FFF2-40B4-BE49-F238E27FC236}">
                <a16:creationId xmlns:a16="http://schemas.microsoft.com/office/drawing/2014/main" id="{0C319BDC-8C06-0152-9601-C4BA73F204EF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Architektura aplikacji: MVC, MVP, MVVM">
            <a:extLst>
              <a:ext uri="{FF2B5EF4-FFF2-40B4-BE49-F238E27FC236}">
                <a16:creationId xmlns:a16="http://schemas.microsoft.com/office/drawing/2014/main" id="{823B665B-957F-83D1-41BB-B334359BEA95}"/>
              </a:ext>
            </a:extLst>
          </p:cNvPr>
          <p:cNvSpPr>
            <a:spLocks noGrp="1"/>
          </p:cNvSpPr>
          <p:nvPr/>
        </p:nvSpPr>
        <p:spPr>
          <a:xfrm>
            <a:off x="1857375" y="335280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Architektura aplikacji: MVC, MVP, MVVM</a:t>
            </a:r>
          </a:p>
        </p:txBody>
      </p:sp>
      <p:sp>
        <p:nvSpPr>
          <p:cNvPr id="26" name="5">
            <a:extLst>
              <a:ext uri="{FF2B5EF4-FFF2-40B4-BE49-F238E27FC236}">
                <a16:creationId xmlns:a16="http://schemas.microsoft.com/office/drawing/2014/main" id="{6D95D2C7-2FF5-90D5-56AF-74426E996CDF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Flow, StateFlow i SharedFlow">
            <a:extLst>
              <a:ext uri="{FF2B5EF4-FFF2-40B4-BE49-F238E27FC236}">
                <a16:creationId xmlns:a16="http://schemas.microsoft.com/office/drawing/2014/main" id="{679AFC27-7EC5-BA99-86F6-A75A826FB8CB}"/>
              </a:ext>
            </a:extLst>
          </p:cNvPr>
          <p:cNvSpPr>
            <a:spLocks noGrp="1"/>
          </p:cNvSpPr>
          <p:nvPr/>
        </p:nvSpPr>
        <p:spPr>
          <a:xfrm>
            <a:off x="1857375" y="404812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Flow, StateFlow i SharedFlow</a:t>
            </a:r>
          </a:p>
        </p:txBody>
      </p:sp>
      <p:sp>
        <p:nvSpPr>
          <p:cNvPr id="30" name="6">
            <a:extLst>
              <a:ext uri="{FF2B5EF4-FFF2-40B4-BE49-F238E27FC236}">
                <a16:creationId xmlns:a16="http://schemas.microsoft.com/office/drawing/2014/main" id="{17C46D90-E066-67D8-C12E-A857963025F2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2" name="withContext, flowOn, combine, stateIn, shareIn">
            <a:extLst>
              <a:ext uri="{FF2B5EF4-FFF2-40B4-BE49-F238E27FC236}">
                <a16:creationId xmlns:a16="http://schemas.microsoft.com/office/drawing/2014/main" id="{348073C1-12A2-E94A-CDDA-CABA21BAE1B8}"/>
              </a:ext>
            </a:extLst>
          </p:cNvPr>
          <p:cNvSpPr>
            <a:spLocks noGrp="1"/>
          </p:cNvSpPr>
          <p:nvPr/>
        </p:nvSpPr>
        <p:spPr>
          <a:xfrm>
            <a:off x="1857375" y="4743450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withContext, flowOn, combine, stateIn, shareIn</a:t>
            </a:r>
          </a:p>
        </p:txBody>
      </p:sp>
      <p:sp>
        <p:nvSpPr>
          <p:cNvPr id="34" name="7">
            <a:extLst>
              <a:ext uri="{FF2B5EF4-FFF2-40B4-BE49-F238E27FC236}">
                <a16:creationId xmlns:a16="http://schemas.microsoft.com/office/drawing/2014/main" id="{8665D2CB-2D5C-7DFA-AB62-E9CFA2A98C3D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000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6" name="Kanały i komunikacja między korutynami">
            <a:extLst>
              <a:ext uri="{FF2B5EF4-FFF2-40B4-BE49-F238E27FC236}">
                <a16:creationId xmlns:a16="http://schemas.microsoft.com/office/drawing/2014/main" id="{DB1A93AD-0036-2829-D9D3-41CF0CE006A0}"/>
              </a:ext>
            </a:extLst>
          </p:cNvPr>
          <p:cNvSpPr>
            <a:spLocks noGrp="1"/>
          </p:cNvSpPr>
          <p:nvPr/>
        </p:nvSpPr>
        <p:spPr>
          <a:xfrm>
            <a:off x="1857375" y="5438775"/>
            <a:ext cx="671512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Kanały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między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korutynami</a:t>
            </a:r>
            <a:endParaRPr sz="2400" b="0" dirty="0">
              <a:solidFill>
                <a:srgbClr val="152B37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9108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Program Kursu</a:t>
            </a:r>
          </a:p>
        </p:txBody>
      </p:sp>
      <p:sp>
        <p:nvSpPr>
          <p:cNvPr id="4" name="8">
            <a:extLst>
              <a:ext uri="{FF2B5EF4-FFF2-40B4-BE49-F238E27FC236}">
                <a16:creationId xmlns:a16="http://schemas.microsoft.com/office/drawing/2014/main" id="{986D024A-1A9C-0D2C-E9D9-1996EDB91AB1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6" name="Ustawienia: SharedPreferences i DataStore">
            <a:extLst>
              <a:ext uri="{FF2B5EF4-FFF2-40B4-BE49-F238E27FC236}">
                <a16:creationId xmlns:a16="http://schemas.microsoft.com/office/drawing/2014/main" id="{0DA3886C-A969-1D77-1462-689B3A96B9FF}"/>
              </a:ext>
            </a:extLst>
          </p:cNvPr>
          <p:cNvSpPr>
            <a:spLocks noGrp="1"/>
          </p:cNvSpPr>
          <p:nvPr/>
        </p:nvSpPr>
        <p:spPr>
          <a:xfrm>
            <a:off x="1905000" y="12668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Ustawienia: SharedPreferences i DataStore</a:t>
            </a:r>
          </a:p>
        </p:txBody>
      </p:sp>
      <p:sp>
        <p:nvSpPr>
          <p:cNvPr id="9" name="9">
            <a:extLst>
              <a:ext uri="{FF2B5EF4-FFF2-40B4-BE49-F238E27FC236}">
                <a16:creationId xmlns:a16="http://schemas.microsoft.com/office/drawing/2014/main" id="{DA736D66-F2FB-FBBB-9964-0C022FE86D49}"/>
              </a:ext>
            </a:extLst>
          </p:cNvPr>
          <p:cNvSpPr>
            <a:spLocks noGrp="1"/>
          </p:cNvSpPr>
          <p:nvPr/>
        </p:nvSpPr>
        <p:spPr>
          <a:xfrm>
            <a:off x="1333500" y="19621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1" name="SQLite i Room: encje, DAO, CRUD">
            <a:extLst>
              <a:ext uri="{FF2B5EF4-FFF2-40B4-BE49-F238E27FC236}">
                <a16:creationId xmlns:a16="http://schemas.microsoft.com/office/drawing/2014/main" id="{C704146E-4F23-74F4-63C6-A69D3735FC7E}"/>
              </a:ext>
            </a:extLst>
          </p:cNvPr>
          <p:cNvSpPr>
            <a:spLocks noGrp="1"/>
          </p:cNvSpPr>
          <p:nvPr/>
        </p:nvSpPr>
        <p:spPr>
          <a:xfrm>
            <a:off x="1905000" y="19621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SQLite i Room: encje, DAO, CRUD</a:t>
            </a:r>
          </a:p>
        </p:txBody>
      </p:sp>
      <p:sp>
        <p:nvSpPr>
          <p:cNvPr id="13" name="10">
            <a:extLst>
              <a:ext uri="{FF2B5EF4-FFF2-40B4-BE49-F238E27FC236}">
                <a16:creationId xmlns:a16="http://schemas.microsoft.com/office/drawing/2014/main" id="{DBA70613-4636-7F22-E46B-A7745AAE49CE}"/>
              </a:ext>
            </a:extLst>
          </p:cNvPr>
          <p:cNvSpPr>
            <a:spLocks noGrp="1"/>
          </p:cNvSpPr>
          <p:nvPr/>
        </p:nvSpPr>
        <p:spPr>
          <a:xfrm>
            <a:off x="1333500" y="26574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5" name="Komunikacja z API: Retrofit">
            <a:extLst>
              <a:ext uri="{FF2B5EF4-FFF2-40B4-BE49-F238E27FC236}">
                <a16:creationId xmlns:a16="http://schemas.microsoft.com/office/drawing/2014/main" id="{1D7B10AF-EC54-5076-909C-4C67DB913E49}"/>
              </a:ext>
            </a:extLst>
          </p:cNvPr>
          <p:cNvSpPr>
            <a:spLocks noGrp="1"/>
          </p:cNvSpPr>
          <p:nvPr/>
        </p:nvSpPr>
        <p:spPr>
          <a:xfrm>
            <a:off x="1905000" y="26574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Komunikacja z API: Retrofit</a:t>
            </a:r>
          </a:p>
        </p:txBody>
      </p:sp>
      <p:sp>
        <p:nvSpPr>
          <p:cNvPr id="17" name="11">
            <a:extLst>
              <a:ext uri="{FF2B5EF4-FFF2-40B4-BE49-F238E27FC236}">
                <a16:creationId xmlns:a16="http://schemas.microsoft.com/office/drawing/2014/main" id="{CE1EE984-DD95-CE4F-DE2B-7760521B6CF3}"/>
              </a:ext>
            </a:extLst>
          </p:cNvPr>
          <p:cNvSpPr>
            <a:spLocks noGrp="1"/>
          </p:cNvSpPr>
          <p:nvPr/>
        </p:nvSpPr>
        <p:spPr>
          <a:xfrm>
            <a:off x="1333500" y="3352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19" name="Wstrzykiwanie zależności: Dagger i Hilt">
            <a:extLst>
              <a:ext uri="{FF2B5EF4-FFF2-40B4-BE49-F238E27FC236}">
                <a16:creationId xmlns:a16="http://schemas.microsoft.com/office/drawing/2014/main" id="{37EB029D-1A74-F994-B0D0-025ABB5C48CA}"/>
              </a:ext>
            </a:extLst>
          </p:cNvPr>
          <p:cNvSpPr>
            <a:spLocks noGrp="1"/>
          </p:cNvSpPr>
          <p:nvPr/>
        </p:nvSpPr>
        <p:spPr>
          <a:xfrm>
            <a:off x="1905000" y="335280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Wstrzykiwanie zależności: Dagger i Hilt</a:t>
            </a:r>
          </a:p>
        </p:txBody>
      </p:sp>
      <p:sp>
        <p:nvSpPr>
          <p:cNvPr id="21" name="12">
            <a:extLst>
              <a:ext uri="{FF2B5EF4-FFF2-40B4-BE49-F238E27FC236}">
                <a16:creationId xmlns:a16="http://schemas.microsoft.com/office/drawing/2014/main" id="{4303AADD-30D1-246E-AD41-7F4A6208A623}"/>
              </a:ext>
            </a:extLst>
          </p:cNvPr>
          <p:cNvSpPr>
            <a:spLocks noGrp="1"/>
          </p:cNvSpPr>
          <p:nvPr/>
        </p:nvSpPr>
        <p:spPr>
          <a:xfrm>
            <a:off x="1333500" y="404812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23" name="Warstwa domeny i wzorzec Use Case">
            <a:extLst>
              <a:ext uri="{FF2B5EF4-FFF2-40B4-BE49-F238E27FC236}">
                <a16:creationId xmlns:a16="http://schemas.microsoft.com/office/drawing/2014/main" id="{F8A0B1F2-6F61-2AFE-55B7-D0039E6D851C}"/>
              </a:ext>
            </a:extLst>
          </p:cNvPr>
          <p:cNvSpPr>
            <a:spLocks noGrp="1"/>
          </p:cNvSpPr>
          <p:nvPr/>
        </p:nvSpPr>
        <p:spPr>
          <a:xfrm>
            <a:off x="1905000" y="404812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Warstwa domeny i wzorzec Use Case</a:t>
            </a:r>
          </a:p>
        </p:txBody>
      </p:sp>
      <p:sp>
        <p:nvSpPr>
          <p:cNvPr id="25" name="13">
            <a:extLst>
              <a:ext uri="{FF2B5EF4-FFF2-40B4-BE49-F238E27FC236}">
                <a16:creationId xmlns:a16="http://schemas.microsoft.com/office/drawing/2014/main" id="{AE21A5E8-A211-16B1-4559-3A7715AD8A6A}"/>
              </a:ext>
            </a:extLst>
          </p:cNvPr>
          <p:cNvSpPr>
            <a:spLocks noGrp="1"/>
          </p:cNvSpPr>
          <p:nvPr/>
        </p:nvSpPr>
        <p:spPr>
          <a:xfrm>
            <a:off x="1333500" y="474345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27" name="Single Source of Truth i cache offline">
            <a:extLst>
              <a:ext uri="{FF2B5EF4-FFF2-40B4-BE49-F238E27FC236}">
                <a16:creationId xmlns:a16="http://schemas.microsoft.com/office/drawing/2014/main" id="{E38AA2C2-B140-61A5-7D4B-291293D4E696}"/>
              </a:ext>
            </a:extLst>
          </p:cNvPr>
          <p:cNvSpPr>
            <a:spLocks noGrp="1"/>
          </p:cNvSpPr>
          <p:nvPr/>
        </p:nvSpPr>
        <p:spPr>
          <a:xfrm>
            <a:off x="1905000" y="4743450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Single Source of Truth i cache offline</a:t>
            </a:r>
          </a:p>
        </p:txBody>
      </p:sp>
      <p:sp>
        <p:nvSpPr>
          <p:cNvPr id="29" name="14">
            <a:extLst>
              <a:ext uri="{FF2B5EF4-FFF2-40B4-BE49-F238E27FC236}">
                <a16:creationId xmlns:a16="http://schemas.microsoft.com/office/drawing/2014/main" id="{1F3B7BE5-BDF0-80A5-C9C1-6A5F7B9379F5}"/>
              </a:ext>
            </a:extLst>
          </p:cNvPr>
          <p:cNvSpPr>
            <a:spLocks noGrp="1"/>
          </p:cNvSpPr>
          <p:nvPr/>
        </p:nvSpPr>
        <p:spPr>
          <a:xfrm>
            <a:off x="1333500" y="5438775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31" name="Backend w chmurze: Firebase i Firestore">
            <a:extLst>
              <a:ext uri="{FF2B5EF4-FFF2-40B4-BE49-F238E27FC236}">
                <a16:creationId xmlns:a16="http://schemas.microsoft.com/office/drawing/2014/main" id="{C01C98A1-9971-F337-1430-18BD407A807A}"/>
              </a:ext>
            </a:extLst>
          </p:cNvPr>
          <p:cNvSpPr>
            <a:spLocks noGrp="1"/>
          </p:cNvSpPr>
          <p:nvPr/>
        </p:nvSpPr>
        <p:spPr>
          <a:xfrm>
            <a:off x="1905000" y="5438775"/>
            <a:ext cx="666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2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Backend w chmurze: Firebase i Firestore</a:t>
            </a:r>
          </a:p>
        </p:txBody>
      </p:sp>
    </p:spTree>
    <p:extLst>
      <p:ext uri="{BB962C8B-B14F-4D97-AF65-F5344CB8AC3E}">
        <p14:creationId xmlns:p14="http://schemas.microsoft.com/office/powerpoint/2010/main" val="4009683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E21A44-2F60-F90A-4EDA-A35BB7658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FB61E2-0DDB-26CF-FF34-838293DE79B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Konfiguracja Projektu</a:t>
            </a:r>
          </a:p>
        </p:txBody>
      </p:sp>
      <p:sp>
        <p:nvSpPr>
          <p:cNvPr id="5" name="Android Studio: Empty Activity&#10;Projekt Kotlin z ">
            <a:extLst>
              <a:ext uri="{FF2B5EF4-FFF2-40B4-BE49-F238E27FC236}">
                <a16:creationId xmlns:a16="http://schemas.microsoft.com/office/drawing/2014/main" id="{B137BD04-70B9-C23D-8936-C4AD7A9C5424}"/>
              </a:ext>
            </a:extLst>
          </p:cNvPr>
          <p:cNvSpPr>
            <a:spLocks noGrp="1"/>
          </p:cNvSpPr>
          <p:nvPr/>
        </p:nvSpPr>
        <p:spPr>
          <a:xfrm>
            <a:off x="1333500" y="1171575"/>
            <a:ext cx="7381875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Android Studio: Empty Activity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Projekt Kotlin z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interfejsem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Jetpack Compose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85BFF9E0-2E1A-12BD-A901-83B68005EA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1709760"/>
              </p:ext>
            </p:extLst>
          </p:nvPr>
        </p:nvGraphicFramePr>
        <p:xfrm>
          <a:off x="1333500" y="2324100"/>
          <a:ext cx="7381875" cy="2952752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Plik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Rola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gradle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libs.versions.toml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Wersje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aliasy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bibliotek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oraz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Deklaracje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pluginów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projektu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app/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build.gradle.kts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Pluginy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zależności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modułu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opisuj wpisy do istniejących sekcji.&#10;Po zmianac">
            <a:extLst>
              <a:ext uri="{FF2B5EF4-FFF2-40B4-BE49-F238E27FC236}">
                <a16:creationId xmlns:a16="http://schemas.microsoft.com/office/drawing/2014/main" id="{7144A50C-184A-6ECF-5723-D6B97372AF21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Dopisuj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istniejących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sekcji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zmianach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wykonaj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synchronizację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projektu</a:t>
            </a:r>
            <a:r>
              <a:rPr sz="24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41222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6BA64F-CC63-364B-B1A9-6DDD1DC0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184A9A-FE59-55D0-F72E-5ED092EC8C4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Katalog Wersji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06B95939-4E02-F772-DD86-5DDAF9479CA1}"/>
              </a:ext>
            </a:extLst>
          </p:cNvPr>
          <p:cNvSpPr>
            <a:spLocks noGrp="1"/>
          </p:cNvSpPr>
          <p:nvPr/>
        </p:nvSpPr>
        <p:spPr>
          <a:xfrm>
            <a:off x="1333500" y="1400175"/>
            <a:ext cx="7381875" cy="3476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[versions]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navigationCompose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"2.9.2"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kotlinxSerialization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"1.7.3"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libraries.androidx</a:t>
            </a:r>
            <a:r>
              <a:rPr dirty="0"/>
              <a:t>-navigation-compose]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androidx.navigation:navigation-compose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navigationCompose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67D17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[</a:t>
            </a:r>
            <a:r>
              <a:rPr dirty="0" err="1"/>
              <a:t>libraries.kotlinx</a:t>
            </a:r>
            <a:r>
              <a:rPr dirty="0"/>
              <a:t>-serialization-</a:t>
            </a:r>
            <a:r>
              <a:rPr dirty="0" err="1"/>
              <a:t>json</a:t>
            </a:r>
            <a:r>
              <a:rPr dirty="0"/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module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org.jetbrains.kotlinx:kotlinx-serialization-json</a:t>
            </a:r>
            <a:r>
              <a:rPr dirty="0">
                <a:solidFill>
                  <a:srgbClr val="067D17"/>
                </a:solidFill>
              </a:rPr>
              <a:t>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version.ref</a:t>
            </a:r>
            <a:r>
              <a:rPr dirty="0"/>
              <a:t> = 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kotlinxSerialization</a:t>
            </a:r>
            <a:r>
              <a:rPr dirty="0">
                <a:solidFill>
                  <a:srgbClr val="067D17"/>
                </a:solidFill>
              </a:rPr>
              <a:t>"</a:t>
            </a:r>
          </a:p>
        </p:txBody>
      </p:sp>
      <p:sp>
        <p:nvSpPr>
          <p:cNvPr id="6" name="W przykładzie: Navigation Compose 2.9.2.&#10;Wersję ">
            <a:extLst>
              <a:ext uri="{FF2B5EF4-FFF2-40B4-BE49-F238E27FC236}">
                <a16:creationId xmlns:a16="http://schemas.microsoft.com/office/drawing/2014/main" id="{C9AF500A-A56F-58C1-8575-39BBCC38194A}"/>
              </a:ext>
            </a:extLst>
          </p:cNvPr>
          <p:cNvSpPr>
            <a:spLocks noGrp="1"/>
          </p:cNvSpPr>
          <p:nvPr/>
        </p:nvSpPr>
        <p:spPr>
          <a:xfrm>
            <a:off x="1333500" y="553402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przykładzie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Navigation Compose 2.9.2.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Wersję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pluginu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Serialization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dopasuj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Kotlina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386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245385-23CA-F1CA-3A81-44A45EB2C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CAE2D7-C8ED-4BE5-DEC6-86A81EC4907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CB066F24-A9A5-2E9E-E742-24AE6FFB5C63}"/>
              </a:ext>
            </a:extLst>
          </p:cNvPr>
          <p:cNvSpPr>
            <a:spLocks noGrp="1"/>
          </p:cNvSpPr>
          <p:nvPr/>
        </p:nvSpPr>
        <p:spPr>
          <a:xfrm>
            <a:off x="1333500" y="1285875"/>
            <a:ext cx="7381875" cy="1219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# gradle/libs.versions.toml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[plugins.kotlin-serialization]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id = </a:t>
            </a:r>
            <a:r>
              <a:rPr>
                <a:solidFill>
                  <a:srgbClr val="067D17"/>
                </a:solidFill>
              </a:rPr>
              <a:t>"org.jetbrains.kotlin.plugin.serialization"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63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version.ref = </a:t>
            </a:r>
            <a:r>
              <a:rPr>
                <a:solidFill>
                  <a:srgbClr val="067D17"/>
                </a:solidFill>
              </a:rPr>
              <a:t>"kotlin"</a:t>
            </a:r>
          </a:p>
        </p:txBody>
      </p:sp>
      <p:sp>
        <p:nvSpPr>
          <p:cNvPr id="8" name="Kod Kotlin / Gradle">
            <a:extLst>
              <a:ext uri="{FF2B5EF4-FFF2-40B4-BE49-F238E27FC236}">
                <a16:creationId xmlns:a16="http://schemas.microsoft.com/office/drawing/2014/main" id="{A54DF54C-A310-CBC9-E267-45B8FE324C9A}"/>
              </a:ext>
            </a:extLst>
          </p:cNvPr>
          <p:cNvSpPr>
            <a:spLocks noGrp="1"/>
          </p:cNvSpPr>
          <p:nvPr/>
        </p:nvSpPr>
        <p:spPr>
          <a:xfrm>
            <a:off x="1333500" y="2952750"/>
            <a:ext cx="7381875" cy="2628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 apply </a:t>
            </a:r>
            <a:r>
              <a:rPr>
                <a:solidFill>
                  <a:srgbClr val="0033B3"/>
                </a:solidFill>
              </a:rPr>
              <a:t>false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plugins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alias(libs.plugins.kotlin.serialization)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app/build.gradle.kts: wewnątrz dependencies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implementation(libs.androidx.navigation.compose)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8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implementation(libs.kotlinx.serialization.json)</a:t>
            </a:r>
          </a:p>
        </p:txBody>
      </p:sp>
      <p:sp>
        <p:nvSpPr>
          <p:cNvPr id="10" name="version.ref = &quot;kotlin&quot; wskazuje wersję kompilato">
            <a:extLst>
              <a:ext uri="{FF2B5EF4-FFF2-40B4-BE49-F238E27FC236}">
                <a16:creationId xmlns:a16="http://schemas.microsoft.com/office/drawing/2014/main" id="{B978E5AD-7DD0-385A-BA64-9A9E381117E3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version.ref = "kotlin" wskazuje wersję kompilatora.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Compose BOM nie dobiera wersji tych dwóch bibliotek.</a:t>
            </a:r>
          </a:p>
        </p:txBody>
      </p:sp>
    </p:spTree>
    <p:extLst>
      <p:ext uri="{BB962C8B-B14F-4D97-AF65-F5344CB8AC3E}">
        <p14:creationId xmlns:p14="http://schemas.microsoft.com/office/powerpoint/2010/main" val="435655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D41AF9-9C2A-8120-D952-E7A3A29A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8C10ED-52D3-7BFE-7701-386ABCFF781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</a:t>
            </a:r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i Zależności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20F43D72-702A-465C-20B5-17145E6346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9881423"/>
              </p:ext>
            </p:extLst>
          </p:nvPr>
        </p:nvGraphicFramePr>
        <p:xfrm>
          <a:off x="1333500" y="1409700"/>
          <a:ext cx="7381875" cy="3886200"/>
        </p:xfrm>
        <a:graphic>
          <a:graphicData uri="http://schemas.openxmlformats.org/drawingml/2006/table">
            <a:tbl>
              <a:tblPr/>
              <a:tblGrid>
                <a:gridCol w="223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Pojęcie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Odpowiedzialność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Trasa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Identyfikuje cel i określa argumenty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Wyświetla interfejs użytkownika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Graf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Grupuje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cele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określa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cel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początkowy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NavHost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Wiąże cele z UI i wyświetla bieżący ekran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NavController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Obsługuje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przejścia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stos</a:t>
                      </a:r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0" dirty="0" err="1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nawigacji</a:t>
                      </a:r>
                      <a:endParaRPr sz="2000" b="0" dirty="0">
                        <a:solidFill>
                          <a:srgbClr val="152B37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Graf zagnieżdżony grupuje ekrany.&#10;Nie wymaga oso">
            <a:extLst>
              <a:ext uri="{FF2B5EF4-FFF2-40B4-BE49-F238E27FC236}">
                <a16:creationId xmlns:a16="http://schemas.microsoft.com/office/drawing/2014/main" id="{E077BF21-8186-FABB-2E76-BD27CD92125F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zagnieżdżony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grupuje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osobnego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NavHost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ani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NavController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13820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EE3947-619E-6250-0E9D-7EFAE633C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8E30B2-0423-CC69-5B0D-F168BD38A5A4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Typowane Trasy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BD7C73C9-6AFF-0E7F-8A67-947304901139}"/>
              </a:ext>
            </a:extLst>
          </p:cNvPr>
          <p:cNvSpPr>
            <a:spLocks noGrp="1"/>
          </p:cNvSpPr>
          <p:nvPr/>
        </p:nvSpPr>
        <p:spPr>
          <a:xfrm>
            <a:off x="1333500" y="1371600"/>
            <a:ext cx="7381875" cy="2952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import</a:t>
            </a:r>
            <a:r>
              <a:t> kotlinx.serialization.Serializable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Home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class</a:t>
            </a:r>
            <a:r>
              <a:t> Details(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id: Int)</a:t>
            </a:r>
          </a:p>
        </p:txBody>
      </p:sp>
      <p:sp>
        <p:nvSpPr>
          <p:cNvPr id="6" name="Home nie ma argumentów.&#10;Details wymaga identyfik">
            <a:extLst>
              <a:ext uri="{FF2B5EF4-FFF2-40B4-BE49-F238E27FC236}">
                <a16:creationId xmlns:a16="http://schemas.microsoft.com/office/drawing/2014/main" id="{0204D50C-3C1B-FEC4-05F5-E1B683471C1D}"/>
              </a:ext>
            </a:extLst>
          </p:cNvPr>
          <p:cNvSpPr>
            <a:spLocks noGrp="1"/>
          </p:cNvSpPr>
          <p:nvPr/>
        </p:nvSpPr>
        <p:spPr>
          <a:xfrm>
            <a:off x="1333500" y="4286250"/>
            <a:ext cx="7381875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Home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ma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argumentów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Details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wymaga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identyfikatora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typu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Int.</a:t>
            </a:r>
          </a:p>
        </p:txBody>
      </p:sp>
      <p:sp>
        <p:nvSpPr>
          <p:cNvPr id="9" name="Typowane trasy są dostępne w Navigation Compose ">
            <a:extLst>
              <a:ext uri="{FF2B5EF4-FFF2-40B4-BE49-F238E27FC236}">
                <a16:creationId xmlns:a16="http://schemas.microsoft.com/office/drawing/2014/main" id="{7A3B59F5-C8F2-98E6-5B13-5B0E8E274BBA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Typowane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dostępne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w Navigation Compose 2.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szczegółów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przekazujemy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ID, a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cały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obiekt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18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471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FE6CE-4530-C4A8-3743-EB656A56E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7B478A-A075-007F-2718-1FD788DD142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Dwóch Ekranów</a:t>
            </a:r>
          </a:p>
        </p:txBody>
      </p:sp>
      <p:sp>
        <p:nvSpPr>
          <p:cNvPr id="5" name="Kod Kotlin / Gradle">
            <a:extLst>
              <a:ext uri="{FF2B5EF4-FFF2-40B4-BE49-F238E27FC236}">
                <a16:creationId xmlns:a16="http://schemas.microsoft.com/office/drawing/2014/main" id="{0C416E59-7AD9-E9EE-3933-13EEEF19EC11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7381875" cy="4524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NavigationExample</a:t>
            </a:r>
            <a:r>
              <a:rPr dirty="0"/>
              <a:t>(modifier: Modifier =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navController</a:t>
            </a:r>
            <a:r>
              <a:rPr dirty="0"/>
              <a:t> = </a:t>
            </a:r>
            <a:r>
              <a:rPr dirty="0" err="1"/>
              <a:t>rememberNavController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NavHost</a:t>
            </a:r>
            <a:r>
              <a:rPr dirty="0"/>
              <a:t>(</a:t>
            </a:r>
            <a:r>
              <a:rPr dirty="0" err="1"/>
              <a:t>navController</a:t>
            </a:r>
            <a:r>
              <a:rPr dirty="0"/>
              <a:t>, Home, modifier)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composable&lt;Home&gt;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HomeScreen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navController.navigate</a:t>
            </a:r>
            <a:r>
              <a:rPr dirty="0"/>
              <a:t>(Details(</a:t>
            </a:r>
            <a:r>
              <a:rPr dirty="0">
                <a:solidFill>
                  <a:srgbClr val="1750EB"/>
                </a:solidFill>
              </a:rPr>
              <a:t>42</a:t>
            </a:r>
            <a:r>
              <a:rPr dirty="0"/>
              <a:t>))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composable&lt;Details&gt; { entry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route = </a:t>
            </a:r>
            <a:r>
              <a:rPr dirty="0" err="1"/>
              <a:t>entry.toRoute</a:t>
            </a:r>
            <a:r>
              <a:rPr dirty="0"/>
              <a:t>&lt;Details&gt;()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DetailsScreen</a:t>
            </a:r>
            <a:r>
              <a:rPr dirty="0"/>
              <a:t>(route.id)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    </a:t>
            </a:r>
            <a:r>
              <a:rPr dirty="0" err="1"/>
              <a:t>navController.popBackStack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9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8" name="navigate(Details(42)) przekazuje argument.&#10;toRou">
            <a:extLst>
              <a:ext uri="{FF2B5EF4-FFF2-40B4-BE49-F238E27FC236}">
                <a16:creationId xmlns:a16="http://schemas.microsoft.com/office/drawing/2014/main" id="{68BA0F4A-AC0F-5443-B884-94FF85FFF920}"/>
              </a:ext>
            </a:extLst>
          </p:cNvPr>
          <p:cNvSpPr>
            <a:spLocks noGrp="1"/>
          </p:cNvSpPr>
          <p:nvPr/>
        </p:nvSpPr>
        <p:spPr>
          <a:xfrm>
            <a:off x="1333500" y="5526285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navigate(Details(42))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przekazuje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argument.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&lt;Details&gt;()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odczytuje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go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docelowym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BA75BD2-A1D0-AF5B-6DFB-60B43ADFCB61}"/>
              </a:ext>
            </a:extLst>
          </p:cNvPr>
          <p:cNvSpPr txBox="1"/>
          <p:nvPr/>
        </p:nvSpPr>
        <p:spPr>
          <a:xfrm>
            <a:off x="1148768" y="6210130"/>
            <a:ext cx="802838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@Serializable umożliwia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Navigation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zapisanie argumentów trasy i odtworzenie obiektu trasy przez </a:t>
            </a:r>
            <a:r>
              <a:rPr lang="pl-PL" sz="200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toRoute</a:t>
            </a:r>
            <a:r>
              <a:rPr lang="pl-PL" sz="200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854005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916C5-D8F4-287A-897B-2AA71145C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616181-BEB9-989C-EDB0-B0DAB8DB599C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sp>
        <p:nvSpPr>
          <p:cNvPr id="4" name="Kod Kotlin / Gradle">
            <a:extLst>
              <a:ext uri="{FF2B5EF4-FFF2-40B4-BE49-F238E27FC236}">
                <a16:creationId xmlns:a16="http://schemas.microsoft.com/office/drawing/2014/main" id="{258D9BFF-CE0D-9680-1313-C0B56B90B607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7381875" cy="402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HomeScreen</a:t>
            </a:r>
            <a:r>
              <a:rPr dirty="0"/>
              <a:t>(</a:t>
            </a:r>
            <a:r>
              <a:rPr dirty="0" err="1"/>
              <a:t>onDetails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onDetails</a:t>
            </a:r>
            <a:r>
              <a:rPr dirty="0"/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Szczegóły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9E880D"/>
                </a:solidFill>
              </a:rPr>
              <a:t>@Composable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>
                <a:solidFill>
                  <a:srgbClr val="0033B3"/>
                </a:solidFill>
              </a:rPr>
              <a:t>fun</a:t>
            </a:r>
            <a:r>
              <a:rPr dirty="0"/>
              <a:t> </a:t>
            </a:r>
            <a:r>
              <a:rPr dirty="0" err="1"/>
              <a:t>DetailsScreen</a:t>
            </a:r>
            <a:r>
              <a:rPr dirty="0"/>
              <a:t>(id: Int, </a:t>
            </a:r>
            <a:r>
              <a:rPr dirty="0" err="1"/>
              <a:t>onBack</a:t>
            </a:r>
            <a:r>
              <a:rPr dirty="0"/>
              <a:t>: () -&gt; Unit)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Column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Text(</a:t>
            </a:r>
            <a:r>
              <a:rPr dirty="0">
                <a:solidFill>
                  <a:srgbClr val="067D17"/>
                </a:solidFill>
              </a:rPr>
              <a:t>"ID: $id"</a:t>
            </a:r>
            <a:r>
              <a:rPr dirty="0"/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Button(</a:t>
            </a:r>
            <a:r>
              <a:rPr dirty="0" err="1"/>
              <a:t>onClick</a:t>
            </a:r>
            <a:r>
              <a:rPr dirty="0"/>
              <a:t> = </a:t>
            </a:r>
            <a:r>
              <a:rPr dirty="0" err="1"/>
              <a:t>onBack</a:t>
            </a:r>
            <a:r>
              <a:rPr dirty="0"/>
              <a:t>)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Wstecz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77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7" name="Ekran otrzymuje dane i zgłasza akcje.&#10;Sposób prz">
            <a:extLst>
              <a:ext uri="{FF2B5EF4-FFF2-40B4-BE49-F238E27FC236}">
                <a16:creationId xmlns:a16="http://schemas.microsoft.com/office/drawing/2014/main" id="{49FB3CC8-A1D7-2F9F-EDAE-72CB04941459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Ekran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otrzymuje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zgłasza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akcje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Sposób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przejścia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określa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konfigurujący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9555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EF9807-FA89-5023-2CA7-AF92F31A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1273A-0975-BDED-9F62-F34F8CA6A2A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i akcje ekranu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F784F352-CE2C-8CE4-92BA-749331C32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7268342"/>
              </p:ext>
            </p:extLst>
          </p:nvPr>
        </p:nvGraphicFramePr>
        <p:xfrm>
          <a:off x="1333500" y="1562100"/>
          <a:ext cx="7381875" cy="3219450"/>
        </p:xfrm>
        <a:graphic>
          <a:graphicData uri="http://schemas.openxmlformats.org/drawingml/2006/table">
            <a:tbl>
              <a:tblPr/>
              <a:tblGrid>
                <a:gridCol w="352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Akcja</a:t>
                      </a:r>
                      <a:endParaRPr sz="195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Ekrany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na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400" b="1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stosie</a:t>
                      </a:r>
                      <a:endParaRPr sz="2400" b="1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Uruchomienie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navigate(Details(42))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navigate(Details(7))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890"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popBackStack()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</a:t>
                      </a:r>
                    </a:p>
                  </a:txBody>
                  <a:tcPr anchor="ctr">
                    <a:solidFill>
                      <a:srgbClr val="EE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Ostatni wpis odpowiada aktualnemu ekranowi.&#10;Powr">
            <a:extLst>
              <a:ext uri="{FF2B5EF4-FFF2-40B4-BE49-F238E27FC236}">
                <a16:creationId xmlns:a16="http://schemas.microsoft.com/office/drawing/2014/main" id="{34E81405-53BA-2FDE-7D7C-84DA898A2BF6}"/>
              </a:ext>
            </a:extLst>
          </p:cNvPr>
          <p:cNvSpPr>
            <a:spLocks noGrp="1"/>
          </p:cNvSpPr>
          <p:nvPr/>
        </p:nvSpPr>
        <p:spPr>
          <a:xfrm>
            <a:off x="1333500" y="5219700"/>
            <a:ext cx="7381875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Ostatni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aktualnemu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ekranowi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wpis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ze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szczytu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0" dirty="0" err="1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400" b="0" dirty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528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C9129-6945-0D46-E2A4-2EBC80AB9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E90E1A-0E01-35A4-8DF2-D7CFCCFA6C4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Usuwanie wpisów ze stosu</a:t>
            </a:r>
          </a:p>
        </p:txBody>
      </p:sp>
      <p:sp>
        <p:nvSpPr>
          <p:cNvPr id="4" name="Numer slajdu">
            <a:extLst>
              <a:ext uri="{FF2B5EF4-FFF2-40B4-BE49-F238E27FC236}">
                <a16:creationId xmlns:a16="http://schemas.microsoft.com/office/drawing/2014/main" id="{3DD99D30-B05B-9119-40ED-009ABC7B8353}"/>
              </a:ext>
            </a:extLst>
          </p:cNvPr>
          <p:cNvSpPr>
            <a:spLocks noGrp="1"/>
          </p:cNvSpPr>
          <p:nvPr/>
        </p:nvSpPr>
        <p:spPr>
          <a:xfrm>
            <a:off x="2952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7" name="Kod Kotlin / Gradle">
            <a:extLst>
              <a:ext uri="{FF2B5EF4-FFF2-40B4-BE49-F238E27FC236}">
                <a16:creationId xmlns:a16="http://schemas.microsoft.com/office/drawing/2014/main" id="{D3C39D13-9554-4CE3-FF9D-B9E9F6AF1BD9}"/>
              </a:ext>
            </a:extLst>
          </p:cNvPr>
          <p:cNvSpPr>
            <a:spLocks noGrp="1"/>
          </p:cNvSpPr>
          <p:nvPr/>
        </p:nvSpPr>
        <p:spPr>
          <a:xfrm>
            <a:off x="1333500" y="1552575"/>
            <a:ext cx="7381875" cy="1619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navController.navigate(Home)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popUpTo&lt;Home&gt; { inclusive = </a:t>
            </a:r>
            <a:r>
              <a:rPr>
                <a:solidFill>
                  <a:srgbClr val="0033B3"/>
                </a:solidFill>
              </a:rPr>
              <a:t>false</a:t>
            </a:r>
            <a:r>
              <a:t>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4165980D-E4FA-6654-767A-0BF6A23B52A0}"/>
              </a:ext>
            </a:extLst>
          </p:cNvPr>
          <p:cNvGraphicFramePr/>
          <p:nvPr/>
        </p:nvGraphicFramePr>
        <p:xfrm>
          <a:off x="1333500" y="3552825"/>
          <a:ext cx="7381875" cy="1428750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Przed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Po</a:t>
                      </a:r>
                    </a:p>
                  </a:txBody>
                  <a:tcPr anchor="ctr">
                    <a:solidFill>
                      <a:srgbClr val="005F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Home, Details(42), Details(7)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52B37"/>
                          </a:solidFill>
                          <a:latin typeface="Calibri"/>
                          <a:ea typeface="Calibri"/>
                          <a:cs typeface="Calibri"/>
                        </a:rPr>
                        <a:t>Home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popUpTo usuwa wpisy ponad wskazanym celem.&#10;inclu">
            <a:extLst>
              <a:ext uri="{FF2B5EF4-FFF2-40B4-BE49-F238E27FC236}">
                <a16:creationId xmlns:a16="http://schemas.microsoft.com/office/drawing/2014/main" id="{F9CB2E0B-A337-0DDB-AF85-C8A382DB847E}"/>
              </a:ext>
            </a:extLst>
          </p:cNvPr>
          <p:cNvSpPr>
            <a:spLocks noGrp="1"/>
          </p:cNvSpPr>
          <p:nvPr/>
        </p:nvSpPr>
        <p:spPr>
          <a:xfrm>
            <a:off x="1333500" y="5886450"/>
            <a:ext cx="738187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popUpTo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ponad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celem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inclusive = true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usuwa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także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sam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wskazany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cel.</a:t>
            </a:r>
          </a:p>
        </p:txBody>
      </p:sp>
    </p:spTree>
    <p:extLst>
      <p:ext uri="{BB962C8B-B14F-4D97-AF65-F5344CB8AC3E}">
        <p14:creationId xmlns:p14="http://schemas.microsoft.com/office/powerpoint/2010/main" val="1061892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1B5C-9F30-C4F7-235B-FB98F65C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B3A1F8-9122-6089-1C30-D25636C19C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aplikacji</a:t>
            </a:r>
          </a:p>
        </p:txBody>
      </p:sp>
      <p:sp>
        <p:nvSpPr>
          <p:cNvPr id="5" name="Jeden NavController">
            <a:extLst>
              <a:ext uri="{FF2B5EF4-FFF2-40B4-BE49-F238E27FC236}">
                <a16:creationId xmlns:a16="http://schemas.microsoft.com/office/drawing/2014/main" id="{5FCCFA2E-85C2-B6EE-E77F-E927AF34678C}"/>
              </a:ext>
            </a:extLst>
          </p:cNvPr>
          <p:cNvSpPr>
            <a:spLocks noGrp="1"/>
          </p:cNvSpPr>
          <p:nvPr/>
        </p:nvSpPr>
        <p:spPr>
          <a:xfrm>
            <a:off x="1333500" y="13049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Jeden NavController</a:t>
            </a:r>
          </a:p>
        </p:txBody>
      </p:sp>
      <p:sp>
        <p:nvSpPr>
          <p:cNvPr id="8" name="Szuflada i dolny pasek korzystają&#10;z tego samego ">
            <a:extLst>
              <a:ext uri="{FF2B5EF4-FFF2-40B4-BE49-F238E27FC236}">
                <a16:creationId xmlns:a16="http://schemas.microsoft.com/office/drawing/2014/main" id="{8A983A0C-0F23-86FC-D84C-D5C890288254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Szuflada i dolny pasek korzystają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tego samego grafu.</a:t>
            </a:r>
          </a:p>
        </p:txBody>
      </p:sp>
      <p:sp>
        <p:nvSpPr>
          <p:cNvPr id="11" name="Szuflada">
            <a:extLst>
              <a:ext uri="{FF2B5EF4-FFF2-40B4-BE49-F238E27FC236}">
                <a16:creationId xmlns:a16="http://schemas.microsoft.com/office/drawing/2014/main" id="{C031C2B0-4CC1-4F5B-7E11-7940C32EA61F}"/>
              </a:ext>
            </a:extLst>
          </p:cNvPr>
          <p:cNvSpPr>
            <a:spLocks noGrp="1"/>
          </p:cNvSpPr>
          <p:nvPr/>
        </p:nvSpPr>
        <p:spPr>
          <a:xfrm>
            <a:off x="1333500" y="273367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Szuflada</a:t>
            </a:r>
          </a:p>
        </p:txBody>
      </p:sp>
      <p:sp>
        <p:nvSpPr>
          <p:cNvPr id="14" name="Ikona menu otwiera panel&#10;z profilem i ustawienia">
            <a:extLst>
              <a:ext uri="{FF2B5EF4-FFF2-40B4-BE49-F238E27FC236}">
                <a16:creationId xmlns:a16="http://schemas.microsoft.com/office/drawing/2014/main" id="{57FE6334-0919-C032-D874-798A2A16F623}"/>
              </a:ext>
            </a:extLst>
          </p:cNvPr>
          <p:cNvSpPr>
            <a:spLocks noGrp="1"/>
          </p:cNvSpPr>
          <p:nvPr/>
        </p:nvSpPr>
        <p:spPr>
          <a:xfrm>
            <a:off x="1333500" y="311467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Ikona menu otwiera panel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z profilem i ustawieniami.</a:t>
            </a:r>
          </a:p>
        </p:txBody>
      </p:sp>
      <p:sp>
        <p:nvSpPr>
          <p:cNvPr id="16" name="Dolny pasek">
            <a:extLst>
              <a:ext uri="{FF2B5EF4-FFF2-40B4-BE49-F238E27FC236}">
                <a16:creationId xmlns:a16="http://schemas.microsoft.com/office/drawing/2014/main" id="{6FCD2596-A6FB-F603-EDD4-18962BB45378}"/>
              </a:ext>
            </a:extLst>
          </p:cNvPr>
          <p:cNvSpPr>
            <a:spLocks noGrp="1"/>
          </p:cNvSpPr>
          <p:nvPr/>
        </p:nvSpPr>
        <p:spPr>
          <a:xfrm>
            <a:off x="1333500" y="4162425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Dolny pasek</a:t>
            </a:r>
          </a:p>
        </p:txBody>
      </p:sp>
      <p:sp>
        <p:nvSpPr>
          <p:cNvPr id="18" name="Start i Koszyk przełączają&#10;główne obszary aplika">
            <a:extLst>
              <a:ext uri="{FF2B5EF4-FFF2-40B4-BE49-F238E27FC236}">
                <a16:creationId xmlns:a16="http://schemas.microsoft.com/office/drawing/2014/main" id="{1C62F909-8C65-745C-0CA4-B001D4B22CBE}"/>
              </a:ext>
            </a:extLst>
          </p:cNvPr>
          <p:cNvSpPr>
            <a:spLocks noGrp="1"/>
          </p:cNvSpPr>
          <p:nvPr/>
        </p:nvSpPr>
        <p:spPr>
          <a:xfrm>
            <a:off x="1333500" y="4543425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Start i Koszyk przełączają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główne obszary aplikacji.</a:t>
            </a:r>
          </a:p>
        </p:txBody>
      </p:sp>
      <p:pic>
        <p:nvPicPr>
          <p:cNvPr id="22" name="Obraz 21">
            <a:extLst>
              <a:ext uri="{FF2B5EF4-FFF2-40B4-BE49-F238E27FC236}">
                <a16:creationId xmlns:a16="http://schemas.microsoft.com/office/drawing/2014/main" id="{AEF679FA-7637-C255-CFA3-ABE57EF6F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4" name="Wspólny ekran aplikacji">
            <a:extLst>
              <a:ext uri="{FF2B5EF4-FFF2-40B4-BE49-F238E27FC236}">
                <a16:creationId xmlns:a16="http://schemas.microsoft.com/office/drawing/2014/main" id="{C0FFB6A3-7DDF-8066-2C53-DB3681A359A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Wspólny ekran aplikacji</a:t>
            </a:r>
          </a:p>
        </p:txBody>
      </p:sp>
    </p:spTree>
    <p:extLst>
      <p:ext uri="{BB962C8B-B14F-4D97-AF65-F5344CB8AC3E}">
        <p14:creationId xmlns:p14="http://schemas.microsoft.com/office/powerpoint/2010/main" val="4187224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FC005-C860-8343-CB12-6F0823AFB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AB79CC-4B47-1851-1581-F7D9B5AE0586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Stan szuflady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3B3C579B-C12A-4E4F-8148-A6B6D6E21D4D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drawerState = rememberDrawerState(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DrawerValue.Closed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scope = rememberCoroutineScope()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IconButton(onClick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scope.launch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drawerState.open()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MenuIcon()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open() i close() są zawieszające.&#10;Uruchamiamy je">
            <a:extLst>
              <a:ext uri="{FF2B5EF4-FFF2-40B4-BE49-F238E27FC236}">
                <a16:creationId xmlns:a16="http://schemas.microsoft.com/office/drawing/2014/main" id="{5A770691-5C23-2638-66CC-0B1463B6A6C4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open()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close()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zawieszające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Uruchamiamy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 w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scope.launch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4C75CE11-6087-90A8-4916-C3014080D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23975"/>
            <a:ext cx="2571750" cy="4572000"/>
          </a:xfrm>
          <a:prstGeom prst="rect">
            <a:avLst/>
          </a:prstGeom>
        </p:spPr>
      </p:pic>
      <p:sp>
        <p:nvSpPr>
          <p:cNvPr id="17" name="Animacja: otwarcie i wybór Profilu">
            <a:extLst>
              <a:ext uri="{FF2B5EF4-FFF2-40B4-BE49-F238E27FC236}">
                <a16:creationId xmlns:a16="http://schemas.microsoft.com/office/drawing/2014/main" id="{E27A2606-989B-818F-8974-549D67A3D79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Animacja: otwarcie i wybór Profilu</a:t>
            </a:r>
          </a:p>
        </p:txBody>
      </p:sp>
    </p:spTree>
    <p:extLst>
      <p:ext uri="{BB962C8B-B14F-4D97-AF65-F5344CB8AC3E}">
        <p14:creationId xmlns:p14="http://schemas.microsoft.com/office/powerpoint/2010/main" val="40168725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E5E796-BAEA-7159-9F06-31B0E6A26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C547CE6-CFEE-D601-33E7-64BE0D4EA6DE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Kontener szuflady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C0ED11A0-CEA4-0CFA-3A81-2E29DB6CB120}"/>
              </a:ext>
            </a:extLst>
          </p:cNvPr>
          <p:cNvSpPr>
            <a:spLocks noGrp="1"/>
          </p:cNvSpPr>
          <p:nvPr/>
        </p:nvSpPr>
        <p:spPr>
          <a:xfrm>
            <a:off x="1333500" y="1181100"/>
            <a:ext cx="4619625" cy="45148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ModalNavigationDrawer(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drawerState = drawerState,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drawerContent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ModalDrawerSheet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DrawerItems()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Scaffold(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topBar = { AppTopBar()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bottomBar = { AppBottomBar()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 { padding -&gt;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AppNavHost(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Modifier.padding(padding)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8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60DD599C-1FA4-7838-A005-82716B1FE0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2" name="Scaffold: pasek górny, treść i zakładki">
            <a:extLst>
              <a:ext uri="{FF2B5EF4-FFF2-40B4-BE49-F238E27FC236}">
                <a16:creationId xmlns:a16="http://schemas.microsoft.com/office/drawing/2014/main" id="{FF24C9F2-64DA-5832-DC9D-F8FCA4F5004D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Scaffold: pasek górny, treść i zakładki</a:t>
            </a:r>
          </a:p>
        </p:txBody>
      </p:sp>
    </p:spTree>
    <p:extLst>
      <p:ext uri="{BB962C8B-B14F-4D97-AF65-F5344CB8AC3E}">
        <p14:creationId xmlns:p14="http://schemas.microsoft.com/office/powerpoint/2010/main" val="2789702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4644D7-37B2-BDC3-8919-9ACCD085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89C76F-0899-BE7C-B3A3-BFA03C63856A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Aktywna pozycja menu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FFA7361-5E9B-DE2E-7848-053E7B76F02B}"/>
              </a:ext>
            </a:extLst>
          </p:cNvPr>
          <p:cNvSpPr>
            <a:spLocks noGrp="1"/>
          </p:cNvSpPr>
          <p:nvPr/>
        </p:nvSpPr>
        <p:spPr>
          <a:xfrm>
            <a:off x="1333500" y="12192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>
                <a:solidFill>
                  <a:srgbClr val="0033B3"/>
                </a:solidFill>
              </a:rPr>
              <a:t>val</a:t>
            </a:r>
            <a:r>
              <a:rPr dirty="0"/>
              <a:t> </a:t>
            </a:r>
            <a:r>
              <a:rPr dirty="0" err="1"/>
              <a:t>isProfile</a:t>
            </a:r>
            <a:r>
              <a:rPr dirty="0"/>
              <a:t>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?.</a:t>
            </a:r>
            <a:r>
              <a:rPr dirty="0" err="1"/>
              <a:t>hierarchy?.any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it.hasRoute</a:t>
            </a:r>
            <a:r>
              <a:rPr dirty="0"/>
              <a:t>&lt;Profile&gt;()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 ==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 dirty="0"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NavigationDrawerItem</a:t>
            </a:r>
            <a:r>
              <a:rPr dirty="0"/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label = { Text(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 err="1">
                <a:solidFill>
                  <a:srgbClr val="067D17"/>
                </a:solidFill>
              </a:rPr>
              <a:t>Profil</a:t>
            </a:r>
            <a:r>
              <a:rPr dirty="0">
                <a:solidFill>
                  <a:srgbClr val="067D17"/>
                </a:solidFill>
              </a:rPr>
              <a:t>"</a:t>
            </a:r>
            <a:r>
              <a:rPr dirty="0"/>
              <a:t>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selected = </a:t>
            </a:r>
            <a:r>
              <a:rPr dirty="0" err="1"/>
              <a:t>isProfile</a:t>
            </a:r>
            <a:r>
              <a:rPr dirty="0"/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onClick</a:t>
            </a:r>
            <a:r>
              <a:rPr dirty="0"/>
              <a:t>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navController</a:t>
            </a:r>
            <a:endParaRPr dirty="0"/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.</a:t>
            </a:r>
            <a:r>
              <a:rPr dirty="0" err="1"/>
              <a:t>openTopLevel</a:t>
            </a:r>
            <a:r>
              <a:rPr dirty="0"/>
              <a:t>(Profile)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</a:t>
            </a:r>
            <a:r>
              <a:rPr dirty="0" err="1"/>
              <a:t>scope.launch</a:t>
            </a:r>
            <a:r>
              <a:rPr dirty="0"/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    </a:t>
            </a:r>
            <a:r>
              <a:rPr dirty="0" err="1"/>
              <a:t>drawerState.close</a:t>
            </a:r>
            <a:r>
              <a:rPr dirty="0"/>
              <a:t>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)</a:t>
            </a:r>
          </a:p>
        </p:txBody>
      </p:sp>
      <p:sp>
        <p:nvSpPr>
          <p:cNvPr id="8" name="current pochodzi z aktualnego wpisu&#10;stosu. Zazna">
            <a:extLst>
              <a:ext uri="{FF2B5EF4-FFF2-40B4-BE49-F238E27FC236}">
                <a16:creationId xmlns:a16="http://schemas.microsoft.com/office/drawing/2014/main" id="{206704C8-A6A6-7E41-9723-C2118C8DE5C0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current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pochodzi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aktualnego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wpisu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Zaznaczenie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odpowiada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trasie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F04BC9F5-A13C-D7DD-A51D-7A1FDBF9B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rofil zaznaczony w szufladzie">
            <a:extLst>
              <a:ext uri="{FF2B5EF4-FFF2-40B4-BE49-F238E27FC236}">
                <a16:creationId xmlns:a16="http://schemas.microsoft.com/office/drawing/2014/main" id="{5586ABF7-8AA6-8C17-9004-811A4008CE46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Profil zaznaczony w szufladzie</a:t>
            </a:r>
          </a:p>
        </p:txBody>
      </p:sp>
    </p:spTree>
    <p:extLst>
      <p:ext uri="{BB962C8B-B14F-4D97-AF65-F5344CB8AC3E}">
        <p14:creationId xmlns:p14="http://schemas.microsoft.com/office/powerpoint/2010/main" val="3235155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B16B6-0AC9-5F0A-CD44-4DECC356C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F6E2E-16F0-C528-3A12-E20B7775A909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Dolny pasek nawigacji</a:t>
            </a:r>
          </a:p>
        </p:txBody>
      </p:sp>
      <p:sp>
        <p:nvSpPr>
          <p:cNvPr id="4" name="Kod Kotlin">
            <a:extLst>
              <a:ext uri="{FF2B5EF4-FFF2-40B4-BE49-F238E27FC236}">
                <a16:creationId xmlns:a16="http://schemas.microsoft.com/office/drawing/2014/main" id="{8165644E-58A1-290A-AC85-6D28EFD0693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isCart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?.hasRoute&lt;Cart&gt;()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NavigationBar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NavigationBarItem(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selected = isCart,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onClick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navController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    .openTopLevel(Cart)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icon = { CartIcon() },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label = { Text(</a:t>
            </a:r>
            <a:r>
              <a:rPr>
                <a:solidFill>
                  <a:srgbClr val="067D17"/>
                </a:solidFill>
              </a:rPr>
              <a:t>"Koszyk"</a:t>
            </a:r>
            <a:r>
              <a:t>)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6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7" name="Start ma analogiczną pozycję.&#10;CartIcon() wyświet">
            <a:extLst>
              <a:ext uri="{FF2B5EF4-FFF2-40B4-BE49-F238E27FC236}">
                <a16:creationId xmlns:a16="http://schemas.microsoft.com/office/drawing/2014/main" id="{30517831-1D52-B5ED-E1D4-F42321C836D5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Start ma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analogiczną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pozycję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CartIcon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()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wyświetla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ikonę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A5C36C1-E3A5-E902-3B16-DCCD4E661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3" name="Koszyk jako aktywna zakładka">
            <a:extLst>
              <a:ext uri="{FF2B5EF4-FFF2-40B4-BE49-F238E27FC236}">
                <a16:creationId xmlns:a16="http://schemas.microsoft.com/office/drawing/2014/main" id="{7C686CA4-E15F-CB9D-E3DE-7F372466091E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Koszyk jako aktywna zakładka</a:t>
            </a:r>
          </a:p>
        </p:txBody>
      </p:sp>
    </p:spTree>
    <p:extLst>
      <p:ext uri="{BB962C8B-B14F-4D97-AF65-F5344CB8AC3E}">
        <p14:creationId xmlns:p14="http://schemas.microsoft.com/office/powerpoint/2010/main" val="36790496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9AC19-F824-EAFA-2B63-DAA46A32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406D2A-C3E8-3832-721F-33214D37CCCF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Przełączanie zakładek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DAE9F9C4-4F8D-A60D-AD5E-5EBC08B7EFD0}"/>
              </a:ext>
            </a:extLst>
          </p:cNvPr>
          <p:cNvSpPr>
            <a:spLocks noGrp="1"/>
          </p:cNvSpPr>
          <p:nvPr/>
        </p:nvSpPr>
        <p:spPr>
          <a:xfrm>
            <a:off x="1333500" y="132397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inline</a:t>
            </a:r>
            <a:r>
              <a:t> </a:t>
            </a:r>
            <a:r>
              <a:rPr>
                <a:solidFill>
                  <a:srgbClr val="0033B3"/>
                </a:solidFill>
              </a:rPr>
              <a:t>fun</a:t>
            </a:r>
            <a:r>
              <a:t> &lt;</a:t>
            </a:r>
            <a:r>
              <a:rPr>
                <a:solidFill>
                  <a:srgbClr val="0033B3"/>
                </a:solidFill>
              </a:rPr>
              <a:t>reified</a:t>
            </a:r>
            <a:r>
              <a:t> T : Any&gt;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NavController.openTopLevel(route: 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val</a:t>
            </a:r>
            <a:r>
              <a:t> start = graph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.findStartDestination().id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navigate(route)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popUpTo(start)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    saveState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launchSingleTop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restoreState 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3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8" name="saveState i restoreState: stan zakładek.&#10;launchS">
            <a:extLst>
              <a:ext uri="{FF2B5EF4-FFF2-40B4-BE49-F238E27FC236}">
                <a16:creationId xmlns:a16="http://schemas.microsoft.com/office/drawing/2014/main" id="{FE638DE8-B973-F592-5030-839AE72F5AEC}"/>
              </a:ext>
            </a:extLst>
          </p:cNvPr>
          <p:cNvSpPr>
            <a:spLocks noGrp="1"/>
          </p:cNvSpPr>
          <p:nvPr/>
        </p:nvSpPr>
        <p:spPr>
          <a:xfrm>
            <a:off x="1333500" y="55911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saveState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restoreState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stan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zakładek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launchSingleTop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: bez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nowej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kopii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celu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gdy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jest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szczycie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stosu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9BA1D959-9CA2-8747-7E04-21D1913FE6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owrót do zakładki Start">
            <a:extLst>
              <a:ext uri="{FF2B5EF4-FFF2-40B4-BE49-F238E27FC236}">
                <a16:creationId xmlns:a16="http://schemas.microsoft.com/office/drawing/2014/main" id="{47FE3644-A92C-4DC5-F571-7750F4C95E3C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 do zakładki Start</a:t>
            </a:r>
          </a:p>
        </p:txBody>
      </p:sp>
    </p:spTree>
    <p:extLst>
      <p:ext uri="{BB962C8B-B14F-4D97-AF65-F5344CB8AC3E}">
        <p14:creationId xmlns:p14="http://schemas.microsoft.com/office/powerpoint/2010/main" val="3065367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16975-D0A1-F29B-C18E-90CCF8960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656DB5-336B-9BE6-A234-940944BA0ED2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7" name="Kod Kotlin">
            <a:extLst>
              <a:ext uri="{FF2B5EF4-FFF2-40B4-BE49-F238E27FC236}">
                <a16:creationId xmlns:a16="http://schemas.microsoft.com/office/drawing/2014/main" id="{1DC64275-E297-7B4F-941F-7F82AEF1F21E}"/>
              </a:ext>
            </a:extLst>
          </p:cNvPr>
          <p:cNvSpPr>
            <a:spLocks noGrp="1"/>
          </p:cNvSpPr>
          <p:nvPr/>
        </p:nvSpPr>
        <p:spPr>
          <a:xfrm>
            <a:off x="1333500" y="1143000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Payment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9E880D"/>
                </a:solidFill>
              </a:rPr>
              <a:t>@Serializable</a:t>
            </a:r>
            <a:r>
              <a:t> </a:t>
            </a:r>
            <a:r>
              <a:rPr>
                <a:solidFill>
                  <a:srgbClr val="0033B3"/>
                </a:solidFill>
              </a:rPr>
              <a:t>data</a:t>
            </a:r>
            <a:r>
              <a:t> </a:t>
            </a:r>
            <a:r>
              <a:rPr>
                <a:solidFill>
                  <a:srgbClr val="0033B3"/>
                </a:solidFill>
              </a:rPr>
              <a:t>object</a:t>
            </a:r>
            <a:r>
              <a:t> Summary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navigation&lt;Checkout&gt;(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startDestination = Address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composable&lt;Address&gt;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AddressScreen()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composable&lt;Payment&gt;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PaymentScreen()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composable&lt;Summary&gt;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SummaryScreen()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0" name="Adres, płatność i podsumowanie&#10;należą do jednego">
            <a:extLst>
              <a:ext uri="{FF2B5EF4-FFF2-40B4-BE49-F238E27FC236}">
                <a16:creationId xmlns:a16="http://schemas.microsoft.com/office/drawing/2014/main" id="{2FC54B83-BF39-583A-F613-707B2E244397}"/>
              </a:ext>
            </a:extLst>
          </p:cNvPr>
          <p:cNvSpPr>
            <a:spLocks noGrp="1"/>
          </p:cNvSpPr>
          <p:nvPr/>
        </p:nvSpPr>
        <p:spPr>
          <a:xfrm>
            <a:off x="1333500" y="583882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Adres,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podsumowanie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należą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jednego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grafu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Checkout.</a:t>
            </a: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164602B5-B7D2-1EA2-18A2-9956A8C54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6" name="Checkout zaczyna się od adresu">
            <a:extLst>
              <a:ext uri="{FF2B5EF4-FFF2-40B4-BE49-F238E27FC236}">
                <a16:creationId xmlns:a16="http://schemas.microsoft.com/office/drawing/2014/main" id="{44D99000-5B52-BA5D-1F68-C63BF4AB56DB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Checkout zaczyna się od adresu</a:t>
            </a:r>
          </a:p>
        </p:txBody>
      </p:sp>
    </p:spTree>
    <p:extLst>
      <p:ext uri="{BB962C8B-B14F-4D97-AF65-F5344CB8AC3E}">
        <p14:creationId xmlns:p14="http://schemas.microsoft.com/office/powerpoint/2010/main" val="253347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240192-81F2-C3E5-88A7-0EAC17A3A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A9718B-5979-688D-4F81-496296938913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Graf procesu zakupu</a:t>
            </a:r>
          </a:p>
        </p:txBody>
      </p:sp>
      <p:sp>
        <p:nvSpPr>
          <p:cNvPr id="4" name="Wejście z koszyka">
            <a:extLst>
              <a:ext uri="{FF2B5EF4-FFF2-40B4-BE49-F238E27FC236}">
                <a16:creationId xmlns:a16="http://schemas.microsoft.com/office/drawing/2014/main" id="{088EEA29-E9A3-57D3-47E7-77088447696D}"/>
              </a:ext>
            </a:extLst>
          </p:cNvPr>
          <p:cNvSpPr>
            <a:spLocks noGrp="1"/>
          </p:cNvSpPr>
          <p:nvPr/>
        </p:nvSpPr>
        <p:spPr>
          <a:xfrm>
            <a:off x="1333500" y="1333500"/>
            <a:ext cx="4572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Wejście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z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koszyka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Kod Kotlin">
            <a:extLst>
              <a:ext uri="{FF2B5EF4-FFF2-40B4-BE49-F238E27FC236}">
                <a16:creationId xmlns:a16="http://schemas.microsoft.com/office/drawing/2014/main" id="{4A07193F-9378-0C41-88F6-AA2AA36F57B9}"/>
              </a:ext>
            </a:extLst>
          </p:cNvPr>
          <p:cNvSpPr>
            <a:spLocks noGrp="1"/>
          </p:cNvSpPr>
          <p:nvPr/>
        </p:nvSpPr>
        <p:spPr>
          <a:xfrm>
            <a:off x="1333500" y="1924050"/>
            <a:ext cx="4619625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(Checkout)</a:t>
            </a:r>
          </a:p>
        </p:txBody>
      </p:sp>
      <p:sp>
        <p:nvSpPr>
          <p:cNvPr id="9" name="Zakończenie zamówienia">
            <a:extLst>
              <a:ext uri="{FF2B5EF4-FFF2-40B4-BE49-F238E27FC236}">
                <a16:creationId xmlns:a16="http://schemas.microsoft.com/office/drawing/2014/main" id="{C6240265-BFF8-73E2-9B48-07A30A364A4B}"/>
              </a:ext>
            </a:extLst>
          </p:cNvPr>
          <p:cNvSpPr>
            <a:spLocks noGrp="1"/>
          </p:cNvSpPr>
          <p:nvPr/>
        </p:nvSpPr>
        <p:spPr>
          <a:xfrm>
            <a:off x="1333500" y="30480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02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Zakończenie</a:t>
            </a:r>
            <a:r>
              <a:rPr sz="28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zamówienia</a:t>
            </a:r>
            <a:endParaRPr sz="28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Kod Kotlin">
            <a:extLst>
              <a:ext uri="{FF2B5EF4-FFF2-40B4-BE49-F238E27FC236}">
                <a16:creationId xmlns:a16="http://schemas.microsoft.com/office/drawing/2014/main" id="{06BC384F-D2BB-7125-A4F5-AD9A9C683F5F}"/>
              </a:ext>
            </a:extLst>
          </p:cNvPr>
          <p:cNvSpPr>
            <a:spLocks noGrp="1"/>
          </p:cNvSpPr>
          <p:nvPr/>
        </p:nvSpPr>
        <p:spPr>
          <a:xfrm>
            <a:off x="1333500" y="3619500"/>
            <a:ext cx="4619625" cy="1866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 err="1"/>
              <a:t>navController.navigate</a:t>
            </a:r>
            <a:r>
              <a:rPr dirty="0"/>
              <a:t>(Home)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popUpTo</a:t>
            </a:r>
            <a:r>
              <a:rPr dirty="0"/>
              <a:t>&lt;Checkout&gt;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    inclusive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    </a:t>
            </a:r>
            <a:r>
              <a:rPr dirty="0" err="1"/>
              <a:t>launchSingleTop</a:t>
            </a:r>
            <a:r>
              <a:rPr dirty="0"/>
              <a:t> = </a:t>
            </a:r>
            <a:r>
              <a:rPr dirty="0"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 dirty="0"/>
              <a:t>}</a:t>
            </a:r>
          </a:p>
        </p:txBody>
      </p:sp>
      <p:sp>
        <p:nvSpPr>
          <p:cNvPr id="15" name="Wstecz nie otworzy już kroków zakupu.&#10;Wcześniejs">
            <a:extLst>
              <a:ext uri="{FF2B5EF4-FFF2-40B4-BE49-F238E27FC236}">
                <a16:creationId xmlns:a16="http://schemas.microsoft.com/office/drawing/2014/main" id="{91C7B362-C332-FF50-E5B6-8B95D18CECBF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Wstecz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otworzy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już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kroków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zakupu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Wcześniejsza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historia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może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pozostać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18" name="Obraz 17">
            <a:extLst>
              <a:ext uri="{FF2B5EF4-FFF2-40B4-BE49-F238E27FC236}">
                <a16:creationId xmlns:a16="http://schemas.microsoft.com/office/drawing/2014/main" id="{4C32FB87-C84E-901F-F168-39FF655EE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0" name="Po potwierdzeniu wraca ekran Start">
            <a:extLst>
              <a:ext uri="{FF2B5EF4-FFF2-40B4-BE49-F238E27FC236}">
                <a16:creationId xmlns:a16="http://schemas.microsoft.com/office/drawing/2014/main" id="{383EBACE-15E5-2CE0-C738-68D5012AB964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 potwierdzeniu wraca ekran Start</a:t>
            </a:r>
          </a:p>
        </p:txBody>
      </p:sp>
    </p:spTree>
    <p:extLst>
      <p:ext uri="{BB962C8B-B14F-4D97-AF65-F5344CB8AC3E}">
        <p14:creationId xmlns:p14="http://schemas.microsoft.com/office/powerpoint/2010/main" val="409681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FB5EC4-803E-DDED-D00B-817E2E86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F6746F-503A-00AA-5FFB-58C84902DB0D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Menu poza procesem zakupu</a:t>
            </a:r>
          </a:p>
        </p:txBody>
      </p:sp>
      <p:sp>
        <p:nvSpPr>
          <p:cNvPr id="5" name="Kod Kotlin">
            <a:extLst>
              <a:ext uri="{FF2B5EF4-FFF2-40B4-BE49-F238E27FC236}">
                <a16:creationId xmlns:a16="http://schemas.microsoft.com/office/drawing/2014/main" id="{24A1C49A-F7FC-7216-CF36-3C32CA647FD9}"/>
              </a:ext>
            </a:extLst>
          </p:cNvPr>
          <p:cNvSpPr>
            <a:spLocks noGrp="1"/>
          </p:cNvSpPr>
          <p:nvPr/>
        </p:nvSpPr>
        <p:spPr>
          <a:xfrm>
            <a:off x="1333500" y="1266825"/>
            <a:ext cx="4619625" cy="442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val</a:t>
            </a:r>
            <a:r>
              <a:t> inCheckout = current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?.hierarchy?.any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    it.hasRoute&lt;Checkout&gt;()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} == </a:t>
            </a:r>
            <a:r>
              <a:rPr>
                <a:solidFill>
                  <a:srgbClr val="0033B3"/>
                </a:solidFill>
              </a:rPr>
              <a:t>true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>
              <a:solidFill>
                <a:srgbClr val="0033B3"/>
              </a:solidFill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LaunchedEffect(inCheckout)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(inCheckout) drawerState.close()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ModalNavigationDrawer: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gesturesEnabled = !inCheckout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Scaffold: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bottomBar =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</a:t>
            </a:r>
            <a:r>
              <a:rPr>
                <a:solidFill>
                  <a:srgbClr val="0033B3"/>
                </a:solidFill>
              </a:rPr>
              <a:t>if</a:t>
            </a:r>
            <a:r>
              <a:t> (!inCheckout) AppBottomBar()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90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pic>
        <p:nvPicPr>
          <p:cNvPr id="11" name="Obraz 10">
            <a:extLst>
              <a:ext uri="{FF2B5EF4-FFF2-40B4-BE49-F238E27FC236}">
                <a16:creationId xmlns:a16="http://schemas.microsoft.com/office/drawing/2014/main" id="{8A932555-CB20-36F7-AC95-6EF758D7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14" name="Płatność bez szuflady i dolnego paska">
            <a:extLst>
              <a:ext uri="{FF2B5EF4-FFF2-40B4-BE49-F238E27FC236}">
                <a16:creationId xmlns:a16="http://schemas.microsoft.com/office/drawing/2014/main" id="{FF76D60C-91C3-3824-8027-81D0EBDC91A5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Płatność bez szuflady i dolnego paska</a:t>
            </a:r>
          </a:p>
        </p:txBody>
      </p:sp>
    </p:spTree>
    <p:extLst>
      <p:ext uri="{BB962C8B-B14F-4D97-AF65-F5344CB8AC3E}">
        <p14:creationId xmlns:p14="http://schemas.microsoft.com/office/powerpoint/2010/main" val="3063645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C1ACBB-3253-CDBB-4B82-8550EAF66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5A35B5-CF74-9AAE-747A-070AA8BF3055}"/>
              </a:ext>
            </a:extLst>
          </p:cNvPr>
          <p:cNvSpPr/>
          <p:nvPr/>
        </p:nvSpPr>
        <p:spPr>
          <a:xfrm>
            <a:off x="1979712" y="188640"/>
            <a:ext cx="6696744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l-PL" sz="2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Dane formularza i powrót</a:t>
            </a:r>
          </a:p>
        </p:txBody>
      </p:sp>
      <p:sp>
        <p:nvSpPr>
          <p:cNvPr id="15" name="Kod Kotlin">
            <a:extLst>
              <a:ext uri="{FF2B5EF4-FFF2-40B4-BE49-F238E27FC236}">
                <a16:creationId xmlns:a16="http://schemas.microsoft.com/office/drawing/2014/main" id="{8191EA1E-0F23-039C-0495-F6D466B3B680}"/>
              </a:ext>
            </a:extLst>
          </p:cNvPr>
          <p:cNvSpPr>
            <a:spLocks noGrp="1"/>
          </p:cNvSpPr>
          <p:nvPr/>
        </p:nvSpPr>
        <p:spPr>
          <a:xfrm>
            <a:off x="1333500" y="1409700"/>
            <a:ext cx="4619625" cy="2333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777777"/>
                </a:solidFill>
              </a:rPr>
              <a:t>// Stan ponad NavHost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address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033B3"/>
                </a:solidFill>
              </a:rPr>
              <a:t>var</a:t>
            </a:r>
            <a:r>
              <a:t> payment </a:t>
            </a:r>
            <a:r>
              <a:rPr>
                <a:solidFill>
                  <a:srgbClr val="0033B3"/>
                </a:solidFill>
              </a:rPr>
              <a:t>by</a:t>
            </a:r>
            <a:r>
              <a:t> rememberSaveable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    mutableStateOf(</a:t>
            </a:r>
            <a:r>
              <a:rPr>
                <a:solidFill>
                  <a:srgbClr val="067D17"/>
                </a:solidFill>
              </a:rPr>
              <a:t>"Karta"</a:t>
            </a:r>
            <a: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202326"/>
                </a:solidFill>
                <a:latin typeface="Consolas"/>
                <a:ea typeface="Consolas"/>
                <a:cs typeface="Consolas"/>
              </a:defRPr>
            </a:pPr>
            <a:r>
              <a:t>}</a:t>
            </a:r>
          </a:p>
        </p:txBody>
      </p:sp>
      <p:sp>
        <p:nvSpPr>
          <p:cNvPr id="17" name="Wartości i callbacki">
            <a:extLst>
              <a:ext uri="{FF2B5EF4-FFF2-40B4-BE49-F238E27FC236}">
                <a16:creationId xmlns:a16="http://schemas.microsoft.com/office/drawing/2014/main" id="{D6E9BD31-3F0B-5EC0-4E2D-A869CCA26699}"/>
              </a:ext>
            </a:extLst>
          </p:cNvPr>
          <p:cNvSpPr>
            <a:spLocks noGrp="1"/>
          </p:cNvSpPr>
          <p:nvPr/>
        </p:nvSpPr>
        <p:spPr>
          <a:xfrm>
            <a:off x="1333500" y="3943350"/>
            <a:ext cx="46196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75" b="1">
                <a:solidFill>
                  <a:srgbClr val="005F88"/>
                </a:solidFill>
                <a:latin typeface="Calibri"/>
                <a:ea typeface="Calibri"/>
                <a:cs typeface="Calibri"/>
              </a:defRPr>
            </a:pP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Wartości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dirty="0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400" b="1" dirty="0" err="1">
                <a:solidFill>
                  <a:srgbClr val="005F88"/>
                </a:solidFill>
                <a:latin typeface="Calibri"/>
                <a:ea typeface="Calibri"/>
                <a:cs typeface="Calibri"/>
              </a:rPr>
              <a:t>callbacki</a:t>
            </a:r>
            <a:endParaRPr sz="2400" b="1" dirty="0">
              <a:solidFill>
                <a:srgbClr val="005F8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Ekrany odczytują wspólny stan&#10;i zgłaszają jego z">
            <a:extLst>
              <a:ext uri="{FF2B5EF4-FFF2-40B4-BE49-F238E27FC236}">
                <a16:creationId xmlns:a16="http://schemas.microsoft.com/office/drawing/2014/main" id="{61B7BF11-3F18-B2E4-4A27-824C70B2F68E}"/>
              </a:ext>
            </a:extLst>
          </p:cNvPr>
          <p:cNvSpPr>
            <a:spLocks noGrp="1"/>
          </p:cNvSpPr>
          <p:nvPr/>
        </p:nvSpPr>
        <p:spPr>
          <a:xfrm>
            <a:off x="1333500" y="4324350"/>
            <a:ext cx="4619625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Ekrany odczytują wspólny stan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52B3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52B37"/>
                </a:solidFill>
                <a:latin typeface="Calibri"/>
                <a:ea typeface="Calibri"/>
                <a:cs typeface="Calibri"/>
              </a:rPr>
              <a:t>i zgłaszają jego zmiany.</a:t>
            </a:r>
          </a:p>
        </p:txBody>
      </p:sp>
      <p:sp>
        <p:nvSpPr>
          <p:cNvPr id="21" name="Powrót do poprzedniego kroku&#10;nie kasuje danych. ">
            <a:extLst>
              <a:ext uri="{FF2B5EF4-FFF2-40B4-BE49-F238E27FC236}">
                <a16:creationId xmlns:a16="http://schemas.microsoft.com/office/drawing/2014/main" id="{69948823-1D44-7066-056D-6D6A0ADAD6A7}"/>
              </a:ext>
            </a:extLst>
          </p:cNvPr>
          <p:cNvSpPr>
            <a:spLocks noGrp="1"/>
          </p:cNvSpPr>
          <p:nvPr/>
        </p:nvSpPr>
        <p:spPr>
          <a:xfrm>
            <a:off x="1333500" y="5781675"/>
            <a:ext cx="46482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Powrót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do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poprzedniego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kroku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nie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kasuje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danych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 Po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potwierdzeniu</a:t>
            </a:r>
            <a:endParaRPr sz="2000" b="0" dirty="0">
              <a:solidFill>
                <a:srgbClr val="455661"/>
              </a:solidFill>
              <a:latin typeface="Calibri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zamówienia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czyścimy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00" b="0" dirty="0" err="1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formularz</a:t>
            </a:r>
            <a:r>
              <a:rPr sz="2000" b="0" dirty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3" name="Obraz 22">
            <a:extLst>
              <a:ext uri="{FF2B5EF4-FFF2-40B4-BE49-F238E27FC236}">
                <a16:creationId xmlns:a16="http://schemas.microsoft.com/office/drawing/2014/main" id="{E7D9612E-8E15-7219-DBBB-5213F28D7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29350" y="1304925"/>
            <a:ext cx="2571750" cy="4572000"/>
          </a:xfrm>
          <a:prstGeom prst="rect">
            <a:avLst/>
          </a:prstGeom>
        </p:spPr>
      </p:pic>
      <p:sp>
        <p:nvSpPr>
          <p:cNvPr id="25" name="Adres zachowany po powrocie z płatności">
            <a:extLst>
              <a:ext uri="{FF2B5EF4-FFF2-40B4-BE49-F238E27FC236}">
                <a16:creationId xmlns:a16="http://schemas.microsoft.com/office/drawing/2014/main" id="{CFA71D09-07CE-E698-C02E-381F01CC6850}"/>
              </a:ext>
            </a:extLst>
          </p:cNvPr>
          <p:cNvSpPr>
            <a:spLocks noGrp="1"/>
          </p:cNvSpPr>
          <p:nvPr/>
        </p:nvSpPr>
        <p:spPr>
          <a:xfrm>
            <a:off x="6229350" y="6038850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455661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455661"/>
                </a:solidFill>
                <a:latin typeface="Calibri"/>
                <a:ea typeface="Calibri"/>
                <a:cs typeface="Calibri"/>
              </a:rPr>
              <a:t>Adres zachowany po powrocie z płatności</a:t>
            </a:r>
          </a:p>
        </p:txBody>
      </p:sp>
    </p:spTree>
    <p:extLst>
      <p:ext uri="{BB962C8B-B14F-4D97-AF65-F5344CB8AC3E}">
        <p14:creationId xmlns:p14="http://schemas.microsoft.com/office/powerpoint/2010/main" val="2157611971"/>
      </p:ext>
    </p:extLst>
  </p:cSld>
  <p:clrMapOvr>
    <a:masterClrMapping/>
  </p:clrMapOvr>
</p:sld>
</file>

<file path=ppt/theme/theme1.xml><?xml version="1.0" encoding="utf-8"?>
<a:theme xmlns:a="http://schemas.openxmlformats.org/drawingml/2006/main" name="uni.wroc_0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uni.wroc_01.potx</Template>
  <TotalTime>82423</TotalTime>
  <Pages>0</Pages>
  <Words>1783</Words>
  <Characters>0</Characters>
  <Application>Microsoft Office PowerPoint</Application>
  <PresentationFormat>Pokaz na ekranie (4:3)</PresentationFormat>
  <Lines>0</Lines>
  <Paragraphs>436</Paragraphs>
  <Slides>27</Slides>
  <Notes>27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27</vt:i4>
      </vt:variant>
    </vt:vector>
  </HeadingPairs>
  <TitlesOfParts>
    <vt:vector size="32" baseType="lpstr">
      <vt:lpstr>Arial</vt:lpstr>
      <vt:lpstr>Calibri</vt:lpstr>
      <vt:lpstr>Courier New</vt:lpstr>
      <vt:lpstr>Verdana</vt:lpstr>
      <vt:lpstr>uni.wroc_01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Podręcznik użytkownika  Systemu Identyfikacji Wizualnej   cz. I  dla pracowników naukowych i administracyjnych</dc:title>
  <dc:subject/>
  <dc:creator>tolek</dc:creator>
  <cp:keywords/>
  <dc:description/>
  <cp:lastModifiedBy>Rafał Lewandków</cp:lastModifiedBy>
  <cp:revision>1148</cp:revision>
  <dcterms:modified xsi:type="dcterms:W3CDTF">2026-10-07T12:58:53Z</dcterms:modified>
  <cp:category/>
</cp:coreProperties>
</file>