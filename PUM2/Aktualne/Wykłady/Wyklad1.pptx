
<file path=[Content_Types].xml><?xml version="1.0" encoding="utf-8"?>
<Types xmlns="http://schemas.openxmlformats.org/package/2006/content-types">
  <Default Extension="gif" ContentType="image/gif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96" r:id="rId1"/>
  </p:sldMasterIdLst>
  <p:notesMasterIdLst>
    <p:notesMasterId r:id="rId31"/>
  </p:notesMasterIdLst>
  <p:handoutMasterIdLst>
    <p:handoutMasterId r:id="rId32"/>
  </p:handoutMasterIdLst>
  <p:sldIdLst>
    <p:sldId id="346" r:id="rId2"/>
    <p:sldId id="503" r:id="rId3"/>
    <p:sldId id="539" r:id="rId4"/>
    <p:sldId id="540" r:id="rId5"/>
    <p:sldId id="541" r:id="rId6"/>
    <p:sldId id="542" r:id="rId7"/>
    <p:sldId id="543" r:id="rId8"/>
    <p:sldId id="506" r:id="rId9"/>
    <p:sldId id="507" r:id="rId10"/>
    <p:sldId id="544" r:id="rId11"/>
    <p:sldId id="508" r:id="rId12"/>
    <p:sldId id="545" r:id="rId13"/>
    <p:sldId id="546" r:id="rId14"/>
    <p:sldId id="547" r:id="rId15"/>
    <p:sldId id="548" r:id="rId16"/>
    <p:sldId id="549" r:id="rId17"/>
    <p:sldId id="550" r:id="rId18"/>
    <p:sldId id="551" r:id="rId19"/>
    <p:sldId id="552" r:id="rId20"/>
    <p:sldId id="553" r:id="rId21"/>
    <p:sldId id="554" r:id="rId22"/>
    <p:sldId id="555" r:id="rId23"/>
    <p:sldId id="556" r:id="rId24"/>
    <p:sldId id="557" r:id="rId25"/>
    <p:sldId id="558" r:id="rId26"/>
    <p:sldId id="559" r:id="rId27"/>
    <p:sldId id="560" r:id="rId28"/>
    <p:sldId id="561" r:id="rId29"/>
    <p:sldId id="562" r:id="rId3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5pPr>
    <a:lvl6pPr marL="2286000" algn="l" defTabSz="914400" rtl="0" eaLnBrk="1" latinLnBrk="0" hangingPunct="1"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6pPr>
    <a:lvl7pPr marL="2743200" algn="l" defTabSz="914400" rtl="0" eaLnBrk="1" latinLnBrk="0" hangingPunct="1"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7pPr>
    <a:lvl8pPr marL="3200400" algn="l" defTabSz="914400" rtl="0" eaLnBrk="1" latinLnBrk="0" hangingPunct="1"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8pPr>
    <a:lvl9pPr marL="3657600" algn="l" defTabSz="914400" rtl="0" eaLnBrk="1" latinLnBrk="0" hangingPunct="1"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afi Lew" initials="RL" lastIdx="1" clrIdx="0">
    <p:extLst>
      <p:ext uri="{19B8F6BF-5375-455C-9EA6-DF929625EA0E}">
        <p15:presenceInfo xmlns:p15="http://schemas.microsoft.com/office/powerpoint/2012/main" userId="218299075d94207c" providerId="Windows Live"/>
      </p:ext>
    </p:extLst>
  </p:cmAuthor>
  <p:cmAuthor id="2" name="Rafał Lewandków" initials="RL" lastIdx="4" clrIdx="1">
    <p:extLst>
      <p:ext uri="{19B8F6BF-5375-455C-9EA6-DF929625EA0E}">
        <p15:presenceInfo xmlns:p15="http://schemas.microsoft.com/office/powerpoint/2012/main" userId="Rafał Lewandków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FF00"/>
    <a:srgbClr val="00FFFF"/>
    <a:srgbClr val="FF00FF"/>
    <a:srgbClr val="006600"/>
    <a:srgbClr val="BCE292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2" autoAdjust="0"/>
    <p:restoredTop sz="94892" autoAdjust="0"/>
  </p:normalViewPr>
  <p:slideViewPr>
    <p:cSldViewPr>
      <p:cViewPr varScale="1">
        <p:scale>
          <a:sx n="96" d="100"/>
          <a:sy n="96" d="100"/>
        </p:scale>
        <p:origin x="1098" y="5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52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1" d="100"/>
          <a:sy n="61" d="100"/>
        </p:scale>
        <p:origin x="859" y="3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13504E-0C99-2340-A5F6-DD6E1A87C372}" type="datetimeFigureOut">
              <a:rPr lang="pl-PL" smtClean="0"/>
              <a:t>2.10.2026</a:t>
            </a:fld>
            <a:endParaRPr lang="pl-PL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6285F6-EDF4-6942-8E96-D0A50380D90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7508038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8C933E-44E9-2D43-91B0-0D2BEEFA7EB9}" type="datetimeFigureOut">
              <a:rPr lang="pl-PL" smtClean="0"/>
              <a:t>1.10.2026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CE77F9-1A7F-B148-A0AA-5828300D10B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3938265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endParaRPr lang="pl-P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681921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4739818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67376D-C253-CC47-A3B0-581016F4D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1C7217-160D-930B-142C-E83618B519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F676CC-3AFE-D0E8-7EB5-3739CC2D67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F28C3F-0027-D6A3-9EF1-68BAB3907F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036275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AAA44D-3F48-3850-7439-E534E6866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8DC2DD-5367-7667-F438-208EFD2F44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384D0A-147D-D085-DB34-0B9A388FDB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B7DF1E-BA89-6206-C9BB-41C692D5C2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987554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1780B8-5E71-2F64-4AEB-05E986A24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9A9C64-C3E7-F551-D509-18A3AE4B40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1ACE6D-EB56-AFD3-34AC-81C816195C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5DE9A9-71A9-D088-6ABC-3FAD1E9E0D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568707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00453-79D5-F170-C7C1-9AB4D1BE3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DCDAA8-0942-0EBE-36AC-F1DFE6A700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5CA532-F443-6FE1-DF6A-FA40490722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211A03-D4CD-5FB7-CF58-60044CF945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306070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13F49-2A40-3954-023E-781B38EC6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05734F-306E-4923-499D-65D428BC27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B8561A-AD7C-D061-3225-C40FB08027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E96F95-4294-40D8-A53B-536217413F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018666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975853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745139-1751-52AF-C50C-E2523F518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0D4BA4-4321-BF41-A406-93BBF8BAB9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A1C51A-9BBC-D00A-E338-21AF6E31EA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5A87FD-445E-5BB6-3FE2-C195976BBE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3601421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745139-1751-52AF-C50C-E2523F518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0D4BA4-4321-BF41-A406-93BBF8BAB9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A1C51A-9BBC-D00A-E338-21AF6E31EA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5A87FD-445E-5BB6-3FE2-C195976BBE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10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340462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68032-C042-4B91-2BF0-9B26B9662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D8BF75-C736-475E-E2D9-D1BB6B438C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5AFBD3-6979-69F4-AD91-5F6D196F13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C782D2-0EB8-5987-5607-D8C3E5DE98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420375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6FBE68-44F2-C946-B48E-58191EDC2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859D5E-B205-0709-1FA3-97A1F5B836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00F929-12EA-9BA5-FA2F-1F0E938230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1564FD-4CFA-7A59-EB5D-934B689A5F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348878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0C36AE-3621-CA2B-66FD-03AE5E1B0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D1E407-6DE5-2675-5292-8ECDF70ABF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B7D07E-18BF-4706-3097-58E5D5F1E0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D51E7C-0742-0F8E-34E4-12C167C097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357334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8FF49-0DE7-557D-E19C-12CBC8794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88D272-BFEE-19A5-3A87-3A1B9C8A0A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B5372A-245C-DCC7-313B-1021C021D6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EFC627-FB4F-DFA6-D1D4-54F664B4B5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960209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45A979-20EE-5F91-C53E-4FE8C0FEA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697F21-FFA8-AB88-2EC9-EC47ABD724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54D50B-2A67-407D-80DC-CA7CABD526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B24ACF-ECC3-DE3C-809A-0C42E76C88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250121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ABA75-B405-7ADD-9163-F0CE00030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DB0EEF-5631-73DB-7512-D4186909F1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95316A-21EB-CA1B-7454-D7C945FE0C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753C94-4FB1-DAE2-B7B0-56E7535D33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202692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34AD9-89F7-B33D-229C-74CB936B3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FA6D06-FDC1-76BB-0791-A97D5E615C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10F6AA-FD38-3480-DE22-0C93435F97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986BC6-CD95-1905-3E2F-DE22C3DAE6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1851304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335885-CA0B-4E49-C91F-3492A6D8A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BA367F-B8CA-2D90-606A-88DF544FB7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E7EAE9-E81B-B4D1-5D94-9349AB70CC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E72DED-F028-6741-8016-4189E7AB81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1254517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939BD-DF48-F6A7-510F-FC062E6CA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186AD2-284C-E67B-CC5D-92CE61655E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1970BD-9113-EC74-1338-7913CE4D13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2816F5-F14F-DF61-F488-EB57EC3897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7444693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A633B-E76E-A2AD-5EB1-6D3A2F86F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5BA2B0-93C5-6098-488A-90A0D7E4B2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E4C7FC-5606-FECA-AE3A-7E10489C25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2BBFDE-17F0-5421-D8DA-2E5284CBBDC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20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4856380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596542-AB7D-C073-16BD-6B5386FCD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353155-FDF3-8DAE-E13F-0F08E03DC8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8BAE01-E005-7776-8529-0F917B2F01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00F2A2-09D6-C242-EFBD-6CA68AEA0B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71847415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316E0B-2874-3523-EE47-97D960322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1D04C0-4578-D230-997B-1554747FB3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695EDA-C3AC-83E7-453E-B4C06B7D19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4E5983-5AF2-280E-FAA2-85708B7B97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8120859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7F28B-FF1A-7413-AC3A-7523E3C7C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9D2882-09D5-E670-E407-A6CB3669E7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A42646-C1AD-CB33-668C-225881377A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18D8ED-FE29-3B63-07D9-ADEB4579E0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8113125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A5908-2A1B-C00C-A5F0-5C1EF8876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3BABF4-14E1-C00E-743C-677549BD87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3D984D-7FFD-C9B1-81A7-872C61F7D5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3340ED-8EF1-FED5-7C30-393ADAE839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6304524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71E24-6E91-C248-2FA0-8EFAFCC35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A24D21-BE0D-CAF5-615B-8F9CDB2990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133AD6-7257-4E9A-A416-20A5A666A9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A0A48F-63B8-286D-B005-1747ECA579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0246861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7958B-90F6-BA38-03B6-7DBE5171A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B50853-252D-9D7E-04DA-5F0570A1AF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EEA368-C1A2-EFF4-70B9-F8672B55B9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37155D-4E0C-B937-8FF9-FD4659B054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5184082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91CFA-43E2-3933-5987-5E92E27B2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D0A4FF-295D-212C-D7C6-621B734AD8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24341A-0C7B-1E02-C860-161CE3379A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490C50-E714-D74F-A7E8-779DBDFBF9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9437346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D6736-BF32-B7E1-DF70-0885407B3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F883D5-C6B1-984A-9C38-3B78469623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5F62B5-7939-8E01-6CFF-8AA3EEA75B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3BD1E3-5E56-E7B3-821D-C37699145C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0955451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188CF-6843-1797-3B28-82B8CAF84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ADBE34-8BAC-8044-28A7-B95E12FE42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7AF2C8-76A6-656C-5D3B-FDF1C3BBFF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BE62E2-E6CD-17CC-42FC-D993D75E22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2703371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1.10.2026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3FEF5-976C-4EA3-84A7-FBC3543521F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972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1.10.2026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B2623-FECC-458E-8887-8971830FA0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404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1.10.2026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EC418-961B-4A97-8A49-C7EB1AA505E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816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1.10.2026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CE437-C745-4797-8E12-AE887F9C67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269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1.10.2026</a:t>
            </a:fld>
            <a:endParaRPr lang="pl-PL"/>
          </a:p>
        </p:txBody>
      </p:sp>
      <p:sp>
        <p:nvSpPr>
          <p:cNvPr id="8" name="Symbol zastępczy stopki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D58DE-157A-47FB-B6FE-2BF3DBE089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114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daty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1.10.2026</a:t>
            </a:fld>
            <a:endParaRPr lang="pl-PL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53702-A4CE-4E37-AD1A-55778605B19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313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1.10.2026</a:t>
            </a:fld>
            <a:endParaRPr lang="pl-PL"/>
          </a:p>
        </p:txBody>
      </p:sp>
      <p:sp>
        <p:nvSpPr>
          <p:cNvPr id="3" name="Symbol zastępczy stop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E45C1-B7A3-4D83-AEC0-13697CCD1D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72454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1.10.2026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751C0-3663-4EFE-8A6A-10BE31BDC9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4853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obrazu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l-PL"/>
              <a:t>Przeciągnij obraz na symbol zastępczy lub kliknij ikonę, aby go dodać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1.10.2026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FEB7E-1F88-4AE7-AA89-93BE3C1A9C1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1195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tekstu pionowego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1.10.2026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C5AF-A148-4762-92DF-376362746B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363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tekstu pionowego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1.10.2026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DEFBB-CA7F-4380-AF49-7EC026DA26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695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017B01-0C30-B241-B19F-621BE4770608}" type="datetimeFigureOut">
              <a:rPr lang="pl-PL" smtClean="0"/>
              <a:t>1.10.2026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1E45C1-B7A3-4D83-AEC0-13697CCD1D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097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gi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5896" y="260648"/>
            <a:ext cx="4752274" cy="398892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79512" y="1628800"/>
            <a:ext cx="842493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3200" b="1" dirty="0">
                <a:solidFill>
                  <a:schemeClr val="bg1"/>
                </a:solidFill>
              </a:rPr>
              <a:t>PROGRAMOWANIE URZĄDZEŃ</a:t>
            </a:r>
          </a:p>
          <a:p>
            <a:pPr algn="ctr"/>
            <a:r>
              <a:rPr lang="pl-PL" sz="3200" b="1" dirty="0">
                <a:solidFill>
                  <a:schemeClr val="bg1"/>
                </a:solidFill>
              </a:rPr>
              <a:t>MOBILNYCH 2</a:t>
            </a:r>
          </a:p>
        </p:txBody>
      </p:sp>
      <p:sp>
        <p:nvSpPr>
          <p:cNvPr id="5" name="TextBox 1">
            <a:extLst>
              <a:ext uri="{FF2B5EF4-FFF2-40B4-BE49-F238E27FC236}">
                <a16:creationId xmlns:a16="http://schemas.microsoft.com/office/drawing/2014/main" id="{B3CC2FAF-D489-4F42-90E1-D634E6FA5CAF}"/>
              </a:ext>
            </a:extLst>
          </p:cNvPr>
          <p:cNvSpPr txBox="1"/>
          <p:nvPr/>
        </p:nvSpPr>
        <p:spPr>
          <a:xfrm>
            <a:off x="179512" y="3861048"/>
            <a:ext cx="84249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2400" dirty="0">
                <a:solidFill>
                  <a:schemeClr val="bg1"/>
                </a:solidFill>
              </a:rPr>
              <a:t>WYKŁAD 1</a:t>
            </a: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A5201681-6767-4194-BF52-C2BE7C096DA3}"/>
              </a:ext>
            </a:extLst>
          </p:cNvPr>
          <p:cNvSpPr txBox="1"/>
          <p:nvPr/>
        </p:nvSpPr>
        <p:spPr>
          <a:xfrm>
            <a:off x="3116266" y="4767535"/>
            <a:ext cx="54726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pl-PL" sz="1800" dirty="0">
                <a:solidFill>
                  <a:schemeClr val="bg1"/>
                </a:solidFill>
              </a:rPr>
              <a:t>Organizacja kursu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pl-PL" sz="1800" dirty="0">
                <a:solidFill>
                  <a:schemeClr val="bg1"/>
                </a:solidFill>
              </a:rPr>
              <a:t>Nawigacja w </a:t>
            </a:r>
            <a:r>
              <a:rPr lang="pl-PL" sz="1800" dirty="0" err="1">
                <a:solidFill>
                  <a:schemeClr val="bg1"/>
                </a:solidFill>
              </a:rPr>
              <a:t>Jetpack</a:t>
            </a:r>
            <a:r>
              <a:rPr lang="pl-PL" sz="1800" dirty="0">
                <a:solidFill>
                  <a:schemeClr val="bg1"/>
                </a:solidFill>
              </a:rPr>
              <a:t> </a:t>
            </a:r>
            <a:r>
              <a:rPr lang="pl-PL" sz="1800" dirty="0" err="1">
                <a:solidFill>
                  <a:schemeClr val="bg1"/>
                </a:solidFill>
              </a:rPr>
              <a:t>Compose</a:t>
            </a:r>
            <a:endParaRPr lang="pl-PL" sz="1800" dirty="0">
              <a:solidFill>
                <a:schemeClr val="bg1"/>
              </a:solidFill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pl-PL" sz="1800" dirty="0">
                <a:solidFill>
                  <a:schemeClr val="bg1"/>
                </a:solidFill>
              </a:rPr>
              <a:t>Typowane trasy, menu i grafy</a:t>
            </a:r>
          </a:p>
        </p:txBody>
      </p:sp>
    </p:spTree>
    <p:extLst>
      <p:ext uri="{BB962C8B-B14F-4D97-AF65-F5344CB8AC3E}">
        <p14:creationId xmlns:p14="http://schemas.microsoft.com/office/powerpoint/2010/main" val="30983482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PODSTAWOWE INFORMACJE</a:t>
            </a:r>
          </a:p>
        </p:txBody>
      </p:sp>
      <p:sp>
        <p:nvSpPr>
          <p:cNvPr id="4" name="Rafał Lewandków">
            <a:extLst>
              <a:ext uri="{FF2B5EF4-FFF2-40B4-BE49-F238E27FC236}">
                <a16:creationId xmlns:a16="http://schemas.microsoft.com/office/drawing/2014/main" id="{A4334D46-2A30-0E04-17FD-F0ABE4960882}"/>
              </a:ext>
            </a:extLst>
          </p:cNvPr>
          <p:cNvSpPr>
            <a:spLocks noGrp="1"/>
          </p:cNvSpPr>
          <p:nvPr/>
        </p:nvSpPr>
        <p:spPr>
          <a:xfrm>
            <a:off x="1333500" y="1238250"/>
            <a:ext cx="738187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50" b="1">
                <a:solidFill>
                  <a:srgbClr val="152B37"/>
                </a:solidFill>
                <a:latin typeface="Calibri"/>
                <a:ea typeface="Calibri"/>
                <a:cs typeface="Calibri"/>
              </a:defRPr>
            </a:pPr>
            <a:r>
              <a:rPr sz="2550" b="1" dirty="0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Rafał Lewandków</a:t>
            </a:r>
          </a:p>
        </p:txBody>
      </p:sp>
      <p:sp>
        <p:nvSpPr>
          <p:cNvPr id="6" name="pokój 075&#10;rafal.lewandkow2@uwr.edu.pl">
            <a:extLst>
              <a:ext uri="{FF2B5EF4-FFF2-40B4-BE49-F238E27FC236}">
                <a16:creationId xmlns:a16="http://schemas.microsoft.com/office/drawing/2014/main" id="{02CB2400-E4AC-5A4D-C5A5-D3BEDFF6DA88}"/>
              </a:ext>
            </a:extLst>
          </p:cNvPr>
          <p:cNvSpPr>
            <a:spLocks noGrp="1"/>
          </p:cNvSpPr>
          <p:nvPr/>
        </p:nvSpPr>
        <p:spPr>
          <a:xfrm>
            <a:off x="1333500" y="1762125"/>
            <a:ext cx="7381875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75" b="0">
                <a:solidFill>
                  <a:srgbClr val="152B37"/>
                </a:solidFill>
                <a:latin typeface="Calibri"/>
                <a:ea typeface="Calibri"/>
                <a:cs typeface="Calibri"/>
              </a:defRPr>
            </a:pPr>
            <a:r>
              <a:rPr sz="2175" b="0" dirty="0" err="1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pokój</a:t>
            </a:r>
            <a:r>
              <a:rPr sz="2175" b="0" dirty="0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 075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175" b="0">
                <a:solidFill>
                  <a:srgbClr val="152B37"/>
                </a:solidFill>
                <a:latin typeface="Calibri"/>
                <a:ea typeface="Calibri"/>
                <a:cs typeface="Calibri"/>
              </a:defRPr>
            </a:pPr>
            <a:r>
              <a:rPr sz="2175" b="0" dirty="0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rafal.lewandkow2@uwr.edu.pl</a:t>
            </a:r>
          </a:p>
        </p:txBody>
      </p:sp>
      <p:sp>
        <p:nvSpPr>
          <p:cNvPr id="9" name="Wykład: 15 godz.   Laboratorium: 30 godz.">
            <a:extLst>
              <a:ext uri="{FF2B5EF4-FFF2-40B4-BE49-F238E27FC236}">
                <a16:creationId xmlns:a16="http://schemas.microsoft.com/office/drawing/2014/main" id="{6B26E33E-1705-2D83-7CFE-CFDB77591DE8}"/>
              </a:ext>
            </a:extLst>
          </p:cNvPr>
          <p:cNvSpPr>
            <a:spLocks noGrp="1"/>
          </p:cNvSpPr>
          <p:nvPr/>
        </p:nvSpPr>
        <p:spPr>
          <a:xfrm>
            <a:off x="1333500" y="2857500"/>
            <a:ext cx="738187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75" b="0">
                <a:solidFill>
                  <a:srgbClr val="152B37"/>
                </a:solidFill>
                <a:latin typeface="Calibri"/>
                <a:ea typeface="Calibri"/>
                <a:cs typeface="Calibri"/>
              </a:defRPr>
            </a:pPr>
            <a:r>
              <a:rPr sz="2175" b="0" dirty="0" err="1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Wykład</a:t>
            </a:r>
            <a:r>
              <a:rPr sz="2175" b="0" dirty="0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: 15 </a:t>
            </a:r>
            <a:r>
              <a:rPr sz="2175" b="0" dirty="0" err="1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godz</a:t>
            </a:r>
            <a:r>
              <a:rPr sz="2175" b="0" dirty="0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.   </a:t>
            </a:r>
            <a:r>
              <a:rPr sz="2175" b="0" dirty="0" err="1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Laboratorium</a:t>
            </a:r>
            <a:r>
              <a:rPr sz="2175" b="0" dirty="0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: 30 </a:t>
            </a:r>
            <a:r>
              <a:rPr sz="2175" b="0" dirty="0" err="1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godz</a:t>
            </a:r>
            <a:r>
              <a:rPr sz="2175" b="0" dirty="0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2" name="Materiały: rlewandkow.com">
            <a:extLst>
              <a:ext uri="{FF2B5EF4-FFF2-40B4-BE49-F238E27FC236}">
                <a16:creationId xmlns:a16="http://schemas.microsoft.com/office/drawing/2014/main" id="{1FB2DDBE-5EC8-FEAE-524A-D0AA35F28369}"/>
              </a:ext>
            </a:extLst>
          </p:cNvPr>
          <p:cNvSpPr>
            <a:spLocks noGrp="1"/>
          </p:cNvSpPr>
          <p:nvPr/>
        </p:nvSpPr>
        <p:spPr>
          <a:xfrm>
            <a:off x="1333500" y="3600450"/>
            <a:ext cx="738187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05F88"/>
                </a:solidFill>
                <a:latin typeface="Calibri"/>
                <a:ea typeface="Calibri"/>
                <a:cs typeface="Calibri"/>
              </a:defRPr>
            </a:pPr>
            <a:r>
              <a:rPr sz="2400" b="1" dirty="0" err="1">
                <a:solidFill>
                  <a:srgbClr val="005F88"/>
                </a:solidFill>
                <a:latin typeface="Calibri"/>
                <a:ea typeface="Calibri"/>
                <a:cs typeface="Calibri"/>
              </a:rPr>
              <a:t>Materiały</a:t>
            </a:r>
            <a:r>
              <a:rPr sz="2400" b="1" dirty="0">
                <a:solidFill>
                  <a:srgbClr val="005F88"/>
                </a:solidFill>
                <a:latin typeface="Calibri"/>
                <a:ea typeface="Calibri"/>
                <a:cs typeface="Calibri"/>
              </a:rPr>
              <a:t>: </a:t>
            </a:r>
            <a:r>
              <a:rPr lang="pl-PL" sz="2400" b="1" dirty="0">
                <a:solidFill>
                  <a:srgbClr val="005F88"/>
                </a:solidFill>
                <a:latin typeface="Calibri"/>
                <a:ea typeface="Calibri"/>
                <a:cs typeface="Calibri"/>
              </a:rPr>
              <a:t>https://github.com/RafLew84/ProgUM</a:t>
            </a:r>
            <a:endParaRPr sz="2400" b="1" dirty="0">
              <a:solidFill>
                <a:srgbClr val="005F88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" name="Literatura obowiązkowa i zalecana">
            <a:extLst>
              <a:ext uri="{FF2B5EF4-FFF2-40B4-BE49-F238E27FC236}">
                <a16:creationId xmlns:a16="http://schemas.microsoft.com/office/drawing/2014/main" id="{43A0870E-4E1D-0570-0C88-B07F4CC86666}"/>
              </a:ext>
            </a:extLst>
          </p:cNvPr>
          <p:cNvSpPr>
            <a:spLocks noGrp="1"/>
          </p:cNvSpPr>
          <p:nvPr/>
        </p:nvSpPr>
        <p:spPr>
          <a:xfrm>
            <a:off x="1333500" y="4524375"/>
            <a:ext cx="738187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25" b="1">
                <a:solidFill>
                  <a:srgbClr val="152B37"/>
                </a:solidFill>
                <a:latin typeface="Calibri"/>
                <a:ea typeface="Calibri"/>
                <a:cs typeface="Calibri"/>
              </a:defRPr>
            </a:pPr>
            <a:r>
              <a:rPr sz="2025" b="1" dirty="0" err="1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Literatura</a:t>
            </a:r>
            <a:r>
              <a:rPr sz="2025" b="1" dirty="0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25" b="1" dirty="0" err="1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obowiązkowa</a:t>
            </a:r>
            <a:r>
              <a:rPr sz="2025" b="1" dirty="0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25" b="1" dirty="0" err="1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i</a:t>
            </a:r>
            <a:r>
              <a:rPr sz="2025" b="1" dirty="0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25" b="1" dirty="0" err="1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zalecana</a:t>
            </a:r>
            <a:endParaRPr sz="2025" b="1" dirty="0">
              <a:solidFill>
                <a:srgbClr val="152B37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" name="Dokumentacja: kotlinlang.org/docs/home.html&#10;Kurs">
            <a:extLst>
              <a:ext uri="{FF2B5EF4-FFF2-40B4-BE49-F238E27FC236}">
                <a16:creationId xmlns:a16="http://schemas.microsoft.com/office/drawing/2014/main" id="{41AC9676-E130-82A4-E760-C133769424F7}"/>
              </a:ext>
            </a:extLst>
          </p:cNvPr>
          <p:cNvSpPr>
            <a:spLocks noGrp="1"/>
          </p:cNvSpPr>
          <p:nvPr/>
        </p:nvSpPr>
        <p:spPr>
          <a:xfrm>
            <a:off x="1333500" y="4953000"/>
            <a:ext cx="7381875" cy="1028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75" b="0">
                <a:solidFill>
                  <a:srgbClr val="152B37"/>
                </a:solidFill>
                <a:latin typeface="Calibri"/>
                <a:ea typeface="Calibri"/>
                <a:cs typeface="Calibri"/>
              </a:defRPr>
            </a:pPr>
            <a:r>
              <a:rPr sz="1875" b="0" dirty="0" err="1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Dokumentacja</a:t>
            </a:r>
            <a:r>
              <a:rPr sz="1875" b="0" dirty="0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: kotlinlang.org/docs/home.html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75" b="0">
                <a:solidFill>
                  <a:srgbClr val="152B37"/>
                </a:solidFill>
                <a:latin typeface="Calibri"/>
                <a:ea typeface="Calibri"/>
                <a:cs typeface="Calibri"/>
              </a:defRPr>
            </a:pPr>
            <a:r>
              <a:rPr sz="1875" b="0" dirty="0" err="1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Kursy</a:t>
            </a:r>
            <a:r>
              <a:rPr sz="1875" b="0" dirty="0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: developer.android.com/courses</a:t>
            </a:r>
          </a:p>
        </p:txBody>
      </p:sp>
    </p:spTree>
    <p:extLst>
      <p:ext uri="{BB962C8B-B14F-4D97-AF65-F5344CB8AC3E}">
        <p14:creationId xmlns:p14="http://schemas.microsoft.com/office/powerpoint/2010/main" val="417582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3B1438-F7C5-64CD-3DBB-1D800613F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C469AED-5CBF-9883-492F-46B2813C74E1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Organizacja Zaliczenia</a:t>
            </a:r>
          </a:p>
        </p:txBody>
      </p:sp>
      <p:sp>
        <p:nvSpPr>
          <p:cNvPr id="5" name="6 list zadań">
            <a:extLst>
              <a:ext uri="{FF2B5EF4-FFF2-40B4-BE49-F238E27FC236}">
                <a16:creationId xmlns:a16="http://schemas.microsoft.com/office/drawing/2014/main" id="{5C1C4080-1DAA-D295-AB62-CC923036187D}"/>
              </a:ext>
            </a:extLst>
          </p:cNvPr>
          <p:cNvSpPr>
            <a:spLocks noGrp="1"/>
          </p:cNvSpPr>
          <p:nvPr/>
        </p:nvSpPr>
        <p:spPr>
          <a:xfrm>
            <a:off x="1475656" y="947738"/>
            <a:ext cx="73818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25" b="1">
                <a:solidFill>
                  <a:srgbClr val="005F88"/>
                </a:solidFill>
                <a:latin typeface="Calibri"/>
                <a:ea typeface="Calibri"/>
                <a:cs typeface="Calibri"/>
              </a:defRPr>
            </a:pPr>
            <a:r>
              <a:rPr sz="2800" b="1" dirty="0">
                <a:solidFill>
                  <a:srgbClr val="005F88"/>
                </a:solidFill>
                <a:latin typeface="Calibri"/>
                <a:ea typeface="Calibri"/>
                <a:cs typeface="Calibri"/>
              </a:rPr>
              <a:t>6 list </a:t>
            </a:r>
            <a:r>
              <a:rPr sz="2800" b="1" dirty="0" err="1">
                <a:solidFill>
                  <a:srgbClr val="005F88"/>
                </a:solidFill>
                <a:latin typeface="Calibri"/>
                <a:ea typeface="Calibri"/>
                <a:cs typeface="Calibri"/>
              </a:rPr>
              <a:t>zadań</a:t>
            </a:r>
            <a:endParaRPr sz="2800" b="1" dirty="0">
              <a:solidFill>
                <a:srgbClr val="005F88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Każda lista zawiera zadania i pulę pytań.&#10;Z każd">
            <a:extLst>
              <a:ext uri="{FF2B5EF4-FFF2-40B4-BE49-F238E27FC236}">
                <a16:creationId xmlns:a16="http://schemas.microsoft.com/office/drawing/2014/main" id="{BA40DADC-57F2-73AF-299F-1D535B458532}"/>
              </a:ext>
            </a:extLst>
          </p:cNvPr>
          <p:cNvSpPr>
            <a:spLocks noGrp="1"/>
          </p:cNvSpPr>
          <p:nvPr/>
        </p:nvSpPr>
        <p:spPr>
          <a:xfrm>
            <a:off x="1333500" y="1590675"/>
            <a:ext cx="7381875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25" b="0">
                <a:solidFill>
                  <a:srgbClr val="152B37"/>
                </a:solidFill>
                <a:latin typeface="Calibri"/>
                <a:ea typeface="Calibri"/>
                <a:cs typeface="Calibri"/>
              </a:defRPr>
            </a:pPr>
            <a:r>
              <a:rPr sz="2400" b="0" dirty="0" err="1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Każda</a:t>
            </a:r>
            <a:r>
              <a:rPr sz="2400" b="0" dirty="0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400" b="0" dirty="0" err="1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lista</a:t>
            </a:r>
            <a:r>
              <a:rPr sz="2400" b="0" dirty="0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400" b="0" dirty="0" err="1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zawiera</a:t>
            </a:r>
            <a:r>
              <a:rPr sz="2400" b="0" dirty="0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400" b="0" dirty="0" err="1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zadania</a:t>
            </a:r>
            <a:r>
              <a:rPr sz="2400" b="0" dirty="0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400" b="0" dirty="0" err="1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i</a:t>
            </a:r>
            <a:r>
              <a:rPr sz="2400" b="0" dirty="0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400" b="0" dirty="0" err="1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pulę</a:t>
            </a:r>
            <a:r>
              <a:rPr sz="2400" b="0" dirty="0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400" b="0" dirty="0" err="1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pytań</a:t>
            </a:r>
            <a:r>
              <a:rPr sz="2400" b="0" dirty="0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025" b="0">
                <a:solidFill>
                  <a:srgbClr val="152B37"/>
                </a:solidFill>
                <a:latin typeface="Calibri"/>
                <a:ea typeface="Calibri"/>
                <a:cs typeface="Calibri"/>
              </a:defRPr>
            </a:pPr>
            <a:r>
              <a:rPr sz="2400" b="0" dirty="0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Z </a:t>
            </a:r>
            <a:r>
              <a:rPr sz="2400" b="0" dirty="0" err="1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każdej</a:t>
            </a:r>
            <a:r>
              <a:rPr sz="2400" b="0" dirty="0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400" b="0" dirty="0" err="1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listy</a:t>
            </a:r>
            <a:r>
              <a:rPr sz="2400" b="0" dirty="0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 student </a:t>
            </a:r>
            <a:r>
              <a:rPr sz="2400" b="0" dirty="0" err="1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otrzymuje</a:t>
            </a:r>
            <a:r>
              <a:rPr sz="2400" b="0" dirty="0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400" b="0" dirty="0" err="1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osobną</a:t>
            </a:r>
            <a:r>
              <a:rPr sz="2400" b="0" dirty="0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400" b="0" dirty="0" err="1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ocenę</a:t>
            </a:r>
            <a:r>
              <a:rPr sz="2400" b="0" dirty="0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1" name="Jedna lista może pozostać niezaliczona">
            <a:extLst>
              <a:ext uri="{FF2B5EF4-FFF2-40B4-BE49-F238E27FC236}">
                <a16:creationId xmlns:a16="http://schemas.microsoft.com/office/drawing/2014/main" id="{36967C65-55CC-C056-9BA0-1CB953E85A2A}"/>
              </a:ext>
            </a:extLst>
          </p:cNvPr>
          <p:cNvSpPr>
            <a:spLocks noGrp="1"/>
          </p:cNvSpPr>
          <p:nvPr/>
        </p:nvSpPr>
        <p:spPr>
          <a:xfrm>
            <a:off x="1333500" y="2686050"/>
            <a:ext cx="73818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25" b="1">
                <a:solidFill>
                  <a:srgbClr val="005F88"/>
                </a:solidFill>
                <a:latin typeface="Calibri"/>
                <a:ea typeface="Calibri"/>
                <a:cs typeface="Calibri"/>
              </a:defRPr>
            </a:pPr>
            <a:r>
              <a:rPr sz="2400" b="1" dirty="0" err="1">
                <a:solidFill>
                  <a:srgbClr val="005F88"/>
                </a:solidFill>
                <a:latin typeface="Calibri"/>
                <a:ea typeface="Calibri"/>
                <a:cs typeface="Calibri"/>
              </a:rPr>
              <a:t>Jedna</a:t>
            </a:r>
            <a:r>
              <a:rPr sz="2400" b="1" dirty="0">
                <a:solidFill>
                  <a:srgbClr val="005F8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400" b="1" dirty="0" err="1">
                <a:solidFill>
                  <a:srgbClr val="005F88"/>
                </a:solidFill>
                <a:latin typeface="Calibri"/>
                <a:ea typeface="Calibri"/>
                <a:cs typeface="Calibri"/>
              </a:rPr>
              <a:t>lista</a:t>
            </a:r>
            <a:r>
              <a:rPr sz="2400" b="1" dirty="0">
                <a:solidFill>
                  <a:srgbClr val="005F8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400" b="1" dirty="0" err="1">
                <a:solidFill>
                  <a:srgbClr val="005F88"/>
                </a:solidFill>
                <a:latin typeface="Calibri"/>
                <a:ea typeface="Calibri"/>
                <a:cs typeface="Calibri"/>
              </a:rPr>
              <a:t>może</a:t>
            </a:r>
            <a:r>
              <a:rPr sz="2400" b="1" dirty="0">
                <a:solidFill>
                  <a:srgbClr val="005F8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400" b="1" dirty="0" err="1">
                <a:solidFill>
                  <a:srgbClr val="005F88"/>
                </a:solidFill>
                <a:latin typeface="Calibri"/>
                <a:ea typeface="Calibri"/>
                <a:cs typeface="Calibri"/>
              </a:rPr>
              <a:t>pozostać</a:t>
            </a:r>
            <a:r>
              <a:rPr sz="2400" b="1" dirty="0">
                <a:solidFill>
                  <a:srgbClr val="005F8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400" b="1" dirty="0" err="1">
                <a:solidFill>
                  <a:srgbClr val="005F88"/>
                </a:solidFill>
                <a:latin typeface="Calibri"/>
                <a:ea typeface="Calibri"/>
                <a:cs typeface="Calibri"/>
              </a:rPr>
              <a:t>niezaliczona</a:t>
            </a:r>
            <a:endParaRPr sz="2400" b="1" dirty="0">
              <a:solidFill>
                <a:srgbClr val="005F88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" name="Za nieoddaną lub niezaliczoną listę wpisuje się ">
            <a:extLst>
              <a:ext uri="{FF2B5EF4-FFF2-40B4-BE49-F238E27FC236}">
                <a16:creationId xmlns:a16="http://schemas.microsoft.com/office/drawing/2014/main" id="{E3A984F9-A8A5-5374-43A5-6E6171792A5D}"/>
              </a:ext>
            </a:extLst>
          </p:cNvPr>
          <p:cNvSpPr>
            <a:spLocks noGrp="1"/>
          </p:cNvSpPr>
          <p:nvPr/>
        </p:nvSpPr>
        <p:spPr>
          <a:xfrm>
            <a:off x="1333500" y="3019425"/>
            <a:ext cx="7381875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25" b="0">
                <a:solidFill>
                  <a:srgbClr val="152B37"/>
                </a:solidFill>
                <a:latin typeface="Calibri"/>
                <a:ea typeface="Calibri"/>
                <a:cs typeface="Calibri"/>
              </a:defRPr>
            </a:pPr>
            <a:r>
              <a:rPr sz="2400" b="0" dirty="0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Za </a:t>
            </a:r>
            <a:r>
              <a:rPr sz="2400" b="0" dirty="0" err="1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nieoddaną</a:t>
            </a:r>
            <a:r>
              <a:rPr sz="2400" b="0" dirty="0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400" b="0" dirty="0" err="1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lub</a:t>
            </a:r>
            <a:r>
              <a:rPr sz="2400" b="0" dirty="0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400" b="0" dirty="0" err="1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niezaliczoną</a:t>
            </a:r>
            <a:r>
              <a:rPr sz="2400" b="0" dirty="0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400" b="0" dirty="0" err="1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listę</a:t>
            </a:r>
            <a:r>
              <a:rPr sz="2400" b="0" dirty="0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400" b="0" dirty="0" err="1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wpisuje</a:t>
            </a:r>
            <a:r>
              <a:rPr sz="2400" b="0" dirty="0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400" b="0" dirty="0" err="1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się</a:t>
            </a:r>
            <a:r>
              <a:rPr sz="2400" b="0" dirty="0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 2,0.</a:t>
            </a:r>
          </a:p>
        </p:txBody>
      </p:sp>
      <p:sp>
        <p:nvSpPr>
          <p:cNvPr id="18" name="Średnia ze wszystkich sześciu ocen">
            <a:extLst>
              <a:ext uri="{FF2B5EF4-FFF2-40B4-BE49-F238E27FC236}">
                <a16:creationId xmlns:a16="http://schemas.microsoft.com/office/drawing/2014/main" id="{787738B4-D142-8AD7-C310-8C2FC3DA3A8B}"/>
              </a:ext>
            </a:extLst>
          </p:cNvPr>
          <p:cNvSpPr>
            <a:spLocks noGrp="1"/>
          </p:cNvSpPr>
          <p:nvPr/>
        </p:nvSpPr>
        <p:spPr>
          <a:xfrm>
            <a:off x="1333500" y="3905250"/>
            <a:ext cx="73818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25" b="1">
                <a:solidFill>
                  <a:srgbClr val="005F88"/>
                </a:solidFill>
                <a:latin typeface="Calibri"/>
                <a:ea typeface="Calibri"/>
                <a:cs typeface="Calibri"/>
              </a:defRPr>
            </a:pPr>
            <a:r>
              <a:rPr sz="2400" b="1" dirty="0" err="1">
                <a:solidFill>
                  <a:srgbClr val="005F88"/>
                </a:solidFill>
                <a:latin typeface="Calibri"/>
                <a:ea typeface="Calibri"/>
                <a:cs typeface="Calibri"/>
              </a:rPr>
              <a:t>Średnia</a:t>
            </a:r>
            <a:r>
              <a:rPr sz="2400" b="1" dirty="0">
                <a:solidFill>
                  <a:srgbClr val="005F88"/>
                </a:solidFill>
                <a:latin typeface="Calibri"/>
                <a:ea typeface="Calibri"/>
                <a:cs typeface="Calibri"/>
              </a:rPr>
              <a:t> ze </a:t>
            </a:r>
            <a:r>
              <a:rPr sz="2400" b="1" dirty="0" err="1">
                <a:solidFill>
                  <a:srgbClr val="005F88"/>
                </a:solidFill>
                <a:latin typeface="Calibri"/>
                <a:ea typeface="Calibri"/>
                <a:cs typeface="Calibri"/>
              </a:rPr>
              <a:t>wszystkich</a:t>
            </a:r>
            <a:r>
              <a:rPr sz="2400" b="1" dirty="0">
                <a:solidFill>
                  <a:srgbClr val="005F8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400" b="1" dirty="0" err="1">
                <a:solidFill>
                  <a:srgbClr val="005F88"/>
                </a:solidFill>
                <a:latin typeface="Calibri"/>
                <a:ea typeface="Calibri"/>
                <a:cs typeface="Calibri"/>
              </a:rPr>
              <a:t>sześciu</a:t>
            </a:r>
            <a:r>
              <a:rPr sz="2400" b="1" dirty="0">
                <a:solidFill>
                  <a:srgbClr val="005F8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400" b="1" dirty="0" err="1">
                <a:solidFill>
                  <a:srgbClr val="005F88"/>
                </a:solidFill>
                <a:latin typeface="Calibri"/>
                <a:ea typeface="Calibri"/>
                <a:cs typeface="Calibri"/>
              </a:rPr>
              <a:t>ocen</a:t>
            </a:r>
            <a:endParaRPr sz="2400" b="1" dirty="0">
              <a:solidFill>
                <a:srgbClr val="005F88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" name="Do uzyskania oceny 3,0 potrzebna jest średnia&#10;co">
            <a:extLst>
              <a:ext uri="{FF2B5EF4-FFF2-40B4-BE49-F238E27FC236}">
                <a16:creationId xmlns:a16="http://schemas.microsoft.com/office/drawing/2014/main" id="{14ACEB97-B2BC-CAF6-6115-2D57F5AC57ED}"/>
              </a:ext>
            </a:extLst>
          </p:cNvPr>
          <p:cNvSpPr>
            <a:spLocks noGrp="1"/>
          </p:cNvSpPr>
          <p:nvPr/>
        </p:nvSpPr>
        <p:spPr>
          <a:xfrm>
            <a:off x="1333500" y="4238625"/>
            <a:ext cx="7381875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25" b="0">
                <a:solidFill>
                  <a:srgbClr val="152B37"/>
                </a:solidFill>
                <a:latin typeface="Calibri"/>
                <a:ea typeface="Calibri"/>
                <a:cs typeface="Calibri"/>
              </a:defRPr>
            </a:pPr>
            <a:r>
              <a:rPr sz="2400" b="0" dirty="0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Do </a:t>
            </a:r>
            <a:r>
              <a:rPr sz="2400" b="0" dirty="0" err="1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uzyskania</a:t>
            </a:r>
            <a:r>
              <a:rPr sz="2400" b="0" dirty="0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400" b="0" dirty="0" err="1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oceny</a:t>
            </a:r>
            <a:r>
              <a:rPr sz="2400" b="0" dirty="0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 3,0 </a:t>
            </a:r>
            <a:r>
              <a:rPr sz="2400" b="0" dirty="0" err="1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potrzebna</a:t>
            </a:r>
            <a:r>
              <a:rPr sz="2400" b="0" dirty="0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 jest </a:t>
            </a:r>
            <a:r>
              <a:rPr sz="2400" b="0" dirty="0" err="1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średnia</a:t>
            </a:r>
            <a:endParaRPr sz="2400" b="0" dirty="0">
              <a:solidFill>
                <a:srgbClr val="152B37"/>
              </a:solidFill>
              <a:latin typeface="Calibri"/>
              <a:ea typeface="Calibri"/>
              <a:cs typeface="Calibri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2025" b="0">
                <a:solidFill>
                  <a:srgbClr val="152B37"/>
                </a:solidFill>
                <a:latin typeface="Calibri"/>
                <a:ea typeface="Calibri"/>
                <a:cs typeface="Calibri"/>
              </a:defRPr>
            </a:pPr>
            <a:r>
              <a:rPr sz="2400" b="0" dirty="0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co </a:t>
            </a:r>
            <a:r>
              <a:rPr sz="2400" b="0" dirty="0" err="1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najmniej</a:t>
            </a:r>
            <a:r>
              <a:rPr sz="2400" b="0" dirty="0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 3,0.</a:t>
            </a:r>
          </a:p>
        </p:txBody>
      </p:sp>
      <p:sp>
        <p:nvSpPr>
          <p:cNvPr id="22" name="Listy oddaje się podczas zajęć laboratoryjnych.">
            <a:extLst>
              <a:ext uri="{FF2B5EF4-FFF2-40B4-BE49-F238E27FC236}">
                <a16:creationId xmlns:a16="http://schemas.microsoft.com/office/drawing/2014/main" id="{45C1D9B4-51B9-948B-D206-B855D775721F}"/>
              </a:ext>
            </a:extLst>
          </p:cNvPr>
          <p:cNvSpPr>
            <a:spLocks noGrp="1"/>
          </p:cNvSpPr>
          <p:nvPr/>
        </p:nvSpPr>
        <p:spPr>
          <a:xfrm>
            <a:off x="1333500" y="5886450"/>
            <a:ext cx="7381875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455661"/>
                </a:solidFill>
                <a:latin typeface="Calibri"/>
                <a:ea typeface="Calibri"/>
                <a:cs typeface="Calibri"/>
              </a:defRPr>
            </a:pPr>
            <a:r>
              <a:rPr sz="24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Listy</a:t>
            </a:r>
            <a:r>
              <a:rPr sz="24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4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oddaje</a:t>
            </a:r>
            <a:r>
              <a:rPr sz="24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4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się</a:t>
            </a:r>
            <a:r>
              <a:rPr sz="24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4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podczas</a:t>
            </a:r>
            <a:r>
              <a:rPr sz="24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4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zajęć</a:t>
            </a:r>
            <a:r>
              <a:rPr sz="24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4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laboratoryjnych</a:t>
            </a:r>
            <a:r>
              <a:rPr sz="24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879040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A8DFED-B306-DBA0-40DE-E98775074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A0D91D-F3AC-0E73-A51C-1DABF2CAD4D4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Punktacja Każdej Listy</a:t>
            </a:r>
          </a:p>
        </p:txBody>
      </p:sp>
      <p:sp>
        <p:nvSpPr>
          <p:cNvPr id="4" name="Zadania + odpowiedzi = maksymalnie 10 pkt">
            <a:extLst>
              <a:ext uri="{FF2B5EF4-FFF2-40B4-BE49-F238E27FC236}">
                <a16:creationId xmlns:a16="http://schemas.microsoft.com/office/drawing/2014/main" id="{923A42DA-AE63-8758-15E5-DC00DA7250A3}"/>
              </a:ext>
            </a:extLst>
          </p:cNvPr>
          <p:cNvSpPr>
            <a:spLocks noGrp="1"/>
          </p:cNvSpPr>
          <p:nvPr/>
        </p:nvSpPr>
        <p:spPr>
          <a:xfrm>
            <a:off x="1333500" y="1162050"/>
            <a:ext cx="7381875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25" b="1">
                <a:solidFill>
                  <a:srgbClr val="005F88"/>
                </a:solidFill>
                <a:latin typeface="Calibri"/>
                <a:ea typeface="Calibri"/>
                <a:cs typeface="Calibri"/>
              </a:defRPr>
            </a:pPr>
            <a:r>
              <a:rPr sz="2400" b="1" dirty="0" err="1">
                <a:solidFill>
                  <a:srgbClr val="005F88"/>
                </a:solidFill>
                <a:latin typeface="Calibri"/>
                <a:ea typeface="Calibri"/>
                <a:cs typeface="Calibri"/>
              </a:rPr>
              <a:t>Zadania</a:t>
            </a:r>
            <a:r>
              <a:rPr sz="2400" b="1" dirty="0">
                <a:solidFill>
                  <a:srgbClr val="005F88"/>
                </a:solidFill>
                <a:latin typeface="Calibri"/>
                <a:ea typeface="Calibri"/>
                <a:cs typeface="Calibri"/>
              </a:rPr>
              <a:t> + </a:t>
            </a:r>
            <a:r>
              <a:rPr sz="2400" b="1" dirty="0" err="1">
                <a:solidFill>
                  <a:srgbClr val="005F88"/>
                </a:solidFill>
                <a:latin typeface="Calibri"/>
                <a:ea typeface="Calibri"/>
                <a:cs typeface="Calibri"/>
              </a:rPr>
              <a:t>odpowiedzi</a:t>
            </a:r>
            <a:r>
              <a:rPr sz="2400" b="1" dirty="0">
                <a:solidFill>
                  <a:srgbClr val="005F88"/>
                </a:solidFill>
                <a:latin typeface="Calibri"/>
                <a:ea typeface="Calibri"/>
                <a:cs typeface="Calibri"/>
              </a:rPr>
              <a:t> = </a:t>
            </a:r>
            <a:r>
              <a:rPr sz="2400" b="1" dirty="0" err="1">
                <a:solidFill>
                  <a:srgbClr val="005F88"/>
                </a:solidFill>
                <a:latin typeface="Calibri"/>
                <a:ea typeface="Calibri"/>
                <a:cs typeface="Calibri"/>
              </a:rPr>
              <a:t>maksymalnie</a:t>
            </a:r>
            <a:r>
              <a:rPr sz="2400" b="1" dirty="0">
                <a:solidFill>
                  <a:srgbClr val="005F88"/>
                </a:solidFill>
                <a:latin typeface="Calibri"/>
                <a:ea typeface="Calibri"/>
                <a:cs typeface="Calibri"/>
              </a:rPr>
              <a:t> 10 pkt</a:t>
            </a:r>
          </a:p>
        </p:txBody>
      </p:sp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CA30CD66-9736-E9C4-3D4A-16F47D66225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07988424"/>
              </p:ext>
            </p:extLst>
          </p:nvPr>
        </p:nvGraphicFramePr>
        <p:xfrm>
          <a:off x="1331640" y="2047875"/>
          <a:ext cx="7383735" cy="2428876"/>
        </p:xfrm>
        <a:graphic>
          <a:graphicData uri="http://schemas.openxmlformats.org/drawingml/2006/table">
            <a:tbl>
              <a:tblPr/>
              <a:tblGrid>
                <a:gridCol w="30974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7219">
                <a:tc>
                  <a:txBody>
                    <a:bodyPr/>
                    <a:lstStyle/>
                    <a:p>
                      <a:r>
                        <a:rPr sz="2400" b="1" dirty="0" err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Punktacja</a:t>
                      </a:r>
                      <a:endParaRPr sz="1950" b="1" dirty="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005F8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 dirty="0" err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Przykład</a:t>
                      </a:r>
                      <a:r>
                        <a:rPr sz="200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 1</a:t>
                      </a:r>
                    </a:p>
                  </a:txBody>
                  <a:tcPr anchor="ctr">
                    <a:solidFill>
                      <a:srgbClr val="005F8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 dirty="0" err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Przykład</a:t>
                      </a:r>
                      <a:r>
                        <a:rPr sz="200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 2</a:t>
                      </a:r>
                    </a:p>
                  </a:txBody>
                  <a:tcPr anchor="ctr">
                    <a:solidFill>
                      <a:srgbClr val="005F8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 dirty="0" err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Przykład</a:t>
                      </a:r>
                      <a:r>
                        <a:rPr sz="200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 3</a:t>
                      </a:r>
                    </a:p>
                  </a:txBody>
                  <a:tcPr anchor="ctr">
                    <a:solidFill>
                      <a:srgbClr val="005F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7219">
                <a:tc>
                  <a:txBody>
                    <a:bodyPr/>
                    <a:lstStyle/>
                    <a:p>
                      <a:r>
                        <a:rPr sz="2000" b="0" dirty="0" err="1">
                          <a:solidFill>
                            <a:srgbClr val="152B37"/>
                          </a:solidFill>
                          <a:latin typeface="Calibri"/>
                          <a:ea typeface="Calibri"/>
                          <a:cs typeface="Calibri"/>
                        </a:rPr>
                        <a:t>Zadania</a:t>
                      </a:r>
                      <a:endParaRPr sz="1950" b="0" dirty="0">
                        <a:solidFill>
                          <a:srgbClr val="152B37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 dirty="0">
                          <a:solidFill>
                            <a:srgbClr val="152B37"/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 dirty="0">
                          <a:solidFill>
                            <a:srgbClr val="152B37"/>
                          </a:solidFill>
                          <a:latin typeface="Calibri"/>
                          <a:ea typeface="Calibri"/>
                          <a:cs typeface="Calibri"/>
                        </a:rP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152B37"/>
                          </a:solidFill>
                          <a:latin typeface="Calibri"/>
                          <a:ea typeface="Calibri"/>
                          <a:cs typeface="Calibri"/>
                        </a:rP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7219">
                <a:tc>
                  <a:txBody>
                    <a:bodyPr/>
                    <a:lstStyle/>
                    <a:p>
                      <a:r>
                        <a:rPr sz="2000" b="0" dirty="0" err="1">
                          <a:solidFill>
                            <a:srgbClr val="152B37"/>
                          </a:solidFill>
                          <a:latin typeface="Calibri"/>
                          <a:ea typeface="Calibri"/>
                          <a:cs typeface="Calibri"/>
                        </a:rPr>
                        <a:t>Pytania</a:t>
                      </a:r>
                      <a:r>
                        <a:rPr sz="2000" b="0" dirty="0">
                          <a:solidFill>
                            <a:srgbClr val="152B37"/>
                          </a:solidFill>
                          <a:latin typeface="Calibri"/>
                          <a:ea typeface="Calibri"/>
                          <a:cs typeface="Calibri"/>
                        </a:rPr>
                        <a:t> (po 1 pkt)</a:t>
                      </a:r>
                    </a:p>
                  </a:txBody>
                  <a:tcPr anchor="ctr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152B37"/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</a:p>
                  </a:txBody>
                  <a:tcPr anchor="ctr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 dirty="0">
                          <a:solidFill>
                            <a:srgbClr val="152B37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anchor="ctr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152B37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anchor="ctr">
                    <a:solidFill>
                      <a:srgbClr val="EE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7219">
                <a:tc>
                  <a:txBody>
                    <a:bodyPr/>
                    <a:lstStyle/>
                    <a:p>
                      <a:r>
                        <a:rPr sz="2000" b="0" dirty="0" err="1">
                          <a:solidFill>
                            <a:srgbClr val="152B37"/>
                          </a:solidFill>
                          <a:latin typeface="Calibri"/>
                          <a:ea typeface="Calibri"/>
                          <a:cs typeface="Calibri"/>
                        </a:rPr>
                        <a:t>Razem</a:t>
                      </a:r>
                      <a:endParaRPr sz="1950" b="0" dirty="0">
                        <a:solidFill>
                          <a:srgbClr val="152B37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 dirty="0">
                          <a:solidFill>
                            <a:srgbClr val="152B37"/>
                          </a:solidFill>
                          <a:latin typeface="Calibri"/>
                          <a:ea typeface="Calibri"/>
                          <a:cs typeface="Calibri"/>
                        </a:rP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152B37"/>
                          </a:solidFill>
                          <a:latin typeface="Calibri"/>
                          <a:ea typeface="Calibri"/>
                          <a:cs typeface="Calibri"/>
                        </a:rP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 dirty="0">
                          <a:solidFill>
                            <a:srgbClr val="152B37"/>
                          </a:solidFill>
                          <a:latin typeface="Calibri"/>
                          <a:ea typeface="Calibri"/>
                          <a:cs typeface="Calibri"/>
                        </a:rP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Za odpowiedź: 0 albo 1 pkt.&#10;Bez punktów częściow">
            <a:extLst>
              <a:ext uri="{FF2B5EF4-FFF2-40B4-BE49-F238E27FC236}">
                <a16:creationId xmlns:a16="http://schemas.microsoft.com/office/drawing/2014/main" id="{C967F2D6-837B-C0A5-A0B1-7F1A8020DE1F}"/>
              </a:ext>
            </a:extLst>
          </p:cNvPr>
          <p:cNvSpPr>
            <a:spLocks noGrp="1"/>
          </p:cNvSpPr>
          <p:nvPr/>
        </p:nvSpPr>
        <p:spPr>
          <a:xfrm>
            <a:off x="1333500" y="4800600"/>
            <a:ext cx="7381875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2B37"/>
                </a:solidFill>
                <a:latin typeface="Calibri"/>
                <a:ea typeface="Calibri"/>
                <a:cs typeface="Calibri"/>
              </a:defRPr>
            </a:pPr>
            <a:r>
              <a:rPr sz="2400" b="0" dirty="0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Za </a:t>
            </a:r>
            <a:r>
              <a:rPr sz="2400" b="0" dirty="0" err="1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odpowiedź</a:t>
            </a:r>
            <a:r>
              <a:rPr sz="2400" b="0" dirty="0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: 0 </a:t>
            </a:r>
            <a:r>
              <a:rPr sz="2400" b="0" dirty="0" err="1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albo</a:t>
            </a:r>
            <a:r>
              <a:rPr sz="2400" b="0" dirty="0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 1 pkt.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2B37"/>
                </a:solidFill>
                <a:latin typeface="Calibri"/>
                <a:ea typeface="Calibri"/>
                <a:cs typeface="Calibri"/>
              </a:defRPr>
            </a:pPr>
            <a:r>
              <a:rPr sz="2400" b="0" dirty="0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Bez </a:t>
            </a:r>
            <a:r>
              <a:rPr sz="2400" b="0" dirty="0" err="1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punktów</a:t>
            </a:r>
            <a:r>
              <a:rPr sz="2400" b="0" dirty="0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400" b="0" dirty="0" err="1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częściowych</a:t>
            </a:r>
            <a:r>
              <a:rPr sz="2400" b="0" dirty="0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 za </a:t>
            </a:r>
            <a:r>
              <a:rPr sz="2400" b="0" dirty="0" err="1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pytania</a:t>
            </a:r>
            <a:r>
              <a:rPr sz="2400" b="0" dirty="0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3" name="Liczba pytań zależy od maksimum za zadania,&#10;a ni">
            <a:extLst>
              <a:ext uri="{FF2B5EF4-FFF2-40B4-BE49-F238E27FC236}">
                <a16:creationId xmlns:a16="http://schemas.microsoft.com/office/drawing/2014/main" id="{D66F6632-2F3D-EE5A-46C6-5234FEE78FE7}"/>
              </a:ext>
            </a:extLst>
          </p:cNvPr>
          <p:cNvSpPr>
            <a:spLocks noGrp="1"/>
          </p:cNvSpPr>
          <p:nvPr/>
        </p:nvSpPr>
        <p:spPr>
          <a:xfrm>
            <a:off x="1333500" y="5886450"/>
            <a:ext cx="7381875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455661"/>
                </a:solidFill>
                <a:latin typeface="Calibri"/>
                <a:ea typeface="Calibri"/>
                <a:cs typeface="Calibri"/>
              </a:defRPr>
            </a:pPr>
            <a:r>
              <a:rPr sz="20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Liczba</a:t>
            </a:r>
            <a:r>
              <a:rPr sz="20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pytań</a:t>
            </a:r>
            <a:r>
              <a:rPr sz="20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zależy</a:t>
            </a:r>
            <a:r>
              <a:rPr sz="20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 od </a:t>
            </a:r>
            <a:r>
              <a:rPr sz="20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maksimum</a:t>
            </a:r>
            <a:r>
              <a:rPr sz="20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 za </a:t>
            </a:r>
            <a:r>
              <a:rPr sz="20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zadania</a:t>
            </a:r>
            <a:r>
              <a:rPr sz="20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,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455661"/>
                </a:solidFill>
                <a:latin typeface="Calibri"/>
                <a:ea typeface="Calibri"/>
                <a:cs typeface="Calibri"/>
              </a:defRPr>
            </a:pPr>
            <a:r>
              <a:rPr sz="20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a </a:t>
            </a:r>
            <a:r>
              <a:rPr sz="20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nie</a:t>
            </a:r>
            <a:r>
              <a:rPr sz="20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 od </a:t>
            </a:r>
            <a:r>
              <a:rPr sz="20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wyniku</a:t>
            </a:r>
            <a:r>
              <a:rPr sz="20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uzyskanego</a:t>
            </a:r>
            <a:r>
              <a:rPr sz="20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przez</a:t>
            </a:r>
            <a:r>
              <a:rPr sz="20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studenta</a:t>
            </a:r>
            <a:r>
              <a:rPr sz="20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239298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A51AC1-97F4-76AE-6340-B142E8116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4078DB7-2FA3-5DA6-7CCA-3CE555386298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Ocena z Listy</a:t>
            </a:r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392C5D3F-59B1-BCF6-6F46-51EA4760681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40616838"/>
              </p:ext>
            </p:extLst>
          </p:nvPr>
        </p:nvGraphicFramePr>
        <p:xfrm>
          <a:off x="1333500" y="1352550"/>
          <a:ext cx="3952875" cy="4143377"/>
        </p:xfrm>
        <a:graphic>
          <a:graphicData uri="http://schemas.openxmlformats.org/drawingml/2006/table">
            <a:tbl>
              <a:tblPr/>
              <a:tblGrid>
                <a:gridCol w="2762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0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1911">
                <a:tc>
                  <a:txBody>
                    <a:bodyPr/>
                    <a:lstStyle/>
                    <a:p>
                      <a:r>
                        <a:rPr sz="2400" b="1" dirty="0" err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Punkty</a:t>
                      </a:r>
                      <a:endParaRPr sz="1875" b="1" dirty="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005F8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 dirty="0" err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Ocena</a:t>
                      </a:r>
                      <a:endParaRPr sz="1875" b="1" dirty="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005F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1911">
                <a:tc>
                  <a:txBody>
                    <a:bodyPr/>
                    <a:lstStyle/>
                    <a:p>
                      <a:pPr algn="ctr"/>
                      <a:r>
                        <a:rPr sz="2400" b="1" dirty="0" err="1">
                          <a:solidFill>
                            <a:srgbClr val="152B37"/>
                          </a:solidFill>
                          <a:latin typeface="Calibri"/>
                          <a:ea typeface="Calibri"/>
                          <a:cs typeface="Calibri"/>
                        </a:rPr>
                        <a:t>poniżej</a:t>
                      </a:r>
                      <a:r>
                        <a:rPr sz="2400" b="1" dirty="0">
                          <a:solidFill>
                            <a:srgbClr val="152B37"/>
                          </a:solidFill>
                          <a:latin typeface="Calibri"/>
                          <a:ea typeface="Calibri"/>
                          <a:cs typeface="Calibri"/>
                        </a:rPr>
                        <a:t> 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 dirty="0">
                          <a:solidFill>
                            <a:srgbClr val="152B37"/>
                          </a:solidFill>
                          <a:latin typeface="Calibri"/>
                          <a:ea typeface="Calibri"/>
                          <a:cs typeface="Calibri"/>
                        </a:rPr>
                        <a:t>2,0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1911">
                <a:tc>
                  <a:txBody>
                    <a:bodyPr/>
                    <a:lstStyle/>
                    <a:p>
                      <a:pPr algn="ctr"/>
                      <a:r>
                        <a:rPr sz="2400" b="1" dirty="0">
                          <a:solidFill>
                            <a:srgbClr val="152B37"/>
                          </a:solidFill>
                          <a:latin typeface="Calibri"/>
                          <a:ea typeface="Calibri"/>
                          <a:cs typeface="Calibri"/>
                        </a:rPr>
                        <a:t>7</a:t>
                      </a:r>
                    </a:p>
                  </a:txBody>
                  <a:tcPr anchor="ctr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52B37"/>
                          </a:solidFill>
                          <a:latin typeface="Calibri"/>
                          <a:ea typeface="Calibri"/>
                          <a:cs typeface="Calibri"/>
                        </a:rPr>
                        <a:t>3,0</a:t>
                      </a:r>
                    </a:p>
                  </a:txBody>
                  <a:tcPr anchor="ctr">
                    <a:solidFill>
                      <a:srgbClr val="EE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1911">
                <a:tc>
                  <a:txBody>
                    <a:bodyPr/>
                    <a:lstStyle/>
                    <a:p>
                      <a:pPr algn="ctr"/>
                      <a:r>
                        <a:rPr sz="2400" b="1" dirty="0">
                          <a:solidFill>
                            <a:srgbClr val="152B37"/>
                          </a:solidFill>
                          <a:latin typeface="Calibri"/>
                          <a:ea typeface="Calibri"/>
                          <a:cs typeface="Calibri"/>
                        </a:rP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 dirty="0">
                          <a:solidFill>
                            <a:srgbClr val="152B37"/>
                          </a:solidFill>
                          <a:latin typeface="Calibri"/>
                          <a:ea typeface="Calibri"/>
                          <a:cs typeface="Calibri"/>
                        </a:rPr>
                        <a:t>3,5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1911">
                <a:tc>
                  <a:txBody>
                    <a:bodyPr/>
                    <a:lstStyle/>
                    <a:p>
                      <a:pPr algn="ctr"/>
                      <a:r>
                        <a:rPr sz="2400" b="1" dirty="0">
                          <a:solidFill>
                            <a:srgbClr val="152B37"/>
                          </a:solidFill>
                          <a:latin typeface="Calibri"/>
                          <a:ea typeface="Calibri"/>
                          <a:cs typeface="Calibri"/>
                        </a:rPr>
                        <a:t>9</a:t>
                      </a:r>
                    </a:p>
                  </a:txBody>
                  <a:tcPr anchor="ctr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 dirty="0">
                          <a:solidFill>
                            <a:srgbClr val="152B37"/>
                          </a:solidFill>
                          <a:latin typeface="Calibri"/>
                          <a:ea typeface="Calibri"/>
                          <a:cs typeface="Calibri"/>
                        </a:rPr>
                        <a:t>4,0</a:t>
                      </a:r>
                    </a:p>
                  </a:txBody>
                  <a:tcPr anchor="ctr">
                    <a:solidFill>
                      <a:srgbClr val="EE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1911">
                <a:tc>
                  <a:txBody>
                    <a:bodyPr/>
                    <a:lstStyle/>
                    <a:p>
                      <a:pPr algn="ctr"/>
                      <a:r>
                        <a:rPr sz="2400" b="1" dirty="0">
                          <a:solidFill>
                            <a:srgbClr val="152B37"/>
                          </a:solidFill>
                          <a:latin typeface="Calibri"/>
                          <a:ea typeface="Calibri"/>
                          <a:cs typeface="Calibri"/>
                        </a:rP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 dirty="0">
                          <a:solidFill>
                            <a:srgbClr val="152B37"/>
                          </a:solidFill>
                          <a:latin typeface="Calibri"/>
                          <a:ea typeface="Calibri"/>
                          <a:cs typeface="Calibri"/>
                        </a:rPr>
                        <a:t>4,5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1911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52B37"/>
                          </a:solidFill>
                          <a:latin typeface="Calibri"/>
                          <a:ea typeface="Calibri"/>
                          <a:cs typeface="Calibri"/>
                        </a:rPr>
                        <a:t>10</a:t>
                      </a:r>
                    </a:p>
                  </a:txBody>
                  <a:tcPr anchor="ctr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 dirty="0">
                          <a:solidFill>
                            <a:srgbClr val="152B37"/>
                          </a:solidFill>
                          <a:latin typeface="Calibri"/>
                          <a:ea typeface="Calibri"/>
                          <a:cs typeface="Calibri"/>
                        </a:rPr>
                        <a:t>5,0</a:t>
                      </a:r>
                    </a:p>
                  </a:txBody>
                  <a:tcPr anchor="ctr">
                    <a:solidFill>
                      <a:srgbClr val="EE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Przykład">
            <a:extLst>
              <a:ext uri="{FF2B5EF4-FFF2-40B4-BE49-F238E27FC236}">
                <a16:creationId xmlns:a16="http://schemas.microsoft.com/office/drawing/2014/main" id="{C7BFFB92-B095-8D9F-FF04-DE30018E608D}"/>
              </a:ext>
            </a:extLst>
          </p:cNvPr>
          <p:cNvSpPr>
            <a:spLocks noGrp="1"/>
          </p:cNvSpPr>
          <p:nvPr/>
        </p:nvSpPr>
        <p:spPr>
          <a:xfrm>
            <a:off x="5600700" y="1409700"/>
            <a:ext cx="3000375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25" b="1">
                <a:solidFill>
                  <a:srgbClr val="005F88"/>
                </a:solidFill>
                <a:latin typeface="Calibri"/>
                <a:ea typeface="Calibri"/>
                <a:cs typeface="Calibri"/>
              </a:defRPr>
            </a:pPr>
            <a:r>
              <a:rPr sz="2325" b="1" dirty="0" err="1">
                <a:solidFill>
                  <a:srgbClr val="005F88"/>
                </a:solidFill>
                <a:latin typeface="Calibri"/>
                <a:ea typeface="Calibri"/>
                <a:cs typeface="Calibri"/>
              </a:rPr>
              <a:t>Przykład</a:t>
            </a:r>
            <a:endParaRPr sz="2325" b="1" dirty="0">
              <a:solidFill>
                <a:srgbClr val="005F88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" name="Zadania: 4 z 6 pkt&#10;Pytania: 3 z 4 pkt">
            <a:extLst>
              <a:ext uri="{FF2B5EF4-FFF2-40B4-BE49-F238E27FC236}">
                <a16:creationId xmlns:a16="http://schemas.microsoft.com/office/drawing/2014/main" id="{FC760E9D-D03F-B318-DA61-B4AAB7773C06}"/>
              </a:ext>
            </a:extLst>
          </p:cNvPr>
          <p:cNvSpPr>
            <a:spLocks noGrp="1"/>
          </p:cNvSpPr>
          <p:nvPr/>
        </p:nvSpPr>
        <p:spPr>
          <a:xfrm>
            <a:off x="5600700" y="2000250"/>
            <a:ext cx="3000375" cy="1428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2B37"/>
                </a:solidFill>
                <a:latin typeface="Calibri"/>
                <a:ea typeface="Calibri"/>
                <a:cs typeface="Calibri"/>
              </a:defRPr>
            </a:pPr>
            <a:r>
              <a:rPr sz="2100" b="0" dirty="0" err="1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Zadania</a:t>
            </a:r>
            <a:r>
              <a:rPr sz="2100" b="0" dirty="0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: 4 z 6 pkt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2B37"/>
                </a:solidFill>
                <a:latin typeface="Calibri"/>
                <a:ea typeface="Calibri"/>
                <a:cs typeface="Calibri"/>
              </a:defRPr>
            </a:pPr>
            <a:r>
              <a:rPr sz="2100" b="0" dirty="0" err="1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Pytania</a:t>
            </a:r>
            <a:r>
              <a:rPr sz="2100" b="0" dirty="0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: 3 z 4 pkt</a:t>
            </a:r>
          </a:p>
        </p:txBody>
      </p:sp>
      <p:sp>
        <p:nvSpPr>
          <p:cNvPr id="14" name="Razem: 7/10 pkt&#10;Ocena: 3,5">
            <a:extLst>
              <a:ext uri="{FF2B5EF4-FFF2-40B4-BE49-F238E27FC236}">
                <a16:creationId xmlns:a16="http://schemas.microsoft.com/office/drawing/2014/main" id="{7D8BE28D-0F2E-3F44-5416-D0510A19E478}"/>
              </a:ext>
            </a:extLst>
          </p:cNvPr>
          <p:cNvSpPr>
            <a:spLocks noGrp="1"/>
          </p:cNvSpPr>
          <p:nvPr/>
        </p:nvSpPr>
        <p:spPr>
          <a:xfrm>
            <a:off x="5600700" y="3590925"/>
            <a:ext cx="3000375" cy="1028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25" b="1">
                <a:solidFill>
                  <a:srgbClr val="152B37"/>
                </a:solidFill>
                <a:latin typeface="Calibri"/>
                <a:ea typeface="Calibri"/>
                <a:cs typeface="Calibri"/>
              </a:defRPr>
            </a:pPr>
            <a:r>
              <a:rPr sz="2325" b="1" dirty="0" err="1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Razem</a:t>
            </a:r>
            <a:r>
              <a:rPr sz="2325" b="1" dirty="0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: 7/10 pkt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325" b="1">
                <a:solidFill>
                  <a:srgbClr val="152B37"/>
                </a:solidFill>
                <a:latin typeface="Calibri"/>
                <a:ea typeface="Calibri"/>
                <a:cs typeface="Calibri"/>
              </a:defRPr>
            </a:pPr>
            <a:r>
              <a:rPr sz="2325" b="1" dirty="0" err="1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Ocena</a:t>
            </a:r>
            <a:r>
              <a:rPr sz="2325" b="1" dirty="0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: 3,5</a:t>
            </a:r>
          </a:p>
        </p:txBody>
      </p:sp>
      <p:sp>
        <p:nvSpPr>
          <p:cNvPr id="16" name="Student losuje 4 pytania, choć za zadania otrzym">
            <a:extLst>
              <a:ext uri="{FF2B5EF4-FFF2-40B4-BE49-F238E27FC236}">
                <a16:creationId xmlns:a16="http://schemas.microsoft.com/office/drawing/2014/main" id="{386BCF00-7C8F-0CAB-8088-F9F67254B2A8}"/>
              </a:ext>
            </a:extLst>
          </p:cNvPr>
          <p:cNvSpPr>
            <a:spLocks noGrp="1"/>
          </p:cNvSpPr>
          <p:nvPr/>
        </p:nvSpPr>
        <p:spPr>
          <a:xfrm>
            <a:off x="1333500" y="5886450"/>
            <a:ext cx="7381875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455661"/>
                </a:solidFill>
                <a:latin typeface="Calibri"/>
                <a:ea typeface="Calibri"/>
                <a:cs typeface="Calibri"/>
              </a:defRPr>
            </a:pPr>
            <a:r>
              <a:rPr sz="20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Student </a:t>
            </a:r>
            <a:r>
              <a:rPr sz="20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losuje</a:t>
            </a:r>
            <a:r>
              <a:rPr sz="20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 4 </a:t>
            </a:r>
            <a:r>
              <a:rPr sz="20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pytania</a:t>
            </a:r>
            <a:r>
              <a:rPr sz="20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20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choć</a:t>
            </a:r>
            <a:r>
              <a:rPr sz="20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 za </a:t>
            </a:r>
            <a:r>
              <a:rPr sz="20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zadania</a:t>
            </a:r>
            <a:r>
              <a:rPr sz="20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otrzymał</a:t>
            </a:r>
            <a:r>
              <a:rPr sz="20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 4 pkt.</a:t>
            </a:r>
          </a:p>
        </p:txBody>
      </p:sp>
    </p:spTree>
    <p:extLst>
      <p:ext uri="{BB962C8B-B14F-4D97-AF65-F5344CB8AC3E}">
        <p14:creationId xmlns:p14="http://schemas.microsoft.com/office/powerpoint/2010/main" val="18873878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5E07ED-AA8C-5A63-DB38-8FF24E6FC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AE462EF-877D-DBB9-4B56-E4D0A05A72FD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Ocena z Listy</a:t>
            </a:r>
          </a:p>
        </p:txBody>
      </p:sp>
      <p:sp>
        <p:nvSpPr>
          <p:cNvPr id="4" name="Termin oddania">
            <a:extLst>
              <a:ext uri="{FF2B5EF4-FFF2-40B4-BE49-F238E27FC236}">
                <a16:creationId xmlns:a16="http://schemas.microsoft.com/office/drawing/2014/main" id="{B1019518-7904-874B-A6E8-40465830BFF3}"/>
              </a:ext>
            </a:extLst>
          </p:cNvPr>
          <p:cNvSpPr>
            <a:spLocks noGrp="1"/>
          </p:cNvSpPr>
          <p:nvPr/>
        </p:nvSpPr>
        <p:spPr>
          <a:xfrm>
            <a:off x="1333500" y="1333500"/>
            <a:ext cx="73818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25" b="1">
                <a:solidFill>
                  <a:srgbClr val="005F88"/>
                </a:solidFill>
                <a:latin typeface="Calibri"/>
                <a:ea typeface="Calibri"/>
                <a:cs typeface="Calibri"/>
              </a:defRPr>
            </a:pPr>
            <a:r>
              <a:rPr sz="2400" b="1" dirty="0">
                <a:solidFill>
                  <a:srgbClr val="005F88"/>
                </a:solidFill>
                <a:latin typeface="Calibri"/>
                <a:ea typeface="Calibri"/>
                <a:cs typeface="Calibri"/>
              </a:rPr>
              <a:t>Termin </a:t>
            </a:r>
            <a:r>
              <a:rPr sz="2400" b="1" dirty="0" err="1">
                <a:solidFill>
                  <a:srgbClr val="005F88"/>
                </a:solidFill>
                <a:latin typeface="Calibri"/>
                <a:ea typeface="Calibri"/>
                <a:cs typeface="Calibri"/>
              </a:rPr>
              <a:t>oddania</a:t>
            </a:r>
            <a:endParaRPr sz="2400" b="1" dirty="0">
              <a:solidFill>
                <a:srgbClr val="005F88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" name="Każda lista ma własny termin podany w jej treści">
            <a:extLst>
              <a:ext uri="{FF2B5EF4-FFF2-40B4-BE49-F238E27FC236}">
                <a16:creationId xmlns:a16="http://schemas.microsoft.com/office/drawing/2014/main" id="{060D024D-CD81-B729-A83D-1207574A0A9E}"/>
              </a:ext>
            </a:extLst>
          </p:cNvPr>
          <p:cNvSpPr>
            <a:spLocks noGrp="1"/>
          </p:cNvSpPr>
          <p:nvPr/>
        </p:nvSpPr>
        <p:spPr>
          <a:xfrm>
            <a:off x="1333500" y="1666875"/>
            <a:ext cx="7381875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25" b="0">
                <a:solidFill>
                  <a:srgbClr val="152B37"/>
                </a:solidFill>
                <a:latin typeface="Calibri"/>
                <a:ea typeface="Calibri"/>
                <a:cs typeface="Calibri"/>
              </a:defRPr>
            </a:pPr>
            <a:r>
              <a:rPr sz="2400" b="0" dirty="0" err="1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Każda</a:t>
            </a:r>
            <a:r>
              <a:rPr sz="2400" b="0" dirty="0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400" b="0" dirty="0" err="1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lista</a:t>
            </a:r>
            <a:r>
              <a:rPr sz="2400" b="0" dirty="0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 ma </a:t>
            </a:r>
            <a:r>
              <a:rPr sz="2400" b="0" dirty="0" err="1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własny</a:t>
            </a:r>
            <a:r>
              <a:rPr sz="2400" b="0" dirty="0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400" b="0" dirty="0" err="1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termin</a:t>
            </a:r>
            <a:r>
              <a:rPr sz="2400" b="0" dirty="0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400" b="0" dirty="0" err="1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podany</a:t>
            </a:r>
            <a:r>
              <a:rPr sz="2400" b="0" dirty="0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 w </a:t>
            </a:r>
            <a:r>
              <a:rPr sz="2400" b="0" dirty="0" err="1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jej</a:t>
            </a:r>
            <a:r>
              <a:rPr sz="2400" b="0" dirty="0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400" b="0" dirty="0" err="1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treści</a:t>
            </a:r>
            <a:r>
              <a:rPr sz="2400" b="0" dirty="0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0" name="Opóźnienie">
            <a:extLst>
              <a:ext uri="{FF2B5EF4-FFF2-40B4-BE49-F238E27FC236}">
                <a16:creationId xmlns:a16="http://schemas.microsoft.com/office/drawing/2014/main" id="{18771A6D-74FF-C180-91A1-C423A42AA293}"/>
              </a:ext>
            </a:extLst>
          </p:cNvPr>
          <p:cNvSpPr>
            <a:spLocks noGrp="1"/>
          </p:cNvSpPr>
          <p:nvPr/>
        </p:nvSpPr>
        <p:spPr>
          <a:xfrm>
            <a:off x="1333500" y="2590800"/>
            <a:ext cx="73818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25" b="1">
                <a:solidFill>
                  <a:srgbClr val="005F88"/>
                </a:solidFill>
                <a:latin typeface="Calibri"/>
                <a:ea typeface="Calibri"/>
                <a:cs typeface="Calibri"/>
              </a:defRPr>
            </a:pPr>
            <a:r>
              <a:rPr sz="2400" b="1" dirty="0" err="1">
                <a:solidFill>
                  <a:srgbClr val="005F88"/>
                </a:solidFill>
                <a:latin typeface="Calibri"/>
                <a:ea typeface="Calibri"/>
                <a:cs typeface="Calibri"/>
              </a:rPr>
              <a:t>Opóźnienie</a:t>
            </a:r>
            <a:endParaRPr sz="2025" b="1" dirty="0">
              <a:solidFill>
                <a:srgbClr val="005F88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" name="Za każdy tydzień opóźnienia ocena z listy&#10;jest o">
            <a:extLst>
              <a:ext uri="{FF2B5EF4-FFF2-40B4-BE49-F238E27FC236}">
                <a16:creationId xmlns:a16="http://schemas.microsoft.com/office/drawing/2014/main" id="{F67E9FC2-9B2A-81B1-3C06-DC0A1B7A0DDA}"/>
              </a:ext>
            </a:extLst>
          </p:cNvPr>
          <p:cNvSpPr>
            <a:spLocks noGrp="1"/>
          </p:cNvSpPr>
          <p:nvPr/>
        </p:nvSpPr>
        <p:spPr>
          <a:xfrm>
            <a:off x="1333500" y="2924175"/>
            <a:ext cx="7381875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25" b="0">
                <a:solidFill>
                  <a:srgbClr val="152B37"/>
                </a:solidFill>
                <a:latin typeface="Calibri"/>
                <a:ea typeface="Calibri"/>
                <a:cs typeface="Calibri"/>
              </a:defRPr>
            </a:pPr>
            <a:r>
              <a:rPr sz="2400" b="0" dirty="0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Za </a:t>
            </a:r>
            <a:r>
              <a:rPr sz="2400" b="0" dirty="0" err="1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każdy</a:t>
            </a:r>
            <a:r>
              <a:rPr sz="2400" b="0" dirty="0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400" b="0" dirty="0" err="1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tydzień</a:t>
            </a:r>
            <a:r>
              <a:rPr sz="2400" b="0" dirty="0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400" b="0" dirty="0" err="1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opóźnienia</a:t>
            </a:r>
            <a:r>
              <a:rPr sz="2400" b="0" dirty="0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400" b="0" dirty="0" err="1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ocena</a:t>
            </a:r>
            <a:r>
              <a:rPr sz="2400" b="0" dirty="0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 z </a:t>
            </a:r>
            <a:r>
              <a:rPr sz="2400" b="0" dirty="0" err="1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listy</a:t>
            </a:r>
            <a:endParaRPr sz="2400" b="0" dirty="0">
              <a:solidFill>
                <a:srgbClr val="152B37"/>
              </a:solidFill>
              <a:latin typeface="Calibri"/>
              <a:ea typeface="Calibri"/>
              <a:cs typeface="Calibri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2025" b="0">
                <a:solidFill>
                  <a:srgbClr val="152B37"/>
                </a:solidFill>
                <a:latin typeface="Calibri"/>
                <a:ea typeface="Calibri"/>
                <a:cs typeface="Calibri"/>
              </a:defRPr>
            </a:pPr>
            <a:r>
              <a:rPr sz="2400" b="0" dirty="0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jest </a:t>
            </a:r>
            <a:r>
              <a:rPr sz="2400" b="0" dirty="0" err="1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obniżana</a:t>
            </a:r>
            <a:r>
              <a:rPr sz="2400" b="0" dirty="0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 o 1,0.</a:t>
            </a:r>
          </a:p>
        </p:txBody>
      </p:sp>
      <p:sp>
        <p:nvSpPr>
          <p:cNvPr id="17" name="Obecność">
            <a:extLst>
              <a:ext uri="{FF2B5EF4-FFF2-40B4-BE49-F238E27FC236}">
                <a16:creationId xmlns:a16="http://schemas.microsoft.com/office/drawing/2014/main" id="{03519B85-E300-A8E5-845E-DDE3EECF289E}"/>
              </a:ext>
            </a:extLst>
          </p:cNvPr>
          <p:cNvSpPr>
            <a:spLocks noGrp="1"/>
          </p:cNvSpPr>
          <p:nvPr/>
        </p:nvSpPr>
        <p:spPr>
          <a:xfrm>
            <a:off x="1333500" y="4171950"/>
            <a:ext cx="73818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25" b="1">
                <a:solidFill>
                  <a:srgbClr val="005F88"/>
                </a:solidFill>
                <a:latin typeface="Calibri"/>
                <a:ea typeface="Calibri"/>
                <a:cs typeface="Calibri"/>
              </a:defRPr>
            </a:pPr>
            <a:r>
              <a:rPr sz="2400" b="1" dirty="0" err="1">
                <a:solidFill>
                  <a:srgbClr val="005F88"/>
                </a:solidFill>
                <a:latin typeface="Calibri"/>
                <a:ea typeface="Calibri"/>
                <a:cs typeface="Calibri"/>
              </a:rPr>
              <a:t>Obecność</a:t>
            </a:r>
            <a:endParaRPr sz="2025" b="1" dirty="0">
              <a:solidFill>
                <a:srgbClr val="005F88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" name="Dopuszczalne są trzy nieobecności&#10;nieusprawiedli">
            <a:extLst>
              <a:ext uri="{FF2B5EF4-FFF2-40B4-BE49-F238E27FC236}">
                <a16:creationId xmlns:a16="http://schemas.microsoft.com/office/drawing/2014/main" id="{5E07938B-344B-5023-9F80-08FA9A4CC69D}"/>
              </a:ext>
            </a:extLst>
          </p:cNvPr>
          <p:cNvSpPr>
            <a:spLocks noGrp="1"/>
          </p:cNvSpPr>
          <p:nvPr/>
        </p:nvSpPr>
        <p:spPr>
          <a:xfrm>
            <a:off x="1333500" y="4505325"/>
            <a:ext cx="7381875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25" b="0">
                <a:solidFill>
                  <a:srgbClr val="152B37"/>
                </a:solidFill>
                <a:latin typeface="Calibri"/>
                <a:ea typeface="Calibri"/>
                <a:cs typeface="Calibri"/>
              </a:defRPr>
            </a:pPr>
            <a:r>
              <a:rPr sz="2400" b="0" dirty="0" err="1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Dopuszczalne</a:t>
            </a:r>
            <a:r>
              <a:rPr sz="2400" b="0" dirty="0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400" b="0" dirty="0" err="1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są</a:t>
            </a:r>
            <a:r>
              <a:rPr sz="2400" b="0" dirty="0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400" b="0" dirty="0" err="1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trzy</a:t>
            </a:r>
            <a:r>
              <a:rPr sz="2400" b="0" dirty="0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400" b="0" dirty="0" err="1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nieobecności</a:t>
            </a:r>
            <a:endParaRPr sz="2400" b="0" dirty="0">
              <a:solidFill>
                <a:srgbClr val="152B37"/>
              </a:solidFill>
              <a:latin typeface="Calibri"/>
              <a:ea typeface="Calibri"/>
              <a:cs typeface="Calibri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2025" b="0">
                <a:solidFill>
                  <a:srgbClr val="152B37"/>
                </a:solidFill>
                <a:latin typeface="Calibri"/>
                <a:ea typeface="Calibri"/>
                <a:cs typeface="Calibri"/>
              </a:defRPr>
            </a:pPr>
            <a:r>
              <a:rPr sz="2400" b="0" dirty="0" err="1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nieusprawiedliwione</a:t>
            </a:r>
            <a:r>
              <a:rPr sz="2400" b="0" dirty="0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400" b="0" dirty="0" err="1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na</a:t>
            </a:r>
            <a:r>
              <a:rPr sz="2400" b="0" dirty="0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400" b="0" dirty="0" err="1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laboratorium</a:t>
            </a:r>
            <a:r>
              <a:rPr sz="2400" b="0" dirty="0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679654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CB0E2E-FEDE-A219-5277-198FF2839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B8E1DD2-1B66-FF50-389D-377791AEFBAE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Program Kursu</a:t>
            </a:r>
          </a:p>
        </p:txBody>
      </p:sp>
      <p:sp>
        <p:nvSpPr>
          <p:cNvPr id="5" name="1">
            <a:extLst>
              <a:ext uri="{FF2B5EF4-FFF2-40B4-BE49-F238E27FC236}">
                <a16:creationId xmlns:a16="http://schemas.microsoft.com/office/drawing/2014/main" id="{49D26C77-EED4-DE10-5AC0-B8188AD13B09}"/>
              </a:ext>
            </a:extLst>
          </p:cNvPr>
          <p:cNvSpPr>
            <a:spLocks noGrp="1"/>
          </p:cNvSpPr>
          <p:nvPr/>
        </p:nvSpPr>
        <p:spPr>
          <a:xfrm>
            <a:off x="1333500" y="1266825"/>
            <a:ext cx="4000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25" b="1">
                <a:solidFill>
                  <a:srgbClr val="005F88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05F88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8" name="Organizacja kursu i nawigacja Compose">
            <a:extLst>
              <a:ext uri="{FF2B5EF4-FFF2-40B4-BE49-F238E27FC236}">
                <a16:creationId xmlns:a16="http://schemas.microsoft.com/office/drawing/2014/main" id="{424DA236-BFB7-CA9F-EE7D-84E3D85D98C6}"/>
              </a:ext>
            </a:extLst>
          </p:cNvPr>
          <p:cNvSpPr>
            <a:spLocks noGrp="1"/>
          </p:cNvSpPr>
          <p:nvPr/>
        </p:nvSpPr>
        <p:spPr>
          <a:xfrm>
            <a:off x="1857375" y="1266825"/>
            <a:ext cx="6715125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25" b="0">
                <a:solidFill>
                  <a:srgbClr val="152B37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Organizacja kursu i nawigacja Compose</a:t>
            </a:r>
          </a:p>
        </p:txBody>
      </p:sp>
      <p:sp>
        <p:nvSpPr>
          <p:cNvPr id="11" name="2">
            <a:extLst>
              <a:ext uri="{FF2B5EF4-FFF2-40B4-BE49-F238E27FC236}">
                <a16:creationId xmlns:a16="http://schemas.microsoft.com/office/drawing/2014/main" id="{61A09BCA-2289-DD28-550F-74DDE0959FAB}"/>
              </a:ext>
            </a:extLst>
          </p:cNvPr>
          <p:cNvSpPr>
            <a:spLocks noGrp="1"/>
          </p:cNvSpPr>
          <p:nvPr/>
        </p:nvSpPr>
        <p:spPr>
          <a:xfrm>
            <a:off x="1333500" y="1962150"/>
            <a:ext cx="4000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25" b="1">
                <a:solidFill>
                  <a:srgbClr val="005F88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05F88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4" name="Korutyny i wątek główny">
            <a:extLst>
              <a:ext uri="{FF2B5EF4-FFF2-40B4-BE49-F238E27FC236}">
                <a16:creationId xmlns:a16="http://schemas.microsoft.com/office/drawing/2014/main" id="{801DACD1-7874-76E2-01BB-6C522B492D6D}"/>
              </a:ext>
            </a:extLst>
          </p:cNvPr>
          <p:cNvSpPr>
            <a:spLocks noGrp="1"/>
          </p:cNvSpPr>
          <p:nvPr/>
        </p:nvSpPr>
        <p:spPr>
          <a:xfrm>
            <a:off x="1857375" y="1962150"/>
            <a:ext cx="6715125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25" b="0">
                <a:solidFill>
                  <a:srgbClr val="152B37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Korutyny i wątek główny</a:t>
            </a:r>
          </a:p>
        </p:txBody>
      </p:sp>
      <p:sp>
        <p:nvSpPr>
          <p:cNvPr id="16" name="3">
            <a:extLst>
              <a:ext uri="{FF2B5EF4-FFF2-40B4-BE49-F238E27FC236}">
                <a16:creationId xmlns:a16="http://schemas.microsoft.com/office/drawing/2014/main" id="{3C2AAE0F-1549-789F-AD9A-9142EDD8597D}"/>
              </a:ext>
            </a:extLst>
          </p:cNvPr>
          <p:cNvSpPr>
            <a:spLocks noGrp="1"/>
          </p:cNvSpPr>
          <p:nvPr/>
        </p:nvSpPr>
        <p:spPr>
          <a:xfrm>
            <a:off x="1333500" y="2657475"/>
            <a:ext cx="4000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25" b="1">
                <a:solidFill>
                  <a:srgbClr val="005F88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05F88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0" name="Współbieżność, równoległość i asynchroniczność">
            <a:extLst>
              <a:ext uri="{FF2B5EF4-FFF2-40B4-BE49-F238E27FC236}">
                <a16:creationId xmlns:a16="http://schemas.microsoft.com/office/drawing/2014/main" id="{1D1E89CA-EBE9-7167-5DA5-3F15B3E36E0B}"/>
              </a:ext>
            </a:extLst>
          </p:cNvPr>
          <p:cNvSpPr>
            <a:spLocks noGrp="1"/>
          </p:cNvSpPr>
          <p:nvPr/>
        </p:nvSpPr>
        <p:spPr>
          <a:xfrm>
            <a:off x="1857375" y="2657475"/>
            <a:ext cx="6715125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25" b="0">
                <a:solidFill>
                  <a:srgbClr val="152B37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Współbieżność, równoległość i asynchroniczność</a:t>
            </a:r>
          </a:p>
        </p:txBody>
      </p:sp>
      <p:sp>
        <p:nvSpPr>
          <p:cNvPr id="22" name="4">
            <a:extLst>
              <a:ext uri="{FF2B5EF4-FFF2-40B4-BE49-F238E27FC236}">
                <a16:creationId xmlns:a16="http://schemas.microsoft.com/office/drawing/2014/main" id="{0C319BDC-8C06-0152-9601-C4BA73F204EF}"/>
              </a:ext>
            </a:extLst>
          </p:cNvPr>
          <p:cNvSpPr>
            <a:spLocks noGrp="1"/>
          </p:cNvSpPr>
          <p:nvPr/>
        </p:nvSpPr>
        <p:spPr>
          <a:xfrm>
            <a:off x="1333500" y="3352800"/>
            <a:ext cx="4000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25" b="1">
                <a:solidFill>
                  <a:srgbClr val="005F88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05F88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4" name="Architektura aplikacji: MVC, MVP, MVVM">
            <a:extLst>
              <a:ext uri="{FF2B5EF4-FFF2-40B4-BE49-F238E27FC236}">
                <a16:creationId xmlns:a16="http://schemas.microsoft.com/office/drawing/2014/main" id="{823B665B-957F-83D1-41BB-B334359BEA95}"/>
              </a:ext>
            </a:extLst>
          </p:cNvPr>
          <p:cNvSpPr>
            <a:spLocks noGrp="1"/>
          </p:cNvSpPr>
          <p:nvPr/>
        </p:nvSpPr>
        <p:spPr>
          <a:xfrm>
            <a:off x="1857375" y="3352800"/>
            <a:ext cx="6715125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25" b="0">
                <a:solidFill>
                  <a:srgbClr val="152B37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Architektura aplikacji: MVC, MVP, MVVM</a:t>
            </a:r>
          </a:p>
        </p:txBody>
      </p:sp>
      <p:sp>
        <p:nvSpPr>
          <p:cNvPr id="26" name="5">
            <a:extLst>
              <a:ext uri="{FF2B5EF4-FFF2-40B4-BE49-F238E27FC236}">
                <a16:creationId xmlns:a16="http://schemas.microsoft.com/office/drawing/2014/main" id="{6D95D2C7-2FF5-90D5-56AF-74426E996CDF}"/>
              </a:ext>
            </a:extLst>
          </p:cNvPr>
          <p:cNvSpPr>
            <a:spLocks noGrp="1"/>
          </p:cNvSpPr>
          <p:nvPr/>
        </p:nvSpPr>
        <p:spPr>
          <a:xfrm>
            <a:off x="1333500" y="4048125"/>
            <a:ext cx="4000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25" b="1">
                <a:solidFill>
                  <a:srgbClr val="005F88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05F88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28" name="Flow, StateFlow i SharedFlow">
            <a:extLst>
              <a:ext uri="{FF2B5EF4-FFF2-40B4-BE49-F238E27FC236}">
                <a16:creationId xmlns:a16="http://schemas.microsoft.com/office/drawing/2014/main" id="{679AFC27-7EC5-BA99-86F6-A75A826FB8CB}"/>
              </a:ext>
            </a:extLst>
          </p:cNvPr>
          <p:cNvSpPr>
            <a:spLocks noGrp="1"/>
          </p:cNvSpPr>
          <p:nvPr/>
        </p:nvSpPr>
        <p:spPr>
          <a:xfrm>
            <a:off x="1857375" y="4048125"/>
            <a:ext cx="6715125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25" b="0">
                <a:solidFill>
                  <a:srgbClr val="152B37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Flow, StateFlow i SharedFlow</a:t>
            </a:r>
          </a:p>
        </p:txBody>
      </p:sp>
      <p:sp>
        <p:nvSpPr>
          <p:cNvPr id="30" name="6">
            <a:extLst>
              <a:ext uri="{FF2B5EF4-FFF2-40B4-BE49-F238E27FC236}">
                <a16:creationId xmlns:a16="http://schemas.microsoft.com/office/drawing/2014/main" id="{17C46D90-E066-67D8-C12E-A857963025F2}"/>
              </a:ext>
            </a:extLst>
          </p:cNvPr>
          <p:cNvSpPr>
            <a:spLocks noGrp="1"/>
          </p:cNvSpPr>
          <p:nvPr/>
        </p:nvSpPr>
        <p:spPr>
          <a:xfrm>
            <a:off x="1333500" y="4743450"/>
            <a:ext cx="4000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25" b="1">
                <a:solidFill>
                  <a:srgbClr val="005F88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05F88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32" name="withContext, flowOn, combine, stateIn, shareIn">
            <a:extLst>
              <a:ext uri="{FF2B5EF4-FFF2-40B4-BE49-F238E27FC236}">
                <a16:creationId xmlns:a16="http://schemas.microsoft.com/office/drawing/2014/main" id="{348073C1-12A2-E94A-CDDA-CABA21BAE1B8}"/>
              </a:ext>
            </a:extLst>
          </p:cNvPr>
          <p:cNvSpPr>
            <a:spLocks noGrp="1"/>
          </p:cNvSpPr>
          <p:nvPr/>
        </p:nvSpPr>
        <p:spPr>
          <a:xfrm>
            <a:off x="1857375" y="4743450"/>
            <a:ext cx="6715125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25" b="0">
                <a:solidFill>
                  <a:srgbClr val="152B37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withContext, flowOn, combine, stateIn, shareIn</a:t>
            </a:r>
          </a:p>
        </p:txBody>
      </p:sp>
      <p:sp>
        <p:nvSpPr>
          <p:cNvPr id="34" name="7">
            <a:extLst>
              <a:ext uri="{FF2B5EF4-FFF2-40B4-BE49-F238E27FC236}">
                <a16:creationId xmlns:a16="http://schemas.microsoft.com/office/drawing/2014/main" id="{8665D2CB-2D5C-7DFA-AB62-E9CFA2A98C3D}"/>
              </a:ext>
            </a:extLst>
          </p:cNvPr>
          <p:cNvSpPr>
            <a:spLocks noGrp="1"/>
          </p:cNvSpPr>
          <p:nvPr/>
        </p:nvSpPr>
        <p:spPr>
          <a:xfrm>
            <a:off x="1333500" y="5438775"/>
            <a:ext cx="4000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25" b="1">
                <a:solidFill>
                  <a:srgbClr val="005F88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05F88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sp>
        <p:nvSpPr>
          <p:cNvPr id="36" name="Kanały i komunikacja między korutynami">
            <a:extLst>
              <a:ext uri="{FF2B5EF4-FFF2-40B4-BE49-F238E27FC236}">
                <a16:creationId xmlns:a16="http://schemas.microsoft.com/office/drawing/2014/main" id="{DB1A93AD-0036-2829-D9D3-41CF0CE006A0}"/>
              </a:ext>
            </a:extLst>
          </p:cNvPr>
          <p:cNvSpPr>
            <a:spLocks noGrp="1"/>
          </p:cNvSpPr>
          <p:nvPr/>
        </p:nvSpPr>
        <p:spPr>
          <a:xfrm>
            <a:off x="1857375" y="5438775"/>
            <a:ext cx="6715125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25" b="0">
                <a:solidFill>
                  <a:srgbClr val="152B37"/>
                </a:solidFill>
                <a:latin typeface="Calibri"/>
                <a:ea typeface="Calibri"/>
                <a:cs typeface="Calibri"/>
              </a:defRPr>
            </a:pPr>
            <a:r>
              <a:rPr sz="2400" b="0" dirty="0" err="1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Kanały</a:t>
            </a:r>
            <a:r>
              <a:rPr sz="2400" b="0" dirty="0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400" b="0" dirty="0" err="1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i</a:t>
            </a:r>
            <a:r>
              <a:rPr sz="2400" b="0" dirty="0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400" b="0" dirty="0" err="1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komunikacja</a:t>
            </a:r>
            <a:r>
              <a:rPr sz="2400" b="0" dirty="0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400" b="0" dirty="0" err="1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między</a:t>
            </a:r>
            <a:r>
              <a:rPr sz="2400" b="0" dirty="0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400" b="0" dirty="0" err="1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korutynami</a:t>
            </a:r>
            <a:endParaRPr sz="2400" b="0" dirty="0">
              <a:solidFill>
                <a:srgbClr val="152B37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291086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Program Kursu</a:t>
            </a:r>
          </a:p>
        </p:txBody>
      </p:sp>
      <p:sp>
        <p:nvSpPr>
          <p:cNvPr id="4" name="8">
            <a:extLst>
              <a:ext uri="{FF2B5EF4-FFF2-40B4-BE49-F238E27FC236}">
                <a16:creationId xmlns:a16="http://schemas.microsoft.com/office/drawing/2014/main" id="{986D024A-1A9C-0D2C-E9D9-1996EDB91AB1}"/>
              </a:ext>
            </a:extLst>
          </p:cNvPr>
          <p:cNvSpPr>
            <a:spLocks noGrp="1"/>
          </p:cNvSpPr>
          <p:nvPr/>
        </p:nvSpPr>
        <p:spPr>
          <a:xfrm>
            <a:off x="1333500" y="1266825"/>
            <a:ext cx="4572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25" b="1">
                <a:solidFill>
                  <a:srgbClr val="005F88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05F88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sp>
        <p:nvSpPr>
          <p:cNvPr id="6" name="Ustawienia: SharedPreferences i DataStore">
            <a:extLst>
              <a:ext uri="{FF2B5EF4-FFF2-40B4-BE49-F238E27FC236}">
                <a16:creationId xmlns:a16="http://schemas.microsoft.com/office/drawing/2014/main" id="{0DA3886C-A969-1D77-1462-689B3A96B9FF}"/>
              </a:ext>
            </a:extLst>
          </p:cNvPr>
          <p:cNvSpPr>
            <a:spLocks noGrp="1"/>
          </p:cNvSpPr>
          <p:nvPr/>
        </p:nvSpPr>
        <p:spPr>
          <a:xfrm>
            <a:off x="1905000" y="1266825"/>
            <a:ext cx="66675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25" b="0">
                <a:solidFill>
                  <a:srgbClr val="152B37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Ustawienia: SharedPreferences i DataStore</a:t>
            </a:r>
          </a:p>
        </p:txBody>
      </p:sp>
      <p:sp>
        <p:nvSpPr>
          <p:cNvPr id="9" name="9">
            <a:extLst>
              <a:ext uri="{FF2B5EF4-FFF2-40B4-BE49-F238E27FC236}">
                <a16:creationId xmlns:a16="http://schemas.microsoft.com/office/drawing/2014/main" id="{DA736D66-F2FB-FBBB-9964-0C022FE86D49}"/>
              </a:ext>
            </a:extLst>
          </p:cNvPr>
          <p:cNvSpPr>
            <a:spLocks noGrp="1"/>
          </p:cNvSpPr>
          <p:nvPr/>
        </p:nvSpPr>
        <p:spPr>
          <a:xfrm>
            <a:off x="1333500" y="1962150"/>
            <a:ext cx="4572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25" b="1">
                <a:solidFill>
                  <a:srgbClr val="005F88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05F88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  <p:sp>
        <p:nvSpPr>
          <p:cNvPr id="11" name="SQLite i Room: encje, DAO, CRUD">
            <a:extLst>
              <a:ext uri="{FF2B5EF4-FFF2-40B4-BE49-F238E27FC236}">
                <a16:creationId xmlns:a16="http://schemas.microsoft.com/office/drawing/2014/main" id="{C704146E-4F23-74F4-63C6-A69D3735FC7E}"/>
              </a:ext>
            </a:extLst>
          </p:cNvPr>
          <p:cNvSpPr>
            <a:spLocks noGrp="1"/>
          </p:cNvSpPr>
          <p:nvPr/>
        </p:nvSpPr>
        <p:spPr>
          <a:xfrm>
            <a:off x="1905000" y="1962150"/>
            <a:ext cx="66675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25" b="0">
                <a:solidFill>
                  <a:srgbClr val="152B37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SQLite i Room: encje, DAO, CRUD</a:t>
            </a:r>
          </a:p>
        </p:txBody>
      </p:sp>
      <p:sp>
        <p:nvSpPr>
          <p:cNvPr id="13" name="10">
            <a:extLst>
              <a:ext uri="{FF2B5EF4-FFF2-40B4-BE49-F238E27FC236}">
                <a16:creationId xmlns:a16="http://schemas.microsoft.com/office/drawing/2014/main" id="{DBA70613-4636-7F22-E46B-A7745AAE49CE}"/>
              </a:ext>
            </a:extLst>
          </p:cNvPr>
          <p:cNvSpPr>
            <a:spLocks noGrp="1"/>
          </p:cNvSpPr>
          <p:nvPr/>
        </p:nvSpPr>
        <p:spPr>
          <a:xfrm>
            <a:off x="1333500" y="2657475"/>
            <a:ext cx="4572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25" b="1">
                <a:solidFill>
                  <a:srgbClr val="005F88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05F88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sp>
        <p:nvSpPr>
          <p:cNvPr id="15" name="Komunikacja z API: Retrofit">
            <a:extLst>
              <a:ext uri="{FF2B5EF4-FFF2-40B4-BE49-F238E27FC236}">
                <a16:creationId xmlns:a16="http://schemas.microsoft.com/office/drawing/2014/main" id="{1D7B10AF-EC54-5076-909C-4C67DB913E49}"/>
              </a:ext>
            </a:extLst>
          </p:cNvPr>
          <p:cNvSpPr>
            <a:spLocks noGrp="1"/>
          </p:cNvSpPr>
          <p:nvPr/>
        </p:nvSpPr>
        <p:spPr>
          <a:xfrm>
            <a:off x="1905000" y="2657475"/>
            <a:ext cx="66675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25" b="0">
                <a:solidFill>
                  <a:srgbClr val="152B37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Komunikacja z API: Retrofit</a:t>
            </a:r>
          </a:p>
        </p:txBody>
      </p:sp>
      <p:sp>
        <p:nvSpPr>
          <p:cNvPr id="17" name="11">
            <a:extLst>
              <a:ext uri="{FF2B5EF4-FFF2-40B4-BE49-F238E27FC236}">
                <a16:creationId xmlns:a16="http://schemas.microsoft.com/office/drawing/2014/main" id="{CE1EE984-DD95-CE4F-DE2B-7760521B6CF3}"/>
              </a:ext>
            </a:extLst>
          </p:cNvPr>
          <p:cNvSpPr>
            <a:spLocks noGrp="1"/>
          </p:cNvSpPr>
          <p:nvPr/>
        </p:nvSpPr>
        <p:spPr>
          <a:xfrm>
            <a:off x="1333500" y="3352800"/>
            <a:ext cx="4572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25" b="1">
                <a:solidFill>
                  <a:srgbClr val="005F88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05F88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  <p:sp>
        <p:nvSpPr>
          <p:cNvPr id="19" name="Wstrzykiwanie zależności: Dagger i Hilt">
            <a:extLst>
              <a:ext uri="{FF2B5EF4-FFF2-40B4-BE49-F238E27FC236}">
                <a16:creationId xmlns:a16="http://schemas.microsoft.com/office/drawing/2014/main" id="{37EB029D-1A74-F994-B0D0-025ABB5C48CA}"/>
              </a:ext>
            </a:extLst>
          </p:cNvPr>
          <p:cNvSpPr>
            <a:spLocks noGrp="1"/>
          </p:cNvSpPr>
          <p:nvPr/>
        </p:nvSpPr>
        <p:spPr>
          <a:xfrm>
            <a:off x="1905000" y="3352800"/>
            <a:ext cx="66675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25" b="0">
                <a:solidFill>
                  <a:srgbClr val="152B37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Wstrzykiwanie zależności: Dagger i Hilt</a:t>
            </a:r>
          </a:p>
        </p:txBody>
      </p:sp>
      <p:sp>
        <p:nvSpPr>
          <p:cNvPr id="21" name="12">
            <a:extLst>
              <a:ext uri="{FF2B5EF4-FFF2-40B4-BE49-F238E27FC236}">
                <a16:creationId xmlns:a16="http://schemas.microsoft.com/office/drawing/2014/main" id="{4303AADD-30D1-246E-AD41-7F4A6208A623}"/>
              </a:ext>
            </a:extLst>
          </p:cNvPr>
          <p:cNvSpPr>
            <a:spLocks noGrp="1"/>
          </p:cNvSpPr>
          <p:nvPr/>
        </p:nvSpPr>
        <p:spPr>
          <a:xfrm>
            <a:off x="1333500" y="4048125"/>
            <a:ext cx="4572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25" b="1">
                <a:solidFill>
                  <a:srgbClr val="005F88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05F88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  <p:sp>
        <p:nvSpPr>
          <p:cNvPr id="23" name="Warstwa domeny i wzorzec Use Case">
            <a:extLst>
              <a:ext uri="{FF2B5EF4-FFF2-40B4-BE49-F238E27FC236}">
                <a16:creationId xmlns:a16="http://schemas.microsoft.com/office/drawing/2014/main" id="{F8A0B1F2-6F61-2AFE-55B7-D0039E6D851C}"/>
              </a:ext>
            </a:extLst>
          </p:cNvPr>
          <p:cNvSpPr>
            <a:spLocks noGrp="1"/>
          </p:cNvSpPr>
          <p:nvPr/>
        </p:nvSpPr>
        <p:spPr>
          <a:xfrm>
            <a:off x="1905000" y="4048125"/>
            <a:ext cx="66675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25" b="0">
                <a:solidFill>
                  <a:srgbClr val="152B37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Warstwa domeny i wzorzec Use Case</a:t>
            </a:r>
          </a:p>
        </p:txBody>
      </p:sp>
      <p:sp>
        <p:nvSpPr>
          <p:cNvPr id="25" name="13">
            <a:extLst>
              <a:ext uri="{FF2B5EF4-FFF2-40B4-BE49-F238E27FC236}">
                <a16:creationId xmlns:a16="http://schemas.microsoft.com/office/drawing/2014/main" id="{AE21A5E8-A211-16B1-4559-3A7715AD8A6A}"/>
              </a:ext>
            </a:extLst>
          </p:cNvPr>
          <p:cNvSpPr>
            <a:spLocks noGrp="1"/>
          </p:cNvSpPr>
          <p:nvPr/>
        </p:nvSpPr>
        <p:spPr>
          <a:xfrm>
            <a:off x="1333500" y="4743450"/>
            <a:ext cx="4572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25" b="1">
                <a:solidFill>
                  <a:srgbClr val="005F88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05F88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  <p:sp>
        <p:nvSpPr>
          <p:cNvPr id="27" name="Single Source of Truth i cache offline">
            <a:extLst>
              <a:ext uri="{FF2B5EF4-FFF2-40B4-BE49-F238E27FC236}">
                <a16:creationId xmlns:a16="http://schemas.microsoft.com/office/drawing/2014/main" id="{E38AA2C2-B140-61A5-7D4B-291293D4E696}"/>
              </a:ext>
            </a:extLst>
          </p:cNvPr>
          <p:cNvSpPr>
            <a:spLocks noGrp="1"/>
          </p:cNvSpPr>
          <p:nvPr/>
        </p:nvSpPr>
        <p:spPr>
          <a:xfrm>
            <a:off x="1905000" y="4743450"/>
            <a:ext cx="66675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25" b="0">
                <a:solidFill>
                  <a:srgbClr val="152B37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Single Source of Truth i cache offline</a:t>
            </a:r>
          </a:p>
        </p:txBody>
      </p:sp>
      <p:sp>
        <p:nvSpPr>
          <p:cNvPr id="29" name="14">
            <a:extLst>
              <a:ext uri="{FF2B5EF4-FFF2-40B4-BE49-F238E27FC236}">
                <a16:creationId xmlns:a16="http://schemas.microsoft.com/office/drawing/2014/main" id="{1F3B7BE5-BDF0-80A5-C9C1-6A5F7B9379F5}"/>
              </a:ext>
            </a:extLst>
          </p:cNvPr>
          <p:cNvSpPr>
            <a:spLocks noGrp="1"/>
          </p:cNvSpPr>
          <p:nvPr/>
        </p:nvSpPr>
        <p:spPr>
          <a:xfrm>
            <a:off x="1333500" y="5438775"/>
            <a:ext cx="4572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25" b="1">
                <a:solidFill>
                  <a:srgbClr val="005F88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05F88"/>
                </a:solidFill>
                <a:latin typeface="Calibri"/>
                <a:ea typeface="Calibri"/>
                <a:cs typeface="Calibri"/>
              </a:rPr>
              <a:t>14</a:t>
            </a:r>
          </a:p>
        </p:txBody>
      </p:sp>
      <p:sp>
        <p:nvSpPr>
          <p:cNvPr id="31" name="Backend w chmurze: Firebase i Firestore">
            <a:extLst>
              <a:ext uri="{FF2B5EF4-FFF2-40B4-BE49-F238E27FC236}">
                <a16:creationId xmlns:a16="http://schemas.microsoft.com/office/drawing/2014/main" id="{C01C98A1-9971-F337-1430-18BD407A807A}"/>
              </a:ext>
            </a:extLst>
          </p:cNvPr>
          <p:cNvSpPr>
            <a:spLocks noGrp="1"/>
          </p:cNvSpPr>
          <p:nvPr/>
        </p:nvSpPr>
        <p:spPr>
          <a:xfrm>
            <a:off x="1905000" y="5438775"/>
            <a:ext cx="66675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25" b="0">
                <a:solidFill>
                  <a:srgbClr val="152B37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Backend w chmurze: Firebase i Firestore</a:t>
            </a:r>
          </a:p>
        </p:txBody>
      </p:sp>
    </p:spTree>
    <p:extLst>
      <p:ext uri="{BB962C8B-B14F-4D97-AF65-F5344CB8AC3E}">
        <p14:creationId xmlns:p14="http://schemas.microsoft.com/office/powerpoint/2010/main" val="40096839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5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E21A44-2F60-F90A-4EDA-A35BB7658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2FB61E2-0DDB-26CF-FF34-838293DE79BC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Zaawansowana Nawigacja - Szuflada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D11E4D2F-D6F9-065C-1D87-1026D1FB4B25}"/>
              </a:ext>
            </a:extLst>
          </p:cNvPr>
          <p:cNvSpPr txBox="1"/>
          <p:nvPr/>
        </p:nvSpPr>
        <p:spPr>
          <a:xfrm>
            <a:off x="1033753" y="796886"/>
            <a:ext cx="78488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/>
              <a:t>Drawer</a:t>
            </a:r>
            <a:r>
              <a:rPr lang="pl-PL" sz="1600" dirty="0"/>
              <a:t> (</a:t>
            </a:r>
            <a:r>
              <a:rPr lang="pl-PL" sz="1600" b="1" dirty="0"/>
              <a:t>szuflada nawigacyjna</a:t>
            </a:r>
            <a:r>
              <a:rPr lang="pl-PL" sz="1600" dirty="0"/>
              <a:t>) to element interfejsu użytkownika, który działa jak wysuwane z boku (najczęściej z lewej krawędzi ekranu) menu.</a:t>
            </a:r>
          </a:p>
        </p:txBody>
      </p:sp>
      <p:pic>
        <p:nvPicPr>
          <p:cNvPr id="8" name="bandicam 2025-07-19 16-41-36-897">
            <a:hlinkClick r:id="" action="ppaction://media"/>
            <a:extLst>
              <a:ext uri="{FF2B5EF4-FFF2-40B4-BE49-F238E27FC236}">
                <a16:creationId xmlns:a16="http://schemas.microsoft.com/office/drawing/2014/main" id="{836B052C-106D-FCEB-0A96-C39381F3DD6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3635896" y="1493001"/>
            <a:ext cx="2165442" cy="5265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376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900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E21A44-2F60-F90A-4EDA-A35BB7658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2FB61E2-0DDB-26CF-FF34-838293DE79BC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Konfiguracja Projektu</a:t>
            </a:r>
          </a:p>
        </p:txBody>
      </p:sp>
      <p:sp>
        <p:nvSpPr>
          <p:cNvPr id="5" name="Android Studio: Empty Activity&#10;Projekt Kotlin z ">
            <a:extLst>
              <a:ext uri="{FF2B5EF4-FFF2-40B4-BE49-F238E27FC236}">
                <a16:creationId xmlns:a16="http://schemas.microsoft.com/office/drawing/2014/main" id="{B137BD04-70B9-C23D-8936-C4AD7A9C5424}"/>
              </a:ext>
            </a:extLst>
          </p:cNvPr>
          <p:cNvSpPr>
            <a:spLocks noGrp="1"/>
          </p:cNvSpPr>
          <p:nvPr/>
        </p:nvSpPr>
        <p:spPr>
          <a:xfrm>
            <a:off x="1333500" y="1171575"/>
            <a:ext cx="7381875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2B37"/>
                </a:solidFill>
                <a:latin typeface="Calibri"/>
                <a:ea typeface="Calibri"/>
                <a:cs typeface="Calibri"/>
              </a:defRPr>
            </a:pPr>
            <a:r>
              <a:rPr sz="2400" b="0" dirty="0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Android Studio: Empty Activity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2B37"/>
                </a:solidFill>
                <a:latin typeface="Calibri"/>
                <a:ea typeface="Calibri"/>
                <a:cs typeface="Calibri"/>
              </a:defRPr>
            </a:pPr>
            <a:r>
              <a:rPr sz="2400" b="0" dirty="0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Projekt Kotlin z </a:t>
            </a:r>
            <a:r>
              <a:rPr sz="2400" b="0" dirty="0" err="1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interfejsem</a:t>
            </a:r>
            <a:r>
              <a:rPr sz="2400" b="0" dirty="0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 Jetpack Compose</a:t>
            </a:r>
          </a:p>
        </p:txBody>
      </p:sp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85BFF9E0-2E1A-12BD-A901-83B68005EA0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81709760"/>
              </p:ext>
            </p:extLst>
          </p:nvPr>
        </p:nvGraphicFramePr>
        <p:xfrm>
          <a:off x="1333500" y="2324100"/>
          <a:ext cx="7381875" cy="2952752"/>
        </p:xfrm>
        <a:graphic>
          <a:graphicData uri="http://schemas.openxmlformats.org/drawingml/2006/table">
            <a:tbl>
              <a:tblPr/>
              <a:tblGrid>
                <a:gridCol w="3333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48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8188">
                <a:tc>
                  <a:txBody>
                    <a:bodyPr/>
                    <a:lstStyle/>
                    <a:p>
                      <a:pPr algn="ctr"/>
                      <a:r>
                        <a:rPr sz="280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Plik</a:t>
                      </a:r>
                    </a:p>
                  </a:txBody>
                  <a:tcPr anchor="ctr">
                    <a:solidFill>
                      <a:srgbClr val="005F8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80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Rola</a:t>
                      </a:r>
                    </a:p>
                  </a:txBody>
                  <a:tcPr anchor="ctr">
                    <a:solidFill>
                      <a:srgbClr val="005F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8188">
                <a:tc>
                  <a:txBody>
                    <a:bodyPr/>
                    <a:lstStyle/>
                    <a:p>
                      <a:r>
                        <a:rPr sz="2000" b="0" dirty="0" err="1">
                          <a:solidFill>
                            <a:srgbClr val="152B37"/>
                          </a:solidFill>
                          <a:latin typeface="Calibri"/>
                          <a:ea typeface="Calibri"/>
                          <a:cs typeface="Calibri"/>
                        </a:rPr>
                        <a:t>gradle</a:t>
                      </a:r>
                      <a:r>
                        <a:rPr sz="2000" b="0" dirty="0">
                          <a:solidFill>
                            <a:srgbClr val="152B37"/>
                          </a:solidFill>
                          <a:latin typeface="Calibri"/>
                          <a:ea typeface="Calibri"/>
                          <a:cs typeface="Calibri"/>
                        </a:rPr>
                        <a:t>/</a:t>
                      </a:r>
                      <a:r>
                        <a:rPr sz="2000" b="0" dirty="0" err="1">
                          <a:solidFill>
                            <a:srgbClr val="152B37"/>
                          </a:solidFill>
                          <a:latin typeface="Calibri"/>
                          <a:ea typeface="Calibri"/>
                          <a:cs typeface="Calibri"/>
                        </a:rPr>
                        <a:t>libs.versions.toml</a:t>
                      </a:r>
                      <a:endParaRPr sz="2000" b="0" dirty="0">
                        <a:solidFill>
                          <a:srgbClr val="152B37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 dirty="0" err="1">
                          <a:solidFill>
                            <a:srgbClr val="152B37"/>
                          </a:solidFill>
                          <a:latin typeface="Calibri"/>
                          <a:ea typeface="Calibri"/>
                          <a:cs typeface="Calibri"/>
                        </a:rPr>
                        <a:t>Wersje</a:t>
                      </a:r>
                      <a:r>
                        <a:rPr sz="2000" b="0" dirty="0">
                          <a:solidFill>
                            <a:srgbClr val="152B37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52B37"/>
                          </a:solidFill>
                          <a:latin typeface="Calibri"/>
                          <a:ea typeface="Calibri"/>
                          <a:cs typeface="Calibri"/>
                        </a:rPr>
                        <a:t>i</a:t>
                      </a:r>
                      <a:r>
                        <a:rPr sz="2000" b="0" dirty="0">
                          <a:solidFill>
                            <a:srgbClr val="152B37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52B37"/>
                          </a:solidFill>
                          <a:latin typeface="Calibri"/>
                          <a:ea typeface="Calibri"/>
                          <a:cs typeface="Calibri"/>
                        </a:rPr>
                        <a:t>aliasy</a:t>
                      </a:r>
                      <a:r>
                        <a:rPr sz="2000" b="0" dirty="0">
                          <a:solidFill>
                            <a:srgbClr val="152B37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52B37"/>
                          </a:solidFill>
                          <a:latin typeface="Calibri"/>
                          <a:ea typeface="Calibri"/>
                          <a:cs typeface="Calibri"/>
                        </a:rPr>
                        <a:t>bibliotek</a:t>
                      </a:r>
                      <a:r>
                        <a:rPr sz="2000" b="0" dirty="0">
                          <a:solidFill>
                            <a:srgbClr val="152B37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52B37"/>
                          </a:solidFill>
                          <a:latin typeface="Calibri"/>
                          <a:ea typeface="Calibri"/>
                          <a:cs typeface="Calibri"/>
                        </a:rPr>
                        <a:t>oraz</a:t>
                      </a:r>
                      <a:r>
                        <a:rPr sz="2000" b="0" dirty="0">
                          <a:solidFill>
                            <a:srgbClr val="152B37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52B37"/>
                          </a:solidFill>
                          <a:latin typeface="Calibri"/>
                          <a:ea typeface="Calibri"/>
                          <a:cs typeface="Calibri"/>
                        </a:rPr>
                        <a:t>pluginów</a:t>
                      </a:r>
                      <a:endParaRPr sz="2000" b="0" dirty="0">
                        <a:solidFill>
                          <a:srgbClr val="152B37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8188">
                <a:tc>
                  <a:txBody>
                    <a:bodyPr/>
                    <a:lstStyle/>
                    <a:p>
                      <a:r>
                        <a:rPr sz="2000" b="0" dirty="0" err="1">
                          <a:solidFill>
                            <a:srgbClr val="152B37"/>
                          </a:solidFill>
                          <a:latin typeface="Calibri"/>
                          <a:ea typeface="Calibri"/>
                          <a:cs typeface="Calibri"/>
                        </a:rPr>
                        <a:t>build.gradle.kts</a:t>
                      </a:r>
                      <a:endParaRPr sz="2000" b="0" dirty="0">
                        <a:solidFill>
                          <a:srgbClr val="152B37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 dirty="0" err="1">
                          <a:solidFill>
                            <a:srgbClr val="152B37"/>
                          </a:solidFill>
                          <a:latin typeface="Calibri"/>
                          <a:ea typeface="Calibri"/>
                          <a:cs typeface="Calibri"/>
                        </a:rPr>
                        <a:t>Deklaracje</a:t>
                      </a:r>
                      <a:r>
                        <a:rPr sz="2000" b="0" dirty="0">
                          <a:solidFill>
                            <a:srgbClr val="152B37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52B37"/>
                          </a:solidFill>
                          <a:latin typeface="Calibri"/>
                          <a:ea typeface="Calibri"/>
                          <a:cs typeface="Calibri"/>
                        </a:rPr>
                        <a:t>pluginów</a:t>
                      </a:r>
                      <a:r>
                        <a:rPr sz="2000" b="0" dirty="0">
                          <a:solidFill>
                            <a:srgbClr val="152B37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52B37"/>
                          </a:solidFill>
                          <a:latin typeface="Calibri"/>
                          <a:ea typeface="Calibri"/>
                          <a:cs typeface="Calibri"/>
                        </a:rPr>
                        <a:t>projektu</a:t>
                      </a:r>
                      <a:endParaRPr sz="2000" b="0" dirty="0">
                        <a:solidFill>
                          <a:srgbClr val="152B37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EE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8188">
                <a:tc>
                  <a:txBody>
                    <a:bodyPr/>
                    <a:lstStyle/>
                    <a:p>
                      <a:r>
                        <a:rPr sz="2000" b="0" dirty="0">
                          <a:solidFill>
                            <a:srgbClr val="152B37"/>
                          </a:solidFill>
                          <a:latin typeface="Calibri"/>
                          <a:ea typeface="Calibri"/>
                          <a:cs typeface="Calibri"/>
                        </a:rPr>
                        <a:t>app/</a:t>
                      </a:r>
                      <a:r>
                        <a:rPr sz="2000" b="0" dirty="0" err="1">
                          <a:solidFill>
                            <a:srgbClr val="152B37"/>
                          </a:solidFill>
                          <a:latin typeface="Calibri"/>
                          <a:ea typeface="Calibri"/>
                          <a:cs typeface="Calibri"/>
                        </a:rPr>
                        <a:t>build.gradle.kts</a:t>
                      </a:r>
                      <a:endParaRPr sz="2000" b="0" dirty="0">
                        <a:solidFill>
                          <a:srgbClr val="152B37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 dirty="0" err="1">
                          <a:solidFill>
                            <a:srgbClr val="152B37"/>
                          </a:solidFill>
                          <a:latin typeface="Calibri"/>
                          <a:ea typeface="Calibri"/>
                          <a:cs typeface="Calibri"/>
                        </a:rPr>
                        <a:t>Pluginy</a:t>
                      </a:r>
                      <a:r>
                        <a:rPr sz="2000" b="0" dirty="0">
                          <a:solidFill>
                            <a:srgbClr val="152B37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52B37"/>
                          </a:solidFill>
                          <a:latin typeface="Calibri"/>
                          <a:ea typeface="Calibri"/>
                          <a:cs typeface="Calibri"/>
                        </a:rPr>
                        <a:t>i</a:t>
                      </a:r>
                      <a:r>
                        <a:rPr sz="2000" b="0" dirty="0">
                          <a:solidFill>
                            <a:srgbClr val="152B37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52B37"/>
                          </a:solidFill>
                          <a:latin typeface="Calibri"/>
                          <a:ea typeface="Calibri"/>
                          <a:cs typeface="Calibri"/>
                        </a:rPr>
                        <a:t>zależności</a:t>
                      </a:r>
                      <a:r>
                        <a:rPr sz="2000" b="0" dirty="0">
                          <a:solidFill>
                            <a:srgbClr val="152B37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52B37"/>
                          </a:solidFill>
                          <a:latin typeface="Calibri"/>
                          <a:ea typeface="Calibri"/>
                          <a:cs typeface="Calibri"/>
                        </a:rPr>
                        <a:t>modułu</a:t>
                      </a:r>
                      <a:r>
                        <a:rPr sz="2000" b="0" dirty="0">
                          <a:solidFill>
                            <a:srgbClr val="152B37"/>
                          </a:solidFill>
                          <a:latin typeface="Calibri"/>
                          <a:ea typeface="Calibri"/>
                          <a:cs typeface="Calibri"/>
                        </a:rPr>
                        <a:t> app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Dopisuj wpisy do istniejących sekcji.&#10;Po zmianac">
            <a:extLst>
              <a:ext uri="{FF2B5EF4-FFF2-40B4-BE49-F238E27FC236}">
                <a16:creationId xmlns:a16="http://schemas.microsoft.com/office/drawing/2014/main" id="{7144A50C-184A-6ECF-5723-D6B97372AF21}"/>
              </a:ext>
            </a:extLst>
          </p:cNvPr>
          <p:cNvSpPr>
            <a:spLocks noGrp="1"/>
          </p:cNvSpPr>
          <p:nvPr/>
        </p:nvSpPr>
        <p:spPr>
          <a:xfrm>
            <a:off x="1333500" y="5886450"/>
            <a:ext cx="7381875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455661"/>
                </a:solidFill>
                <a:latin typeface="Calibri"/>
                <a:ea typeface="Calibri"/>
                <a:cs typeface="Calibri"/>
              </a:defRPr>
            </a:pPr>
            <a:r>
              <a:rPr sz="20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Dopisuj</a:t>
            </a:r>
            <a:r>
              <a:rPr sz="20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wpisy</a:t>
            </a:r>
            <a:r>
              <a:rPr sz="20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 do </a:t>
            </a:r>
            <a:r>
              <a:rPr sz="20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istniejących</a:t>
            </a:r>
            <a:r>
              <a:rPr sz="20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sekcji</a:t>
            </a:r>
            <a:r>
              <a:rPr sz="20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455661"/>
                </a:solidFill>
                <a:latin typeface="Calibri"/>
                <a:ea typeface="Calibri"/>
                <a:cs typeface="Calibri"/>
              </a:defRPr>
            </a:pPr>
            <a:r>
              <a:rPr sz="24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Po </a:t>
            </a:r>
            <a:r>
              <a:rPr sz="24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zmianach</a:t>
            </a:r>
            <a:r>
              <a:rPr sz="24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4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wykonaj</a:t>
            </a:r>
            <a:r>
              <a:rPr sz="24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4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synchronizację</a:t>
            </a:r>
            <a:r>
              <a:rPr sz="24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4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projektu</a:t>
            </a:r>
            <a:r>
              <a:rPr sz="24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412222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6BA64F-CC63-364B-B1A9-6DDD1DC0D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8184A9A-FE59-55D0-F72E-5ED092EC8C49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Katalog Wersji</a:t>
            </a:r>
          </a:p>
        </p:txBody>
      </p:sp>
      <p:sp>
        <p:nvSpPr>
          <p:cNvPr id="4" name="Kod Kotlin / Gradle">
            <a:extLst>
              <a:ext uri="{FF2B5EF4-FFF2-40B4-BE49-F238E27FC236}">
                <a16:creationId xmlns:a16="http://schemas.microsoft.com/office/drawing/2014/main" id="{06B95939-4E02-F772-DD86-5DDAF9479CA1}"/>
              </a:ext>
            </a:extLst>
          </p:cNvPr>
          <p:cNvSpPr>
            <a:spLocks noGrp="1"/>
          </p:cNvSpPr>
          <p:nvPr/>
        </p:nvSpPr>
        <p:spPr>
          <a:xfrm>
            <a:off x="1333500" y="1400175"/>
            <a:ext cx="7381875" cy="3476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65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rPr dirty="0"/>
              <a:t>[versions]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65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rPr dirty="0" err="1"/>
              <a:t>navigationCompose</a:t>
            </a:r>
            <a:r>
              <a:rPr dirty="0"/>
              <a:t> = </a:t>
            </a:r>
            <a:r>
              <a:rPr dirty="0">
                <a:solidFill>
                  <a:srgbClr val="067D17"/>
                </a:solidFill>
              </a:rPr>
              <a:t>"2.9.2"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65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rPr dirty="0" err="1"/>
              <a:t>kotlinxSerialization</a:t>
            </a:r>
            <a:r>
              <a:rPr dirty="0"/>
              <a:t> = </a:t>
            </a:r>
            <a:r>
              <a:rPr dirty="0">
                <a:solidFill>
                  <a:srgbClr val="067D17"/>
                </a:solidFill>
              </a:rPr>
              <a:t>"1.7.3"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65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endParaRPr dirty="0">
              <a:solidFill>
                <a:srgbClr val="067D17"/>
              </a:solidFill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1665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rPr dirty="0"/>
              <a:t>[</a:t>
            </a:r>
            <a:r>
              <a:rPr dirty="0" err="1"/>
              <a:t>libraries.androidx</a:t>
            </a:r>
            <a:r>
              <a:rPr dirty="0"/>
              <a:t>-navigation-compose]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65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rPr dirty="0"/>
              <a:t>module = </a:t>
            </a:r>
            <a:r>
              <a:rPr dirty="0">
                <a:solidFill>
                  <a:srgbClr val="067D17"/>
                </a:solidFill>
              </a:rPr>
              <a:t>"</a:t>
            </a:r>
            <a:r>
              <a:rPr dirty="0" err="1">
                <a:solidFill>
                  <a:srgbClr val="067D17"/>
                </a:solidFill>
              </a:rPr>
              <a:t>androidx.navigation:navigation-compose</a:t>
            </a:r>
            <a:r>
              <a:rPr dirty="0">
                <a:solidFill>
                  <a:srgbClr val="067D17"/>
                </a:solidFill>
              </a:rPr>
              <a:t>"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65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rPr dirty="0" err="1"/>
              <a:t>version.ref</a:t>
            </a:r>
            <a:r>
              <a:rPr dirty="0"/>
              <a:t> = </a:t>
            </a:r>
            <a:r>
              <a:rPr dirty="0">
                <a:solidFill>
                  <a:srgbClr val="067D17"/>
                </a:solidFill>
              </a:rPr>
              <a:t>"</a:t>
            </a:r>
            <a:r>
              <a:rPr dirty="0" err="1">
                <a:solidFill>
                  <a:srgbClr val="067D17"/>
                </a:solidFill>
              </a:rPr>
              <a:t>navigationCompose</a:t>
            </a:r>
            <a:r>
              <a:rPr dirty="0">
                <a:solidFill>
                  <a:srgbClr val="067D17"/>
                </a:solidFill>
              </a:rPr>
              <a:t>"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65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endParaRPr dirty="0">
              <a:solidFill>
                <a:srgbClr val="067D17"/>
              </a:solidFill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1665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rPr dirty="0"/>
              <a:t>[</a:t>
            </a:r>
            <a:r>
              <a:rPr dirty="0" err="1"/>
              <a:t>libraries.kotlinx</a:t>
            </a:r>
            <a:r>
              <a:rPr dirty="0"/>
              <a:t>-serialization-</a:t>
            </a:r>
            <a:r>
              <a:rPr dirty="0" err="1"/>
              <a:t>json</a:t>
            </a:r>
            <a:r>
              <a:rPr dirty="0"/>
              <a:t>]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65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rPr dirty="0"/>
              <a:t>module = </a:t>
            </a:r>
            <a:r>
              <a:rPr dirty="0">
                <a:solidFill>
                  <a:srgbClr val="067D17"/>
                </a:solidFill>
              </a:rPr>
              <a:t>"</a:t>
            </a:r>
            <a:r>
              <a:rPr dirty="0" err="1">
                <a:solidFill>
                  <a:srgbClr val="067D17"/>
                </a:solidFill>
              </a:rPr>
              <a:t>org.jetbrains.kotlinx:kotlinx-serialization-json</a:t>
            </a:r>
            <a:r>
              <a:rPr dirty="0">
                <a:solidFill>
                  <a:srgbClr val="067D17"/>
                </a:solidFill>
              </a:rPr>
              <a:t>"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65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rPr dirty="0" err="1"/>
              <a:t>version.ref</a:t>
            </a:r>
            <a:r>
              <a:rPr dirty="0"/>
              <a:t> = </a:t>
            </a:r>
            <a:r>
              <a:rPr dirty="0">
                <a:solidFill>
                  <a:srgbClr val="067D17"/>
                </a:solidFill>
              </a:rPr>
              <a:t>"</a:t>
            </a:r>
            <a:r>
              <a:rPr dirty="0" err="1">
                <a:solidFill>
                  <a:srgbClr val="067D17"/>
                </a:solidFill>
              </a:rPr>
              <a:t>kotlinxSerialization</a:t>
            </a:r>
            <a:r>
              <a:rPr dirty="0">
                <a:solidFill>
                  <a:srgbClr val="067D17"/>
                </a:solidFill>
              </a:rPr>
              <a:t>"</a:t>
            </a:r>
          </a:p>
        </p:txBody>
      </p:sp>
      <p:sp>
        <p:nvSpPr>
          <p:cNvPr id="6" name="W przykładzie: Navigation Compose 2.9.2.&#10;Wersję ">
            <a:extLst>
              <a:ext uri="{FF2B5EF4-FFF2-40B4-BE49-F238E27FC236}">
                <a16:creationId xmlns:a16="http://schemas.microsoft.com/office/drawing/2014/main" id="{C9AF500A-A56F-58C1-8575-39BBCC38194A}"/>
              </a:ext>
            </a:extLst>
          </p:cNvPr>
          <p:cNvSpPr>
            <a:spLocks noGrp="1"/>
          </p:cNvSpPr>
          <p:nvPr/>
        </p:nvSpPr>
        <p:spPr>
          <a:xfrm>
            <a:off x="1333500" y="5534025"/>
            <a:ext cx="7381875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455661"/>
                </a:solidFill>
                <a:latin typeface="Calibri"/>
                <a:ea typeface="Calibri"/>
                <a:cs typeface="Calibri"/>
              </a:defRPr>
            </a:pPr>
            <a:r>
              <a:rPr sz="18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W </a:t>
            </a:r>
            <a:r>
              <a:rPr sz="18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przykładzie</a:t>
            </a:r>
            <a:r>
              <a:rPr sz="18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: Navigation Compose 2.9.2.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455661"/>
                </a:solidFill>
                <a:latin typeface="Calibri"/>
                <a:ea typeface="Calibri"/>
                <a:cs typeface="Calibri"/>
              </a:defRPr>
            </a:pPr>
            <a:r>
              <a:rPr sz="18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Wersję</a:t>
            </a:r>
            <a:r>
              <a:rPr sz="18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pluginu</a:t>
            </a:r>
            <a:r>
              <a:rPr sz="18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 Serialization </a:t>
            </a:r>
            <a:r>
              <a:rPr sz="18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dopasuj</a:t>
            </a:r>
            <a:r>
              <a:rPr sz="18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 do </a:t>
            </a:r>
            <a:r>
              <a:rPr sz="18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Kotlina</a:t>
            </a:r>
            <a:r>
              <a:rPr sz="18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238669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245385-23CA-F1CA-3A81-44A45EB2C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0CAE2D7-C8ED-4BE5-DEC6-86A81EC49074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Plugin</a:t>
            </a:r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i Zależności</a:t>
            </a:r>
          </a:p>
        </p:txBody>
      </p:sp>
      <p:sp>
        <p:nvSpPr>
          <p:cNvPr id="5" name="Kod Kotlin / Gradle">
            <a:extLst>
              <a:ext uri="{FF2B5EF4-FFF2-40B4-BE49-F238E27FC236}">
                <a16:creationId xmlns:a16="http://schemas.microsoft.com/office/drawing/2014/main" id="{CB066F24-A9A5-2E9E-E742-24AE6FFB5C63}"/>
              </a:ext>
            </a:extLst>
          </p:cNvPr>
          <p:cNvSpPr>
            <a:spLocks noGrp="1"/>
          </p:cNvSpPr>
          <p:nvPr/>
        </p:nvSpPr>
        <p:spPr>
          <a:xfrm>
            <a:off x="1333500" y="1285875"/>
            <a:ext cx="7381875" cy="1219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63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777777"/>
                </a:solidFill>
              </a:rPr>
              <a:t># gradle/libs.versions.toml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63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t>[plugins.kotlin-serialization]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63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t>id = </a:t>
            </a:r>
            <a:r>
              <a:rPr>
                <a:solidFill>
                  <a:srgbClr val="067D17"/>
                </a:solidFill>
              </a:rPr>
              <a:t>"org.jetbrains.kotlin.plugin.serialization"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63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t>version.ref = </a:t>
            </a:r>
            <a:r>
              <a:rPr>
                <a:solidFill>
                  <a:srgbClr val="067D17"/>
                </a:solidFill>
              </a:rPr>
              <a:t>"kotlin"</a:t>
            </a:r>
          </a:p>
        </p:txBody>
      </p:sp>
      <p:sp>
        <p:nvSpPr>
          <p:cNvPr id="8" name="Kod Kotlin / Gradle">
            <a:extLst>
              <a:ext uri="{FF2B5EF4-FFF2-40B4-BE49-F238E27FC236}">
                <a16:creationId xmlns:a16="http://schemas.microsoft.com/office/drawing/2014/main" id="{A54DF54C-A310-CBC9-E267-45B8FE324C9A}"/>
              </a:ext>
            </a:extLst>
          </p:cNvPr>
          <p:cNvSpPr>
            <a:spLocks noGrp="1"/>
          </p:cNvSpPr>
          <p:nvPr/>
        </p:nvSpPr>
        <p:spPr>
          <a:xfrm>
            <a:off x="1333500" y="2952750"/>
            <a:ext cx="7381875" cy="2628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88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777777"/>
                </a:solidFill>
              </a:rPr>
              <a:t>// build.gradle.kts: wewnątrz plugins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88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t>alias(libs.plugins.kotlin.serialization) apply </a:t>
            </a:r>
            <a:r>
              <a:rPr>
                <a:solidFill>
                  <a:srgbClr val="0033B3"/>
                </a:solidFill>
              </a:rPr>
              <a:t>false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88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endParaRPr>
              <a:solidFill>
                <a:srgbClr val="0033B3"/>
              </a:solidFill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1688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777777"/>
                </a:solidFill>
              </a:rPr>
              <a:t>// app/build.gradle.kts: wewnątrz plugins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88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t>alias(libs.plugins.kotlin.serialization)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88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1688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777777"/>
                </a:solidFill>
              </a:rPr>
              <a:t>// app/build.gradle.kts: wewnątrz dependencies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88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t>implementation(libs.androidx.navigation.compose)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88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t>implementation(libs.kotlinx.serialization.json)</a:t>
            </a:r>
          </a:p>
        </p:txBody>
      </p:sp>
      <p:sp>
        <p:nvSpPr>
          <p:cNvPr id="10" name="version.ref = &quot;kotlin&quot; wskazuje wersję kompilato">
            <a:extLst>
              <a:ext uri="{FF2B5EF4-FFF2-40B4-BE49-F238E27FC236}">
                <a16:creationId xmlns:a16="http://schemas.microsoft.com/office/drawing/2014/main" id="{B978E5AD-7DD0-385A-BA64-9A9E381117E3}"/>
              </a:ext>
            </a:extLst>
          </p:cNvPr>
          <p:cNvSpPr>
            <a:spLocks noGrp="1"/>
          </p:cNvSpPr>
          <p:nvPr/>
        </p:nvSpPr>
        <p:spPr>
          <a:xfrm>
            <a:off x="1333500" y="5886450"/>
            <a:ext cx="7381875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455661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version.ref = "kotlin" wskazuje wersję kompilatora.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455661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Compose BOM nie dobiera wersji tych dwóch bibliotek.</a:t>
            </a:r>
          </a:p>
        </p:txBody>
      </p:sp>
    </p:spTree>
    <p:extLst>
      <p:ext uri="{BB962C8B-B14F-4D97-AF65-F5344CB8AC3E}">
        <p14:creationId xmlns:p14="http://schemas.microsoft.com/office/powerpoint/2010/main" val="4356552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D41AF9-9C2A-8120-D952-E7A3A29AD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68C10ED-52D3-7BFE-7701-386ABCFF781A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Plugin</a:t>
            </a:r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i Zależności</a:t>
            </a:r>
          </a:p>
        </p:txBody>
      </p:sp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20F43D72-702A-465C-20B5-17145E63461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79881423"/>
              </p:ext>
            </p:extLst>
          </p:nvPr>
        </p:nvGraphicFramePr>
        <p:xfrm>
          <a:off x="1333500" y="1409700"/>
          <a:ext cx="7381875" cy="3886200"/>
        </p:xfrm>
        <a:graphic>
          <a:graphicData uri="http://schemas.openxmlformats.org/drawingml/2006/table">
            <a:tbl>
              <a:tblPr/>
              <a:tblGrid>
                <a:gridCol w="2238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43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7700">
                <a:tc>
                  <a:txBody>
                    <a:bodyPr/>
                    <a:lstStyle/>
                    <a:p>
                      <a:pPr algn="ctr"/>
                      <a:r>
                        <a:rPr sz="2400" b="1" dirty="0" err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Pojęcie</a:t>
                      </a:r>
                      <a:endParaRPr sz="2400" b="1" dirty="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005F8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 dirty="0" err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Odpowiedzialność</a:t>
                      </a:r>
                      <a:endParaRPr sz="2400" b="1" dirty="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005F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52B37"/>
                          </a:solidFill>
                          <a:latin typeface="Calibri"/>
                          <a:ea typeface="Calibri"/>
                          <a:cs typeface="Calibri"/>
                        </a:rPr>
                        <a:t>Trasa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52B37"/>
                          </a:solidFill>
                          <a:latin typeface="Calibri"/>
                          <a:ea typeface="Calibri"/>
                          <a:cs typeface="Calibri"/>
                        </a:rPr>
                        <a:t>Identyfikuje cel i określa argumenty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52B37"/>
                          </a:solidFill>
                          <a:latin typeface="Calibri"/>
                          <a:ea typeface="Calibri"/>
                          <a:cs typeface="Calibri"/>
                        </a:rPr>
                        <a:t>Ekran</a:t>
                      </a:r>
                    </a:p>
                  </a:txBody>
                  <a:tcPr anchor="ctr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52B37"/>
                          </a:solidFill>
                          <a:latin typeface="Calibri"/>
                          <a:ea typeface="Calibri"/>
                          <a:cs typeface="Calibri"/>
                        </a:rPr>
                        <a:t>Wyświetla interfejs użytkownika</a:t>
                      </a:r>
                    </a:p>
                  </a:txBody>
                  <a:tcPr anchor="ctr">
                    <a:solidFill>
                      <a:srgbClr val="EE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52B37"/>
                          </a:solidFill>
                          <a:latin typeface="Calibri"/>
                          <a:ea typeface="Calibri"/>
                          <a:cs typeface="Calibri"/>
                        </a:rPr>
                        <a:t>Graf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 dirty="0" err="1">
                          <a:solidFill>
                            <a:srgbClr val="152B37"/>
                          </a:solidFill>
                          <a:latin typeface="Calibri"/>
                          <a:ea typeface="Calibri"/>
                          <a:cs typeface="Calibri"/>
                        </a:rPr>
                        <a:t>Grupuje</a:t>
                      </a:r>
                      <a:r>
                        <a:rPr sz="2000" b="0" dirty="0">
                          <a:solidFill>
                            <a:srgbClr val="152B37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52B37"/>
                          </a:solidFill>
                          <a:latin typeface="Calibri"/>
                          <a:ea typeface="Calibri"/>
                          <a:cs typeface="Calibri"/>
                        </a:rPr>
                        <a:t>cele</a:t>
                      </a:r>
                      <a:r>
                        <a:rPr sz="2000" b="0" dirty="0">
                          <a:solidFill>
                            <a:srgbClr val="152B37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52B37"/>
                          </a:solidFill>
                          <a:latin typeface="Calibri"/>
                          <a:ea typeface="Calibri"/>
                          <a:cs typeface="Calibri"/>
                        </a:rPr>
                        <a:t>i</a:t>
                      </a:r>
                      <a:r>
                        <a:rPr sz="2000" b="0" dirty="0">
                          <a:solidFill>
                            <a:srgbClr val="152B37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52B37"/>
                          </a:solidFill>
                          <a:latin typeface="Calibri"/>
                          <a:ea typeface="Calibri"/>
                          <a:cs typeface="Calibri"/>
                        </a:rPr>
                        <a:t>określa</a:t>
                      </a:r>
                      <a:r>
                        <a:rPr sz="2000" b="0" dirty="0">
                          <a:solidFill>
                            <a:srgbClr val="152B37"/>
                          </a:solidFill>
                          <a:latin typeface="Calibri"/>
                          <a:ea typeface="Calibri"/>
                          <a:cs typeface="Calibri"/>
                        </a:rPr>
                        <a:t> cel </a:t>
                      </a:r>
                      <a:r>
                        <a:rPr sz="2000" b="0" dirty="0" err="1">
                          <a:solidFill>
                            <a:srgbClr val="152B37"/>
                          </a:solidFill>
                          <a:latin typeface="Calibri"/>
                          <a:ea typeface="Calibri"/>
                          <a:cs typeface="Calibri"/>
                        </a:rPr>
                        <a:t>początkowy</a:t>
                      </a:r>
                      <a:endParaRPr sz="2000" b="0" dirty="0">
                        <a:solidFill>
                          <a:srgbClr val="152B37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ctr"/>
                      <a:r>
                        <a:rPr sz="2000" b="0" dirty="0" err="1">
                          <a:solidFill>
                            <a:srgbClr val="152B37"/>
                          </a:solidFill>
                          <a:latin typeface="Calibri"/>
                          <a:ea typeface="Calibri"/>
                          <a:cs typeface="Calibri"/>
                        </a:rPr>
                        <a:t>NavHost</a:t>
                      </a:r>
                      <a:endParaRPr sz="2000" b="0" dirty="0">
                        <a:solidFill>
                          <a:srgbClr val="152B37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52B37"/>
                          </a:solidFill>
                          <a:latin typeface="Calibri"/>
                          <a:ea typeface="Calibri"/>
                          <a:cs typeface="Calibri"/>
                        </a:rPr>
                        <a:t>Wiąże cele z UI i wyświetla bieżący ekran</a:t>
                      </a:r>
                    </a:p>
                  </a:txBody>
                  <a:tcPr anchor="ctr">
                    <a:solidFill>
                      <a:srgbClr val="EE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ctr"/>
                      <a:r>
                        <a:rPr sz="2000" b="0" dirty="0" err="1">
                          <a:solidFill>
                            <a:srgbClr val="152B37"/>
                          </a:solidFill>
                          <a:latin typeface="Calibri"/>
                          <a:ea typeface="Calibri"/>
                          <a:cs typeface="Calibri"/>
                        </a:rPr>
                        <a:t>NavController</a:t>
                      </a:r>
                      <a:endParaRPr sz="2000" b="0" dirty="0">
                        <a:solidFill>
                          <a:srgbClr val="152B37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 dirty="0" err="1">
                          <a:solidFill>
                            <a:srgbClr val="152B37"/>
                          </a:solidFill>
                          <a:latin typeface="Calibri"/>
                          <a:ea typeface="Calibri"/>
                          <a:cs typeface="Calibri"/>
                        </a:rPr>
                        <a:t>Obsługuje</a:t>
                      </a:r>
                      <a:r>
                        <a:rPr sz="2000" b="0" dirty="0">
                          <a:solidFill>
                            <a:srgbClr val="152B37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52B37"/>
                          </a:solidFill>
                          <a:latin typeface="Calibri"/>
                          <a:ea typeface="Calibri"/>
                          <a:cs typeface="Calibri"/>
                        </a:rPr>
                        <a:t>przejścia</a:t>
                      </a:r>
                      <a:r>
                        <a:rPr sz="2000" b="0" dirty="0">
                          <a:solidFill>
                            <a:srgbClr val="152B37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52B37"/>
                          </a:solidFill>
                          <a:latin typeface="Calibri"/>
                          <a:ea typeface="Calibri"/>
                          <a:cs typeface="Calibri"/>
                        </a:rPr>
                        <a:t>i</a:t>
                      </a:r>
                      <a:r>
                        <a:rPr sz="2000" b="0" dirty="0">
                          <a:solidFill>
                            <a:srgbClr val="152B37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52B37"/>
                          </a:solidFill>
                          <a:latin typeface="Calibri"/>
                          <a:ea typeface="Calibri"/>
                          <a:cs typeface="Calibri"/>
                        </a:rPr>
                        <a:t>stos</a:t>
                      </a:r>
                      <a:r>
                        <a:rPr sz="2000" b="0" dirty="0">
                          <a:solidFill>
                            <a:srgbClr val="152B37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52B37"/>
                          </a:solidFill>
                          <a:latin typeface="Calibri"/>
                          <a:ea typeface="Calibri"/>
                          <a:cs typeface="Calibri"/>
                        </a:rPr>
                        <a:t>nawigacji</a:t>
                      </a:r>
                      <a:endParaRPr sz="2000" b="0" dirty="0">
                        <a:solidFill>
                          <a:srgbClr val="152B37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Graf zagnieżdżony grupuje ekrany.&#10;Nie wymaga oso">
            <a:extLst>
              <a:ext uri="{FF2B5EF4-FFF2-40B4-BE49-F238E27FC236}">
                <a16:creationId xmlns:a16="http://schemas.microsoft.com/office/drawing/2014/main" id="{E077BF21-8186-FABB-2E76-BD27CD92125F}"/>
              </a:ext>
            </a:extLst>
          </p:cNvPr>
          <p:cNvSpPr>
            <a:spLocks noGrp="1"/>
          </p:cNvSpPr>
          <p:nvPr/>
        </p:nvSpPr>
        <p:spPr>
          <a:xfrm>
            <a:off x="1333500" y="5886450"/>
            <a:ext cx="7381875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455661"/>
                </a:solidFill>
                <a:latin typeface="Calibri"/>
                <a:ea typeface="Calibri"/>
                <a:cs typeface="Calibri"/>
              </a:defRPr>
            </a:pPr>
            <a:r>
              <a:rPr sz="20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Graf </a:t>
            </a:r>
            <a:r>
              <a:rPr sz="20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zagnieżdżony</a:t>
            </a:r>
            <a:r>
              <a:rPr sz="20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grupuje</a:t>
            </a:r>
            <a:r>
              <a:rPr sz="20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ekrany</a:t>
            </a:r>
            <a:r>
              <a:rPr sz="20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455661"/>
                </a:solidFill>
                <a:latin typeface="Calibri"/>
                <a:ea typeface="Calibri"/>
                <a:cs typeface="Calibri"/>
              </a:defRPr>
            </a:pPr>
            <a:r>
              <a:rPr sz="20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Nie </a:t>
            </a:r>
            <a:r>
              <a:rPr sz="20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wymaga</a:t>
            </a:r>
            <a:r>
              <a:rPr sz="20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osobnego</a:t>
            </a:r>
            <a:r>
              <a:rPr sz="20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NavHost</a:t>
            </a:r>
            <a:r>
              <a:rPr sz="20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 ani </a:t>
            </a:r>
            <a:r>
              <a:rPr sz="20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NavController</a:t>
            </a:r>
            <a:r>
              <a:rPr sz="20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913820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EE3947-619E-6250-0E9D-7EFAE633C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A8E30B2-0423-CC69-5B0D-F168BD38A5A4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Typowane Trasy</a:t>
            </a:r>
          </a:p>
        </p:txBody>
      </p:sp>
      <p:sp>
        <p:nvSpPr>
          <p:cNvPr id="4" name="Kod Kotlin / Gradle">
            <a:extLst>
              <a:ext uri="{FF2B5EF4-FFF2-40B4-BE49-F238E27FC236}">
                <a16:creationId xmlns:a16="http://schemas.microsoft.com/office/drawing/2014/main" id="{BD7C73C9-6AFF-0E7F-8A67-947304901139}"/>
              </a:ext>
            </a:extLst>
          </p:cNvPr>
          <p:cNvSpPr>
            <a:spLocks noGrp="1"/>
          </p:cNvSpPr>
          <p:nvPr/>
        </p:nvSpPr>
        <p:spPr>
          <a:xfrm>
            <a:off x="1333500" y="1371600"/>
            <a:ext cx="7381875" cy="2952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50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0033B3"/>
                </a:solidFill>
              </a:rPr>
              <a:t>import</a:t>
            </a:r>
            <a:r>
              <a:t> kotlinx.serialization.Serializable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250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250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9E880D"/>
                </a:solidFill>
              </a:rPr>
              <a:t>@Serializable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250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0033B3"/>
                </a:solidFill>
              </a:rPr>
              <a:t>data</a:t>
            </a:r>
            <a:r>
              <a:t> </a:t>
            </a:r>
            <a:r>
              <a:rPr>
                <a:solidFill>
                  <a:srgbClr val="0033B3"/>
                </a:solidFill>
              </a:rPr>
              <a:t>object</a:t>
            </a:r>
            <a:r>
              <a:t> Home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250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250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9E880D"/>
                </a:solidFill>
              </a:rPr>
              <a:t>@Serializable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250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0033B3"/>
                </a:solidFill>
              </a:rPr>
              <a:t>data</a:t>
            </a:r>
            <a:r>
              <a:t> </a:t>
            </a:r>
            <a:r>
              <a:rPr>
                <a:solidFill>
                  <a:srgbClr val="0033B3"/>
                </a:solidFill>
              </a:rPr>
              <a:t>class</a:t>
            </a:r>
            <a:r>
              <a:t> Details(</a:t>
            </a:r>
            <a:r>
              <a:rPr>
                <a:solidFill>
                  <a:srgbClr val="0033B3"/>
                </a:solidFill>
              </a:rPr>
              <a:t>val</a:t>
            </a:r>
            <a:r>
              <a:t> id: Int)</a:t>
            </a:r>
          </a:p>
        </p:txBody>
      </p:sp>
      <p:sp>
        <p:nvSpPr>
          <p:cNvPr id="6" name="Home nie ma argumentów.&#10;Details wymaga identyfik">
            <a:extLst>
              <a:ext uri="{FF2B5EF4-FFF2-40B4-BE49-F238E27FC236}">
                <a16:creationId xmlns:a16="http://schemas.microsoft.com/office/drawing/2014/main" id="{0204D50C-3C1B-FEC4-05F5-E1B683471C1D}"/>
              </a:ext>
            </a:extLst>
          </p:cNvPr>
          <p:cNvSpPr>
            <a:spLocks noGrp="1"/>
          </p:cNvSpPr>
          <p:nvPr/>
        </p:nvSpPr>
        <p:spPr>
          <a:xfrm>
            <a:off x="1333500" y="4286250"/>
            <a:ext cx="7381875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75" b="0">
                <a:solidFill>
                  <a:srgbClr val="152B37"/>
                </a:solidFill>
                <a:latin typeface="Calibri"/>
                <a:ea typeface="Calibri"/>
                <a:cs typeface="Calibri"/>
              </a:defRPr>
            </a:pPr>
            <a:r>
              <a:rPr sz="2400" b="0" dirty="0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Home </a:t>
            </a:r>
            <a:r>
              <a:rPr sz="2400" b="0" dirty="0" err="1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nie</a:t>
            </a:r>
            <a:r>
              <a:rPr sz="2400" b="0" dirty="0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 ma </a:t>
            </a:r>
            <a:r>
              <a:rPr sz="2400" b="0" dirty="0" err="1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argumentów</a:t>
            </a:r>
            <a:r>
              <a:rPr sz="2400" b="0" dirty="0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175" b="0">
                <a:solidFill>
                  <a:srgbClr val="152B37"/>
                </a:solidFill>
                <a:latin typeface="Calibri"/>
                <a:ea typeface="Calibri"/>
                <a:cs typeface="Calibri"/>
              </a:defRPr>
            </a:pPr>
            <a:r>
              <a:rPr sz="2400" b="0" dirty="0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Details </a:t>
            </a:r>
            <a:r>
              <a:rPr sz="2400" b="0" dirty="0" err="1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wymaga</a:t>
            </a:r>
            <a:r>
              <a:rPr sz="2400" b="0" dirty="0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400" b="0" dirty="0" err="1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identyfikatora</a:t>
            </a:r>
            <a:r>
              <a:rPr sz="2400" b="0" dirty="0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400" b="0" dirty="0" err="1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typu</a:t>
            </a:r>
            <a:r>
              <a:rPr sz="2400" b="0" dirty="0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 Int.</a:t>
            </a:r>
          </a:p>
        </p:txBody>
      </p:sp>
      <p:sp>
        <p:nvSpPr>
          <p:cNvPr id="9" name="Typowane trasy są dostępne w Navigation Compose ">
            <a:extLst>
              <a:ext uri="{FF2B5EF4-FFF2-40B4-BE49-F238E27FC236}">
                <a16:creationId xmlns:a16="http://schemas.microsoft.com/office/drawing/2014/main" id="{7A3B59F5-C8F2-98E6-5B13-5B0E8E274BBA}"/>
              </a:ext>
            </a:extLst>
          </p:cNvPr>
          <p:cNvSpPr>
            <a:spLocks noGrp="1"/>
          </p:cNvSpPr>
          <p:nvPr/>
        </p:nvSpPr>
        <p:spPr>
          <a:xfrm>
            <a:off x="1333500" y="5886450"/>
            <a:ext cx="7381875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455661"/>
                </a:solidFill>
                <a:latin typeface="Calibri"/>
                <a:ea typeface="Calibri"/>
                <a:cs typeface="Calibri"/>
              </a:defRPr>
            </a:pPr>
            <a:r>
              <a:rPr sz="18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Typowane</a:t>
            </a:r>
            <a:r>
              <a:rPr sz="18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trasy</a:t>
            </a:r>
            <a:r>
              <a:rPr sz="18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są</a:t>
            </a:r>
            <a:r>
              <a:rPr sz="18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dostępne</a:t>
            </a:r>
            <a:r>
              <a:rPr sz="18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 w Navigation Compose 2.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455661"/>
                </a:solidFill>
                <a:latin typeface="Calibri"/>
                <a:ea typeface="Calibri"/>
                <a:cs typeface="Calibri"/>
              </a:defRPr>
            </a:pPr>
            <a:r>
              <a:rPr sz="18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Do </a:t>
            </a:r>
            <a:r>
              <a:rPr sz="18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szczegółów</a:t>
            </a:r>
            <a:r>
              <a:rPr sz="18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przekazujemy</a:t>
            </a:r>
            <a:r>
              <a:rPr sz="18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 ID, a </a:t>
            </a:r>
            <a:r>
              <a:rPr sz="18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nie</a:t>
            </a:r>
            <a:r>
              <a:rPr sz="18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cały</a:t>
            </a:r>
            <a:r>
              <a:rPr sz="18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obiekt</a:t>
            </a:r>
            <a:r>
              <a:rPr sz="18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danych</a:t>
            </a:r>
            <a:r>
              <a:rPr sz="18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04717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2FE6CE-4530-C4A8-3743-EB656A56E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A7B478A-A075-007F-2718-1FD788DD1429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Graf Dwóch Ekranów</a:t>
            </a:r>
          </a:p>
        </p:txBody>
      </p:sp>
      <p:sp>
        <p:nvSpPr>
          <p:cNvPr id="5" name="Kod Kotlin / Gradle">
            <a:extLst>
              <a:ext uri="{FF2B5EF4-FFF2-40B4-BE49-F238E27FC236}">
                <a16:creationId xmlns:a16="http://schemas.microsoft.com/office/drawing/2014/main" id="{0C416E59-7AD9-E9EE-3933-13EEEF19EC11}"/>
              </a:ext>
            </a:extLst>
          </p:cNvPr>
          <p:cNvSpPr>
            <a:spLocks noGrp="1"/>
          </p:cNvSpPr>
          <p:nvPr/>
        </p:nvSpPr>
        <p:spPr>
          <a:xfrm>
            <a:off x="1333500" y="1143000"/>
            <a:ext cx="7381875" cy="4524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95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rPr dirty="0">
                <a:solidFill>
                  <a:srgbClr val="9E880D"/>
                </a:solidFill>
              </a:rPr>
              <a:t>@Composable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95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rPr dirty="0">
                <a:solidFill>
                  <a:srgbClr val="0033B3"/>
                </a:solidFill>
              </a:rPr>
              <a:t>fun</a:t>
            </a:r>
            <a:r>
              <a:rPr dirty="0"/>
              <a:t> </a:t>
            </a:r>
            <a:r>
              <a:rPr dirty="0" err="1"/>
              <a:t>NavigationExample</a:t>
            </a:r>
            <a:r>
              <a:rPr dirty="0"/>
              <a:t>(modifier: Modifier = Modifier) {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95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rPr dirty="0"/>
              <a:t>    </a:t>
            </a:r>
            <a:r>
              <a:rPr dirty="0" err="1">
                <a:solidFill>
                  <a:srgbClr val="0033B3"/>
                </a:solidFill>
              </a:rPr>
              <a:t>val</a:t>
            </a:r>
            <a:r>
              <a:rPr dirty="0"/>
              <a:t> </a:t>
            </a:r>
            <a:r>
              <a:rPr dirty="0" err="1"/>
              <a:t>navController</a:t>
            </a:r>
            <a:r>
              <a:rPr dirty="0"/>
              <a:t> = </a:t>
            </a:r>
            <a:r>
              <a:rPr dirty="0" err="1"/>
              <a:t>rememberNavController</a:t>
            </a:r>
            <a:r>
              <a:rPr dirty="0"/>
              <a:t>()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95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rPr dirty="0"/>
              <a:t>    </a:t>
            </a:r>
            <a:r>
              <a:rPr dirty="0" err="1"/>
              <a:t>NavHost</a:t>
            </a:r>
            <a:r>
              <a:rPr dirty="0"/>
              <a:t>(</a:t>
            </a:r>
            <a:r>
              <a:rPr dirty="0" err="1"/>
              <a:t>navController</a:t>
            </a:r>
            <a:r>
              <a:rPr dirty="0"/>
              <a:t>, Home, modifier) {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95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rPr dirty="0"/>
              <a:t>        composable&lt;Home&gt; {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95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rPr dirty="0"/>
              <a:t>            </a:t>
            </a:r>
            <a:r>
              <a:rPr dirty="0" err="1"/>
              <a:t>HomeScreen</a:t>
            </a:r>
            <a:r>
              <a:rPr dirty="0"/>
              <a:t> {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95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rPr dirty="0"/>
              <a:t>                </a:t>
            </a:r>
            <a:r>
              <a:rPr dirty="0" err="1"/>
              <a:t>navController.navigate</a:t>
            </a:r>
            <a:r>
              <a:rPr dirty="0"/>
              <a:t>(Details(</a:t>
            </a:r>
            <a:r>
              <a:rPr dirty="0">
                <a:solidFill>
                  <a:srgbClr val="1750EB"/>
                </a:solidFill>
              </a:rPr>
              <a:t>42</a:t>
            </a:r>
            <a:r>
              <a:rPr dirty="0"/>
              <a:t>))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95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rPr dirty="0"/>
              <a:t>            }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95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rPr dirty="0"/>
              <a:t>        }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95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rPr dirty="0"/>
              <a:t>        composable&lt;Details&gt; { entry -&gt;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95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rPr dirty="0"/>
              <a:t>            </a:t>
            </a:r>
            <a:r>
              <a:rPr dirty="0" err="1">
                <a:solidFill>
                  <a:srgbClr val="0033B3"/>
                </a:solidFill>
              </a:rPr>
              <a:t>val</a:t>
            </a:r>
            <a:r>
              <a:rPr dirty="0"/>
              <a:t> route = </a:t>
            </a:r>
            <a:r>
              <a:rPr dirty="0" err="1"/>
              <a:t>entry.toRoute</a:t>
            </a:r>
            <a:r>
              <a:rPr dirty="0"/>
              <a:t>&lt;Details&gt;()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95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rPr dirty="0"/>
              <a:t>            </a:t>
            </a:r>
            <a:r>
              <a:rPr dirty="0" err="1"/>
              <a:t>DetailsScreen</a:t>
            </a:r>
            <a:r>
              <a:rPr dirty="0"/>
              <a:t>(route.id) {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95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rPr dirty="0"/>
              <a:t>                </a:t>
            </a:r>
            <a:r>
              <a:rPr dirty="0" err="1"/>
              <a:t>navController.popBackStack</a:t>
            </a:r>
            <a:r>
              <a:rPr dirty="0"/>
              <a:t>()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95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rPr dirty="0"/>
              <a:t>            }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95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rPr dirty="0"/>
              <a:t>        }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95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rPr dirty="0"/>
              <a:t>    }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95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rPr dirty="0"/>
              <a:t>}</a:t>
            </a:r>
          </a:p>
        </p:txBody>
      </p:sp>
      <p:sp>
        <p:nvSpPr>
          <p:cNvPr id="8" name="navigate(Details(42)) przekazuje argument.&#10;toRou">
            <a:extLst>
              <a:ext uri="{FF2B5EF4-FFF2-40B4-BE49-F238E27FC236}">
                <a16:creationId xmlns:a16="http://schemas.microsoft.com/office/drawing/2014/main" id="{68BA0F4A-AC0F-5443-B884-94FF85FFF920}"/>
              </a:ext>
            </a:extLst>
          </p:cNvPr>
          <p:cNvSpPr>
            <a:spLocks noGrp="1"/>
          </p:cNvSpPr>
          <p:nvPr/>
        </p:nvSpPr>
        <p:spPr>
          <a:xfrm>
            <a:off x="1333500" y="5526285"/>
            <a:ext cx="7381875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455661"/>
                </a:solidFill>
                <a:latin typeface="Calibri"/>
                <a:ea typeface="Calibri"/>
                <a:cs typeface="Calibri"/>
              </a:defRPr>
            </a:pPr>
            <a:r>
              <a:rPr sz="20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navigate(Details(42)) </a:t>
            </a:r>
            <a:r>
              <a:rPr sz="20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przekazuje</a:t>
            </a:r>
            <a:r>
              <a:rPr sz="20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 argument.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455661"/>
                </a:solidFill>
                <a:latin typeface="Calibri"/>
                <a:ea typeface="Calibri"/>
                <a:cs typeface="Calibri"/>
              </a:defRPr>
            </a:pPr>
            <a:r>
              <a:rPr sz="20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toRoute</a:t>
            </a:r>
            <a:r>
              <a:rPr sz="20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&lt;Details&gt;() </a:t>
            </a:r>
            <a:r>
              <a:rPr sz="20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odczytuje</a:t>
            </a:r>
            <a:r>
              <a:rPr sz="20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 go w </a:t>
            </a:r>
            <a:r>
              <a:rPr sz="20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ekranie</a:t>
            </a:r>
            <a:r>
              <a:rPr sz="20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docelowym</a:t>
            </a:r>
            <a:r>
              <a:rPr sz="20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9BA75BD2-A1D0-AF5B-6DFB-60B43ADFCB61}"/>
              </a:ext>
            </a:extLst>
          </p:cNvPr>
          <p:cNvSpPr txBox="1"/>
          <p:nvPr/>
        </p:nvSpPr>
        <p:spPr>
          <a:xfrm>
            <a:off x="1148768" y="6210130"/>
            <a:ext cx="802838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455661"/>
                </a:solidFill>
                <a:latin typeface="Calibri"/>
                <a:ea typeface="Calibri"/>
                <a:cs typeface="Calibri"/>
              </a:defRPr>
            </a:pPr>
            <a:r>
              <a:rPr lang="pl-PL" sz="200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@Serializable umożliwia </a:t>
            </a:r>
            <a:r>
              <a:rPr lang="pl-PL" sz="200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Navigation</a:t>
            </a:r>
            <a:r>
              <a:rPr lang="pl-PL" sz="200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 zapisanie argumentów trasy i odtworzenie obiektu trasy przez </a:t>
            </a:r>
            <a:r>
              <a:rPr lang="pl-PL" sz="200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toRoute</a:t>
            </a:r>
            <a:r>
              <a:rPr lang="pl-PL" sz="200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8540058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7916C5-D8F4-287A-897B-2AA71145C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1616181-BEB9-989C-EDB0-B0DAB8DB599C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Dane i akcje ekranu</a:t>
            </a:r>
          </a:p>
        </p:txBody>
      </p:sp>
      <p:sp>
        <p:nvSpPr>
          <p:cNvPr id="4" name="Kod Kotlin / Gradle">
            <a:extLst>
              <a:ext uri="{FF2B5EF4-FFF2-40B4-BE49-F238E27FC236}">
                <a16:creationId xmlns:a16="http://schemas.microsoft.com/office/drawing/2014/main" id="{258D9BFF-CE0D-9680-1313-C0B56B90B607}"/>
              </a:ext>
            </a:extLst>
          </p:cNvPr>
          <p:cNvSpPr>
            <a:spLocks noGrp="1"/>
          </p:cNvSpPr>
          <p:nvPr/>
        </p:nvSpPr>
        <p:spPr>
          <a:xfrm>
            <a:off x="1333500" y="1333500"/>
            <a:ext cx="7381875" cy="402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77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rPr dirty="0">
                <a:solidFill>
                  <a:srgbClr val="9E880D"/>
                </a:solidFill>
              </a:rPr>
              <a:t>@Composable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77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rPr dirty="0">
                <a:solidFill>
                  <a:srgbClr val="0033B3"/>
                </a:solidFill>
              </a:rPr>
              <a:t>fun</a:t>
            </a:r>
            <a:r>
              <a:rPr dirty="0"/>
              <a:t> </a:t>
            </a:r>
            <a:r>
              <a:rPr dirty="0" err="1"/>
              <a:t>HomeScreen</a:t>
            </a:r>
            <a:r>
              <a:rPr dirty="0"/>
              <a:t>(</a:t>
            </a:r>
            <a:r>
              <a:rPr dirty="0" err="1"/>
              <a:t>onDetails</a:t>
            </a:r>
            <a:r>
              <a:rPr dirty="0"/>
              <a:t>: () -&gt; Unit) {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77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rPr dirty="0"/>
              <a:t>    Button(</a:t>
            </a:r>
            <a:r>
              <a:rPr dirty="0" err="1"/>
              <a:t>onClick</a:t>
            </a:r>
            <a:r>
              <a:rPr dirty="0"/>
              <a:t> = </a:t>
            </a:r>
            <a:r>
              <a:rPr dirty="0" err="1"/>
              <a:t>onDetails</a:t>
            </a:r>
            <a:r>
              <a:rPr dirty="0"/>
              <a:t>) {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77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rPr dirty="0"/>
              <a:t>        Text(</a:t>
            </a:r>
            <a:r>
              <a:rPr dirty="0">
                <a:solidFill>
                  <a:srgbClr val="067D17"/>
                </a:solidFill>
              </a:rPr>
              <a:t>"</a:t>
            </a:r>
            <a:r>
              <a:rPr dirty="0" err="1">
                <a:solidFill>
                  <a:srgbClr val="067D17"/>
                </a:solidFill>
              </a:rPr>
              <a:t>Szczegóły</a:t>
            </a:r>
            <a:r>
              <a:rPr dirty="0">
                <a:solidFill>
                  <a:srgbClr val="067D17"/>
                </a:solidFill>
              </a:rPr>
              <a:t>"</a:t>
            </a:r>
            <a:r>
              <a:rPr dirty="0"/>
              <a:t>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77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rPr dirty="0"/>
              <a:t>    }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77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rPr dirty="0"/>
              <a:t>}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77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endParaRPr dirty="0"/>
          </a:p>
          <a:p>
            <a:pPr algn="l">
              <a:spcBef>
                <a:spcPts val="0"/>
              </a:spcBef>
              <a:spcAft>
                <a:spcPts val="0"/>
              </a:spcAft>
              <a:defRPr sz="1777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rPr dirty="0">
                <a:solidFill>
                  <a:srgbClr val="9E880D"/>
                </a:solidFill>
              </a:rPr>
              <a:t>@Composable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77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rPr dirty="0">
                <a:solidFill>
                  <a:srgbClr val="0033B3"/>
                </a:solidFill>
              </a:rPr>
              <a:t>fun</a:t>
            </a:r>
            <a:r>
              <a:rPr dirty="0"/>
              <a:t> </a:t>
            </a:r>
            <a:r>
              <a:rPr dirty="0" err="1"/>
              <a:t>DetailsScreen</a:t>
            </a:r>
            <a:r>
              <a:rPr dirty="0"/>
              <a:t>(id: Int, </a:t>
            </a:r>
            <a:r>
              <a:rPr dirty="0" err="1"/>
              <a:t>onBack</a:t>
            </a:r>
            <a:r>
              <a:rPr dirty="0"/>
              <a:t>: () -&gt; Unit) {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77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rPr dirty="0"/>
              <a:t>    Column {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77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rPr dirty="0"/>
              <a:t>        Text(</a:t>
            </a:r>
            <a:r>
              <a:rPr dirty="0">
                <a:solidFill>
                  <a:srgbClr val="067D17"/>
                </a:solidFill>
              </a:rPr>
              <a:t>"ID: $id"</a:t>
            </a:r>
            <a:r>
              <a:rPr dirty="0"/>
              <a:t>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77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rPr dirty="0"/>
              <a:t>        Button(</a:t>
            </a:r>
            <a:r>
              <a:rPr dirty="0" err="1"/>
              <a:t>onClick</a:t>
            </a:r>
            <a:r>
              <a:rPr dirty="0"/>
              <a:t> = </a:t>
            </a:r>
            <a:r>
              <a:rPr dirty="0" err="1"/>
              <a:t>onBack</a:t>
            </a:r>
            <a:r>
              <a:rPr dirty="0"/>
              <a:t>) { Text(</a:t>
            </a:r>
            <a:r>
              <a:rPr dirty="0">
                <a:solidFill>
                  <a:srgbClr val="067D17"/>
                </a:solidFill>
              </a:rPr>
              <a:t>"</a:t>
            </a:r>
            <a:r>
              <a:rPr dirty="0" err="1">
                <a:solidFill>
                  <a:srgbClr val="067D17"/>
                </a:solidFill>
              </a:rPr>
              <a:t>Wstecz</a:t>
            </a:r>
            <a:r>
              <a:rPr dirty="0">
                <a:solidFill>
                  <a:srgbClr val="067D17"/>
                </a:solidFill>
              </a:rPr>
              <a:t>"</a:t>
            </a:r>
            <a:r>
              <a:rPr dirty="0"/>
              <a:t>) }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77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rPr dirty="0"/>
              <a:t>    }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77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rPr dirty="0"/>
              <a:t>}</a:t>
            </a:r>
          </a:p>
        </p:txBody>
      </p:sp>
      <p:sp>
        <p:nvSpPr>
          <p:cNvPr id="7" name="Ekran otrzymuje dane i zgłasza akcje.&#10;Sposób prz">
            <a:extLst>
              <a:ext uri="{FF2B5EF4-FFF2-40B4-BE49-F238E27FC236}">
                <a16:creationId xmlns:a16="http://schemas.microsoft.com/office/drawing/2014/main" id="{49FB3CC8-A1D7-2F9F-EDAE-72CB04941459}"/>
              </a:ext>
            </a:extLst>
          </p:cNvPr>
          <p:cNvSpPr>
            <a:spLocks noGrp="1"/>
          </p:cNvSpPr>
          <p:nvPr/>
        </p:nvSpPr>
        <p:spPr>
          <a:xfrm>
            <a:off x="1333500" y="5886450"/>
            <a:ext cx="7381875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455661"/>
                </a:solidFill>
                <a:latin typeface="Calibri"/>
                <a:ea typeface="Calibri"/>
                <a:cs typeface="Calibri"/>
              </a:defRPr>
            </a:pPr>
            <a:r>
              <a:rPr sz="20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Ekran</a:t>
            </a:r>
            <a:r>
              <a:rPr sz="20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otrzymuje</a:t>
            </a:r>
            <a:r>
              <a:rPr sz="20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dane</a:t>
            </a:r>
            <a:r>
              <a:rPr sz="20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i</a:t>
            </a:r>
            <a:r>
              <a:rPr sz="20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zgłasza</a:t>
            </a:r>
            <a:r>
              <a:rPr sz="20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akcje</a:t>
            </a:r>
            <a:r>
              <a:rPr sz="20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455661"/>
                </a:solidFill>
                <a:latin typeface="Calibri"/>
                <a:ea typeface="Calibri"/>
                <a:cs typeface="Calibri"/>
              </a:defRPr>
            </a:pPr>
            <a:r>
              <a:rPr sz="20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Sposób</a:t>
            </a:r>
            <a:r>
              <a:rPr sz="20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przejścia</a:t>
            </a:r>
            <a:r>
              <a:rPr sz="20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określa</a:t>
            </a:r>
            <a:r>
              <a:rPr sz="20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kod</a:t>
            </a:r>
            <a:r>
              <a:rPr sz="20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konfigurujący</a:t>
            </a:r>
            <a:r>
              <a:rPr sz="20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graf</a:t>
            </a:r>
            <a:r>
              <a:rPr sz="20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195553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EF9807-FA89-5023-2CA7-AF92F31AA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3D1273A-0975-BDED-9F62-F34F8CA6A2AE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Dane i akcje ekranu</a:t>
            </a:r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F784F352-CE2C-8CE4-92BA-749331C32BE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37268342"/>
              </p:ext>
            </p:extLst>
          </p:nvPr>
        </p:nvGraphicFramePr>
        <p:xfrm>
          <a:off x="1333500" y="1562100"/>
          <a:ext cx="7381875" cy="3219450"/>
        </p:xfrm>
        <a:graphic>
          <a:graphicData uri="http://schemas.openxmlformats.org/drawingml/2006/table">
            <a:tbl>
              <a:tblPr/>
              <a:tblGrid>
                <a:gridCol w="352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57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3890">
                <a:tc>
                  <a:txBody>
                    <a:bodyPr/>
                    <a:lstStyle/>
                    <a:p>
                      <a:pPr algn="ctr"/>
                      <a:r>
                        <a:rPr sz="240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Akcja</a:t>
                      </a:r>
                      <a:endParaRPr sz="1950" b="1" dirty="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005F8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 dirty="0" err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Ekrany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400" b="1" dirty="0" err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na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400" b="1" dirty="0" err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stosie</a:t>
                      </a:r>
                      <a:endParaRPr sz="2400" b="1" dirty="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005F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52B37"/>
                          </a:solidFill>
                          <a:latin typeface="Calibri"/>
                          <a:ea typeface="Calibri"/>
                          <a:cs typeface="Calibri"/>
                        </a:rPr>
                        <a:t>Uruchomienie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52B37"/>
                          </a:solidFill>
                          <a:latin typeface="Calibri"/>
                          <a:ea typeface="Calibri"/>
                          <a:cs typeface="Calibri"/>
                        </a:rPr>
                        <a:t>Home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pPr algn="ctr"/>
                      <a:r>
                        <a:rPr sz="2000" b="0" dirty="0">
                          <a:solidFill>
                            <a:srgbClr val="152B37"/>
                          </a:solidFill>
                          <a:latin typeface="Calibri"/>
                          <a:ea typeface="Calibri"/>
                          <a:cs typeface="Calibri"/>
                        </a:rPr>
                        <a:t>navigate(Details(42))</a:t>
                      </a:r>
                    </a:p>
                  </a:txBody>
                  <a:tcPr anchor="ctr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52B37"/>
                          </a:solidFill>
                          <a:latin typeface="Calibri"/>
                          <a:ea typeface="Calibri"/>
                          <a:cs typeface="Calibri"/>
                        </a:rPr>
                        <a:t>Home, Details(42)</a:t>
                      </a:r>
                    </a:p>
                  </a:txBody>
                  <a:tcPr anchor="ctr">
                    <a:solidFill>
                      <a:srgbClr val="EE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52B37"/>
                          </a:solidFill>
                          <a:latin typeface="Calibri"/>
                          <a:ea typeface="Calibri"/>
                          <a:cs typeface="Calibri"/>
                        </a:rPr>
                        <a:t>navigate(Details(7))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52B37"/>
                          </a:solidFill>
                          <a:latin typeface="Calibri"/>
                          <a:ea typeface="Calibri"/>
                          <a:cs typeface="Calibri"/>
                        </a:rPr>
                        <a:t>Home, Details(42), Details(7)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52B37"/>
                          </a:solidFill>
                          <a:latin typeface="Calibri"/>
                          <a:ea typeface="Calibri"/>
                          <a:cs typeface="Calibri"/>
                        </a:rPr>
                        <a:t>popBackStack()</a:t>
                      </a:r>
                    </a:p>
                  </a:txBody>
                  <a:tcPr anchor="ctr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dirty="0">
                          <a:solidFill>
                            <a:srgbClr val="152B37"/>
                          </a:solidFill>
                          <a:latin typeface="Calibri"/>
                          <a:ea typeface="Calibri"/>
                          <a:cs typeface="Calibri"/>
                        </a:rPr>
                        <a:t>Home, Details(42)</a:t>
                      </a:r>
                    </a:p>
                  </a:txBody>
                  <a:tcPr anchor="ctr">
                    <a:solidFill>
                      <a:srgbClr val="EE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Ostatni wpis odpowiada aktualnemu ekranowi.&#10;Powr">
            <a:extLst>
              <a:ext uri="{FF2B5EF4-FFF2-40B4-BE49-F238E27FC236}">
                <a16:creationId xmlns:a16="http://schemas.microsoft.com/office/drawing/2014/main" id="{34E81405-53BA-2FDE-7D7C-84DA898A2BF6}"/>
              </a:ext>
            </a:extLst>
          </p:cNvPr>
          <p:cNvSpPr>
            <a:spLocks noGrp="1"/>
          </p:cNvSpPr>
          <p:nvPr/>
        </p:nvSpPr>
        <p:spPr>
          <a:xfrm>
            <a:off x="1333500" y="5219700"/>
            <a:ext cx="7381875" cy="1028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75" b="0">
                <a:solidFill>
                  <a:srgbClr val="152B37"/>
                </a:solidFill>
                <a:latin typeface="Calibri"/>
                <a:ea typeface="Calibri"/>
                <a:cs typeface="Calibri"/>
              </a:defRPr>
            </a:pPr>
            <a:r>
              <a:rPr sz="2400" b="0" dirty="0" err="1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Ostatni</a:t>
            </a:r>
            <a:r>
              <a:rPr sz="2400" b="0" dirty="0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400" b="0" dirty="0" err="1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wpis</a:t>
            </a:r>
            <a:r>
              <a:rPr sz="2400" b="0" dirty="0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400" b="0" dirty="0" err="1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odpowiada</a:t>
            </a:r>
            <a:r>
              <a:rPr sz="2400" b="0" dirty="0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400" b="0" dirty="0" err="1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aktualnemu</a:t>
            </a:r>
            <a:r>
              <a:rPr sz="2400" b="0" dirty="0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400" b="0" dirty="0" err="1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ekranowi</a:t>
            </a:r>
            <a:r>
              <a:rPr sz="2400" b="0" dirty="0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175" b="0">
                <a:solidFill>
                  <a:srgbClr val="152B37"/>
                </a:solidFill>
                <a:latin typeface="Calibri"/>
                <a:ea typeface="Calibri"/>
                <a:cs typeface="Calibri"/>
              </a:defRPr>
            </a:pPr>
            <a:r>
              <a:rPr sz="2400" b="0" dirty="0" err="1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Powrót</a:t>
            </a:r>
            <a:r>
              <a:rPr sz="2400" b="0" dirty="0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400" b="0" dirty="0" err="1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usuwa</a:t>
            </a:r>
            <a:r>
              <a:rPr sz="2400" b="0" dirty="0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400" b="0" dirty="0" err="1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wpis</a:t>
            </a:r>
            <a:r>
              <a:rPr sz="2400" b="0" dirty="0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 ze </a:t>
            </a:r>
            <a:r>
              <a:rPr sz="2400" b="0" dirty="0" err="1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szczytu</a:t>
            </a:r>
            <a:r>
              <a:rPr sz="2400" b="0" dirty="0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400" b="0" dirty="0" err="1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stosu</a:t>
            </a:r>
            <a:r>
              <a:rPr sz="2400" b="0" dirty="0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005285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8C9129-6945-0D46-E2A4-2EBC80AB9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7E90E1A-0E01-35A4-8DF2-D7CFCCFA6C4A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Usuwanie wpisów ze stosu</a:t>
            </a:r>
          </a:p>
        </p:txBody>
      </p:sp>
      <p:sp>
        <p:nvSpPr>
          <p:cNvPr id="4" name="Numer slajdu">
            <a:extLst>
              <a:ext uri="{FF2B5EF4-FFF2-40B4-BE49-F238E27FC236}">
                <a16:creationId xmlns:a16="http://schemas.microsoft.com/office/drawing/2014/main" id="{3DD99D30-B05B-9119-40ED-009ABC7B8353}"/>
              </a:ext>
            </a:extLst>
          </p:cNvPr>
          <p:cNvSpPr>
            <a:spLocks noGrp="1"/>
          </p:cNvSpPr>
          <p:nvPr/>
        </p:nvSpPr>
        <p:spPr>
          <a:xfrm>
            <a:off x="295275" y="6429375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19</a:t>
            </a:r>
          </a:p>
        </p:txBody>
      </p:sp>
      <p:sp>
        <p:nvSpPr>
          <p:cNvPr id="7" name="Kod Kotlin / Gradle">
            <a:extLst>
              <a:ext uri="{FF2B5EF4-FFF2-40B4-BE49-F238E27FC236}">
                <a16:creationId xmlns:a16="http://schemas.microsoft.com/office/drawing/2014/main" id="{D3C39D13-9554-4CE3-FF9D-B9E9F6AF1BD9}"/>
              </a:ext>
            </a:extLst>
          </p:cNvPr>
          <p:cNvSpPr>
            <a:spLocks noGrp="1"/>
          </p:cNvSpPr>
          <p:nvPr/>
        </p:nvSpPr>
        <p:spPr>
          <a:xfrm>
            <a:off x="1333500" y="1552575"/>
            <a:ext cx="7381875" cy="16192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t>navController.navigate(Home) {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t>    popUpTo&lt;Home&gt; { inclusive = </a:t>
            </a:r>
            <a:r>
              <a:rPr>
                <a:solidFill>
                  <a:srgbClr val="0033B3"/>
                </a:solidFill>
              </a:rPr>
              <a:t>false</a:t>
            </a:r>
            <a:r>
              <a:t> }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t>    launchSingleTop = </a:t>
            </a:r>
            <a:r>
              <a:rPr>
                <a:solidFill>
                  <a:srgbClr val="0033B3"/>
                </a:solidFill>
              </a:rPr>
              <a:t>true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t>}</a:t>
            </a:r>
          </a:p>
        </p:txBody>
      </p:sp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4165980D-E4FA-6654-767A-0BF6A23B52A0}"/>
              </a:ext>
            </a:extLst>
          </p:cNvPr>
          <p:cNvGraphicFramePr/>
          <p:nvPr/>
        </p:nvGraphicFramePr>
        <p:xfrm>
          <a:off x="1333500" y="3552825"/>
          <a:ext cx="7381875" cy="1428750"/>
        </p:xfrm>
        <a:graphic>
          <a:graphicData uri="http://schemas.openxmlformats.org/drawingml/2006/table">
            <a:tbl>
              <a:tblPr/>
              <a:tblGrid>
                <a:gridCol w="3714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67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1437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Przed</a:t>
                      </a:r>
                    </a:p>
                  </a:txBody>
                  <a:tcPr anchor="ctr">
                    <a:solidFill>
                      <a:srgbClr val="005F8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Po</a:t>
                      </a:r>
                    </a:p>
                  </a:txBody>
                  <a:tcPr anchor="ctr">
                    <a:solidFill>
                      <a:srgbClr val="005F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B37"/>
                          </a:solidFill>
                          <a:latin typeface="Calibri"/>
                          <a:ea typeface="Calibri"/>
                          <a:cs typeface="Calibri"/>
                        </a:rPr>
                        <a:t>Home, Details(42), Details(7)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B37"/>
                          </a:solidFill>
                          <a:latin typeface="Calibri"/>
                          <a:ea typeface="Calibri"/>
                          <a:cs typeface="Calibri"/>
                        </a:rPr>
                        <a:t>Home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popUpTo usuwa wpisy ponad wskazanym celem.&#10;inclu">
            <a:extLst>
              <a:ext uri="{FF2B5EF4-FFF2-40B4-BE49-F238E27FC236}">
                <a16:creationId xmlns:a16="http://schemas.microsoft.com/office/drawing/2014/main" id="{F9CB2E0B-A337-0DDB-AF85-C8A382DB847E}"/>
              </a:ext>
            </a:extLst>
          </p:cNvPr>
          <p:cNvSpPr>
            <a:spLocks noGrp="1"/>
          </p:cNvSpPr>
          <p:nvPr/>
        </p:nvSpPr>
        <p:spPr>
          <a:xfrm>
            <a:off x="1333500" y="5886450"/>
            <a:ext cx="7381875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455661"/>
                </a:solidFill>
                <a:latin typeface="Calibri"/>
                <a:ea typeface="Calibri"/>
                <a:cs typeface="Calibri"/>
              </a:defRPr>
            </a:pPr>
            <a:r>
              <a:rPr sz="20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popUpTo</a:t>
            </a:r>
            <a:r>
              <a:rPr sz="20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usuwa</a:t>
            </a:r>
            <a:r>
              <a:rPr sz="20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wpisy</a:t>
            </a:r>
            <a:r>
              <a:rPr sz="20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ponad</a:t>
            </a:r>
            <a:r>
              <a:rPr sz="20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wskazanym</a:t>
            </a:r>
            <a:r>
              <a:rPr sz="20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celem</a:t>
            </a:r>
            <a:r>
              <a:rPr sz="20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455661"/>
                </a:solidFill>
                <a:latin typeface="Calibri"/>
                <a:ea typeface="Calibri"/>
                <a:cs typeface="Calibri"/>
              </a:defRPr>
            </a:pPr>
            <a:r>
              <a:rPr sz="20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inclusive = true </a:t>
            </a:r>
            <a:r>
              <a:rPr sz="20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usuwa</a:t>
            </a:r>
            <a:r>
              <a:rPr sz="20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także</a:t>
            </a:r>
            <a:r>
              <a:rPr sz="20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sam</a:t>
            </a:r>
            <a:r>
              <a:rPr sz="20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wskazany</a:t>
            </a:r>
            <a:r>
              <a:rPr sz="20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 cel.</a:t>
            </a:r>
          </a:p>
        </p:txBody>
      </p:sp>
    </p:spTree>
    <p:extLst>
      <p:ext uri="{BB962C8B-B14F-4D97-AF65-F5344CB8AC3E}">
        <p14:creationId xmlns:p14="http://schemas.microsoft.com/office/powerpoint/2010/main" val="10618928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DD1B5C-9F30-C4F7-235B-FB98F65C2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EB3A1F8-9122-6089-1C30-D25636C19CD2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Menu aplikacji</a:t>
            </a:r>
          </a:p>
        </p:txBody>
      </p:sp>
      <p:sp>
        <p:nvSpPr>
          <p:cNvPr id="5" name="Jeden NavController">
            <a:extLst>
              <a:ext uri="{FF2B5EF4-FFF2-40B4-BE49-F238E27FC236}">
                <a16:creationId xmlns:a16="http://schemas.microsoft.com/office/drawing/2014/main" id="{5FCCFA2E-85C2-B6EE-E77F-E927AF34678C}"/>
              </a:ext>
            </a:extLst>
          </p:cNvPr>
          <p:cNvSpPr>
            <a:spLocks noGrp="1"/>
          </p:cNvSpPr>
          <p:nvPr/>
        </p:nvSpPr>
        <p:spPr>
          <a:xfrm>
            <a:off x="1333500" y="1304925"/>
            <a:ext cx="461962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005F88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005F88"/>
                </a:solidFill>
                <a:latin typeface="Calibri"/>
                <a:ea typeface="Calibri"/>
                <a:cs typeface="Calibri"/>
              </a:rPr>
              <a:t>Jeden NavController</a:t>
            </a:r>
          </a:p>
        </p:txBody>
      </p:sp>
      <p:sp>
        <p:nvSpPr>
          <p:cNvPr id="8" name="Szuflada i dolny pasek korzystają&#10;z tego samego ">
            <a:extLst>
              <a:ext uri="{FF2B5EF4-FFF2-40B4-BE49-F238E27FC236}">
                <a16:creationId xmlns:a16="http://schemas.microsoft.com/office/drawing/2014/main" id="{8A983A0C-0F23-86FC-D84C-D5C890288254}"/>
              </a:ext>
            </a:extLst>
          </p:cNvPr>
          <p:cNvSpPr>
            <a:spLocks noGrp="1"/>
          </p:cNvSpPr>
          <p:nvPr/>
        </p:nvSpPr>
        <p:spPr>
          <a:xfrm>
            <a:off x="1333500" y="1685925"/>
            <a:ext cx="4619625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75" b="0">
                <a:solidFill>
                  <a:srgbClr val="152B37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Szuflada i dolny pasek korzystają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75" b="0">
                <a:solidFill>
                  <a:srgbClr val="152B37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z tego samego grafu.</a:t>
            </a:r>
          </a:p>
        </p:txBody>
      </p:sp>
      <p:sp>
        <p:nvSpPr>
          <p:cNvPr id="11" name="Szuflada">
            <a:extLst>
              <a:ext uri="{FF2B5EF4-FFF2-40B4-BE49-F238E27FC236}">
                <a16:creationId xmlns:a16="http://schemas.microsoft.com/office/drawing/2014/main" id="{C031C2B0-4CC1-4F5B-7E11-7940C32EA61F}"/>
              </a:ext>
            </a:extLst>
          </p:cNvPr>
          <p:cNvSpPr>
            <a:spLocks noGrp="1"/>
          </p:cNvSpPr>
          <p:nvPr/>
        </p:nvSpPr>
        <p:spPr>
          <a:xfrm>
            <a:off x="1333500" y="2733675"/>
            <a:ext cx="461962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005F88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005F88"/>
                </a:solidFill>
                <a:latin typeface="Calibri"/>
                <a:ea typeface="Calibri"/>
                <a:cs typeface="Calibri"/>
              </a:rPr>
              <a:t>Szuflada</a:t>
            </a:r>
          </a:p>
        </p:txBody>
      </p:sp>
      <p:sp>
        <p:nvSpPr>
          <p:cNvPr id="14" name="Ikona menu otwiera panel&#10;z profilem i ustawienia">
            <a:extLst>
              <a:ext uri="{FF2B5EF4-FFF2-40B4-BE49-F238E27FC236}">
                <a16:creationId xmlns:a16="http://schemas.microsoft.com/office/drawing/2014/main" id="{57FE6334-0919-C032-D874-798A2A16F623}"/>
              </a:ext>
            </a:extLst>
          </p:cNvPr>
          <p:cNvSpPr>
            <a:spLocks noGrp="1"/>
          </p:cNvSpPr>
          <p:nvPr/>
        </p:nvSpPr>
        <p:spPr>
          <a:xfrm>
            <a:off x="1333500" y="3114675"/>
            <a:ext cx="4619625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75" b="0">
                <a:solidFill>
                  <a:srgbClr val="152B37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Ikona menu otwiera panel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75" b="0">
                <a:solidFill>
                  <a:srgbClr val="152B37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z profilem i ustawieniami.</a:t>
            </a:r>
          </a:p>
        </p:txBody>
      </p:sp>
      <p:sp>
        <p:nvSpPr>
          <p:cNvPr id="16" name="Dolny pasek">
            <a:extLst>
              <a:ext uri="{FF2B5EF4-FFF2-40B4-BE49-F238E27FC236}">
                <a16:creationId xmlns:a16="http://schemas.microsoft.com/office/drawing/2014/main" id="{6FCD2596-A6FB-F603-EDD4-18962BB45378}"/>
              </a:ext>
            </a:extLst>
          </p:cNvPr>
          <p:cNvSpPr>
            <a:spLocks noGrp="1"/>
          </p:cNvSpPr>
          <p:nvPr/>
        </p:nvSpPr>
        <p:spPr>
          <a:xfrm>
            <a:off x="1333500" y="4162425"/>
            <a:ext cx="461962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005F88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005F88"/>
                </a:solidFill>
                <a:latin typeface="Calibri"/>
                <a:ea typeface="Calibri"/>
                <a:cs typeface="Calibri"/>
              </a:rPr>
              <a:t>Dolny pasek</a:t>
            </a:r>
          </a:p>
        </p:txBody>
      </p:sp>
      <p:sp>
        <p:nvSpPr>
          <p:cNvPr id="18" name="Start i Koszyk przełączają&#10;główne obszary aplika">
            <a:extLst>
              <a:ext uri="{FF2B5EF4-FFF2-40B4-BE49-F238E27FC236}">
                <a16:creationId xmlns:a16="http://schemas.microsoft.com/office/drawing/2014/main" id="{1C62F909-8C65-745C-0CA4-B001D4B22CBE}"/>
              </a:ext>
            </a:extLst>
          </p:cNvPr>
          <p:cNvSpPr>
            <a:spLocks noGrp="1"/>
          </p:cNvSpPr>
          <p:nvPr/>
        </p:nvSpPr>
        <p:spPr>
          <a:xfrm>
            <a:off x="1333500" y="4543425"/>
            <a:ext cx="4619625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75" b="0">
                <a:solidFill>
                  <a:srgbClr val="152B37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Start i Koszyk przełączają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75" b="0">
                <a:solidFill>
                  <a:srgbClr val="152B37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główne obszary aplikacji.</a:t>
            </a:r>
          </a:p>
        </p:txBody>
      </p:sp>
      <p:pic>
        <p:nvPicPr>
          <p:cNvPr id="22" name="Obraz 21">
            <a:extLst>
              <a:ext uri="{FF2B5EF4-FFF2-40B4-BE49-F238E27FC236}">
                <a16:creationId xmlns:a16="http://schemas.microsoft.com/office/drawing/2014/main" id="{AEF679FA-7637-C255-CFA3-ABE57EF6FD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229350" y="1304925"/>
            <a:ext cx="2571750" cy="4572000"/>
          </a:xfrm>
          <a:prstGeom prst="rect">
            <a:avLst/>
          </a:prstGeom>
        </p:spPr>
      </p:pic>
      <p:sp>
        <p:nvSpPr>
          <p:cNvPr id="24" name="Wspólny ekran aplikacji">
            <a:extLst>
              <a:ext uri="{FF2B5EF4-FFF2-40B4-BE49-F238E27FC236}">
                <a16:creationId xmlns:a16="http://schemas.microsoft.com/office/drawing/2014/main" id="{C0FFB6A3-7DDF-8066-2C53-DB3681A359AC}"/>
              </a:ext>
            </a:extLst>
          </p:cNvPr>
          <p:cNvSpPr>
            <a:spLocks noGrp="1"/>
          </p:cNvSpPr>
          <p:nvPr/>
        </p:nvSpPr>
        <p:spPr>
          <a:xfrm>
            <a:off x="6229350" y="6038850"/>
            <a:ext cx="25717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75" b="0">
                <a:solidFill>
                  <a:srgbClr val="455661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Wspólny ekran aplikacji</a:t>
            </a:r>
          </a:p>
        </p:txBody>
      </p:sp>
    </p:spTree>
    <p:extLst>
      <p:ext uri="{BB962C8B-B14F-4D97-AF65-F5344CB8AC3E}">
        <p14:creationId xmlns:p14="http://schemas.microsoft.com/office/powerpoint/2010/main" val="41872245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1FC005-C860-8343-CB12-6F0823AFB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BAB79CC-4B47-1851-1581-F7D9B5AE0586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Stan szuflady</a:t>
            </a:r>
          </a:p>
        </p:txBody>
      </p:sp>
      <p:sp>
        <p:nvSpPr>
          <p:cNvPr id="7" name="Kod Kotlin">
            <a:extLst>
              <a:ext uri="{FF2B5EF4-FFF2-40B4-BE49-F238E27FC236}">
                <a16:creationId xmlns:a16="http://schemas.microsoft.com/office/drawing/2014/main" id="{3B3C579B-C12A-4E4F-8148-A6B6D6E21D4D}"/>
              </a:ext>
            </a:extLst>
          </p:cNvPr>
          <p:cNvSpPr>
            <a:spLocks noGrp="1"/>
          </p:cNvSpPr>
          <p:nvPr/>
        </p:nvSpPr>
        <p:spPr>
          <a:xfrm>
            <a:off x="1333500" y="1323975"/>
            <a:ext cx="4619625" cy="4429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0033B3"/>
                </a:solidFill>
              </a:rPr>
              <a:t>val</a:t>
            </a:r>
            <a:r>
              <a:t> drawerState = rememberDrawerState(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t>    DrawerValue.Closed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t>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0033B3"/>
                </a:solidFill>
              </a:rPr>
              <a:t>val</a:t>
            </a:r>
            <a:r>
              <a:t> scope = rememberCoroutineScope()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t>IconButton(onClick = {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t>    scope.launch {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t>        drawerState.open()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t>    }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t>}) {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t>    MenuIcon()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t>}</a:t>
            </a:r>
          </a:p>
        </p:txBody>
      </p:sp>
      <p:sp>
        <p:nvSpPr>
          <p:cNvPr id="10" name="open() i close() są zawieszające.&#10;Uruchamiamy je">
            <a:extLst>
              <a:ext uri="{FF2B5EF4-FFF2-40B4-BE49-F238E27FC236}">
                <a16:creationId xmlns:a16="http://schemas.microsoft.com/office/drawing/2014/main" id="{5A770691-5C23-2638-66CC-0B1463B6A6C4}"/>
              </a:ext>
            </a:extLst>
          </p:cNvPr>
          <p:cNvSpPr>
            <a:spLocks noGrp="1"/>
          </p:cNvSpPr>
          <p:nvPr/>
        </p:nvSpPr>
        <p:spPr>
          <a:xfrm>
            <a:off x="1333500" y="5781675"/>
            <a:ext cx="464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455661"/>
                </a:solidFill>
                <a:latin typeface="Calibri"/>
                <a:ea typeface="Calibri"/>
                <a:cs typeface="Calibri"/>
              </a:defRPr>
            </a:pPr>
            <a:r>
              <a:rPr sz="20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open() </a:t>
            </a:r>
            <a:r>
              <a:rPr sz="20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i</a:t>
            </a:r>
            <a:r>
              <a:rPr sz="20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 close() </a:t>
            </a:r>
            <a:r>
              <a:rPr sz="20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są</a:t>
            </a:r>
            <a:r>
              <a:rPr sz="20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zawieszające</a:t>
            </a:r>
            <a:r>
              <a:rPr sz="20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455661"/>
                </a:solidFill>
                <a:latin typeface="Calibri"/>
                <a:ea typeface="Calibri"/>
                <a:cs typeface="Calibri"/>
              </a:defRPr>
            </a:pPr>
            <a:r>
              <a:rPr sz="20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Uruchamiamy</a:t>
            </a:r>
            <a:r>
              <a:rPr sz="20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 je w </a:t>
            </a:r>
            <a:r>
              <a:rPr sz="20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scope.launch</a:t>
            </a:r>
            <a:r>
              <a:rPr sz="20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pic>
        <p:nvPicPr>
          <p:cNvPr id="13" name="Obraz 12">
            <a:extLst>
              <a:ext uri="{FF2B5EF4-FFF2-40B4-BE49-F238E27FC236}">
                <a16:creationId xmlns:a16="http://schemas.microsoft.com/office/drawing/2014/main" id="{4C75CE11-6087-90A8-4916-C3014080DC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229350" y="1323975"/>
            <a:ext cx="2571750" cy="4572000"/>
          </a:xfrm>
          <a:prstGeom prst="rect">
            <a:avLst/>
          </a:prstGeom>
        </p:spPr>
      </p:pic>
      <p:sp>
        <p:nvSpPr>
          <p:cNvPr id="17" name="Animacja: otwarcie i wybór Profilu">
            <a:extLst>
              <a:ext uri="{FF2B5EF4-FFF2-40B4-BE49-F238E27FC236}">
                <a16:creationId xmlns:a16="http://schemas.microsoft.com/office/drawing/2014/main" id="{E27A2606-989B-818F-8974-549D67A3D79E}"/>
              </a:ext>
            </a:extLst>
          </p:cNvPr>
          <p:cNvSpPr>
            <a:spLocks noGrp="1"/>
          </p:cNvSpPr>
          <p:nvPr/>
        </p:nvSpPr>
        <p:spPr>
          <a:xfrm>
            <a:off x="6229350" y="6038850"/>
            <a:ext cx="25717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75" b="0">
                <a:solidFill>
                  <a:srgbClr val="455661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Animacja: otwarcie i wybór Profilu</a:t>
            </a:r>
          </a:p>
        </p:txBody>
      </p:sp>
    </p:spTree>
    <p:extLst>
      <p:ext uri="{BB962C8B-B14F-4D97-AF65-F5344CB8AC3E}">
        <p14:creationId xmlns:p14="http://schemas.microsoft.com/office/powerpoint/2010/main" val="40168725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E5E796-BAEA-7159-9F06-31B0E6A26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C547CE6-CFEE-D601-33E7-64BE0D4EA6DE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Kontener szuflady</a:t>
            </a:r>
          </a:p>
        </p:txBody>
      </p:sp>
      <p:sp>
        <p:nvSpPr>
          <p:cNvPr id="4" name="Kod Kotlin">
            <a:extLst>
              <a:ext uri="{FF2B5EF4-FFF2-40B4-BE49-F238E27FC236}">
                <a16:creationId xmlns:a16="http://schemas.microsoft.com/office/drawing/2014/main" id="{C0ED11A0-CEA4-0CFA-3A81-2E29DB6CB120}"/>
              </a:ext>
            </a:extLst>
          </p:cNvPr>
          <p:cNvSpPr>
            <a:spLocks noGrp="1"/>
          </p:cNvSpPr>
          <p:nvPr/>
        </p:nvSpPr>
        <p:spPr>
          <a:xfrm>
            <a:off x="1333500" y="1181100"/>
            <a:ext cx="4619625" cy="4514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98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t>ModalNavigationDrawer(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98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t>    drawerState = drawerState,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98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t>    drawerContent = {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98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t>        ModalDrawerSheet {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98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t>            DrawerItems()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98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t>        }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98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t>    }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98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t>) {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98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t>    Scaffold(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98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t>        topBar = { AppTopBar() },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98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t>        bottomBar = { AppBottomBar() }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98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t>    ) { padding -&gt;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98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t>        AppNavHost(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98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t>            Modifier.padding(padding)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98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t>        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98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t>    }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98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t>}</a:t>
            </a:r>
          </a:p>
        </p:txBody>
      </p:sp>
      <p:pic>
        <p:nvPicPr>
          <p:cNvPr id="9" name="Obraz 8">
            <a:extLst>
              <a:ext uri="{FF2B5EF4-FFF2-40B4-BE49-F238E27FC236}">
                <a16:creationId xmlns:a16="http://schemas.microsoft.com/office/drawing/2014/main" id="{60DD599C-1FA4-7838-A005-82716B1FE0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229350" y="1304925"/>
            <a:ext cx="2571750" cy="4572000"/>
          </a:xfrm>
          <a:prstGeom prst="rect">
            <a:avLst/>
          </a:prstGeom>
        </p:spPr>
      </p:pic>
      <p:sp>
        <p:nvSpPr>
          <p:cNvPr id="12" name="Scaffold: pasek górny, treść i zakładki">
            <a:extLst>
              <a:ext uri="{FF2B5EF4-FFF2-40B4-BE49-F238E27FC236}">
                <a16:creationId xmlns:a16="http://schemas.microsoft.com/office/drawing/2014/main" id="{FF24C9F2-64DA-5832-DC9D-F8FCA4F5004D}"/>
              </a:ext>
            </a:extLst>
          </p:cNvPr>
          <p:cNvSpPr>
            <a:spLocks noGrp="1"/>
          </p:cNvSpPr>
          <p:nvPr/>
        </p:nvSpPr>
        <p:spPr>
          <a:xfrm>
            <a:off x="6229350" y="6038850"/>
            <a:ext cx="25717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75" b="0">
                <a:solidFill>
                  <a:srgbClr val="455661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Scaffold: pasek górny, treść i zakładki</a:t>
            </a:r>
          </a:p>
        </p:txBody>
      </p:sp>
    </p:spTree>
    <p:extLst>
      <p:ext uri="{BB962C8B-B14F-4D97-AF65-F5344CB8AC3E}">
        <p14:creationId xmlns:p14="http://schemas.microsoft.com/office/powerpoint/2010/main" val="2789702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4644D7-37B2-BDC3-8919-9ACCD085D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189C76F-0899-BE7C-B3A3-BFA03C63856A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Aktywna pozycja menu</a:t>
            </a:r>
          </a:p>
        </p:txBody>
      </p:sp>
      <p:sp>
        <p:nvSpPr>
          <p:cNvPr id="5" name="Kod Kotlin">
            <a:extLst>
              <a:ext uri="{FF2B5EF4-FFF2-40B4-BE49-F238E27FC236}">
                <a16:creationId xmlns:a16="http://schemas.microsoft.com/office/drawing/2014/main" id="{DFFA7361-5E9B-DE2E-7848-053E7B76F02B}"/>
              </a:ext>
            </a:extLst>
          </p:cNvPr>
          <p:cNvSpPr>
            <a:spLocks noGrp="1"/>
          </p:cNvSpPr>
          <p:nvPr/>
        </p:nvSpPr>
        <p:spPr>
          <a:xfrm>
            <a:off x="1333500" y="1219200"/>
            <a:ext cx="4619625" cy="4429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35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rPr dirty="0" err="1">
                <a:solidFill>
                  <a:srgbClr val="0033B3"/>
                </a:solidFill>
              </a:rPr>
              <a:t>val</a:t>
            </a:r>
            <a:r>
              <a:rPr dirty="0"/>
              <a:t> </a:t>
            </a:r>
            <a:r>
              <a:rPr dirty="0" err="1"/>
              <a:t>isProfile</a:t>
            </a:r>
            <a:r>
              <a:rPr dirty="0"/>
              <a:t> = current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35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rPr dirty="0"/>
              <a:t>    ?.</a:t>
            </a:r>
            <a:r>
              <a:rPr dirty="0" err="1"/>
              <a:t>hierarchy?.any</a:t>
            </a:r>
            <a:r>
              <a:rPr dirty="0"/>
              <a:t> {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35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rPr dirty="0"/>
              <a:t>        </a:t>
            </a:r>
            <a:r>
              <a:rPr dirty="0" err="1"/>
              <a:t>it.hasRoute</a:t>
            </a:r>
            <a:r>
              <a:rPr dirty="0"/>
              <a:t>&lt;Profile&gt;()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35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rPr dirty="0"/>
              <a:t>    } == </a:t>
            </a:r>
            <a:r>
              <a:rPr dirty="0">
                <a:solidFill>
                  <a:srgbClr val="0033B3"/>
                </a:solidFill>
              </a:rPr>
              <a:t>true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35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endParaRPr dirty="0">
              <a:solidFill>
                <a:srgbClr val="0033B3"/>
              </a:solidFill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1635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rPr dirty="0" err="1"/>
              <a:t>NavigationDrawerItem</a:t>
            </a:r>
            <a:r>
              <a:rPr dirty="0"/>
              <a:t>(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35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rPr dirty="0"/>
              <a:t>    label = { Text(</a:t>
            </a:r>
            <a:r>
              <a:rPr dirty="0">
                <a:solidFill>
                  <a:srgbClr val="067D17"/>
                </a:solidFill>
              </a:rPr>
              <a:t>"</a:t>
            </a:r>
            <a:r>
              <a:rPr dirty="0" err="1">
                <a:solidFill>
                  <a:srgbClr val="067D17"/>
                </a:solidFill>
              </a:rPr>
              <a:t>Profil</a:t>
            </a:r>
            <a:r>
              <a:rPr dirty="0">
                <a:solidFill>
                  <a:srgbClr val="067D17"/>
                </a:solidFill>
              </a:rPr>
              <a:t>"</a:t>
            </a:r>
            <a:r>
              <a:rPr dirty="0"/>
              <a:t>) },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35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rPr dirty="0"/>
              <a:t>    selected = </a:t>
            </a:r>
            <a:r>
              <a:rPr dirty="0" err="1"/>
              <a:t>isProfile</a:t>
            </a:r>
            <a:r>
              <a:rPr dirty="0"/>
              <a:t>,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35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rPr dirty="0"/>
              <a:t>    </a:t>
            </a:r>
            <a:r>
              <a:rPr dirty="0" err="1"/>
              <a:t>onClick</a:t>
            </a:r>
            <a:r>
              <a:rPr dirty="0"/>
              <a:t> = {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35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rPr dirty="0"/>
              <a:t>        </a:t>
            </a:r>
            <a:r>
              <a:rPr dirty="0" err="1"/>
              <a:t>navController</a:t>
            </a:r>
            <a:endParaRPr dirty="0"/>
          </a:p>
          <a:p>
            <a:pPr algn="l">
              <a:spcBef>
                <a:spcPts val="0"/>
              </a:spcBef>
              <a:spcAft>
                <a:spcPts val="0"/>
              </a:spcAft>
              <a:defRPr sz="1635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rPr dirty="0"/>
              <a:t>            .</a:t>
            </a:r>
            <a:r>
              <a:rPr dirty="0" err="1"/>
              <a:t>openTopLevel</a:t>
            </a:r>
            <a:r>
              <a:rPr dirty="0"/>
              <a:t>(Profile)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35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rPr dirty="0"/>
              <a:t>        </a:t>
            </a:r>
            <a:r>
              <a:rPr dirty="0" err="1"/>
              <a:t>scope.launch</a:t>
            </a:r>
            <a:r>
              <a:rPr dirty="0"/>
              <a:t> {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35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rPr dirty="0"/>
              <a:t>            </a:t>
            </a:r>
            <a:r>
              <a:rPr dirty="0" err="1"/>
              <a:t>drawerState.close</a:t>
            </a:r>
            <a:r>
              <a:rPr dirty="0"/>
              <a:t>()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35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rPr dirty="0"/>
              <a:t>        }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35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rPr dirty="0"/>
              <a:t>    }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35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rPr dirty="0"/>
              <a:t>)</a:t>
            </a:r>
          </a:p>
        </p:txBody>
      </p:sp>
      <p:sp>
        <p:nvSpPr>
          <p:cNvPr id="8" name="current pochodzi z aktualnego wpisu&#10;stosu. Zazna">
            <a:extLst>
              <a:ext uri="{FF2B5EF4-FFF2-40B4-BE49-F238E27FC236}">
                <a16:creationId xmlns:a16="http://schemas.microsoft.com/office/drawing/2014/main" id="{206704C8-A6A6-7E41-9723-C2118C8DE5C0}"/>
              </a:ext>
            </a:extLst>
          </p:cNvPr>
          <p:cNvSpPr>
            <a:spLocks noGrp="1"/>
          </p:cNvSpPr>
          <p:nvPr/>
        </p:nvSpPr>
        <p:spPr>
          <a:xfrm>
            <a:off x="1333500" y="5781675"/>
            <a:ext cx="464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455661"/>
                </a:solidFill>
                <a:latin typeface="Calibri"/>
                <a:ea typeface="Calibri"/>
                <a:cs typeface="Calibri"/>
              </a:defRPr>
            </a:pPr>
            <a:r>
              <a:rPr sz="20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current </a:t>
            </a:r>
            <a:r>
              <a:rPr sz="20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pochodzi</a:t>
            </a:r>
            <a:r>
              <a:rPr sz="20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 z </a:t>
            </a:r>
            <a:r>
              <a:rPr sz="20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aktualnego</a:t>
            </a:r>
            <a:r>
              <a:rPr sz="20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wpisu</a:t>
            </a:r>
            <a:endParaRPr sz="2000" b="0" dirty="0">
              <a:solidFill>
                <a:srgbClr val="455661"/>
              </a:solidFill>
              <a:latin typeface="Calibri"/>
              <a:ea typeface="Calibri"/>
              <a:cs typeface="Calibri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455661"/>
                </a:solidFill>
                <a:latin typeface="Calibri"/>
                <a:ea typeface="Calibri"/>
                <a:cs typeface="Calibri"/>
              </a:defRPr>
            </a:pPr>
            <a:r>
              <a:rPr sz="20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stosu</a:t>
            </a:r>
            <a:r>
              <a:rPr sz="20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. </a:t>
            </a:r>
            <a:r>
              <a:rPr sz="20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Zaznaczenie</a:t>
            </a:r>
            <a:r>
              <a:rPr sz="20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odpowiada</a:t>
            </a:r>
            <a:r>
              <a:rPr sz="20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trasie</a:t>
            </a:r>
            <a:r>
              <a:rPr sz="20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pic>
        <p:nvPicPr>
          <p:cNvPr id="11" name="Obraz 10">
            <a:extLst>
              <a:ext uri="{FF2B5EF4-FFF2-40B4-BE49-F238E27FC236}">
                <a16:creationId xmlns:a16="http://schemas.microsoft.com/office/drawing/2014/main" id="{F04BC9F5-A13C-D7DD-A51D-7A1FDBF9B0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229350" y="1304925"/>
            <a:ext cx="2571750" cy="4572000"/>
          </a:xfrm>
          <a:prstGeom prst="rect">
            <a:avLst/>
          </a:prstGeom>
        </p:spPr>
      </p:pic>
      <p:sp>
        <p:nvSpPr>
          <p:cNvPr id="14" name="Profil zaznaczony w szufladzie">
            <a:extLst>
              <a:ext uri="{FF2B5EF4-FFF2-40B4-BE49-F238E27FC236}">
                <a16:creationId xmlns:a16="http://schemas.microsoft.com/office/drawing/2014/main" id="{5586ABF7-8AA6-8C17-9004-811A4008CE46}"/>
              </a:ext>
            </a:extLst>
          </p:cNvPr>
          <p:cNvSpPr>
            <a:spLocks noGrp="1"/>
          </p:cNvSpPr>
          <p:nvPr/>
        </p:nvSpPr>
        <p:spPr>
          <a:xfrm>
            <a:off x="6229350" y="6038850"/>
            <a:ext cx="25717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75" b="0">
                <a:solidFill>
                  <a:srgbClr val="455661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Profil zaznaczony w szufladzie</a:t>
            </a:r>
          </a:p>
        </p:txBody>
      </p:sp>
    </p:spTree>
    <p:extLst>
      <p:ext uri="{BB962C8B-B14F-4D97-AF65-F5344CB8AC3E}">
        <p14:creationId xmlns:p14="http://schemas.microsoft.com/office/powerpoint/2010/main" val="32351552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CB16B6-0AC9-5F0A-CD44-4DECC356C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B6F6E2E-16F0-C528-3A12-E20B7775A909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Dolny pasek nawigacji</a:t>
            </a:r>
          </a:p>
        </p:txBody>
      </p:sp>
      <p:sp>
        <p:nvSpPr>
          <p:cNvPr id="4" name="Kod Kotlin">
            <a:extLst>
              <a:ext uri="{FF2B5EF4-FFF2-40B4-BE49-F238E27FC236}">
                <a16:creationId xmlns:a16="http://schemas.microsoft.com/office/drawing/2014/main" id="{8165644E-58A1-290A-AC85-6D28EFD06930}"/>
              </a:ext>
            </a:extLst>
          </p:cNvPr>
          <p:cNvSpPr>
            <a:spLocks noGrp="1"/>
          </p:cNvSpPr>
          <p:nvPr/>
        </p:nvSpPr>
        <p:spPr>
          <a:xfrm>
            <a:off x="1333500" y="1323975"/>
            <a:ext cx="4619625" cy="4429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65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0033B3"/>
                </a:solidFill>
              </a:rPr>
              <a:t>val</a:t>
            </a:r>
            <a:r>
              <a:t> isCart = current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65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t>    ?.hasRoute&lt;Cart&gt;() == </a:t>
            </a:r>
            <a:r>
              <a:rPr>
                <a:solidFill>
                  <a:srgbClr val="0033B3"/>
                </a:solidFill>
              </a:rPr>
              <a:t>true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65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endParaRPr>
              <a:solidFill>
                <a:srgbClr val="0033B3"/>
              </a:solidFill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1665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t>NavigationBar {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65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t>    NavigationBarItem(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65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t>        selected = isCart,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65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t>        onClick = {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65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t>            navController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65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t>                .openTopLevel(Cart)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65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t>        },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65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t>        icon = { CartIcon() },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65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t>        label = { Text(</a:t>
            </a:r>
            <a:r>
              <a:rPr>
                <a:solidFill>
                  <a:srgbClr val="067D17"/>
                </a:solidFill>
              </a:rPr>
              <a:t>"Koszyk"</a:t>
            </a:r>
            <a:r>
              <a:t>) }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65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t>    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65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t>}</a:t>
            </a:r>
          </a:p>
        </p:txBody>
      </p:sp>
      <p:sp>
        <p:nvSpPr>
          <p:cNvPr id="7" name="Start ma analogiczną pozycję.&#10;CartIcon() wyświet">
            <a:extLst>
              <a:ext uri="{FF2B5EF4-FFF2-40B4-BE49-F238E27FC236}">
                <a16:creationId xmlns:a16="http://schemas.microsoft.com/office/drawing/2014/main" id="{30517831-1D52-B5ED-E1D4-F42321C836D5}"/>
              </a:ext>
            </a:extLst>
          </p:cNvPr>
          <p:cNvSpPr>
            <a:spLocks noGrp="1"/>
          </p:cNvSpPr>
          <p:nvPr/>
        </p:nvSpPr>
        <p:spPr>
          <a:xfrm>
            <a:off x="1333500" y="5781675"/>
            <a:ext cx="464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455661"/>
                </a:solidFill>
                <a:latin typeface="Calibri"/>
                <a:ea typeface="Calibri"/>
                <a:cs typeface="Calibri"/>
              </a:defRPr>
            </a:pPr>
            <a:r>
              <a:rPr sz="20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Start ma </a:t>
            </a:r>
            <a:r>
              <a:rPr sz="20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analogiczną</a:t>
            </a:r>
            <a:r>
              <a:rPr sz="20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pozycję</a:t>
            </a:r>
            <a:r>
              <a:rPr sz="20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455661"/>
                </a:solidFill>
                <a:latin typeface="Calibri"/>
                <a:ea typeface="Calibri"/>
                <a:cs typeface="Calibri"/>
              </a:defRPr>
            </a:pPr>
            <a:r>
              <a:rPr sz="20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CartIcon</a:t>
            </a:r>
            <a:r>
              <a:rPr sz="20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() </a:t>
            </a:r>
            <a:r>
              <a:rPr sz="20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wyświetla</a:t>
            </a:r>
            <a:r>
              <a:rPr sz="20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ikonę</a:t>
            </a:r>
            <a:r>
              <a:rPr sz="20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koszyka</a:t>
            </a:r>
            <a:r>
              <a:rPr sz="20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pic>
        <p:nvPicPr>
          <p:cNvPr id="10" name="Obraz 9">
            <a:extLst>
              <a:ext uri="{FF2B5EF4-FFF2-40B4-BE49-F238E27FC236}">
                <a16:creationId xmlns:a16="http://schemas.microsoft.com/office/drawing/2014/main" id="{7A5C36C1-E3A5-E902-3B16-DCCD4E6610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229350" y="1304925"/>
            <a:ext cx="2571750" cy="4572000"/>
          </a:xfrm>
          <a:prstGeom prst="rect">
            <a:avLst/>
          </a:prstGeom>
        </p:spPr>
      </p:pic>
      <p:sp>
        <p:nvSpPr>
          <p:cNvPr id="13" name="Koszyk jako aktywna zakładka">
            <a:extLst>
              <a:ext uri="{FF2B5EF4-FFF2-40B4-BE49-F238E27FC236}">
                <a16:creationId xmlns:a16="http://schemas.microsoft.com/office/drawing/2014/main" id="{7C686CA4-E15F-CB9D-E3DE-7F372466091E}"/>
              </a:ext>
            </a:extLst>
          </p:cNvPr>
          <p:cNvSpPr>
            <a:spLocks noGrp="1"/>
          </p:cNvSpPr>
          <p:nvPr/>
        </p:nvSpPr>
        <p:spPr>
          <a:xfrm>
            <a:off x="6229350" y="6038850"/>
            <a:ext cx="25717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75" b="0">
                <a:solidFill>
                  <a:srgbClr val="455661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Koszyk jako aktywna zakładka</a:t>
            </a:r>
          </a:p>
        </p:txBody>
      </p:sp>
    </p:spTree>
    <p:extLst>
      <p:ext uri="{BB962C8B-B14F-4D97-AF65-F5344CB8AC3E}">
        <p14:creationId xmlns:p14="http://schemas.microsoft.com/office/powerpoint/2010/main" val="36790496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99AC19-F824-EAFA-2B63-DAA46A32D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0406D2A-C3E8-3832-721F-33214D37CCCF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Przełączanie zakładek</a:t>
            </a:r>
          </a:p>
        </p:txBody>
      </p:sp>
      <p:sp>
        <p:nvSpPr>
          <p:cNvPr id="5" name="Kod Kotlin">
            <a:extLst>
              <a:ext uri="{FF2B5EF4-FFF2-40B4-BE49-F238E27FC236}">
                <a16:creationId xmlns:a16="http://schemas.microsoft.com/office/drawing/2014/main" id="{DAE9F9C4-4F8D-A60D-AD5E-5EBC08B7EFD0}"/>
              </a:ext>
            </a:extLst>
          </p:cNvPr>
          <p:cNvSpPr>
            <a:spLocks noGrp="1"/>
          </p:cNvSpPr>
          <p:nvPr/>
        </p:nvSpPr>
        <p:spPr>
          <a:xfrm>
            <a:off x="1333500" y="1323975"/>
            <a:ext cx="4619625" cy="4429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35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0033B3"/>
                </a:solidFill>
              </a:rPr>
              <a:t>inline</a:t>
            </a:r>
            <a:r>
              <a:t> </a:t>
            </a:r>
            <a:r>
              <a:rPr>
                <a:solidFill>
                  <a:srgbClr val="0033B3"/>
                </a:solidFill>
              </a:rPr>
              <a:t>fun</a:t>
            </a:r>
            <a:r>
              <a:t> &lt;</a:t>
            </a:r>
            <a:r>
              <a:rPr>
                <a:solidFill>
                  <a:srgbClr val="0033B3"/>
                </a:solidFill>
              </a:rPr>
              <a:t>reified</a:t>
            </a:r>
            <a:r>
              <a:t> T : Any&gt;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35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t>NavController.openTopLevel(route: T) {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35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t>    </a:t>
            </a:r>
            <a:r>
              <a:rPr>
                <a:solidFill>
                  <a:srgbClr val="0033B3"/>
                </a:solidFill>
              </a:rPr>
              <a:t>val</a:t>
            </a:r>
            <a:r>
              <a:t> start = graph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35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t>        .findStartDestination().id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35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t>    navigate(route) {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35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t>        popUpTo(start) {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35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t>            saveState = </a:t>
            </a:r>
            <a:r>
              <a:rPr>
                <a:solidFill>
                  <a:srgbClr val="0033B3"/>
                </a:solidFill>
              </a:rPr>
              <a:t>true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35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t>        }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35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t>        launchSingleTop = </a:t>
            </a:r>
            <a:r>
              <a:rPr>
                <a:solidFill>
                  <a:srgbClr val="0033B3"/>
                </a:solidFill>
              </a:rPr>
              <a:t>true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35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t>        restoreState = </a:t>
            </a:r>
            <a:r>
              <a:rPr>
                <a:solidFill>
                  <a:srgbClr val="0033B3"/>
                </a:solidFill>
              </a:rPr>
              <a:t>true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35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t>    }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35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t>}</a:t>
            </a:r>
          </a:p>
        </p:txBody>
      </p:sp>
      <p:sp>
        <p:nvSpPr>
          <p:cNvPr id="8" name="saveState i restoreState: stan zakładek.&#10;launchS">
            <a:extLst>
              <a:ext uri="{FF2B5EF4-FFF2-40B4-BE49-F238E27FC236}">
                <a16:creationId xmlns:a16="http://schemas.microsoft.com/office/drawing/2014/main" id="{FE638DE8-B973-F592-5030-839AE72F5AEC}"/>
              </a:ext>
            </a:extLst>
          </p:cNvPr>
          <p:cNvSpPr>
            <a:spLocks noGrp="1"/>
          </p:cNvSpPr>
          <p:nvPr/>
        </p:nvSpPr>
        <p:spPr>
          <a:xfrm>
            <a:off x="1333500" y="5591175"/>
            <a:ext cx="464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455661"/>
                </a:solidFill>
                <a:latin typeface="Calibri"/>
                <a:ea typeface="Calibri"/>
                <a:cs typeface="Calibri"/>
              </a:defRPr>
            </a:pPr>
            <a:r>
              <a:rPr sz="20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saveState</a:t>
            </a:r>
            <a:r>
              <a:rPr sz="20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i</a:t>
            </a:r>
            <a:r>
              <a:rPr sz="20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restoreState</a:t>
            </a:r>
            <a:r>
              <a:rPr sz="20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: stan </a:t>
            </a:r>
            <a:r>
              <a:rPr sz="20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zakładek</a:t>
            </a:r>
            <a:r>
              <a:rPr sz="20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455661"/>
                </a:solidFill>
                <a:latin typeface="Calibri"/>
                <a:ea typeface="Calibri"/>
                <a:cs typeface="Calibri"/>
              </a:defRPr>
            </a:pPr>
            <a:r>
              <a:rPr sz="20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launchSingleTop</a:t>
            </a:r>
            <a:r>
              <a:rPr sz="20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: bez </a:t>
            </a:r>
            <a:r>
              <a:rPr sz="20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nowej</a:t>
            </a:r>
            <a:r>
              <a:rPr sz="20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kopii</a:t>
            </a:r>
            <a:r>
              <a:rPr sz="20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celu</a:t>
            </a:r>
            <a:r>
              <a:rPr sz="20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,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455661"/>
                </a:solidFill>
                <a:latin typeface="Calibri"/>
                <a:ea typeface="Calibri"/>
                <a:cs typeface="Calibri"/>
              </a:defRPr>
            </a:pPr>
            <a:r>
              <a:rPr sz="20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gdy</a:t>
            </a:r>
            <a:r>
              <a:rPr sz="20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 jest </a:t>
            </a:r>
            <a:r>
              <a:rPr sz="20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już</a:t>
            </a:r>
            <a:r>
              <a:rPr sz="20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na</a:t>
            </a:r>
            <a:r>
              <a:rPr sz="20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szczycie</a:t>
            </a:r>
            <a:r>
              <a:rPr sz="20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stosu</a:t>
            </a:r>
            <a:r>
              <a:rPr sz="20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pic>
        <p:nvPicPr>
          <p:cNvPr id="11" name="Obraz 10">
            <a:extLst>
              <a:ext uri="{FF2B5EF4-FFF2-40B4-BE49-F238E27FC236}">
                <a16:creationId xmlns:a16="http://schemas.microsoft.com/office/drawing/2014/main" id="{9BA1D959-9CA2-8747-7E04-21D1913FE6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229350" y="1304925"/>
            <a:ext cx="2571750" cy="4572000"/>
          </a:xfrm>
          <a:prstGeom prst="rect">
            <a:avLst/>
          </a:prstGeom>
        </p:spPr>
      </p:pic>
      <p:sp>
        <p:nvSpPr>
          <p:cNvPr id="14" name="Powrót do zakładki Start">
            <a:extLst>
              <a:ext uri="{FF2B5EF4-FFF2-40B4-BE49-F238E27FC236}">
                <a16:creationId xmlns:a16="http://schemas.microsoft.com/office/drawing/2014/main" id="{47FE3644-A92C-4DC5-F571-7750F4C95E3C}"/>
              </a:ext>
            </a:extLst>
          </p:cNvPr>
          <p:cNvSpPr>
            <a:spLocks noGrp="1"/>
          </p:cNvSpPr>
          <p:nvPr/>
        </p:nvSpPr>
        <p:spPr>
          <a:xfrm>
            <a:off x="6229350" y="6038850"/>
            <a:ext cx="25717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75" b="0">
                <a:solidFill>
                  <a:srgbClr val="455661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Powrót do zakładki Start</a:t>
            </a:r>
          </a:p>
        </p:txBody>
      </p:sp>
    </p:spTree>
    <p:extLst>
      <p:ext uri="{BB962C8B-B14F-4D97-AF65-F5344CB8AC3E}">
        <p14:creationId xmlns:p14="http://schemas.microsoft.com/office/powerpoint/2010/main" val="30653670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716975-D0A1-F29B-C18E-90CCF8960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F656DB5-336B-9BE6-A234-940944BA0ED2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Graf procesu zakupu</a:t>
            </a:r>
          </a:p>
        </p:txBody>
      </p:sp>
      <p:sp>
        <p:nvSpPr>
          <p:cNvPr id="7" name="Kod Kotlin">
            <a:extLst>
              <a:ext uri="{FF2B5EF4-FFF2-40B4-BE49-F238E27FC236}">
                <a16:creationId xmlns:a16="http://schemas.microsoft.com/office/drawing/2014/main" id="{1DC64275-E297-7B4F-941F-7F82AEF1F21E}"/>
              </a:ext>
            </a:extLst>
          </p:cNvPr>
          <p:cNvSpPr>
            <a:spLocks noGrp="1"/>
          </p:cNvSpPr>
          <p:nvPr/>
        </p:nvSpPr>
        <p:spPr>
          <a:xfrm>
            <a:off x="1333500" y="1143000"/>
            <a:ext cx="4619625" cy="4429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5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9E880D"/>
                </a:solidFill>
              </a:rPr>
              <a:t>@Serializable</a:t>
            </a:r>
            <a:r>
              <a:t> </a:t>
            </a:r>
            <a:r>
              <a:rPr>
                <a:solidFill>
                  <a:srgbClr val="0033B3"/>
                </a:solidFill>
              </a:rPr>
              <a:t>data</a:t>
            </a:r>
            <a:r>
              <a:t> </a:t>
            </a:r>
            <a:r>
              <a:rPr>
                <a:solidFill>
                  <a:srgbClr val="0033B3"/>
                </a:solidFill>
              </a:rPr>
              <a:t>object</a:t>
            </a:r>
            <a:r>
              <a:t> Checkout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5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9E880D"/>
                </a:solidFill>
              </a:rPr>
              <a:t>@Serializable</a:t>
            </a:r>
            <a:r>
              <a:t> </a:t>
            </a:r>
            <a:r>
              <a:rPr>
                <a:solidFill>
                  <a:srgbClr val="0033B3"/>
                </a:solidFill>
              </a:rPr>
              <a:t>data</a:t>
            </a:r>
            <a:r>
              <a:t> </a:t>
            </a:r>
            <a:r>
              <a:rPr>
                <a:solidFill>
                  <a:srgbClr val="0033B3"/>
                </a:solidFill>
              </a:rPr>
              <a:t>object</a:t>
            </a:r>
            <a:r>
              <a:t> Address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5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9E880D"/>
                </a:solidFill>
              </a:rPr>
              <a:t>@Serializable</a:t>
            </a:r>
            <a:r>
              <a:t> </a:t>
            </a:r>
            <a:r>
              <a:rPr>
                <a:solidFill>
                  <a:srgbClr val="0033B3"/>
                </a:solidFill>
              </a:rPr>
              <a:t>data</a:t>
            </a:r>
            <a:r>
              <a:t> </a:t>
            </a:r>
            <a:r>
              <a:rPr>
                <a:solidFill>
                  <a:srgbClr val="0033B3"/>
                </a:solidFill>
              </a:rPr>
              <a:t>object</a:t>
            </a:r>
            <a:r>
              <a:t> Payment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5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9E880D"/>
                </a:solidFill>
              </a:rPr>
              <a:t>@Serializable</a:t>
            </a:r>
            <a:r>
              <a:t> </a:t>
            </a:r>
            <a:r>
              <a:rPr>
                <a:solidFill>
                  <a:srgbClr val="0033B3"/>
                </a:solidFill>
              </a:rPr>
              <a:t>data</a:t>
            </a:r>
            <a:r>
              <a:t> </a:t>
            </a:r>
            <a:r>
              <a:rPr>
                <a:solidFill>
                  <a:srgbClr val="0033B3"/>
                </a:solidFill>
              </a:rPr>
              <a:t>object</a:t>
            </a:r>
            <a:r>
              <a:t> Summary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5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1605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t>navigation&lt;Checkout&gt;(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5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t>    startDestination = Address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5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t>) {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5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t>    composable&lt;Address&gt; {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5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t>        AddressScreen()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5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t>    }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5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t>    composable&lt;Payment&gt; {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5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t>        PaymentScreen()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5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t>    }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5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t>    composable&lt;Summary&gt; {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5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t>        SummaryScreen()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5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t>    }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5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t>}</a:t>
            </a:r>
          </a:p>
        </p:txBody>
      </p:sp>
      <p:sp>
        <p:nvSpPr>
          <p:cNvPr id="10" name="Adres, płatność i podsumowanie&#10;należą do jednego">
            <a:extLst>
              <a:ext uri="{FF2B5EF4-FFF2-40B4-BE49-F238E27FC236}">
                <a16:creationId xmlns:a16="http://schemas.microsoft.com/office/drawing/2014/main" id="{2FC54B83-BF39-583A-F613-707B2E244397}"/>
              </a:ext>
            </a:extLst>
          </p:cNvPr>
          <p:cNvSpPr>
            <a:spLocks noGrp="1"/>
          </p:cNvSpPr>
          <p:nvPr/>
        </p:nvSpPr>
        <p:spPr>
          <a:xfrm>
            <a:off x="1333500" y="5838825"/>
            <a:ext cx="464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455661"/>
                </a:solidFill>
                <a:latin typeface="Calibri"/>
                <a:ea typeface="Calibri"/>
                <a:cs typeface="Calibri"/>
              </a:defRPr>
            </a:pPr>
            <a:r>
              <a:rPr sz="20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Adres, </a:t>
            </a:r>
            <a:r>
              <a:rPr sz="20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płatność</a:t>
            </a:r>
            <a:r>
              <a:rPr sz="20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i</a:t>
            </a:r>
            <a:r>
              <a:rPr sz="20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podsumowanie</a:t>
            </a:r>
            <a:endParaRPr sz="2000" b="0" dirty="0">
              <a:solidFill>
                <a:srgbClr val="455661"/>
              </a:solidFill>
              <a:latin typeface="Calibri"/>
              <a:ea typeface="Calibri"/>
              <a:cs typeface="Calibri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455661"/>
                </a:solidFill>
                <a:latin typeface="Calibri"/>
                <a:ea typeface="Calibri"/>
                <a:cs typeface="Calibri"/>
              </a:defRPr>
            </a:pPr>
            <a:r>
              <a:rPr sz="20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należą</a:t>
            </a:r>
            <a:r>
              <a:rPr sz="20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 do </a:t>
            </a:r>
            <a:r>
              <a:rPr sz="20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jednego</a:t>
            </a:r>
            <a:r>
              <a:rPr sz="20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grafu</a:t>
            </a:r>
            <a:r>
              <a:rPr sz="20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 Checkout.</a:t>
            </a:r>
          </a:p>
        </p:txBody>
      </p:sp>
      <p:pic>
        <p:nvPicPr>
          <p:cNvPr id="13" name="Obraz 12">
            <a:extLst>
              <a:ext uri="{FF2B5EF4-FFF2-40B4-BE49-F238E27FC236}">
                <a16:creationId xmlns:a16="http://schemas.microsoft.com/office/drawing/2014/main" id="{164602B5-B7D2-1EA2-18A2-9956A8C541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229350" y="1304925"/>
            <a:ext cx="2571750" cy="4572000"/>
          </a:xfrm>
          <a:prstGeom prst="rect">
            <a:avLst/>
          </a:prstGeom>
        </p:spPr>
      </p:pic>
      <p:sp>
        <p:nvSpPr>
          <p:cNvPr id="16" name="Checkout zaczyna się od adresu">
            <a:extLst>
              <a:ext uri="{FF2B5EF4-FFF2-40B4-BE49-F238E27FC236}">
                <a16:creationId xmlns:a16="http://schemas.microsoft.com/office/drawing/2014/main" id="{44D99000-5B52-BA5D-1F68-C63BF4AB56DB}"/>
              </a:ext>
            </a:extLst>
          </p:cNvPr>
          <p:cNvSpPr>
            <a:spLocks noGrp="1"/>
          </p:cNvSpPr>
          <p:nvPr/>
        </p:nvSpPr>
        <p:spPr>
          <a:xfrm>
            <a:off x="6229350" y="6038850"/>
            <a:ext cx="25717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75" b="0">
                <a:solidFill>
                  <a:srgbClr val="455661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Checkout zaczyna się od adresu</a:t>
            </a:r>
          </a:p>
        </p:txBody>
      </p:sp>
    </p:spTree>
    <p:extLst>
      <p:ext uri="{BB962C8B-B14F-4D97-AF65-F5344CB8AC3E}">
        <p14:creationId xmlns:p14="http://schemas.microsoft.com/office/powerpoint/2010/main" val="2533474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240192-81F2-C3E5-88A7-0EAC17A3A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9A9718B-5979-688D-4F81-496296938913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Graf procesu zakupu</a:t>
            </a:r>
          </a:p>
        </p:txBody>
      </p:sp>
      <p:sp>
        <p:nvSpPr>
          <p:cNvPr id="4" name="Wejście z koszyka">
            <a:extLst>
              <a:ext uri="{FF2B5EF4-FFF2-40B4-BE49-F238E27FC236}">
                <a16:creationId xmlns:a16="http://schemas.microsoft.com/office/drawing/2014/main" id="{088EEA29-E9A3-57D3-47E7-77088447696D}"/>
              </a:ext>
            </a:extLst>
          </p:cNvPr>
          <p:cNvSpPr>
            <a:spLocks noGrp="1"/>
          </p:cNvSpPr>
          <p:nvPr/>
        </p:nvSpPr>
        <p:spPr>
          <a:xfrm>
            <a:off x="1333500" y="1333500"/>
            <a:ext cx="4572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25" b="1">
                <a:solidFill>
                  <a:srgbClr val="005F88"/>
                </a:solidFill>
                <a:latin typeface="Calibri"/>
                <a:ea typeface="Calibri"/>
                <a:cs typeface="Calibri"/>
              </a:defRPr>
            </a:pPr>
            <a:r>
              <a:rPr sz="2800" b="1" dirty="0" err="1">
                <a:solidFill>
                  <a:srgbClr val="005F88"/>
                </a:solidFill>
                <a:latin typeface="Calibri"/>
                <a:ea typeface="Calibri"/>
                <a:cs typeface="Calibri"/>
              </a:rPr>
              <a:t>Wejście</a:t>
            </a:r>
            <a:r>
              <a:rPr sz="2800" b="1" dirty="0">
                <a:solidFill>
                  <a:srgbClr val="005F88"/>
                </a:solidFill>
                <a:latin typeface="Calibri"/>
                <a:ea typeface="Calibri"/>
                <a:cs typeface="Calibri"/>
              </a:rPr>
              <a:t> z </a:t>
            </a:r>
            <a:r>
              <a:rPr sz="2800" b="1" dirty="0" err="1">
                <a:solidFill>
                  <a:srgbClr val="005F88"/>
                </a:solidFill>
                <a:latin typeface="Calibri"/>
                <a:ea typeface="Calibri"/>
                <a:cs typeface="Calibri"/>
              </a:rPr>
              <a:t>koszyka</a:t>
            </a:r>
            <a:endParaRPr sz="2800" b="1" dirty="0">
              <a:solidFill>
                <a:srgbClr val="005F88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Kod Kotlin">
            <a:extLst>
              <a:ext uri="{FF2B5EF4-FFF2-40B4-BE49-F238E27FC236}">
                <a16:creationId xmlns:a16="http://schemas.microsoft.com/office/drawing/2014/main" id="{4A07193F-9378-0C41-88F6-AA2AA36F57B9}"/>
              </a:ext>
            </a:extLst>
          </p:cNvPr>
          <p:cNvSpPr>
            <a:spLocks noGrp="1"/>
          </p:cNvSpPr>
          <p:nvPr/>
        </p:nvSpPr>
        <p:spPr>
          <a:xfrm>
            <a:off x="1333500" y="1924050"/>
            <a:ext cx="4619625" cy="666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rPr dirty="0" err="1"/>
              <a:t>navController.navigate</a:t>
            </a:r>
            <a:r>
              <a:rPr dirty="0"/>
              <a:t>(Checkout)</a:t>
            </a:r>
          </a:p>
        </p:txBody>
      </p:sp>
      <p:sp>
        <p:nvSpPr>
          <p:cNvPr id="9" name="Zakończenie zamówienia">
            <a:extLst>
              <a:ext uri="{FF2B5EF4-FFF2-40B4-BE49-F238E27FC236}">
                <a16:creationId xmlns:a16="http://schemas.microsoft.com/office/drawing/2014/main" id="{C6240265-BFF8-73E2-9B48-07A30A364A4B}"/>
              </a:ext>
            </a:extLst>
          </p:cNvPr>
          <p:cNvSpPr>
            <a:spLocks noGrp="1"/>
          </p:cNvSpPr>
          <p:nvPr/>
        </p:nvSpPr>
        <p:spPr>
          <a:xfrm>
            <a:off x="1333500" y="3048000"/>
            <a:ext cx="4572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25" b="1">
                <a:solidFill>
                  <a:srgbClr val="005F88"/>
                </a:solidFill>
                <a:latin typeface="Calibri"/>
                <a:ea typeface="Calibri"/>
                <a:cs typeface="Calibri"/>
              </a:defRPr>
            </a:pPr>
            <a:r>
              <a:rPr sz="2800" b="1" dirty="0" err="1">
                <a:solidFill>
                  <a:srgbClr val="005F88"/>
                </a:solidFill>
                <a:latin typeface="Calibri"/>
                <a:ea typeface="Calibri"/>
                <a:cs typeface="Calibri"/>
              </a:rPr>
              <a:t>Zakończenie</a:t>
            </a:r>
            <a:r>
              <a:rPr sz="2800" b="1" dirty="0">
                <a:solidFill>
                  <a:srgbClr val="005F8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800" b="1" dirty="0" err="1">
                <a:solidFill>
                  <a:srgbClr val="005F88"/>
                </a:solidFill>
                <a:latin typeface="Calibri"/>
                <a:ea typeface="Calibri"/>
                <a:cs typeface="Calibri"/>
              </a:rPr>
              <a:t>zamówienia</a:t>
            </a:r>
            <a:endParaRPr sz="2800" b="1" dirty="0">
              <a:solidFill>
                <a:srgbClr val="005F88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" name="Kod Kotlin">
            <a:extLst>
              <a:ext uri="{FF2B5EF4-FFF2-40B4-BE49-F238E27FC236}">
                <a16:creationId xmlns:a16="http://schemas.microsoft.com/office/drawing/2014/main" id="{06BC384F-D2BB-7125-A4F5-AD9A9C683F5F}"/>
              </a:ext>
            </a:extLst>
          </p:cNvPr>
          <p:cNvSpPr>
            <a:spLocks noGrp="1"/>
          </p:cNvSpPr>
          <p:nvPr/>
        </p:nvSpPr>
        <p:spPr>
          <a:xfrm>
            <a:off x="1333500" y="3619500"/>
            <a:ext cx="4619625" cy="1866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rPr dirty="0" err="1"/>
              <a:t>navController.navigate</a:t>
            </a:r>
            <a:r>
              <a:rPr dirty="0"/>
              <a:t>(Home) {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rPr dirty="0"/>
              <a:t>    </a:t>
            </a:r>
            <a:r>
              <a:rPr dirty="0" err="1"/>
              <a:t>popUpTo</a:t>
            </a:r>
            <a:r>
              <a:rPr dirty="0"/>
              <a:t>&lt;Checkout&gt; {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rPr dirty="0"/>
              <a:t>        inclusive = </a:t>
            </a:r>
            <a:r>
              <a:rPr dirty="0">
                <a:solidFill>
                  <a:srgbClr val="0033B3"/>
                </a:solidFill>
              </a:rPr>
              <a:t>true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rPr dirty="0"/>
              <a:t>    }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rPr dirty="0"/>
              <a:t>    </a:t>
            </a:r>
            <a:r>
              <a:rPr dirty="0" err="1"/>
              <a:t>launchSingleTop</a:t>
            </a:r>
            <a:r>
              <a:rPr dirty="0"/>
              <a:t> = </a:t>
            </a:r>
            <a:r>
              <a:rPr dirty="0">
                <a:solidFill>
                  <a:srgbClr val="0033B3"/>
                </a:solidFill>
              </a:rPr>
              <a:t>true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rPr dirty="0"/>
              <a:t>}</a:t>
            </a:r>
          </a:p>
        </p:txBody>
      </p:sp>
      <p:sp>
        <p:nvSpPr>
          <p:cNvPr id="15" name="Wstecz nie otworzy już kroków zakupu.&#10;Wcześniejs">
            <a:extLst>
              <a:ext uri="{FF2B5EF4-FFF2-40B4-BE49-F238E27FC236}">
                <a16:creationId xmlns:a16="http://schemas.microsoft.com/office/drawing/2014/main" id="{91C7B362-C332-FF50-E5B6-8B95D18CECBF}"/>
              </a:ext>
            </a:extLst>
          </p:cNvPr>
          <p:cNvSpPr>
            <a:spLocks noGrp="1"/>
          </p:cNvSpPr>
          <p:nvPr/>
        </p:nvSpPr>
        <p:spPr>
          <a:xfrm>
            <a:off x="1333500" y="5781675"/>
            <a:ext cx="464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455661"/>
                </a:solidFill>
                <a:latin typeface="Calibri"/>
                <a:ea typeface="Calibri"/>
                <a:cs typeface="Calibri"/>
              </a:defRPr>
            </a:pPr>
            <a:r>
              <a:rPr sz="20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Wstecz</a:t>
            </a:r>
            <a:r>
              <a:rPr sz="20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nie</a:t>
            </a:r>
            <a:r>
              <a:rPr sz="20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otworzy</a:t>
            </a:r>
            <a:r>
              <a:rPr sz="20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już</a:t>
            </a:r>
            <a:r>
              <a:rPr sz="20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kroków</a:t>
            </a:r>
            <a:r>
              <a:rPr sz="20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zakupu</a:t>
            </a:r>
            <a:r>
              <a:rPr sz="20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455661"/>
                </a:solidFill>
                <a:latin typeface="Calibri"/>
                <a:ea typeface="Calibri"/>
                <a:cs typeface="Calibri"/>
              </a:defRPr>
            </a:pPr>
            <a:r>
              <a:rPr sz="20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Wcześniejsza</a:t>
            </a:r>
            <a:r>
              <a:rPr sz="20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historia</a:t>
            </a:r>
            <a:r>
              <a:rPr sz="20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może</a:t>
            </a:r>
            <a:r>
              <a:rPr sz="20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pozostać</a:t>
            </a:r>
            <a:r>
              <a:rPr sz="20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pic>
        <p:nvPicPr>
          <p:cNvPr id="18" name="Obraz 17">
            <a:extLst>
              <a:ext uri="{FF2B5EF4-FFF2-40B4-BE49-F238E27FC236}">
                <a16:creationId xmlns:a16="http://schemas.microsoft.com/office/drawing/2014/main" id="{4C32FB87-C84E-901F-F168-39FF655EE7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229350" y="1304925"/>
            <a:ext cx="2571750" cy="4572000"/>
          </a:xfrm>
          <a:prstGeom prst="rect">
            <a:avLst/>
          </a:prstGeom>
        </p:spPr>
      </p:pic>
      <p:sp>
        <p:nvSpPr>
          <p:cNvPr id="20" name="Po potwierdzeniu wraca ekran Start">
            <a:extLst>
              <a:ext uri="{FF2B5EF4-FFF2-40B4-BE49-F238E27FC236}">
                <a16:creationId xmlns:a16="http://schemas.microsoft.com/office/drawing/2014/main" id="{383EBACE-15E5-2CE0-C738-68D5012AB964}"/>
              </a:ext>
            </a:extLst>
          </p:cNvPr>
          <p:cNvSpPr>
            <a:spLocks noGrp="1"/>
          </p:cNvSpPr>
          <p:nvPr/>
        </p:nvSpPr>
        <p:spPr>
          <a:xfrm>
            <a:off x="6229350" y="6038850"/>
            <a:ext cx="25717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75" b="0">
                <a:solidFill>
                  <a:srgbClr val="455661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Po potwierdzeniu wraca ekran Start</a:t>
            </a:r>
          </a:p>
        </p:txBody>
      </p:sp>
    </p:spTree>
    <p:extLst>
      <p:ext uri="{BB962C8B-B14F-4D97-AF65-F5344CB8AC3E}">
        <p14:creationId xmlns:p14="http://schemas.microsoft.com/office/powerpoint/2010/main" val="4096816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FB5EC4-803E-DDED-D00B-817E2E86C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3F6746F-503A-00AA-5FFB-58C84902DB0D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Menu poza procesem zakupu</a:t>
            </a:r>
          </a:p>
        </p:txBody>
      </p:sp>
      <p:sp>
        <p:nvSpPr>
          <p:cNvPr id="5" name="Kod Kotlin">
            <a:extLst>
              <a:ext uri="{FF2B5EF4-FFF2-40B4-BE49-F238E27FC236}">
                <a16:creationId xmlns:a16="http://schemas.microsoft.com/office/drawing/2014/main" id="{24A1C49A-F7FC-7216-CF36-3C32CA647FD9}"/>
              </a:ext>
            </a:extLst>
          </p:cNvPr>
          <p:cNvSpPr>
            <a:spLocks noGrp="1"/>
          </p:cNvSpPr>
          <p:nvPr/>
        </p:nvSpPr>
        <p:spPr>
          <a:xfrm>
            <a:off x="1333500" y="1266825"/>
            <a:ext cx="4619625" cy="4429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90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0033B3"/>
                </a:solidFill>
              </a:rPr>
              <a:t>val</a:t>
            </a:r>
            <a:r>
              <a:t> inCheckout = current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90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t>    ?.hierarchy?.any {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90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t>        it.hasRoute&lt;Checkout&gt;()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90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t>    } == </a:t>
            </a:r>
            <a:r>
              <a:rPr>
                <a:solidFill>
                  <a:srgbClr val="0033B3"/>
                </a:solidFill>
              </a:rPr>
              <a:t>true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90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endParaRPr>
              <a:solidFill>
                <a:srgbClr val="0033B3"/>
              </a:solidFill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1590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t>LaunchedEffect(inCheckout) {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90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t>    </a:t>
            </a:r>
            <a:r>
              <a:rPr>
                <a:solidFill>
                  <a:srgbClr val="0033B3"/>
                </a:solidFill>
              </a:rPr>
              <a:t>if</a:t>
            </a:r>
            <a:r>
              <a:t> (inCheckout) drawerState.close()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90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t>}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90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1590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777777"/>
                </a:solidFill>
              </a:rPr>
              <a:t>// ModalNavigationDrawer: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90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t>gesturesEnabled = !inCheckout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90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1590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777777"/>
                </a:solidFill>
              </a:rPr>
              <a:t>// Scaffold: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90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t>bottomBar = {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90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t>    </a:t>
            </a:r>
            <a:r>
              <a:rPr>
                <a:solidFill>
                  <a:srgbClr val="0033B3"/>
                </a:solidFill>
              </a:rPr>
              <a:t>if</a:t>
            </a:r>
            <a:r>
              <a:t> (!inCheckout) AppBottomBar()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90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t>}</a:t>
            </a:r>
          </a:p>
        </p:txBody>
      </p:sp>
      <p:pic>
        <p:nvPicPr>
          <p:cNvPr id="11" name="Obraz 10">
            <a:extLst>
              <a:ext uri="{FF2B5EF4-FFF2-40B4-BE49-F238E27FC236}">
                <a16:creationId xmlns:a16="http://schemas.microsoft.com/office/drawing/2014/main" id="{8A932555-CB20-36F7-AC95-6EF758D7EA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229350" y="1304925"/>
            <a:ext cx="2571750" cy="4572000"/>
          </a:xfrm>
          <a:prstGeom prst="rect">
            <a:avLst/>
          </a:prstGeom>
        </p:spPr>
      </p:pic>
      <p:sp>
        <p:nvSpPr>
          <p:cNvPr id="14" name="Płatność bez szuflady i dolnego paska">
            <a:extLst>
              <a:ext uri="{FF2B5EF4-FFF2-40B4-BE49-F238E27FC236}">
                <a16:creationId xmlns:a16="http://schemas.microsoft.com/office/drawing/2014/main" id="{FF76D60C-91C3-3824-8027-81D0EBDC91A5}"/>
              </a:ext>
            </a:extLst>
          </p:cNvPr>
          <p:cNvSpPr>
            <a:spLocks noGrp="1"/>
          </p:cNvSpPr>
          <p:nvPr/>
        </p:nvSpPr>
        <p:spPr>
          <a:xfrm>
            <a:off x="6229350" y="6038850"/>
            <a:ext cx="25717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75" b="0">
                <a:solidFill>
                  <a:srgbClr val="455661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Płatność bez szuflady i dolnego paska</a:t>
            </a:r>
          </a:p>
        </p:txBody>
      </p:sp>
    </p:spTree>
    <p:extLst>
      <p:ext uri="{BB962C8B-B14F-4D97-AF65-F5344CB8AC3E}">
        <p14:creationId xmlns:p14="http://schemas.microsoft.com/office/powerpoint/2010/main" val="30636450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C1ACBB-3253-CDBB-4B82-8550EAF66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65A35B5-CF74-9AAE-747A-070AA8BF3055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Dane formularza i powrót</a:t>
            </a:r>
          </a:p>
        </p:txBody>
      </p:sp>
      <p:sp>
        <p:nvSpPr>
          <p:cNvPr id="15" name="Kod Kotlin">
            <a:extLst>
              <a:ext uri="{FF2B5EF4-FFF2-40B4-BE49-F238E27FC236}">
                <a16:creationId xmlns:a16="http://schemas.microsoft.com/office/drawing/2014/main" id="{8191EA1E-0F23-039C-0495-F6D466B3B680}"/>
              </a:ext>
            </a:extLst>
          </p:cNvPr>
          <p:cNvSpPr>
            <a:spLocks noGrp="1"/>
          </p:cNvSpPr>
          <p:nvPr/>
        </p:nvSpPr>
        <p:spPr>
          <a:xfrm>
            <a:off x="1333500" y="1409700"/>
            <a:ext cx="4619625" cy="2333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777777"/>
                </a:solidFill>
              </a:rPr>
              <a:t>// Stan ponad NavHost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0033B3"/>
                </a:solidFill>
              </a:rPr>
              <a:t>var</a:t>
            </a:r>
            <a:r>
              <a:t> address </a:t>
            </a:r>
            <a:r>
              <a:rPr>
                <a:solidFill>
                  <a:srgbClr val="0033B3"/>
                </a:solidFill>
              </a:rPr>
              <a:t>by</a:t>
            </a:r>
            <a:r>
              <a:t> rememberSaveable {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t>    mutableStateOf(</a:t>
            </a:r>
            <a:r>
              <a:rPr>
                <a:solidFill>
                  <a:srgbClr val="067D17"/>
                </a:solidFill>
              </a:rPr>
              <a:t>""</a:t>
            </a:r>
            <a:r>
              <a:t>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t>}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0033B3"/>
                </a:solidFill>
              </a:rPr>
              <a:t>var</a:t>
            </a:r>
            <a:r>
              <a:t> payment </a:t>
            </a:r>
            <a:r>
              <a:rPr>
                <a:solidFill>
                  <a:srgbClr val="0033B3"/>
                </a:solidFill>
              </a:rPr>
              <a:t>by</a:t>
            </a:r>
            <a:r>
              <a:t> rememberSaveable {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t>    mutableStateOf(</a:t>
            </a:r>
            <a:r>
              <a:rPr>
                <a:solidFill>
                  <a:srgbClr val="067D17"/>
                </a:solidFill>
              </a:rPr>
              <a:t>"Karta"</a:t>
            </a:r>
            <a:r>
              <a:t>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t>}</a:t>
            </a:r>
          </a:p>
        </p:txBody>
      </p:sp>
      <p:sp>
        <p:nvSpPr>
          <p:cNvPr id="17" name="Wartości i callbacki">
            <a:extLst>
              <a:ext uri="{FF2B5EF4-FFF2-40B4-BE49-F238E27FC236}">
                <a16:creationId xmlns:a16="http://schemas.microsoft.com/office/drawing/2014/main" id="{D6E9BD31-3F0B-5EC0-4E2D-A869CCA26699}"/>
              </a:ext>
            </a:extLst>
          </p:cNvPr>
          <p:cNvSpPr>
            <a:spLocks noGrp="1"/>
          </p:cNvSpPr>
          <p:nvPr/>
        </p:nvSpPr>
        <p:spPr>
          <a:xfrm>
            <a:off x="1333500" y="3943350"/>
            <a:ext cx="461962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005F88"/>
                </a:solidFill>
                <a:latin typeface="Calibri"/>
                <a:ea typeface="Calibri"/>
                <a:cs typeface="Calibri"/>
              </a:defRPr>
            </a:pPr>
            <a:r>
              <a:rPr sz="2400" b="1" dirty="0" err="1">
                <a:solidFill>
                  <a:srgbClr val="005F88"/>
                </a:solidFill>
                <a:latin typeface="Calibri"/>
                <a:ea typeface="Calibri"/>
                <a:cs typeface="Calibri"/>
              </a:rPr>
              <a:t>Wartości</a:t>
            </a:r>
            <a:r>
              <a:rPr sz="2400" b="1" dirty="0">
                <a:solidFill>
                  <a:srgbClr val="005F8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400" b="1" dirty="0" err="1">
                <a:solidFill>
                  <a:srgbClr val="005F88"/>
                </a:solidFill>
                <a:latin typeface="Calibri"/>
                <a:ea typeface="Calibri"/>
                <a:cs typeface="Calibri"/>
              </a:rPr>
              <a:t>i</a:t>
            </a:r>
            <a:r>
              <a:rPr sz="2400" b="1" dirty="0">
                <a:solidFill>
                  <a:srgbClr val="005F8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400" b="1" dirty="0" err="1">
                <a:solidFill>
                  <a:srgbClr val="005F88"/>
                </a:solidFill>
                <a:latin typeface="Calibri"/>
                <a:ea typeface="Calibri"/>
                <a:cs typeface="Calibri"/>
              </a:rPr>
              <a:t>callbacki</a:t>
            </a:r>
            <a:endParaRPr sz="2400" b="1" dirty="0">
              <a:solidFill>
                <a:srgbClr val="005F88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" name="Ekrany odczytują wspólny stan&#10;i zgłaszają jego z">
            <a:extLst>
              <a:ext uri="{FF2B5EF4-FFF2-40B4-BE49-F238E27FC236}">
                <a16:creationId xmlns:a16="http://schemas.microsoft.com/office/drawing/2014/main" id="{61B7BF11-3F18-B2E4-4A27-824C70B2F68E}"/>
              </a:ext>
            </a:extLst>
          </p:cNvPr>
          <p:cNvSpPr>
            <a:spLocks noGrp="1"/>
          </p:cNvSpPr>
          <p:nvPr/>
        </p:nvSpPr>
        <p:spPr>
          <a:xfrm>
            <a:off x="1333500" y="4324350"/>
            <a:ext cx="4619625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75" b="0">
                <a:solidFill>
                  <a:srgbClr val="152B37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Ekrany odczytują wspólny stan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75" b="0">
                <a:solidFill>
                  <a:srgbClr val="152B37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i zgłaszają jego zmiany.</a:t>
            </a:r>
          </a:p>
        </p:txBody>
      </p:sp>
      <p:sp>
        <p:nvSpPr>
          <p:cNvPr id="21" name="Powrót do poprzedniego kroku&#10;nie kasuje danych. ">
            <a:extLst>
              <a:ext uri="{FF2B5EF4-FFF2-40B4-BE49-F238E27FC236}">
                <a16:creationId xmlns:a16="http://schemas.microsoft.com/office/drawing/2014/main" id="{69948823-1D44-7066-056D-6D6A0ADAD6A7}"/>
              </a:ext>
            </a:extLst>
          </p:cNvPr>
          <p:cNvSpPr>
            <a:spLocks noGrp="1"/>
          </p:cNvSpPr>
          <p:nvPr/>
        </p:nvSpPr>
        <p:spPr>
          <a:xfrm>
            <a:off x="1333500" y="5781675"/>
            <a:ext cx="464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455661"/>
                </a:solidFill>
                <a:latin typeface="Calibri"/>
                <a:ea typeface="Calibri"/>
                <a:cs typeface="Calibri"/>
              </a:defRPr>
            </a:pPr>
            <a:r>
              <a:rPr sz="20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Powrót</a:t>
            </a:r>
            <a:r>
              <a:rPr sz="20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 do </a:t>
            </a:r>
            <a:r>
              <a:rPr sz="20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poprzedniego</a:t>
            </a:r>
            <a:r>
              <a:rPr sz="20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kroku</a:t>
            </a:r>
            <a:endParaRPr sz="2000" b="0" dirty="0">
              <a:solidFill>
                <a:srgbClr val="455661"/>
              </a:solidFill>
              <a:latin typeface="Calibri"/>
              <a:ea typeface="Calibri"/>
              <a:cs typeface="Calibri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455661"/>
                </a:solidFill>
                <a:latin typeface="Calibri"/>
                <a:ea typeface="Calibri"/>
                <a:cs typeface="Calibri"/>
              </a:defRPr>
            </a:pPr>
            <a:r>
              <a:rPr sz="20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nie</a:t>
            </a:r>
            <a:r>
              <a:rPr sz="20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kasuje</a:t>
            </a:r>
            <a:r>
              <a:rPr sz="20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danych</a:t>
            </a:r>
            <a:r>
              <a:rPr sz="20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. Po </a:t>
            </a:r>
            <a:r>
              <a:rPr sz="20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potwierdzeniu</a:t>
            </a:r>
            <a:endParaRPr sz="2000" b="0" dirty="0">
              <a:solidFill>
                <a:srgbClr val="455661"/>
              </a:solidFill>
              <a:latin typeface="Calibri"/>
              <a:ea typeface="Calibri"/>
              <a:cs typeface="Calibri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455661"/>
                </a:solidFill>
                <a:latin typeface="Calibri"/>
                <a:ea typeface="Calibri"/>
                <a:cs typeface="Calibri"/>
              </a:defRPr>
            </a:pPr>
            <a:r>
              <a:rPr sz="20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zamówienia</a:t>
            </a:r>
            <a:r>
              <a:rPr sz="20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czyścimy</a:t>
            </a:r>
            <a:r>
              <a:rPr sz="20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formularz</a:t>
            </a:r>
            <a:r>
              <a:rPr sz="20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pic>
        <p:nvPicPr>
          <p:cNvPr id="23" name="Obraz 22">
            <a:extLst>
              <a:ext uri="{FF2B5EF4-FFF2-40B4-BE49-F238E27FC236}">
                <a16:creationId xmlns:a16="http://schemas.microsoft.com/office/drawing/2014/main" id="{E7D9612E-8E15-7219-DBBB-5213F28D7D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229350" y="1304925"/>
            <a:ext cx="2571750" cy="4572000"/>
          </a:xfrm>
          <a:prstGeom prst="rect">
            <a:avLst/>
          </a:prstGeom>
        </p:spPr>
      </p:pic>
      <p:sp>
        <p:nvSpPr>
          <p:cNvPr id="25" name="Adres zachowany po powrocie z płatności">
            <a:extLst>
              <a:ext uri="{FF2B5EF4-FFF2-40B4-BE49-F238E27FC236}">
                <a16:creationId xmlns:a16="http://schemas.microsoft.com/office/drawing/2014/main" id="{CFA71D09-07CE-E698-C02E-381F01CC6850}"/>
              </a:ext>
            </a:extLst>
          </p:cNvPr>
          <p:cNvSpPr>
            <a:spLocks noGrp="1"/>
          </p:cNvSpPr>
          <p:nvPr/>
        </p:nvSpPr>
        <p:spPr>
          <a:xfrm>
            <a:off x="6229350" y="6038850"/>
            <a:ext cx="25717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75" b="0">
                <a:solidFill>
                  <a:srgbClr val="455661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Adres zachowany po powrocie z płatności</a:t>
            </a:r>
          </a:p>
        </p:txBody>
      </p:sp>
    </p:spTree>
    <p:extLst>
      <p:ext uri="{BB962C8B-B14F-4D97-AF65-F5344CB8AC3E}">
        <p14:creationId xmlns:p14="http://schemas.microsoft.com/office/powerpoint/2010/main" val="21576119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57AE89-3BBC-574F-A243-50BFDF71B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602DB24-698C-3A52-C77F-93B935FB96E2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Dane formularza i powrót</a:t>
            </a:r>
          </a:p>
        </p:txBody>
      </p:sp>
      <p:sp>
        <p:nvSpPr>
          <p:cNvPr id="15" name="Kod Kotlin">
            <a:extLst>
              <a:ext uri="{FF2B5EF4-FFF2-40B4-BE49-F238E27FC236}">
                <a16:creationId xmlns:a16="http://schemas.microsoft.com/office/drawing/2014/main" id="{CC675E67-A8B2-292B-5E19-996CBED3C893}"/>
              </a:ext>
            </a:extLst>
          </p:cNvPr>
          <p:cNvSpPr>
            <a:spLocks noGrp="1"/>
          </p:cNvSpPr>
          <p:nvPr/>
        </p:nvSpPr>
        <p:spPr>
          <a:xfrm>
            <a:off x="1333500" y="1409700"/>
            <a:ext cx="4619625" cy="2333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777777"/>
                </a:solidFill>
              </a:rPr>
              <a:t>// Stan ponad NavHost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0033B3"/>
                </a:solidFill>
              </a:rPr>
              <a:t>var</a:t>
            </a:r>
            <a:r>
              <a:t> address </a:t>
            </a:r>
            <a:r>
              <a:rPr>
                <a:solidFill>
                  <a:srgbClr val="0033B3"/>
                </a:solidFill>
              </a:rPr>
              <a:t>by</a:t>
            </a:r>
            <a:r>
              <a:t> rememberSaveable {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t>    mutableStateOf(</a:t>
            </a:r>
            <a:r>
              <a:rPr>
                <a:solidFill>
                  <a:srgbClr val="067D17"/>
                </a:solidFill>
              </a:rPr>
              <a:t>""</a:t>
            </a:r>
            <a:r>
              <a:t>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t>}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0033B3"/>
                </a:solidFill>
              </a:rPr>
              <a:t>var</a:t>
            </a:r>
            <a:r>
              <a:t> payment </a:t>
            </a:r>
            <a:r>
              <a:rPr>
                <a:solidFill>
                  <a:srgbClr val="0033B3"/>
                </a:solidFill>
              </a:rPr>
              <a:t>by</a:t>
            </a:r>
            <a:r>
              <a:t> rememberSaveable {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t>    mutableStateOf(</a:t>
            </a:r>
            <a:r>
              <a:rPr>
                <a:solidFill>
                  <a:srgbClr val="067D17"/>
                </a:solidFill>
              </a:rPr>
              <a:t>"Karta"</a:t>
            </a:r>
            <a:r>
              <a:t>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t>}</a:t>
            </a:r>
          </a:p>
        </p:txBody>
      </p:sp>
      <p:sp>
        <p:nvSpPr>
          <p:cNvPr id="17" name="Wartości i callbacki">
            <a:extLst>
              <a:ext uri="{FF2B5EF4-FFF2-40B4-BE49-F238E27FC236}">
                <a16:creationId xmlns:a16="http://schemas.microsoft.com/office/drawing/2014/main" id="{55FFAD87-CDED-73E1-7C1E-281E3663DA71}"/>
              </a:ext>
            </a:extLst>
          </p:cNvPr>
          <p:cNvSpPr>
            <a:spLocks noGrp="1"/>
          </p:cNvSpPr>
          <p:nvPr/>
        </p:nvSpPr>
        <p:spPr>
          <a:xfrm>
            <a:off x="1333500" y="3943350"/>
            <a:ext cx="461962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005F88"/>
                </a:solidFill>
                <a:latin typeface="Calibri"/>
                <a:ea typeface="Calibri"/>
                <a:cs typeface="Calibri"/>
              </a:defRPr>
            </a:pPr>
            <a:r>
              <a:rPr sz="2400" b="1" dirty="0" err="1">
                <a:solidFill>
                  <a:srgbClr val="005F88"/>
                </a:solidFill>
                <a:latin typeface="Calibri"/>
                <a:ea typeface="Calibri"/>
                <a:cs typeface="Calibri"/>
              </a:rPr>
              <a:t>Wartości</a:t>
            </a:r>
            <a:r>
              <a:rPr sz="2400" b="1" dirty="0">
                <a:solidFill>
                  <a:srgbClr val="005F8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400" b="1" dirty="0" err="1">
                <a:solidFill>
                  <a:srgbClr val="005F88"/>
                </a:solidFill>
                <a:latin typeface="Calibri"/>
                <a:ea typeface="Calibri"/>
                <a:cs typeface="Calibri"/>
              </a:rPr>
              <a:t>i</a:t>
            </a:r>
            <a:r>
              <a:rPr sz="2400" b="1" dirty="0">
                <a:solidFill>
                  <a:srgbClr val="005F8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400" b="1" dirty="0" err="1">
                <a:solidFill>
                  <a:srgbClr val="005F88"/>
                </a:solidFill>
                <a:latin typeface="Calibri"/>
                <a:ea typeface="Calibri"/>
                <a:cs typeface="Calibri"/>
              </a:rPr>
              <a:t>callbacki</a:t>
            </a:r>
            <a:endParaRPr sz="2400" b="1" dirty="0">
              <a:solidFill>
                <a:srgbClr val="005F88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" name="Ekrany odczytują wspólny stan&#10;i zgłaszają jego z">
            <a:extLst>
              <a:ext uri="{FF2B5EF4-FFF2-40B4-BE49-F238E27FC236}">
                <a16:creationId xmlns:a16="http://schemas.microsoft.com/office/drawing/2014/main" id="{438FB122-89D5-9174-37A6-F0912363E525}"/>
              </a:ext>
            </a:extLst>
          </p:cNvPr>
          <p:cNvSpPr>
            <a:spLocks noGrp="1"/>
          </p:cNvSpPr>
          <p:nvPr/>
        </p:nvSpPr>
        <p:spPr>
          <a:xfrm>
            <a:off x="1333500" y="4324350"/>
            <a:ext cx="4619625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75" b="0">
                <a:solidFill>
                  <a:srgbClr val="152B37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Ekrany odczytują wspólny stan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75" b="0">
                <a:solidFill>
                  <a:srgbClr val="152B37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52B37"/>
                </a:solidFill>
                <a:latin typeface="Calibri"/>
                <a:ea typeface="Calibri"/>
                <a:cs typeface="Calibri"/>
              </a:rPr>
              <a:t>i zgłaszają jego zmiany.</a:t>
            </a:r>
          </a:p>
        </p:txBody>
      </p:sp>
      <p:sp>
        <p:nvSpPr>
          <p:cNvPr id="21" name="Powrót do poprzedniego kroku&#10;nie kasuje danych. ">
            <a:extLst>
              <a:ext uri="{FF2B5EF4-FFF2-40B4-BE49-F238E27FC236}">
                <a16:creationId xmlns:a16="http://schemas.microsoft.com/office/drawing/2014/main" id="{0CE24C6A-C524-7347-ADF6-45F7C9F22592}"/>
              </a:ext>
            </a:extLst>
          </p:cNvPr>
          <p:cNvSpPr>
            <a:spLocks noGrp="1"/>
          </p:cNvSpPr>
          <p:nvPr/>
        </p:nvSpPr>
        <p:spPr>
          <a:xfrm>
            <a:off x="1333500" y="5781675"/>
            <a:ext cx="464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455661"/>
                </a:solidFill>
                <a:latin typeface="Calibri"/>
                <a:ea typeface="Calibri"/>
                <a:cs typeface="Calibri"/>
              </a:defRPr>
            </a:pPr>
            <a:r>
              <a:rPr sz="20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Powrót</a:t>
            </a:r>
            <a:r>
              <a:rPr sz="20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 do </a:t>
            </a:r>
            <a:r>
              <a:rPr sz="20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poprzedniego</a:t>
            </a:r>
            <a:r>
              <a:rPr sz="20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kroku</a:t>
            </a:r>
            <a:endParaRPr sz="2000" b="0" dirty="0">
              <a:solidFill>
                <a:srgbClr val="455661"/>
              </a:solidFill>
              <a:latin typeface="Calibri"/>
              <a:ea typeface="Calibri"/>
              <a:cs typeface="Calibri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455661"/>
                </a:solidFill>
                <a:latin typeface="Calibri"/>
                <a:ea typeface="Calibri"/>
                <a:cs typeface="Calibri"/>
              </a:defRPr>
            </a:pPr>
            <a:r>
              <a:rPr sz="20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nie</a:t>
            </a:r>
            <a:r>
              <a:rPr sz="20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kasuje</a:t>
            </a:r>
            <a:r>
              <a:rPr sz="20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danych</a:t>
            </a:r>
            <a:r>
              <a:rPr sz="20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. Po </a:t>
            </a:r>
            <a:r>
              <a:rPr sz="20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potwierdzeniu</a:t>
            </a:r>
            <a:endParaRPr sz="2000" b="0" dirty="0">
              <a:solidFill>
                <a:srgbClr val="455661"/>
              </a:solidFill>
              <a:latin typeface="Calibri"/>
              <a:ea typeface="Calibri"/>
              <a:cs typeface="Calibri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455661"/>
                </a:solidFill>
                <a:latin typeface="Calibri"/>
                <a:ea typeface="Calibri"/>
                <a:cs typeface="Calibri"/>
              </a:defRPr>
            </a:pPr>
            <a:r>
              <a:rPr sz="20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zamówienia</a:t>
            </a:r>
            <a:r>
              <a:rPr sz="20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czyścimy</a:t>
            </a:r>
            <a:r>
              <a:rPr sz="20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0" dirty="0" err="1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formularz</a:t>
            </a:r>
            <a:r>
              <a:rPr sz="2000" b="0" dirty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pic>
        <p:nvPicPr>
          <p:cNvPr id="23" name="Obraz 22">
            <a:extLst>
              <a:ext uri="{FF2B5EF4-FFF2-40B4-BE49-F238E27FC236}">
                <a16:creationId xmlns:a16="http://schemas.microsoft.com/office/drawing/2014/main" id="{C5E739C0-C981-427F-D0E4-2C7DCF6008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229350" y="1304925"/>
            <a:ext cx="2571750" cy="4572000"/>
          </a:xfrm>
          <a:prstGeom prst="rect">
            <a:avLst/>
          </a:prstGeom>
        </p:spPr>
      </p:pic>
      <p:sp>
        <p:nvSpPr>
          <p:cNvPr id="25" name="Adres zachowany po powrocie z płatności">
            <a:extLst>
              <a:ext uri="{FF2B5EF4-FFF2-40B4-BE49-F238E27FC236}">
                <a16:creationId xmlns:a16="http://schemas.microsoft.com/office/drawing/2014/main" id="{5A999EB7-73BD-4D68-8D73-4D1077ED01FA}"/>
              </a:ext>
            </a:extLst>
          </p:cNvPr>
          <p:cNvSpPr>
            <a:spLocks noGrp="1"/>
          </p:cNvSpPr>
          <p:nvPr/>
        </p:nvSpPr>
        <p:spPr>
          <a:xfrm>
            <a:off x="6229350" y="6038850"/>
            <a:ext cx="25717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75" b="0">
                <a:solidFill>
                  <a:srgbClr val="455661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455661"/>
                </a:solidFill>
                <a:latin typeface="Calibri"/>
                <a:ea typeface="Calibri"/>
                <a:cs typeface="Calibri"/>
              </a:rPr>
              <a:t>Adres zachowany po powrocie z płatności</a:t>
            </a:r>
          </a:p>
        </p:txBody>
      </p:sp>
    </p:spTree>
    <p:extLst>
      <p:ext uri="{BB962C8B-B14F-4D97-AF65-F5344CB8AC3E}">
        <p14:creationId xmlns:p14="http://schemas.microsoft.com/office/powerpoint/2010/main" val="680991283"/>
      </p:ext>
    </p:extLst>
  </p:cSld>
  <p:clrMapOvr>
    <a:masterClrMapping/>
  </p:clrMapOvr>
</p:sld>
</file>

<file path=ppt/theme/theme1.xml><?xml version="1.0" encoding="utf-8"?>
<a:theme xmlns:a="http://schemas.openxmlformats.org/drawingml/2006/main" name="uni.wroc_0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Motyw pakietu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Motyw pakietu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uni.wroc_01.potx</Template>
  <TotalTime>80939</TotalTime>
  <Pages>0</Pages>
  <Words>1874</Words>
  <Characters>0</Characters>
  <Application>Microsoft Office PowerPoint</Application>
  <PresentationFormat>Pokaz na ekranie (4:3)</PresentationFormat>
  <Lines>0</Lines>
  <Paragraphs>455</Paragraphs>
  <Slides>29</Slides>
  <Notes>29</Notes>
  <HiddenSlides>0</HiddenSlides>
  <MMClips>1</MMClips>
  <ScaleCrop>false</ScaleCrop>
  <HeadingPairs>
    <vt:vector size="6" baseType="variant">
      <vt:variant>
        <vt:lpstr>Używane czcionki</vt:lpstr>
      </vt:variant>
      <vt:variant>
        <vt:i4>4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29</vt:i4>
      </vt:variant>
    </vt:vector>
  </HeadingPairs>
  <TitlesOfParts>
    <vt:vector size="34" baseType="lpstr">
      <vt:lpstr>Arial</vt:lpstr>
      <vt:lpstr>Calibri</vt:lpstr>
      <vt:lpstr>Courier New</vt:lpstr>
      <vt:lpstr>Verdana</vt:lpstr>
      <vt:lpstr>uni.wroc_01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Podręcznik użytkownika  Systemu Identyfikacji Wizualnej   cz. I  dla pracowników naukowych i administracyjnych</dc:title>
  <dc:subject/>
  <dc:creator>tolek</dc:creator>
  <cp:keywords/>
  <dc:description/>
  <cp:lastModifiedBy>Rafał Lewandków</cp:lastModifiedBy>
  <cp:revision>1145</cp:revision>
  <dcterms:modified xsi:type="dcterms:W3CDTF">2026-10-02T13:01:27Z</dcterms:modified>
  <cp:category/>
</cp:coreProperties>
</file>