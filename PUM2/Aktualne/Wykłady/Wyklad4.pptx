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6"/>
  </p:notesMasterIdLst>
  <p:handoutMasterIdLst>
    <p:handoutMasterId r:id="rId37"/>
  </p:handoutMasterIdLst>
  <p:sldIdLst>
    <p:sldId id="346" r:id="rId2"/>
    <p:sldId id="539" r:id="rId3"/>
    <p:sldId id="511" r:id="rId4"/>
    <p:sldId id="540" r:id="rId5"/>
    <p:sldId id="541" r:id="rId6"/>
    <p:sldId id="566" r:id="rId7"/>
    <p:sldId id="542" r:id="rId8"/>
    <p:sldId id="543" r:id="rId9"/>
    <p:sldId id="544" r:id="rId10"/>
    <p:sldId id="567" r:id="rId11"/>
    <p:sldId id="568" r:id="rId12"/>
    <p:sldId id="569" r:id="rId13"/>
    <p:sldId id="570" r:id="rId14"/>
    <p:sldId id="545" r:id="rId15"/>
    <p:sldId id="571" r:id="rId16"/>
    <p:sldId id="546" r:id="rId17"/>
    <p:sldId id="547" r:id="rId18"/>
    <p:sldId id="548" r:id="rId19"/>
    <p:sldId id="549" r:id="rId20"/>
    <p:sldId id="550" r:id="rId21"/>
    <p:sldId id="551" r:id="rId22"/>
    <p:sldId id="552" r:id="rId23"/>
    <p:sldId id="555" r:id="rId24"/>
    <p:sldId id="556" r:id="rId25"/>
    <p:sldId id="557" r:id="rId26"/>
    <p:sldId id="558" r:id="rId27"/>
    <p:sldId id="559" r:id="rId28"/>
    <p:sldId id="560" r:id="rId29"/>
    <p:sldId id="561" r:id="rId30"/>
    <p:sldId id="562" r:id="rId31"/>
    <p:sldId id="563" r:id="rId32"/>
    <p:sldId id="564" r:id="rId33"/>
    <p:sldId id="565" r:id="rId34"/>
    <p:sldId id="572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FF00"/>
    <a:srgbClr val="00FFFF"/>
    <a:srgbClr val="FF00FF"/>
    <a:srgbClr val="006600"/>
    <a:srgbClr val="BCE292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Styl pośredni 2 — Ak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Styl pośredni 2 — Ak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Styl pośredni 2 — Ak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Styl pośredni 2 — Ak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64" d="100"/>
          <a:sy n="64" d="100"/>
        </p:scale>
        <p:origin x="66" y="75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F3985-763E-FA51-3C52-B87ECCFA0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7EA8D8-81C0-85F9-3980-4FEBEEF72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B674CF-FBF8-B02E-D691-217CD8F447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8D8567-BB09-14D2-604A-99C98461D3E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7921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98C3D-4038-846F-0492-42F488344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14059-E358-F763-1EB7-42829C1EDD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FBDE2-A396-0544-AECB-398B0B0E5D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50DDB5-CD8A-8880-6D0D-CF7E9CF2B7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96294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10B1D-EBD1-5599-0725-30ECC7869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A9E2B8-5CDD-7BF8-9790-9BF7F786D6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404476-75AF-B7A8-F9AA-17EE275D7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8BC34-A8A7-7B78-5DFD-13BD0CADE0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47965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51594-E5F2-44E2-5C97-132405544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CD4A92-5B03-3516-2225-14E0331125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7AE4F8-2E87-8B3E-F056-2D31BDD215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B9AAB-9F7E-1411-717F-517312DA7C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9662388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B5DE4-DD27-F675-5AFD-CD9CE28D6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30CA55-5D6B-02CD-5E01-6F816BD742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5DC1BD-477B-D9C0-E7AD-B28C37F2E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5F381-D368-BDC3-6E2A-3CB0FF7BC4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214952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C8B6D-D83A-D084-276B-A0995766F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3BD9B-B890-6140-F438-A139A2F2EF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25DFD8-5A13-F5C1-4555-0F625FFEC9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FB121E-7BAF-4FB0-B622-BD6C95215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673385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BB091-BA06-F63C-777C-FA31F52266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B8709-B2BA-49D0-45C2-3EB0642B6E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569C34-778D-087D-18A9-A09C699A6F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5620E1-583E-EE6F-072D-88C6EB8E6F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960089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3145E-6A14-5EE6-C73E-6C03D26FE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E4844F-DE66-05A6-6052-D04E050BE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5993C6-12B5-E072-C9DF-E8B61651AC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AF535-77FE-A32B-BA9F-FC2AD7CC3B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7952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D5B0E-BF17-AF68-1312-89438B018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1F17D-4086-498B-8329-F394339066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02FA14-CDDD-6DD7-6DBA-24D1C13B18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4BDC4-B138-3F24-9C86-14B0C44097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13432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904CA-BDD0-7084-D9DB-1F1259AD5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AC0F3E-B409-18FC-A33D-D72431ADD7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333A0B-76F2-71AF-23E6-E6E641D033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5741C-C6C7-77F0-47E6-59D75CB490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20308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261960-BA0E-D56B-FBA4-DD0D5D464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F1477-044A-24E0-44FF-B8007BEA1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9D95C5-21C6-CC3B-1FC7-7CF335F0C5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A4265-274E-B2DA-D92D-E0520EE84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329610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AAFE-04D7-2E68-5F13-BA07E25B5A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FF5736-1DFB-8769-AAFE-AFBF25F27D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06200B-A280-17EE-16D2-8D018C8D01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6F8A7-E0FE-B0EF-FC10-8FCADE7068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539574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410CC-2279-1BBD-4B7B-54F3F2F84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B18A56-FCB9-5A54-2026-4807CB9696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64DD3C-5F49-CAE7-83E5-3E8358672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5793B-7C06-DAC9-2FF0-23238320586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9917138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5D920-97FF-25F4-64BD-8FF299C38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7698B9-E984-78F0-4858-5639AB9F65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9EEC0D-F4C5-368D-EFCC-CB4CA7769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2132C4-2E28-63C3-B502-B207C80409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68971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EC38-077D-D9CB-98E9-81B78637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07927-6084-FAEC-9ED6-564F12F49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584C3-7410-250B-BA1D-66C02973C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4ED3F-7599-6445-5961-12DCA0D1C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35887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49EC38-077D-D9CB-98E9-81B786377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5907927-6084-FAEC-9ED6-564F12F495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3584C3-7410-250B-BA1D-66C02973C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24ED3F-7599-6445-5961-12DCA0D1C13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09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437EE-37F2-C6C0-F098-7DF6EA20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54A637-8AA9-C5C2-1DDE-59512080A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7D62A3-E849-E2F2-FEFF-C10FC43174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F190DA-EB5E-B224-1D2D-4A50EF7FB5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393422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27F9-D7F6-F0E9-FD86-2F8A1AB7D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AAB5E7-E8CE-0C26-746F-D6BDCD1A98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5D986-BFDD-D543-8CA2-ACF68C209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8D9C5-3464-5944-407A-6FFD10A4B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43929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D4228F-30F1-DBBB-EA25-B75D308E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3A94C3-8513-7F10-FBD7-B3F56D5888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3B8E3B-8619-8E15-5BE0-E4FB885D71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C797BE-E115-D9C7-D03E-5E2E9B4469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301301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E6D19-025B-DE2D-2777-274052035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B00D35-1CB1-F04C-B72E-4474412983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814024-B47E-3659-086D-87EA503138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A4A5B-F22A-B673-C7B4-949AEE244E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78489860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1566-6AE4-F05E-BFA0-ECFB968A5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ADB002-8478-7BD0-2D1F-DD22FA97C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8612B7-F1FE-0F60-C6D3-83B43A8BB9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8DD4C5-6ACB-9733-BB56-8052E11708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237502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E7546-7263-0687-61DB-E53D939C2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6C740B-172E-1480-9FDD-714FBD830B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EFD391-8A92-839C-2C96-E54B59122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2A35A-EAC0-9716-2263-A9A911DF25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1755239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61E9D-6C04-1B95-4542-BB95F4E47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711BBC-06F0-87B6-FAC1-79DE69E82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6637D-F192-577F-B16B-C144639CB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1D79B-6B4F-9D0D-F89C-07F3FC74E8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07883083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A1AE1-5A1C-4F66-4943-4EE72A609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AE08C1-EDDC-004C-B68F-87DD0CAFBB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9CFA2A-ADDD-99EF-4AC2-043CD64AD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010BC-A2C9-5D0B-5631-ACBA377BC6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5288168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BC2C5-0E45-8877-0A49-9C0D37D01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1F49E7-9ABF-FC1A-6A16-6DB0728050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2866CB-7D53-17EE-FDBC-7EE4A0985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0B8982-D48B-B23C-FD24-1D21BE0D8A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5185522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9D06D-933F-7632-47E9-BD164702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C37BD2-EA30-AD49-405E-463943836F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C9B14-665C-C1D0-82AB-3788E4D5D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09A449-FA94-8C8B-4EC5-2A3C0443C7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2125717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E6789-BC40-E4FF-EE1D-B06989DAA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00308-BA69-9737-35D0-E880ECA27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59787E-6628-2633-C634-528EF1AFFA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F76D18-697C-F38C-FD99-CE62B7A007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2200868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BDE02-FA0E-842A-C280-937DECEE6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00F42-3C03-27A2-3DFC-2B2A9555C9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7BA67-F8B4-6078-5AB3-9BF706F9C0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82464-604D-4412-93BB-21C5CB16D9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26391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74EBF-7C1F-C587-C798-DE3538F9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CFE029-6E32-02A1-520F-A6A9E3F71C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40317A-AC85-11D4-F6F6-8C0513611D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0AA428-B085-3086-830B-ED85837075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012628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CC78B-BFFD-03F1-E0DC-A96E12803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82B876-2CB8-B1C9-AA72-013EEC969D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E3E2D8-521E-7DCD-812F-5ADFF5CA8C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95AA44-76CD-F05B-0CFC-BF9F0BA699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993054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DCABF-5119-C470-2B69-F40D0E9AE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FB13F4-F415-F5A6-FC99-210115274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C5818D-77D8-8FB0-4CF9-0B4AF85783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771A6-C3F5-97B4-0802-A0D18D4B65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3147882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7D732-E73F-5505-4640-8572CE8892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B6EC13-D63D-0310-2BF5-0CE410292D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57598D-C924-5F07-C78C-CD4DDA4A3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5551E1-22E2-FC19-12FB-5B592894EF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6993997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FEC60B-0735-F185-4EF1-6B0092902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E25143-5007-2B6F-5BD7-76A4536087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BEC9E3-7D5B-CE2C-AC9F-BD363646B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7B7C5-41D4-7C5D-7906-BEC6EF60D4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107096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23.10.2026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2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4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Podstawy Architektury Aplikacji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Wzorce MVVM</a:t>
            </a: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CC6D49-1E9F-3EF0-BE52-EF90F37E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8BEAF02-E304-3665-0D68-7903EF71D7E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PLAP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8DF8517-4473-B823-005F-12DEE289989A}"/>
              </a:ext>
            </a:extLst>
          </p:cNvPr>
          <p:cNvSpPr txBox="1"/>
          <p:nvPr/>
        </p:nvSpPr>
        <p:spPr>
          <a:xfrm>
            <a:off x="1331640" y="836712"/>
            <a:ext cx="7065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r>
              <a:rPr lang="pl-PL" sz="2800" b="1" dirty="0"/>
              <a:t>Presentation Layer Architectural Pattern</a:t>
            </a:r>
          </a:p>
        </p:txBody>
      </p:sp>
      <p:sp>
        <p:nvSpPr>
          <p:cNvPr id="4" name="pole tekstowe 4">
            <a:extLst>
              <a:ext uri="{FF2B5EF4-FFF2-40B4-BE49-F238E27FC236}">
                <a16:creationId xmlns:a16="http://schemas.microsoft.com/office/drawing/2014/main" id="{66187180-9EF5-27CA-82A4-1E0D089021A6}"/>
              </a:ext>
            </a:extLst>
          </p:cNvPr>
          <p:cNvSpPr txBox="1"/>
          <p:nvPr/>
        </p:nvSpPr>
        <p:spPr>
          <a:xfrm>
            <a:off x="1115616" y="1382313"/>
            <a:ext cx="7920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l-PL" sz="1800" b="1" dirty="0"/>
              <a:t>Wysokopoziomowa struktura wielokrotnego użytku przeznaczona do organizacji systemu.</a:t>
            </a:r>
          </a:p>
        </p:txBody>
      </p:sp>
    </p:spTree>
    <p:extLst>
      <p:ext uri="{BB962C8B-B14F-4D97-AF65-F5344CB8AC3E}">
        <p14:creationId xmlns:p14="http://schemas.microsoft.com/office/powerpoint/2010/main" val="531482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B0466A-ECC8-CD3A-5198-1AA1A3D27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AEBF88-1388-CEF7-33C7-7E939A9F903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PLAP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57AA783-0B7D-9080-C3D7-95713255F02E}"/>
              </a:ext>
            </a:extLst>
          </p:cNvPr>
          <p:cNvSpPr txBox="1"/>
          <p:nvPr/>
        </p:nvSpPr>
        <p:spPr>
          <a:xfrm>
            <a:off x="1331640" y="836712"/>
            <a:ext cx="706584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r>
              <a:rPr lang="pl-PL" sz="2800" b="1" dirty="0"/>
              <a:t>Presentation Layer Architectural Pattern</a:t>
            </a:r>
          </a:p>
        </p:txBody>
      </p:sp>
      <p:sp>
        <p:nvSpPr>
          <p:cNvPr id="4" name="pole tekstowe 4">
            <a:extLst>
              <a:ext uri="{FF2B5EF4-FFF2-40B4-BE49-F238E27FC236}">
                <a16:creationId xmlns:a16="http://schemas.microsoft.com/office/drawing/2014/main" id="{8A967D64-8D25-2F07-C3C3-826F551C1353}"/>
              </a:ext>
            </a:extLst>
          </p:cNvPr>
          <p:cNvSpPr txBox="1"/>
          <p:nvPr/>
        </p:nvSpPr>
        <p:spPr>
          <a:xfrm>
            <a:off x="1115616" y="1382313"/>
            <a:ext cx="7920880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pl-PL" sz="1800" b="1" dirty="0"/>
              <a:t>Wysokopoziomowa struktura wielokrotnego użytku przeznaczona do organizacji systemu.</a:t>
            </a:r>
          </a:p>
        </p:txBody>
      </p:sp>
      <p:sp>
        <p:nvSpPr>
          <p:cNvPr id="5" name="pole tekstowe 3">
            <a:extLst>
              <a:ext uri="{FF2B5EF4-FFF2-40B4-BE49-F238E27FC236}">
                <a16:creationId xmlns:a16="http://schemas.microsoft.com/office/drawing/2014/main" id="{858AB12C-FA9F-D8D1-DA92-406E8437A8A7}"/>
              </a:ext>
            </a:extLst>
          </p:cNvPr>
          <p:cNvSpPr txBox="1"/>
          <p:nvPr/>
        </p:nvSpPr>
        <p:spPr>
          <a:xfrm>
            <a:off x="971600" y="2579906"/>
            <a:ext cx="7848872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5pPr>
            <a:lvl6pPr marL="22860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6pPr>
            <a:lvl7pPr marL="27432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7pPr>
            <a:lvl8pPr marL="32004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8pPr>
            <a:lvl9pPr marL="3657600" algn="l" defTabSz="914400" rtl="0" eaLnBrk="1" latinLnBrk="0" hangingPunct="1">
              <a:defRPr sz="1200" kern="1200">
                <a:solidFill>
                  <a:srgbClr val="000000"/>
                </a:solidFill>
                <a:latin typeface="Arial" charset="0"/>
                <a:ea typeface="ヒラギノ角ゴ ProN W3" charset="0"/>
                <a:cs typeface="ヒラギノ角ゴ ProN W3" charset="0"/>
                <a:sym typeface="Arial" charset="0"/>
              </a:defRPr>
            </a:lvl9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600" b="1" dirty="0"/>
              <a:t>Prezentacja danych: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l-PL" sz="1600" dirty="0"/>
              <a:t>Wyświetla dane, które są dostarczane przez warstwę domeny.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l-PL" sz="1600" dirty="0"/>
              <a:t>Odpowiada za formatowanie i renderowanie danych w odpowiedniej formie, aby użytkownik mógł je zrozumieć i nimi manipulować.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600" b="1" dirty="0"/>
              <a:t>Obsługa interakcji użytkownika: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l-PL" sz="1600" dirty="0"/>
              <a:t>Reaguje na akcje użytkownika, takie jak kliknięcia przycisków, wpisywanie tekstu, przewijanie, itp.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l-PL" sz="1600" dirty="0"/>
              <a:t>Przekazuje informacje o akcjach użytkownika do warstwy domeny lub bezpośrednio do modelu danych w celu zaktualizowania stanu aplikacji.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l-PL" sz="16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l-PL" sz="1600" b="1" dirty="0"/>
              <a:t>Zarządzanie cyklem życia komponentów UI: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l-PL" sz="1600" dirty="0"/>
              <a:t>Zajmuje się zarządzaniem stanem i cyklem życia komponentów UI, takich jak Activity, Fragment, ViewModel (w architekturze MVVM) oraz innych elementów UI.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pl-PL" sz="1600" dirty="0"/>
              <a:t>Utrzymuje spójność UI podczas zmian, takich jak rotacja ekranu, zamykanie i ponowne otwieranie aplikacji.</a:t>
            </a:r>
          </a:p>
        </p:txBody>
      </p:sp>
    </p:spTree>
    <p:extLst>
      <p:ext uri="{BB962C8B-B14F-4D97-AF65-F5344CB8AC3E}">
        <p14:creationId xmlns:p14="http://schemas.microsoft.com/office/powerpoint/2010/main" val="431459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8AB117-FC9B-9926-3C9B-C1A1FA4A5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381D393-362C-631C-8E48-41C597A1F69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MVx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6" name="Picture 2" descr="MVC vs MVVM | Eric Muchenah">
            <a:extLst>
              <a:ext uri="{FF2B5EF4-FFF2-40B4-BE49-F238E27FC236}">
                <a16:creationId xmlns:a16="http://schemas.microsoft.com/office/drawing/2014/main" id="{9401B1DB-4E4B-8631-5C98-FC5066434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660" y="1916832"/>
            <a:ext cx="7947825" cy="3670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53634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CFBDA1-F1C2-55FB-FC2C-28AC71FBB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3C76E08-4E1D-BC5D-3E8B-67FB4BE671C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MVx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Picture 3" descr="MVVM Architecture Explained On Android | Stackademic">
            <a:extLst>
              <a:ext uri="{FF2B5EF4-FFF2-40B4-BE49-F238E27FC236}">
                <a16:creationId xmlns:a16="http://schemas.microsoft.com/office/drawing/2014/main" id="{C8EAF13B-058A-52E6-DB76-ADFC0F540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4880" y="1196751"/>
            <a:ext cx="7409608" cy="50136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36383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945738-273F-774D-A066-F8548C295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D08807-3451-7866-A948-ED91DEB20DC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 i akcje ekranu</a:t>
            </a:r>
          </a:p>
        </p:txBody>
      </p:sp>
      <p:sp>
        <p:nvSpPr>
          <p:cNvPr id="5" name="Tekst_16">
            <a:extLst>
              <a:ext uri="{FF2B5EF4-FFF2-40B4-BE49-F238E27FC236}">
                <a16:creationId xmlns:a16="http://schemas.microsoft.com/office/drawing/2014/main" id="{DB5D8656-DC78-D6E4-9DFA-45EFE26ABCBB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ctr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00" b="1" dirty="0" err="1"/>
              <a:t>Jednokierunkowy</a:t>
            </a:r>
            <a:r>
              <a:rPr sz="2000" b="1" dirty="0"/>
              <a:t> </a:t>
            </a:r>
            <a:r>
              <a:rPr sz="2000" b="1" dirty="0" err="1"/>
              <a:t>przepływ</a:t>
            </a:r>
            <a:r>
              <a:rPr sz="2000" b="1" dirty="0"/>
              <a:t> </a:t>
            </a:r>
            <a:r>
              <a:rPr sz="2000" b="1" dirty="0" err="1"/>
              <a:t>danych</a:t>
            </a:r>
            <a:r>
              <a:rPr sz="2000" b="1" dirty="0"/>
              <a:t> </a:t>
            </a:r>
            <a:r>
              <a:rPr sz="2000" b="1" dirty="0" err="1"/>
              <a:t>porządkuje</a:t>
            </a:r>
            <a:r>
              <a:rPr sz="2000" b="1" dirty="0"/>
              <a:t> </a:t>
            </a:r>
            <a:r>
              <a:rPr sz="2000" b="1" dirty="0" err="1"/>
              <a:t>obsługę</a:t>
            </a:r>
            <a:r>
              <a:rPr sz="2000" b="1" dirty="0"/>
              <a:t> </a:t>
            </a:r>
            <a:r>
              <a:rPr sz="2000" b="1" dirty="0" err="1"/>
              <a:t>interfejsu</a:t>
            </a:r>
            <a:r>
              <a:rPr sz="2000" b="1" dirty="0"/>
              <a:t>.</a:t>
            </a:r>
          </a:p>
        </p:txBody>
      </p:sp>
      <p:sp>
        <p:nvSpPr>
          <p:cNvPr id="7" name="Tekst_17">
            <a:extLst>
              <a:ext uri="{FF2B5EF4-FFF2-40B4-BE49-F238E27FC236}">
                <a16:creationId xmlns:a16="http://schemas.microsoft.com/office/drawing/2014/main" id="{1454C48E-1E44-B613-026D-4ACBEA5898F8}"/>
              </a:ext>
            </a:extLst>
          </p:cNvPr>
          <p:cNvSpPr>
            <a:spLocks noGrp="1"/>
          </p:cNvSpPr>
          <p:nvPr/>
        </p:nvSpPr>
        <p:spPr>
          <a:xfrm>
            <a:off x="1257300" y="1809750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1. Akcja</a:t>
            </a:r>
          </a:p>
        </p:txBody>
      </p:sp>
      <p:sp>
        <p:nvSpPr>
          <p:cNvPr id="9" name="Tekst_18">
            <a:extLst>
              <a:ext uri="{FF2B5EF4-FFF2-40B4-BE49-F238E27FC236}">
                <a16:creationId xmlns:a16="http://schemas.microsoft.com/office/drawing/2014/main" id="{D0F0DCCC-7F6B-8706-F395-75E415A11DFD}"/>
              </a:ext>
            </a:extLst>
          </p:cNvPr>
          <p:cNvSpPr>
            <a:spLocks noGrp="1"/>
          </p:cNvSpPr>
          <p:nvPr/>
        </p:nvSpPr>
        <p:spPr>
          <a:xfrm>
            <a:off x="1257300" y="2114550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Użytkownik</a:t>
            </a:r>
            <a:r>
              <a:rPr dirty="0"/>
              <a:t> </a:t>
            </a:r>
            <a:r>
              <a:rPr dirty="0" err="1"/>
              <a:t>naciska</a:t>
            </a:r>
            <a:r>
              <a:rPr dirty="0"/>
              <a:t> „</a:t>
            </a:r>
            <a:r>
              <a:rPr dirty="0" err="1"/>
              <a:t>Dodaj</a:t>
            </a:r>
            <a:r>
              <a:rPr dirty="0"/>
              <a:t>”. </a:t>
            </a:r>
            <a:r>
              <a:rPr dirty="0" err="1"/>
              <a:t>Ekran</a:t>
            </a:r>
            <a:r>
              <a:rPr dirty="0"/>
              <a:t> </a:t>
            </a:r>
            <a:r>
              <a:rPr dirty="0" err="1"/>
              <a:t>wywołuje</a:t>
            </a:r>
            <a:r>
              <a:rPr dirty="0"/>
              <a:t> </a:t>
            </a:r>
            <a:r>
              <a:rPr dirty="0" err="1"/>
              <a:t>onAdd</a:t>
            </a:r>
            <a:r>
              <a:rPr dirty="0"/>
              <a:t>.</a:t>
            </a:r>
          </a:p>
        </p:txBody>
      </p:sp>
      <p:sp>
        <p:nvSpPr>
          <p:cNvPr id="11" name="Tekst_19">
            <a:extLst>
              <a:ext uri="{FF2B5EF4-FFF2-40B4-BE49-F238E27FC236}">
                <a16:creationId xmlns:a16="http://schemas.microsoft.com/office/drawing/2014/main" id="{16DDCF42-094E-A36E-0B37-CDAADDB566D6}"/>
              </a:ext>
            </a:extLst>
          </p:cNvPr>
          <p:cNvSpPr>
            <a:spLocks noGrp="1"/>
          </p:cNvSpPr>
          <p:nvPr/>
        </p:nvSpPr>
        <p:spPr>
          <a:xfrm>
            <a:off x="1257300" y="2819400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2. Operacja</a:t>
            </a:r>
          </a:p>
        </p:txBody>
      </p:sp>
      <p:sp>
        <p:nvSpPr>
          <p:cNvPr id="13" name="Tekst_20">
            <a:extLst>
              <a:ext uri="{FF2B5EF4-FFF2-40B4-BE49-F238E27FC236}">
                <a16:creationId xmlns:a16="http://schemas.microsoft.com/office/drawing/2014/main" id="{7BE38A6F-94B5-51A3-8F5C-938202DC0D9F}"/>
              </a:ext>
            </a:extLst>
          </p:cNvPr>
          <p:cNvSpPr>
            <a:spLocks noGrp="1"/>
          </p:cNvSpPr>
          <p:nvPr/>
        </p:nvSpPr>
        <p:spPr>
          <a:xfrm>
            <a:off x="1257300" y="3124200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ViewModel sprawdza dane i uruchamia zapis.</a:t>
            </a:r>
          </a:p>
        </p:txBody>
      </p:sp>
      <p:sp>
        <p:nvSpPr>
          <p:cNvPr id="15" name="Tekst_21">
            <a:extLst>
              <a:ext uri="{FF2B5EF4-FFF2-40B4-BE49-F238E27FC236}">
                <a16:creationId xmlns:a16="http://schemas.microsoft.com/office/drawing/2014/main" id="{016E9337-6EBB-0205-A26A-3011F79C17AC}"/>
              </a:ext>
            </a:extLst>
          </p:cNvPr>
          <p:cNvSpPr>
            <a:spLocks noGrp="1"/>
          </p:cNvSpPr>
          <p:nvPr/>
        </p:nvSpPr>
        <p:spPr>
          <a:xfrm>
            <a:off x="1257300" y="3829050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3. Stan</a:t>
            </a:r>
          </a:p>
        </p:txBody>
      </p:sp>
      <p:sp>
        <p:nvSpPr>
          <p:cNvPr id="17" name="Tekst_22">
            <a:extLst>
              <a:ext uri="{FF2B5EF4-FFF2-40B4-BE49-F238E27FC236}">
                <a16:creationId xmlns:a16="http://schemas.microsoft.com/office/drawing/2014/main" id="{18A90E51-6758-4A12-98AE-4E822940E45D}"/>
              </a:ext>
            </a:extLst>
          </p:cNvPr>
          <p:cNvSpPr>
            <a:spLocks noGrp="1"/>
          </p:cNvSpPr>
          <p:nvPr/>
        </p:nvSpPr>
        <p:spPr>
          <a:xfrm>
            <a:off x="1257300" y="4133850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ViewModel aktualizuje uiState.</a:t>
            </a:r>
          </a:p>
        </p:txBody>
      </p:sp>
      <p:sp>
        <p:nvSpPr>
          <p:cNvPr id="19" name="Tekst_23">
            <a:extLst>
              <a:ext uri="{FF2B5EF4-FFF2-40B4-BE49-F238E27FC236}">
                <a16:creationId xmlns:a16="http://schemas.microsoft.com/office/drawing/2014/main" id="{7757A505-6027-7627-0E98-D100694E4725}"/>
              </a:ext>
            </a:extLst>
          </p:cNvPr>
          <p:cNvSpPr>
            <a:spLocks noGrp="1"/>
          </p:cNvSpPr>
          <p:nvPr/>
        </p:nvSpPr>
        <p:spPr>
          <a:xfrm>
            <a:off x="1257300" y="4838700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4. Prezentacja</a:t>
            </a:r>
          </a:p>
        </p:txBody>
      </p:sp>
      <p:sp>
        <p:nvSpPr>
          <p:cNvPr id="21" name="Tekst_24">
            <a:extLst>
              <a:ext uri="{FF2B5EF4-FFF2-40B4-BE49-F238E27FC236}">
                <a16:creationId xmlns:a16="http://schemas.microsoft.com/office/drawing/2014/main" id="{9EF900B9-0BBD-D479-3707-B92445C02D6E}"/>
              </a:ext>
            </a:extLst>
          </p:cNvPr>
          <p:cNvSpPr>
            <a:spLocks noGrp="1"/>
          </p:cNvSpPr>
          <p:nvPr/>
        </p:nvSpPr>
        <p:spPr>
          <a:xfrm>
            <a:off x="1257300" y="5143500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/>
              <a:t>Compose </a:t>
            </a:r>
            <a:r>
              <a:rPr dirty="0" err="1"/>
              <a:t>odczytuje</a:t>
            </a:r>
            <a:r>
              <a:rPr dirty="0"/>
              <a:t> </a:t>
            </a:r>
            <a:r>
              <a:rPr dirty="0" err="1"/>
              <a:t>nowy</a:t>
            </a:r>
            <a:r>
              <a:rPr dirty="0"/>
              <a:t> stan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aktualizuje</a:t>
            </a:r>
            <a:r>
              <a:rPr dirty="0"/>
              <a:t> </a:t>
            </a:r>
            <a:r>
              <a:rPr dirty="0" err="1"/>
              <a:t>widok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9868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D499B5-2C08-FDA0-D541-A1A32AF37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14118B-06BC-80A8-6371-3F334D726E9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MVVM</a:t>
            </a:r>
          </a:p>
        </p:txBody>
      </p:sp>
      <p:pic>
        <p:nvPicPr>
          <p:cNvPr id="4" name="Picture 2" descr="ViewModel: for UI business, not UI operations 😮">
            <a:extLst>
              <a:ext uri="{FF2B5EF4-FFF2-40B4-BE49-F238E27FC236}">
                <a16:creationId xmlns:a16="http://schemas.microsoft.com/office/drawing/2014/main" id="{9EC162EE-5D53-811D-953E-D2AB094CE5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9838" y="1268760"/>
            <a:ext cx="7474162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In a typical app architecture, the UI layer gets the application data&#10;    from the data layer or from the optional domain layer, which sits between&#10;    the UI layer and the data layer.">
            <a:extLst>
              <a:ext uri="{FF2B5EF4-FFF2-40B4-BE49-F238E27FC236}">
                <a16:creationId xmlns:a16="http://schemas.microsoft.com/office/drawing/2014/main" id="{2E244745-95DB-1D36-B13A-F6BB867F7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85" y="2564904"/>
            <a:ext cx="3312368" cy="2519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96729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23DD1F-C676-C0FB-C4F3-F277D50AB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F2448BA-36BF-1207-BE7B-A775BD01027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MVVM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FBADC67-9875-D39B-4E83-0FFB6B9AD12F}"/>
              </a:ext>
            </a:extLst>
          </p:cNvPr>
          <p:cNvSpPr txBox="1"/>
          <p:nvPr/>
        </p:nvSpPr>
        <p:spPr>
          <a:xfrm>
            <a:off x="1043608" y="908720"/>
            <a:ext cx="8100392" cy="2798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/>
              <a:t>View</a:t>
            </a:r>
            <a:r>
              <a:rPr lang="pl-PL" sz="1400" dirty="0"/>
              <a:t> (Widok - Kelner): Nasz komponent </a:t>
            </a:r>
            <a:r>
              <a:rPr lang="pl-PL" sz="1400" b="1" dirty="0" err="1"/>
              <a:t>Composable</a:t>
            </a:r>
            <a:r>
              <a:rPr lang="pl-PL" sz="1400" dirty="0"/>
              <a:t>. Jest "</a:t>
            </a:r>
            <a:r>
              <a:rPr lang="pl-PL" sz="1400" i="1" dirty="0"/>
              <a:t>głupi</a:t>
            </a:r>
            <a:r>
              <a:rPr lang="pl-PL" sz="1400" dirty="0"/>
              <a:t>" – nie podejmuje decyzji. Jego zadania to:</a:t>
            </a:r>
          </a:p>
          <a:p>
            <a:pPr marL="628650" lvl="1" indent="-171450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pl-PL" sz="1400" dirty="0"/>
              <a:t>Wyświetlić dane, które otrzymał (</a:t>
            </a:r>
            <a:r>
              <a:rPr lang="pl-PL" sz="1400" dirty="0" err="1"/>
              <a:t>State</a:t>
            </a:r>
            <a:r>
              <a:rPr lang="pl-PL" sz="1400" dirty="0"/>
              <a:t>).</a:t>
            </a:r>
          </a:p>
          <a:p>
            <a:pPr marL="628650" lvl="1" indent="-17145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dirty="0"/>
              <a:t>Poinformować o akcji użytkownika (Event), np. "klient wcisnął przycisk 'Zapisz’”.</a:t>
            </a:r>
          </a:p>
          <a:p>
            <a:pPr marL="171450" indent="-17145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/>
              <a:t>ViewModel</a:t>
            </a:r>
            <a:r>
              <a:rPr lang="pl-PL" sz="1400" dirty="0"/>
              <a:t> (Szef Kuchni): To mózg operacji dla danego ekranu. Przechowuje stan UI (np. czy widoczny jest wskaźnik ładowania, jaka jest zawartość pola tekstowego).Zawiera logikę biznesową (np. co się dzieje po kliknięciu "Zapisz"). Komunikuje się z Modelem, aby pobrać lub zapisać dane. Nie ma żadnej wiedzy o </a:t>
            </a:r>
            <a:r>
              <a:rPr lang="pl-PL" sz="1400" dirty="0" err="1"/>
              <a:t>frameworku</a:t>
            </a:r>
            <a:r>
              <a:rPr lang="pl-PL" sz="1400" dirty="0"/>
              <a:t> UI Androida. Nie wie, czym jest </a:t>
            </a:r>
            <a:r>
              <a:rPr lang="pl-PL" sz="1400" dirty="0" err="1"/>
              <a:t>Composable</a:t>
            </a:r>
            <a:r>
              <a:rPr lang="pl-PL" sz="1400" dirty="0"/>
              <a:t> czy Button.</a:t>
            </a:r>
          </a:p>
          <a:p>
            <a:pPr marL="171450" indent="-17145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/>
              <a:t>Model</a:t>
            </a:r>
            <a:r>
              <a:rPr lang="pl-PL" sz="1400" dirty="0"/>
              <a:t> (Magazyn i Dostawcy): Warstwa danych. Repozytoria, źródła danych (API, baza danych).Odpowiada za dostarczanie i zapisywanie danych.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F131ECD-837B-322A-69A5-2637FF1005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3707243"/>
            <a:ext cx="5328592" cy="31057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318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79FA17-BF5D-CB7C-48BC-8D081A718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4A608B-D001-6010-85BD-FAFDA5CDC90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MVVM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4039091-FEAD-4B1B-7663-D889E726800E}"/>
              </a:ext>
            </a:extLst>
          </p:cNvPr>
          <p:cNvSpPr txBox="1"/>
          <p:nvPr/>
        </p:nvSpPr>
        <p:spPr>
          <a:xfrm>
            <a:off x="1043608" y="1268760"/>
            <a:ext cx="792088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/>
              <a:t>View -&gt; ViewModel</a:t>
            </a:r>
            <a:r>
              <a:rPr lang="pl-PL" sz="1400" dirty="0"/>
              <a:t>: Użytkownik wykonuje akcję (np. klika przycisk), a View informuje o tym ViewModel, wywołując jego funkcję.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/>
              <a:t>ViewModel -&gt; Model</a:t>
            </a:r>
            <a:r>
              <a:rPr lang="pl-PL" sz="1400" dirty="0"/>
              <a:t>: ViewModel przetwarza akcję i prosi Model o </a:t>
            </a:r>
            <a:r>
              <a:rPr lang="pl-PL" sz="1400" dirty="0" err="1"/>
              <a:t>dane.Model</a:t>
            </a:r>
            <a:r>
              <a:rPr lang="pl-PL" sz="1400" dirty="0"/>
              <a:t> -&gt; ViewModel: Model zwraca dane do ViewModel.</a:t>
            </a:r>
          </a:p>
          <a:p>
            <a:pPr marL="171450" indent="-171450" algn="just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/>
              <a:t>ViewModel -&gt; View</a:t>
            </a:r>
            <a:r>
              <a:rPr lang="pl-PL" sz="1400" dirty="0"/>
              <a:t>: ViewModel aktualizuje swój wewnętrzny stan, a View, który ten stan obserwuje, automatycznie odświeża interfejs, aby odzwierciedlić nowe dane.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3C9280F-9CC3-8F3A-2A1E-8E432EA913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272206"/>
            <a:ext cx="5832648" cy="33995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36736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66624A-F79E-0CD8-75AE-C8CDFB182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73C6C55-2CAA-EA78-C995-3DCE97750D7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Zwykła klasa też porządkuje kod</a:t>
            </a:r>
          </a:p>
        </p:txBody>
      </p:sp>
      <p:sp>
        <p:nvSpPr>
          <p:cNvPr id="5" name="Tekst_motywacja_1">
            <a:extLst>
              <a:ext uri="{FF2B5EF4-FFF2-40B4-BE49-F238E27FC236}">
                <a16:creationId xmlns:a16="http://schemas.microsoft.com/office/drawing/2014/main" id="{FD0B1FEA-19BB-1468-13B9-956F82C96006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/>
              <a:t>Stan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funkcje</a:t>
            </a:r>
            <a:r>
              <a:rPr dirty="0"/>
              <a:t> </a:t>
            </a:r>
            <a:r>
              <a:rPr dirty="0" err="1"/>
              <a:t>obsługujące</a:t>
            </a:r>
            <a:r>
              <a:rPr dirty="0"/>
              <a:t> </a:t>
            </a:r>
            <a:r>
              <a:rPr dirty="0" err="1"/>
              <a:t>akcje</a:t>
            </a:r>
            <a:r>
              <a:rPr dirty="0"/>
              <a:t> </a:t>
            </a:r>
            <a:r>
              <a:rPr dirty="0" err="1"/>
              <a:t>można</a:t>
            </a:r>
            <a:r>
              <a:rPr dirty="0"/>
              <a:t> </a:t>
            </a:r>
            <a:r>
              <a:rPr dirty="0" err="1"/>
              <a:t>umieścić</a:t>
            </a:r>
            <a:r>
              <a:rPr dirty="0"/>
              <a:t> w </a:t>
            </a:r>
            <a:r>
              <a:rPr dirty="0" err="1"/>
              <a:t>zwykłej</a:t>
            </a:r>
            <a:r>
              <a:rPr dirty="0"/>
              <a:t> </a:t>
            </a:r>
            <a:r>
              <a:rPr dirty="0" err="1"/>
              <a:t>klasie</a:t>
            </a:r>
            <a:r>
              <a:rPr dirty="0"/>
              <a:t>.</a:t>
            </a:r>
          </a:p>
        </p:txBody>
      </p:sp>
      <p:sp>
        <p:nvSpPr>
          <p:cNvPr id="8" name="Numer slajdu">
            <a:extLst>
              <a:ext uri="{FF2B5EF4-FFF2-40B4-BE49-F238E27FC236}">
                <a16:creationId xmlns:a16="http://schemas.microsoft.com/office/drawing/2014/main" id="{A8EB2174-5239-9B17-22A2-763593877683}"/>
              </a:ext>
            </a:extLst>
          </p:cNvPr>
          <p:cNvSpPr>
            <a:spLocks noGrp="1"/>
          </p:cNvSpPr>
          <p:nvPr/>
        </p:nvSpPr>
        <p:spPr>
          <a:xfrm>
            <a:off x="8496300" y="65817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0" name="Kod_motywacja_0">
            <a:extLst>
              <a:ext uri="{FF2B5EF4-FFF2-40B4-BE49-F238E27FC236}">
                <a16:creationId xmlns:a16="http://schemas.microsoft.com/office/drawing/2014/main" id="{851E834D-0142-2284-E24F-38CCB502984E}"/>
              </a:ext>
            </a:extLst>
          </p:cNvPr>
          <p:cNvSpPr>
            <a:spLocks noGrp="1"/>
          </p:cNvSpPr>
          <p:nvPr/>
        </p:nvSpPr>
        <p:spPr>
          <a:xfrm>
            <a:off x="1257300" y="17145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0039B4"/>
                </a:solidFill>
              </a:rPr>
              <a:t>class</a:t>
            </a:r>
            <a:r>
              <a:rPr>
                <a:solidFill>
                  <a:srgbClr val="161616"/>
                </a:solidFill>
              </a:rPr>
              <a:t> WordStateHolder {</a:t>
            </a:r>
          </a:p>
        </p:txBody>
      </p:sp>
      <p:sp>
        <p:nvSpPr>
          <p:cNvPr id="12" name="Kod_motywacja_1">
            <a:extLst>
              <a:ext uri="{FF2B5EF4-FFF2-40B4-BE49-F238E27FC236}">
                <a16:creationId xmlns:a16="http://schemas.microsoft.com/office/drawing/2014/main" id="{607E185A-5445-6BD4-278E-D3DDCE9285C7}"/>
              </a:ext>
            </a:extLst>
          </p:cNvPr>
          <p:cNvSpPr>
            <a:spLocks noGrp="1"/>
          </p:cNvSpPr>
          <p:nvPr/>
        </p:nvSpPr>
        <p:spPr>
          <a:xfrm>
            <a:off x="1257300" y="19812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var</a:t>
            </a:r>
            <a:r>
              <a:rPr>
                <a:solidFill>
                  <a:srgbClr val="161616"/>
                </a:solidFill>
              </a:rPr>
              <a:t> words </a:t>
            </a:r>
            <a:r>
              <a:rPr>
                <a:solidFill>
                  <a:srgbClr val="0039B4"/>
                </a:solidFill>
              </a:rPr>
              <a:t>by</a:t>
            </a:r>
            <a:r>
              <a:rPr>
                <a:solidFill>
                  <a:srgbClr val="161616"/>
                </a:solidFill>
              </a:rPr>
              <a:t> mutableStateOf(listOf(</a:t>
            </a:r>
            <a:r>
              <a:rPr>
                <a:solidFill>
                  <a:srgbClr val="167529"/>
                </a:solidFill>
              </a:rPr>
              <a:t>"Kotlin"</a:t>
            </a:r>
            <a:r>
              <a:rPr>
                <a:solidFill>
                  <a:srgbClr val="161616"/>
                </a:solidFill>
              </a:rPr>
              <a:t>))</a:t>
            </a:r>
          </a:p>
        </p:txBody>
      </p:sp>
      <p:sp>
        <p:nvSpPr>
          <p:cNvPr id="14" name="Kod_motywacja_2">
            <a:extLst>
              <a:ext uri="{FF2B5EF4-FFF2-40B4-BE49-F238E27FC236}">
                <a16:creationId xmlns:a16="http://schemas.microsoft.com/office/drawing/2014/main" id="{AD57FECC-CA37-32BB-1BA7-B37A1813E67F}"/>
              </a:ext>
            </a:extLst>
          </p:cNvPr>
          <p:cNvSpPr>
            <a:spLocks noGrp="1"/>
          </p:cNvSpPr>
          <p:nvPr/>
        </p:nvSpPr>
        <p:spPr>
          <a:xfrm>
            <a:off x="1257300" y="22479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    </a:t>
            </a:r>
            <a:r>
              <a:rPr>
                <a:solidFill>
                  <a:srgbClr val="0039B4"/>
                </a:solidFill>
              </a:rPr>
              <a:t>private</a:t>
            </a:r>
            <a:r>
              <a:rPr>
                <a:solidFill>
                  <a:srgbClr val="161616"/>
                </a:solidFill>
              </a:rPr>
              <a:t> </a:t>
            </a:r>
            <a:r>
              <a:rPr>
                <a:solidFill>
                  <a:srgbClr val="0039B4"/>
                </a:solidFill>
              </a:rPr>
              <a:t>set</a:t>
            </a:r>
          </a:p>
        </p:txBody>
      </p:sp>
      <p:sp>
        <p:nvSpPr>
          <p:cNvPr id="16" name="Kod_motywacja_3">
            <a:extLst>
              <a:ext uri="{FF2B5EF4-FFF2-40B4-BE49-F238E27FC236}">
                <a16:creationId xmlns:a16="http://schemas.microsoft.com/office/drawing/2014/main" id="{F5CBC2D8-8707-1CD9-663F-E5A5521E9E52}"/>
              </a:ext>
            </a:extLst>
          </p:cNvPr>
          <p:cNvSpPr>
            <a:spLocks noGrp="1"/>
          </p:cNvSpPr>
          <p:nvPr/>
        </p:nvSpPr>
        <p:spPr>
          <a:xfrm>
            <a:off x="1257300" y="25146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endParaRPr/>
          </a:p>
        </p:txBody>
      </p:sp>
      <p:sp>
        <p:nvSpPr>
          <p:cNvPr id="18" name="Kod_motywacja_4">
            <a:extLst>
              <a:ext uri="{FF2B5EF4-FFF2-40B4-BE49-F238E27FC236}">
                <a16:creationId xmlns:a16="http://schemas.microsoft.com/office/drawing/2014/main" id="{CF395B2F-3A99-EA4C-F3A1-38FF66806A8C}"/>
              </a:ext>
            </a:extLst>
          </p:cNvPr>
          <p:cNvSpPr>
            <a:spLocks noGrp="1"/>
          </p:cNvSpPr>
          <p:nvPr/>
        </p:nvSpPr>
        <p:spPr>
          <a:xfrm>
            <a:off x="1257300" y="27813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</a:t>
            </a:r>
            <a:r>
              <a:rPr>
                <a:solidFill>
                  <a:srgbClr val="0039B4"/>
                </a:solidFill>
              </a:rPr>
              <a:t>fun</a:t>
            </a:r>
            <a:r>
              <a:rPr>
                <a:solidFill>
                  <a:srgbClr val="161616"/>
                </a:solidFill>
              </a:rPr>
              <a:t> addWord(text: String) {</a:t>
            </a:r>
          </a:p>
        </p:txBody>
      </p:sp>
      <p:sp>
        <p:nvSpPr>
          <p:cNvPr id="20" name="Kod_motywacja_5">
            <a:extLst>
              <a:ext uri="{FF2B5EF4-FFF2-40B4-BE49-F238E27FC236}">
                <a16:creationId xmlns:a16="http://schemas.microsoft.com/office/drawing/2014/main" id="{50EB5938-4CDA-9645-1B09-9FD82B3B7FE4}"/>
              </a:ext>
            </a:extLst>
          </p:cNvPr>
          <p:cNvSpPr>
            <a:spLocks noGrp="1"/>
          </p:cNvSpPr>
          <p:nvPr/>
        </p:nvSpPr>
        <p:spPr>
          <a:xfrm>
            <a:off x="1257300" y="30480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    </a:t>
            </a:r>
            <a:r>
              <a:rPr>
                <a:solidFill>
                  <a:srgbClr val="0039B4"/>
                </a:solidFill>
              </a:rPr>
              <a:t>val</a:t>
            </a:r>
            <a:r>
              <a:rPr>
                <a:solidFill>
                  <a:srgbClr val="161616"/>
                </a:solidFill>
              </a:rPr>
              <a:t> word = text.trim()</a:t>
            </a:r>
          </a:p>
        </p:txBody>
      </p:sp>
      <p:sp>
        <p:nvSpPr>
          <p:cNvPr id="22" name="Kod_motywacja_6">
            <a:extLst>
              <a:ext uri="{FF2B5EF4-FFF2-40B4-BE49-F238E27FC236}">
                <a16:creationId xmlns:a16="http://schemas.microsoft.com/office/drawing/2014/main" id="{F7C0E19E-0A09-6F9F-1C63-B4E7E6ACA984}"/>
              </a:ext>
            </a:extLst>
          </p:cNvPr>
          <p:cNvSpPr>
            <a:spLocks noGrp="1"/>
          </p:cNvSpPr>
          <p:nvPr/>
        </p:nvSpPr>
        <p:spPr>
          <a:xfrm>
            <a:off x="1257300" y="33147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    </a:t>
            </a:r>
            <a:r>
              <a:rPr>
                <a:solidFill>
                  <a:srgbClr val="0039B4"/>
                </a:solidFill>
              </a:rPr>
              <a:t>if</a:t>
            </a:r>
            <a:r>
              <a:rPr>
                <a:solidFill>
                  <a:srgbClr val="161616"/>
                </a:solidFill>
              </a:rPr>
              <a:t> (word.isNotEmpty()) {</a:t>
            </a:r>
          </a:p>
        </p:txBody>
      </p:sp>
      <p:sp>
        <p:nvSpPr>
          <p:cNvPr id="24" name="Kod_motywacja_7">
            <a:extLst>
              <a:ext uri="{FF2B5EF4-FFF2-40B4-BE49-F238E27FC236}">
                <a16:creationId xmlns:a16="http://schemas.microsoft.com/office/drawing/2014/main" id="{5916BE9E-D136-F359-27A8-676775463578}"/>
              </a:ext>
            </a:extLst>
          </p:cNvPr>
          <p:cNvSpPr>
            <a:spLocks noGrp="1"/>
          </p:cNvSpPr>
          <p:nvPr/>
        </p:nvSpPr>
        <p:spPr>
          <a:xfrm>
            <a:off x="1257300" y="35814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        words = words + word</a:t>
            </a:r>
          </a:p>
        </p:txBody>
      </p:sp>
      <p:sp>
        <p:nvSpPr>
          <p:cNvPr id="26" name="Kod_motywacja_8">
            <a:extLst>
              <a:ext uri="{FF2B5EF4-FFF2-40B4-BE49-F238E27FC236}">
                <a16:creationId xmlns:a16="http://schemas.microsoft.com/office/drawing/2014/main" id="{B4EE9FA4-C02E-830F-5F34-F4195179B13D}"/>
              </a:ext>
            </a:extLst>
          </p:cNvPr>
          <p:cNvSpPr>
            <a:spLocks noGrp="1"/>
          </p:cNvSpPr>
          <p:nvPr/>
        </p:nvSpPr>
        <p:spPr>
          <a:xfrm>
            <a:off x="1257300" y="38481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    }</a:t>
            </a:r>
          </a:p>
        </p:txBody>
      </p:sp>
      <p:sp>
        <p:nvSpPr>
          <p:cNvPr id="28" name="Kod_motywacja_9">
            <a:extLst>
              <a:ext uri="{FF2B5EF4-FFF2-40B4-BE49-F238E27FC236}">
                <a16:creationId xmlns:a16="http://schemas.microsoft.com/office/drawing/2014/main" id="{0CB954D8-724A-1CC5-6491-3420146DCD87}"/>
              </a:ext>
            </a:extLst>
          </p:cNvPr>
          <p:cNvSpPr>
            <a:spLocks noGrp="1"/>
          </p:cNvSpPr>
          <p:nvPr/>
        </p:nvSpPr>
        <p:spPr>
          <a:xfrm>
            <a:off x="1257300" y="41148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    }</a:t>
            </a:r>
          </a:p>
        </p:txBody>
      </p:sp>
      <p:sp>
        <p:nvSpPr>
          <p:cNvPr id="30" name="Kod_motywacja_10">
            <a:extLst>
              <a:ext uri="{FF2B5EF4-FFF2-40B4-BE49-F238E27FC236}">
                <a16:creationId xmlns:a16="http://schemas.microsoft.com/office/drawing/2014/main" id="{D5888095-DE38-84C9-4B4D-83821781EF51}"/>
              </a:ext>
            </a:extLst>
          </p:cNvPr>
          <p:cNvSpPr>
            <a:spLocks noGrp="1"/>
          </p:cNvSpPr>
          <p:nvPr/>
        </p:nvSpPr>
        <p:spPr>
          <a:xfrm>
            <a:off x="1257300" y="4381500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lvl9pPr>
          </a:lstStyle>
          <a:p>
            <a:pPr algn="l"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61616"/>
                </a:solidFill>
                <a:latin typeface="Courier New"/>
                <a:ea typeface="Courier New"/>
                <a:cs typeface="Courier New"/>
              </a:defRPr>
            </a:pPr>
            <a:r>
              <a:rPr>
                <a:solidFill>
                  <a:srgbClr val="161616"/>
                </a:solidFill>
              </a:rPr>
              <a:t>}</a:t>
            </a:r>
          </a:p>
        </p:txBody>
      </p:sp>
      <p:sp>
        <p:nvSpPr>
          <p:cNvPr id="32" name="Tekst_motywacja_2">
            <a:extLst>
              <a:ext uri="{FF2B5EF4-FFF2-40B4-BE49-F238E27FC236}">
                <a16:creationId xmlns:a16="http://schemas.microsoft.com/office/drawing/2014/main" id="{279C2CC9-EBF1-13BC-E928-F83F30E9F7E7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76009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mutableStateOf zapewnia obserwowalność dla Compose.</a:t>
            </a:r>
          </a:p>
        </p:txBody>
      </p:sp>
      <p:sp>
        <p:nvSpPr>
          <p:cNvPr id="34" name="Tekst_motywacja_3">
            <a:extLst>
              <a:ext uri="{FF2B5EF4-FFF2-40B4-BE49-F238E27FC236}">
                <a16:creationId xmlns:a16="http://schemas.microsoft.com/office/drawing/2014/main" id="{346CBF59-0993-764D-361C-9B530F8356F6}"/>
              </a:ext>
            </a:extLst>
          </p:cNvPr>
          <p:cNvSpPr>
            <a:spLocks noGrp="1"/>
          </p:cNvSpPr>
          <p:nvPr/>
        </p:nvSpPr>
        <p:spPr>
          <a:xfrm>
            <a:off x="1257300" y="5619750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Pozostaje decyzja: kto tworzy i przechowuje tę instancję?</a:t>
            </a:r>
          </a:p>
        </p:txBody>
      </p:sp>
    </p:spTree>
    <p:extLst>
      <p:ext uri="{BB962C8B-B14F-4D97-AF65-F5344CB8AC3E}">
        <p14:creationId xmlns:p14="http://schemas.microsoft.com/office/powerpoint/2010/main" val="3244046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50DFFA3-095D-B343-0AC1-6C60B778E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3649D2-C32C-0C65-1B1C-2E94ED77D3F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Rekompozycja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odtworzenie Activity</a:t>
            </a:r>
          </a:p>
        </p:txBody>
      </p:sp>
      <p:sp>
        <p:nvSpPr>
          <p:cNvPr id="4" name="Tekst_motywacja_4">
            <a:extLst>
              <a:ext uri="{FF2B5EF4-FFF2-40B4-BE49-F238E27FC236}">
                <a16:creationId xmlns:a16="http://schemas.microsoft.com/office/drawing/2014/main" id="{3A722B44-BE55-21CC-2B94-E129D54EB308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400" dirty="0" err="1"/>
              <a:t>Porównujemy</a:t>
            </a:r>
            <a:r>
              <a:rPr sz="2400" dirty="0"/>
              <a:t> </a:t>
            </a:r>
            <a:r>
              <a:rPr sz="2400" dirty="0" err="1"/>
              <a:t>obiekty</a:t>
            </a:r>
            <a:r>
              <a:rPr sz="2400" dirty="0"/>
              <a:t> </a:t>
            </a:r>
            <a:r>
              <a:rPr sz="2400" dirty="0" err="1"/>
              <a:t>tworzone</a:t>
            </a:r>
            <a:r>
              <a:rPr sz="2400" dirty="0"/>
              <a:t> w </a:t>
            </a:r>
            <a:r>
              <a:rPr sz="2400" dirty="0" err="1"/>
              <a:t>funkcji</a:t>
            </a:r>
            <a:r>
              <a:rPr sz="2400" dirty="0"/>
              <a:t> Composable.</a:t>
            </a:r>
          </a:p>
        </p:txBody>
      </p:sp>
      <p:sp>
        <p:nvSpPr>
          <p:cNvPr id="7" name="Numer slajdu">
            <a:extLst>
              <a:ext uri="{FF2B5EF4-FFF2-40B4-BE49-F238E27FC236}">
                <a16:creationId xmlns:a16="http://schemas.microsoft.com/office/drawing/2014/main" id="{CFB5042D-D107-DE73-A42E-77DAA4E5CC3B}"/>
              </a:ext>
            </a:extLst>
          </p:cNvPr>
          <p:cNvSpPr>
            <a:spLocks noGrp="1"/>
          </p:cNvSpPr>
          <p:nvPr/>
        </p:nvSpPr>
        <p:spPr>
          <a:xfrm>
            <a:off x="8496300" y="65817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01576B63-7E99-FCCE-BA3D-E284C01977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34846947"/>
              </p:ext>
            </p:extLst>
          </p:nvPr>
        </p:nvGraphicFramePr>
        <p:xfrm>
          <a:off x="1257300" y="1762125"/>
          <a:ext cx="7600950" cy="3867150"/>
        </p:xfrm>
        <a:graphic>
          <a:graphicData uri="http://schemas.openxmlformats.org/drawingml/2006/table">
            <a:tbl>
              <a:tblPr/>
              <a:tblGrid>
                <a:gridCol w="32426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40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239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Sposób uzyskania obiektu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Rekompozycja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Po odtworzeniu Activity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WordStateHolder()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Nowy obiekt przy wykonaniu tej instrukcji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Nowy obiekt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600" b="1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remember {</a:t>
                      </a:r>
                      <a:r>
                        <a:rPr sz="1600" b="1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WordStateHolder</a:t>
                      </a:r>
                      <a:r>
                        <a:rPr sz="1600" b="1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()}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Ta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sama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instancja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w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tym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miejscu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kompozycji</a:t>
                      </a:r>
                      <a:endParaRPr sz="1600" b="0" dirty="0">
                        <a:solidFill>
                          <a:srgbClr val="1616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Nowy obiekt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77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1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viewModel</a:t>
                      </a:r>
                      <a:r>
                        <a:rPr sz="1600" b="1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()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Ta sama instancja dla właściciela i klucza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Ta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sama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instancja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przy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zmianie</a:t>
                      </a:r>
                      <a:r>
                        <a:rPr sz="1600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konfiguracji</a:t>
                      </a:r>
                      <a:endParaRPr sz="1600" b="0" dirty="0">
                        <a:solidFill>
                          <a:srgbClr val="1616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kst_motywacja_5">
            <a:extLst>
              <a:ext uri="{FF2B5EF4-FFF2-40B4-BE49-F238E27FC236}">
                <a16:creationId xmlns:a16="http://schemas.microsoft.com/office/drawing/2014/main" id="{0FD6A101-3DBF-491D-24EF-F8EF39D46F6F}"/>
              </a:ext>
            </a:extLst>
          </p:cNvPr>
          <p:cNvSpPr>
            <a:spLocks noGrp="1"/>
          </p:cNvSpPr>
          <p:nvPr/>
        </p:nvSpPr>
        <p:spPr>
          <a:xfrm>
            <a:off x="1257300" y="6000750"/>
            <a:ext cx="76009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/>
              <a:t>remember </a:t>
            </a:r>
            <a:r>
              <a:rPr dirty="0" err="1"/>
              <a:t>zachowuje</a:t>
            </a:r>
            <a:r>
              <a:rPr dirty="0"/>
              <a:t> </a:t>
            </a:r>
            <a:r>
              <a:rPr dirty="0" err="1"/>
              <a:t>obiekt</a:t>
            </a:r>
            <a:r>
              <a:rPr dirty="0"/>
              <a:t> w </a:t>
            </a:r>
            <a:r>
              <a:rPr dirty="0" err="1"/>
              <a:t>kompozycji</a:t>
            </a:r>
            <a:r>
              <a:rPr dirty="0"/>
              <a:t>. </a:t>
            </a:r>
            <a:r>
              <a:rPr dirty="0" err="1"/>
              <a:t>Obrót</a:t>
            </a:r>
            <a:r>
              <a:rPr dirty="0"/>
              <a:t> </a:t>
            </a:r>
            <a:r>
              <a:rPr dirty="0" err="1"/>
              <a:t>zwykle</a:t>
            </a:r>
            <a:r>
              <a:rPr dirty="0"/>
              <a:t> </a:t>
            </a:r>
            <a:r>
              <a:rPr dirty="0" err="1"/>
              <a:t>odtwarza</a:t>
            </a:r>
            <a:r>
              <a:rPr dirty="0"/>
              <a:t> Activity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jej</a:t>
            </a:r>
            <a:r>
              <a:rPr dirty="0"/>
              <a:t> </a:t>
            </a:r>
            <a:r>
              <a:rPr dirty="0" err="1"/>
              <a:t>kompozycję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26915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6F9B0-A294-5832-F341-7A5480CAB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8125AD-F26F-2C75-D994-EF7CA8D7698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" name="Tekst_motywacja_6">
            <a:extLst>
              <a:ext uri="{FF2B5EF4-FFF2-40B4-BE49-F238E27FC236}">
                <a16:creationId xmlns:a16="http://schemas.microsoft.com/office/drawing/2014/main" id="{1E46623E-7C63-B460-C92C-6C2DE1B783AD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00" dirty="0"/>
              <a:t>Otrzymujemy </a:t>
            </a:r>
            <a:r>
              <a:rPr sz="2000" dirty="0" err="1"/>
              <a:t>gotowy</a:t>
            </a:r>
            <a:r>
              <a:rPr sz="2000" dirty="0"/>
              <a:t> </a:t>
            </a:r>
            <a:r>
              <a:rPr sz="2000" dirty="0" err="1"/>
              <a:t>mechanizm</a:t>
            </a:r>
            <a:r>
              <a:rPr sz="2000" dirty="0"/>
              <a:t> </a:t>
            </a:r>
            <a:r>
              <a:rPr sz="2000" dirty="0" err="1"/>
              <a:t>zarządzania</a:t>
            </a:r>
            <a:r>
              <a:rPr sz="2000" dirty="0"/>
              <a:t> </a:t>
            </a:r>
            <a:r>
              <a:rPr sz="2000" dirty="0" err="1"/>
              <a:t>stanem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sz="2000" dirty="0" err="1"/>
              <a:t>zadaniami</a:t>
            </a:r>
            <a:r>
              <a:rPr sz="2000" dirty="0"/>
              <a:t> </a:t>
            </a:r>
            <a:r>
              <a:rPr sz="2000" dirty="0" err="1"/>
              <a:t>ekranu</a:t>
            </a:r>
            <a:r>
              <a:rPr sz="2000" dirty="0"/>
              <a:t>.</a:t>
            </a:r>
          </a:p>
        </p:txBody>
      </p:sp>
      <p:sp>
        <p:nvSpPr>
          <p:cNvPr id="8" name="Numer slajdu">
            <a:extLst>
              <a:ext uri="{FF2B5EF4-FFF2-40B4-BE49-F238E27FC236}">
                <a16:creationId xmlns:a16="http://schemas.microsoft.com/office/drawing/2014/main" id="{B3327446-6604-43DF-F860-491085C9BF4A}"/>
              </a:ext>
            </a:extLst>
          </p:cNvPr>
          <p:cNvSpPr>
            <a:spLocks noGrp="1"/>
          </p:cNvSpPr>
          <p:nvPr/>
        </p:nvSpPr>
        <p:spPr>
          <a:xfrm>
            <a:off x="8496300" y="65817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  <a:lvl1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1pPr>
            <a:lvl2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2pPr>
            <a:lvl3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3pPr>
            <a:lvl4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4pPr>
            <a:lvl5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5pPr>
            <a:lvl6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6pPr>
            <a:lvl7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7pPr>
            <a:lvl8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8pPr>
            <a:lvl9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buNone/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10" name="Tekst_motywacja_7">
            <a:extLst>
              <a:ext uri="{FF2B5EF4-FFF2-40B4-BE49-F238E27FC236}">
                <a16:creationId xmlns:a16="http://schemas.microsoft.com/office/drawing/2014/main" id="{79D2F852-81FC-38F5-7DFE-008987A7C244}"/>
              </a:ext>
            </a:extLst>
          </p:cNvPr>
          <p:cNvSpPr>
            <a:spLocks noGrp="1"/>
          </p:cNvSpPr>
          <p:nvPr/>
        </p:nvSpPr>
        <p:spPr>
          <a:xfrm>
            <a:off x="1257300" y="1762125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Właściciel</a:t>
            </a:r>
            <a:r>
              <a:rPr dirty="0"/>
              <a:t> </a:t>
            </a:r>
            <a:r>
              <a:rPr dirty="0" err="1"/>
              <a:t>instancji</a:t>
            </a:r>
            <a:endParaRPr dirty="0"/>
          </a:p>
        </p:txBody>
      </p:sp>
      <p:sp>
        <p:nvSpPr>
          <p:cNvPr id="13" name="Tekst_motywacja_8">
            <a:extLst>
              <a:ext uri="{FF2B5EF4-FFF2-40B4-BE49-F238E27FC236}">
                <a16:creationId xmlns:a16="http://schemas.microsoft.com/office/drawing/2014/main" id="{55979F17-D1C1-6743-9C6A-E9530B550924}"/>
              </a:ext>
            </a:extLst>
          </p:cNvPr>
          <p:cNvSpPr>
            <a:spLocks noGrp="1"/>
          </p:cNvSpPr>
          <p:nvPr/>
        </p:nvSpPr>
        <p:spPr>
          <a:xfrm>
            <a:off x="1257300" y="2066925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/>
              <a:t>Activity </a:t>
            </a:r>
            <a:r>
              <a:rPr dirty="0" err="1"/>
              <a:t>albo</a:t>
            </a:r>
            <a:r>
              <a:rPr dirty="0"/>
              <a:t> </a:t>
            </a:r>
            <a:r>
              <a:rPr dirty="0" err="1"/>
              <a:t>wpis</a:t>
            </a:r>
            <a:r>
              <a:rPr dirty="0"/>
              <a:t> </a:t>
            </a:r>
            <a:r>
              <a:rPr dirty="0" err="1"/>
              <a:t>lub</a:t>
            </a:r>
            <a:r>
              <a:rPr dirty="0"/>
              <a:t> </a:t>
            </a:r>
            <a:r>
              <a:rPr dirty="0" err="1"/>
              <a:t>graf</a:t>
            </a:r>
            <a:r>
              <a:rPr lang="pl-PL" dirty="0" err="1"/>
              <a:t>ie</a:t>
            </a:r>
            <a:r>
              <a:rPr dirty="0"/>
              <a:t> </a:t>
            </a:r>
            <a:r>
              <a:rPr dirty="0" err="1"/>
              <a:t>nawigacji</a:t>
            </a:r>
            <a:r>
              <a:rPr dirty="0"/>
              <a:t> </a:t>
            </a:r>
            <a:r>
              <a:rPr dirty="0" err="1"/>
              <a:t>przechowuje</a:t>
            </a:r>
            <a:r>
              <a:rPr dirty="0"/>
              <a:t> </a:t>
            </a:r>
            <a:r>
              <a:rPr dirty="0" err="1"/>
              <a:t>ViewModel</a:t>
            </a:r>
            <a:r>
              <a:rPr dirty="0"/>
              <a:t>.</a:t>
            </a:r>
          </a:p>
        </p:txBody>
      </p:sp>
      <p:sp>
        <p:nvSpPr>
          <p:cNvPr id="16" name="Tekst_motywacja_9">
            <a:extLst>
              <a:ext uri="{FF2B5EF4-FFF2-40B4-BE49-F238E27FC236}">
                <a16:creationId xmlns:a16="http://schemas.microsoft.com/office/drawing/2014/main" id="{E3E37172-AFBA-439E-D94C-236FE103DABC}"/>
              </a:ext>
            </a:extLst>
          </p:cNvPr>
          <p:cNvSpPr>
            <a:spLocks noGrp="1"/>
          </p:cNvSpPr>
          <p:nvPr/>
        </p:nvSpPr>
        <p:spPr>
          <a:xfrm>
            <a:off x="1257300" y="2771775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Zmiana konfiguracji</a:t>
            </a:r>
          </a:p>
        </p:txBody>
      </p:sp>
      <p:sp>
        <p:nvSpPr>
          <p:cNvPr id="18" name="Tekst_motywacja_10">
            <a:extLst>
              <a:ext uri="{FF2B5EF4-FFF2-40B4-BE49-F238E27FC236}">
                <a16:creationId xmlns:a16="http://schemas.microsoft.com/office/drawing/2014/main" id="{A3791A0D-48E7-2B64-4AA4-F921F0E31880}"/>
              </a:ext>
            </a:extLst>
          </p:cNvPr>
          <p:cNvSpPr>
            <a:spLocks noGrp="1"/>
          </p:cNvSpPr>
          <p:nvPr/>
        </p:nvSpPr>
        <p:spPr>
          <a:xfrm>
            <a:off x="1257300" y="3076575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Odtworzony ekran korzysta z tego samego stanu i trwającego zadania.</a:t>
            </a:r>
          </a:p>
        </p:txBody>
      </p:sp>
      <p:sp>
        <p:nvSpPr>
          <p:cNvPr id="20" name="Tekst_motywacja_11">
            <a:extLst>
              <a:ext uri="{FF2B5EF4-FFF2-40B4-BE49-F238E27FC236}">
                <a16:creationId xmlns:a16="http://schemas.microsoft.com/office/drawing/2014/main" id="{F5AA2F9D-D529-95D7-A709-4DF2218A37A5}"/>
              </a:ext>
            </a:extLst>
          </p:cNvPr>
          <p:cNvSpPr>
            <a:spLocks noGrp="1"/>
          </p:cNvSpPr>
          <p:nvPr/>
        </p:nvSpPr>
        <p:spPr>
          <a:xfrm>
            <a:off x="1257300" y="3781425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Zakończenie pracy</a:t>
            </a:r>
          </a:p>
        </p:txBody>
      </p:sp>
      <p:sp>
        <p:nvSpPr>
          <p:cNvPr id="22" name="Tekst_motywacja_12">
            <a:extLst>
              <a:ext uri="{FF2B5EF4-FFF2-40B4-BE49-F238E27FC236}">
                <a16:creationId xmlns:a16="http://schemas.microsoft.com/office/drawing/2014/main" id="{6ADBCFA8-AE19-1FC9-A18C-F53F3922E167}"/>
              </a:ext>
            </a:extLst>
          </p:cNvPr>
          <p:cNvSpPr>
            <a:spLocks noGrp="1"/>
          </p:cNvSpPr>
          <p:nvPr/>
        </p:nvSpPr>
        <p:spPr>
          <a:xfrm>
            <a:off x="1257300" y="4086225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Usunięcie ViewModelu anuluje viewModelScope. onCleared pozwala zwolnić zasoby.</a:t>
            </a:r>
          </a:p>
        </p:txBody>
      </p:sp>
      <p:sp>
        <p:nvSpPr>
          <p:cNvPr id="24" name="Tekst_motywacja_13">
            <a:extLst>
              <a:ext uri="{FF2B5EF4-FFF2-40B4-BE49-F238E27FC236}">
                <a16:creationId xmlns:a16="http://schemas.microsoft.com/office/drawing/2014/main" id="{DE18BD14-2A56-A566-409F-391AE7A2129E}"/>
              </a:ext>
            </a:extLst>
          </p:cNvPr>
          <p:cNvSpPr>
            <a:spLocks noGrp="1"/>
          </p:cNvSpPr>
          <p:nvPr/>
        </p:nvSpPr>
        <p:spPr>
          <a:xfrm>
            <a:off x="1257300" y="4791075"/>
            <a:ext cx="7600950" cy="295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Wybór rozwiązania</a:t>
            </a:r>
          </a:p>
        </p:txBody>
      </p:sp>
      <p:sp>
        <p:nvSpPr>
          <p:cNvPr id="26" name="Tekst_motywacja_14">
            <a:extLst>
              <a:ext uri="{FF2B5EF4-FFF2-40B4-BE49-F238E27FC236}">
                <a16:creationId xmlns:a16="http://schemas.microsoft.com/office/drawing/2014/main" id="{6D2F3AB2-805D-CFB3-0D9A-B13D634090D0}"/>
              </a:ext>
            </a:extLst>
          </p:cNvPr>
          <p:cNvSpPr>
            <a:spLocks noGrp="1"/>
          </p:cNvSpPr>
          <p:nvPr/>
        </p:nvSpPr>
        <p:spPr>
          <a:xfrm>
            <a:off x="1257300" y="5095875"/>
            <a:ext cx="76009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80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ViewModel dla stanu i operacji ekranu. Zwykła klasa wystarcza np. do lokalnej logiki UI.</a:t>
            </a:r>
          </a:p>
        </p:txBody>
      </p:sp>
      <p:sp>
        <p:nvSpPr>
          <p:cNvPr id="28" name="Tekst_motywacja_15">
            <a:extLst>
              <a:ext uri="{FF2B5EF4-FFF2-40B4-BE49-F238E27FC236}">
                <a16:creationId xmlns:a16="http://schemas.microsoft.com/office/drawing/2014/main" id="{534F5B0A-FE20-D681-1A48-CCA2ADF25EFC}"/>
              </a:ext>
            </a:extLst>
          </p:cNvPr>
          <p:cNvSpPr>
            <a:spLocks noGrp="1"/>
          </p:cNvSpPr>
          <p:nvPr/>
        </p:nvSpPr>
        <p:spPr>
          <a:xfrm>
            <a:off x="1257300" y="6076950"/>
            <a:ext cx="760095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buNone/>
              <a:defRPr sz="15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Korzystamy z viewModel() / ViewModelProvider. Samo WordViewModel() nie zapewnia zachowania instancji.</a:t>
            </a:r>
          </a:p>
        </p:txBody>
      </p:sp>
      <p:sp>
        <p:nvSpPr>
          <p:cNvPr id="32" name="Nagłówek">
            <a:extLst>
              <a:ext uri="{FF2B5EF4-FFF2-40B4-BE49-F238E27FC236}">
                <a16:creationId xmlns:a16="http://schemas.microsoft.com/office/drawing/2014/main" id="{F95D19E5-F4DC-BF91-408A-207EAC1068E6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>
            <a:pPr algn="ctr">
              <a:buNone/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dirty="0"/>
              <a:t>Po co AndroidX </a:t>
            </a:r>
            <a:r>
              <a:rPr dirty="0" err="1"/>
              <a:t>ViewModel</a:t>
            </a:r>
            <a:r>
              <a:rPr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301875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C734A6-96CD-E0AC-A25B-D05B3DFA4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3CDA68-15BE-F66B-5ACE-EC1FD7B1F1B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Tekst_zapis_1">
            <a:extLst>
              <a:ext uri="{FF2B5EF4-FFF2-40B4-BE49-F238E27FC236}">
                <a16:creationId xmlns:a16="http://schemas.microsoft.com/office/drawing/2014/main" id="{43A156A5-CD40-096D-FEDA-A0D6C3421F45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Oba pomagają po obrocie ekranu, ale robią to inaczej.</a:t>
            </a:r>
          </a:p>
        </p:txBody>
      </p:sp>
      <p:sp>
        <p:nvSpPr>
          <p:cNvPr id="7" name="Numer slajdu">
            <a:extLst>
              <a:ext uri="{FF2B5EF4-FFF2-40B4-BE49-F238E27FC236}">
                <a16:creationId xmlns:a16="http://schemas.microsoft.com/office/drawing/2014/main" id="{CE88B84F-2097-893D-9D8A-8FB0D7AD18CD}"/>
              </a:ext>
            </a:extLst>
          </p:cNvPr>
          <p:cNvSpPr>
            <a:spLocks noGrp="1"/>
          </p:cNvSpPr>
          <p:nvPr/>
        </p:nvSpPr>
        <p:spPr>
          <a:xfrm>
            <a:off x="8496300" y="65817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6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4C18F55-E2C5-B93C-1133-7A9458C52C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5224795"/>
              </p:ext>
            </p:extLst>
          </p:nvPr>
        </p:nvGraphicFramePr>
        <p:xfrm>
          <a:off x="1257300" y="1647825"/>
          <a:ext cx="7600950" cy="453390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75" b="1" dirty="0" err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Cecha</a:t>
                      </a:r>
                      <a:endParaRPr sz="1575" b="1" dirty="0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rememberSaveable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ViewModel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5AA8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Co </a:t>
                      </a:r>
                      <a:r>
                        <a:rPr sz="1600" b="1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zachowuje</a:t>
                      </a:r>
                      <a:r>
                        <a:rPr sz="1600" b="1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?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Zapisane wartości. Odtwarza stan w nowej kompozycji.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Instancję w pamięci wraz ze stanem ekranu.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Obrót ekranu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Przywraca wartość, np. tekst lub wybór.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Zachowuje ten sam obiekt i jego zadania.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90600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Korutyna</a:t>
                      </a: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Nie zachowuje działającego zadania.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viewModelScope działa dalej przy zmianie konfiguracji.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5F1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6680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Zakończenie</a:t>
                      </a:r>
                      <a:r>
                        <a:rPr sz="1600" b="1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600" b="1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procesu</a:t>
                      </a:r>
                      <a:endParaRPr sz="1600" b="1" dirty="0">
                        <a:solidFill>
                          <a:srgbClr val="161616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Może odtworzyć zapisane wartości.*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75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Nowa </a:t>
                      </a:r>
                      <a:r>
                        <a:rPr sz="1575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instancja</a:t>
                      </a:r>
                      <a:r>
                        <a:rPr sz="1575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. </a:t>
                      </a:r>
                      <a:r>
                        <a:rPr sz="1575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Małe</a:t>
                      </a:r>
                      <a:r>
                        <a:rPr sz="1575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wartości</a:t>
                      </a:r>
                      <a:r>
                        <a:rPr sz="1575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</a:t>
                      </a:r>
                      <a:r>
                        <a:rPr sz="1575" b="0" dirty="0" err="1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odtwarza</a:t>
                      </a:r>
                      <a:r>
                        <a:rPr sz="1575" b="0" dirty="0">
                          <a:solidFill>
                            <a:srgbClr val="161616"/>
                          </a:solidFill>
                          <a:latin typeface="Arial"/>
                          <a:ea typeface="Arial"/>
                          <a:cs typeface="Arial"/>
                        </a:rPr>
                        <a:t> SavedStateHandle.*</a:t>
                      </a:r>
                    </a:p>
                  </a:txBody>
                  <a:tcPr anchor="ctr">
                    <a:lnL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4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Tekst_zapis_2">
            <a:extLst>
              <a:ext uri="{FF2B5EF4-FFF2-40B4-BE49-F238E27FC236}">
                <a16:creationId xmlns:a16="http://schemas.microsoft.com/office/drawing/2014/main" id="{2B876036-BDBB-516C-10B5-1375A3021713}"/>
              </a:ext>
            </a:extLst>
          </p:cNvPr>
          <p:cNvSpPr>
            <a:spLocks noGrp="1"/>
          </p:cNvSpPr>
          <p:nvPr/>
        </p:nvSpPr>
        <p:spPr>
          <a:xfrm>
            <a:off x="1257300" y="6296025"/>
            <a:ext cx="76009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425" b="0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/>
              <a:t>* </a:t>
            </a:r>
            <a:r>
              <a:rPr dirty="0" err="1"/>
              <a:t>Przy</a:t>
            </a:r>
            <a:r>
              <a:rPr dirty="0"/>
              <a:t> </a:t>
            </a:r>
            <a:r>
              <a:rPr dirty="0" err="1"/>
              <a:t>odtworzeniu</a:t>
            </a:r>
            <a:r>
              <a:rPr dirty="0"/>
              <a:t> </a:t>
            </a:r>
            <a:r>
              <a:rPr dirty="0" err="1"/>
              <a:t>zapisanego</a:t>
            </a:r>
            <a:r>
              <a:rPr dirty="0"/>
              <a:t> </a:t>
            </a:r>
            <a:r>
              <a:rPr dirty="0" err="1"/>
              <a:t>stanu</a:t>
            </a:r>
            <a:r>
              <a:rPr dirty="0"/>
              <a:t> </a:t>
            </a:r>
            <a:r>
              <a:rPr dirty="0" err="1"/>
              <a:t>zadania</a:t>
            </a:r>
            <a:r>
              <a:rPr dirty="0"/>
              <a:t> </a:t>
            </a:r>
            <a:r>
              <a:rPr dirty="0" err="1"/>
              <a:t>przez</a:t>
            </a:r>
            <a:r>
              <a:rPr dirty="0"/>
              <a:t> system.</a:t>
            </a:r>
          </a:p>
        </p:txBody>
      </p:sp>
      <p:sp>
        <p:nvSpPr>
          <p:cNvPr id="17" name="Nagłówek">
            <a:extLst>
              <a:ext uri="{FF2B5EF4-FFF2-40B4-BE49-F238E27FC236}">
                <a16:creationId xmlns:a16="http://schemas.microsoft.com/office/drawing/2014/main" id="{4731132F-0C1D-F392-4391-1D304B7F6033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dirty="0" err="1"/>
              <a:t>ViewModel</a:t>
            </a:r>
            <a:r>
              <a:rPr dirty="0"/>
              <a:t> a </a:t>
            </a:r>
            <a:r>
              <a:rPr dirty="0" err="1"/>
              <a:t>rememberSaveable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85367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1198DA-B106-3F47-EBFC-82207E144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E0338C2-5DBA-3295-CB2E-DE270B409AA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MVVM</a:t>
            </a:r>
          </a:p>
        </p:txBody>
      </p:sp>
      <p:pic>
        <p:nvPicPr>
          <p:cNvPr id="3" name="Picture 4" descr="Store data in ViewModel">
            <a:extLst>
              <a:ext uri="{FF2B5EF4-FFF2-40B4-BE49-F238E27FC236}">
                <a16:creationId xmlns:a16="http://schemas.microsoft.com/office/drawing/2014/main" id="{AAFE6A91-CF48-DD5B-BD7D-1C1D1E553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864096"/>
            <a:ext cx="7370282" cy="599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748720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06BE58-D75E-D074-1F77-EDE2C5C0A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główek">
            <a:extLst>
              <a:ext uri="{FF2B5EF4-FFF2-40B4-BE49-F238E27FC236}">
                <a16:creationId xmlns:a16="http://schemas.microsoft.com/office/drawing/2014/main" id="{745FA892-7120-DBE6-791F-7475B58214FB}"/>
              </a:ext>
            </a:extLst>
          </p:cNvPr>
          <p:cNvSpPr>
            <a:spLocks noGrp="1"/>
          </p:cNvSpPr>
          <p:nvPr/>
        </p:nvSpPr>
        <p:spPr>
          <a:xfrm>
            <a:off x="1828800" y="190500"/>
            <a:ext cx="70866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defPPr>
            <a:lvl1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1pPr>
            <a:lvl2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2pPr>
            <a:lvl3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3pPr>
            <a:lvl4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4pPr>
            <a:lvl5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5pPr>
            <a:lvl6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6pPr>
            <a:lvl7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7pPr>
            <a:lvl8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8pPr>
            <a:lvl9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lvl9pPr>
          </a:lstStyle>
          <a:p>
            <a:pPr algn="ctr">
              <a:defRPr sz="2475" b="0">
                <a:solidFill>
                  <a:srgbClr val="FFFFFF"/>
                </a:solidFill>
                <a:latin typeface="Verdana"/>
                <a:ea typeface="Verdana"/>
                <a:cs typeface="Verdana"/>
              </a:defRPr>
            </a:pPr>
            <a:r>
              <a:rPr dirty="0" err="1"/>
              <a:t>Który</a:t>
            </a:r>
            <a:r>
              <a:rPr dirty="0"/>
              <a:t> </a:t>
            </a:r>
            <a:r>
              <a:rPr dirty="0" err="1"/>
              <a:t>mechanizm</a:t>
            </a:r>
            <a:r>
              <a:rPr dirty="0"/>
              <a:t> </a:t>
            </a:r>
            <a:r>
              <a:rPr dirty="0" err="1"/>
              <a:t>wybrać</a:t>
            </a:r>
            <a:r>
              <a:rPr dirty="0"/>
              <a:t>?</a:t>
            </a:r>
          </a:p>
        </p:txBody>
      </p:sp>
      <p:sp>
        <p:nvSpPr>
          <p:cNvPr id="7" name="Tekst_zapis_3">
            <a:extLst>
              <a:ext uri="{FF2B5EF4-FFF2-40B4-BE49-F238E27FC236}">
                <a16:creationId xmlns:a16="http://schemas.microsoft.com/office/drawing/2014/main" id="{E01A1731-B376-9D58-FD3E-0E390EB12782}"/>
              </a:ext>
            </a:extLst>
          </p:cNvPr>
          <p:cNvSpPr>
            <a:spLocks noGrp="1"/>
          </p:cNvSpPr>
          <p:nvPr/>
        </p:nvSpPr>
        <p:spPr>
          <a:xfrm>
            <a:off x="1257300" y="1000125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650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sz="2000" dirty="0" err="1"/>
              <a:t>Decyduje</a:t>
            </a:r>
            <a:r>
              <a:rPr sz="2000" dirty="0"/>
              <a:t> </a:t>
            </a:r>
            <a:r>
              <a:rPr sz="2000" dirty="0" err="1"/>
              <a:t>przeznaczenie</a:t>
            </a:r>
            <a:r>
              <a:rPr sz="2000" dirty="0"/>
              <a:t> </a:t>
            </a:r>
            <a:r>
              <a:rPr sz="2000" dirty="0" err="1"/>
              <a:t>stanu</a:t>
            </a:r>
            <a:r>
              <a:rPr sz="2000" dirty="0"/>
              <a:t> </a:t>
            </a:r>
            <a:r>
              <a:rPr sz="2000" dirty="0" err="1"/>
              <a:t>i</a:t>
            </a:r>
            <a:r>
              <a:rPr sz="2000" dirty="0"/>
              <a:t> </a:t>
            </a:r>
            <a:r>
              <a:rPr sz="2000" dirty="0" err="1"/>
              <a:t>logika</a:t>
            </a:r>
            <a:r>
              <a:rPr sz="2000" dirty="0"/>
              <a:t>, </a:t>
            </a:r>
            <a:r>
              <a:rPr sz="2000" dirty="0" err="1"/>
              <a:t>która</a:t>
            </a:r>
            <a:r>
              <a:rPr sz="2000" dirty="0"/>
              <a:t> z </a:t>
            </a:r>
            <a:r>
              <a:rPr sz="2000" dirty="0" err="1"/>
              <a:t>niego</a:t>
            </a:r>
            <a:r>
              <a:rPr sz="2000" dirty="0"/>
              <a:t> </a:t>
            </a:r>
            <a:r>
              <a:rPr sz="2000" dirty="0" err="1"/>
              <a:t>korzysta</a:t>
            </a:r>
            <a:r>
              <a:rPr sz="2000" dirty="0"/>
              <a:t>.</a:t>
            </a:r>
          </a:p>
        </p:txBody>
      </p:sp>
      <p:sp>
        <p:nvSpPr>
          <p:cNvPr id="9" name="Numer slajdu">
            <a:extLst>
              <a:ext uri="{FF2B5EF4-FFF2-40B4-BE49-F238E27FC236}">
                <a16:creationId xmlns:a16="http://schemas.microsoft.com/office/drawing/2014/main" id="{92F3F6E9-8ACA-8CFC-9B1F-623F6053F5FA}"/>
              </a:ext>
            </a:extLst>
          </p:cNvPr>
          <p:cNvSpPr>
            <a:spLocks noGrp="1"/>
          </p:cNvSpPr>
          <p:nvPr/>
        </p:nvSpPr>
        <p:spPr>
          <a:xfrm>
            <a:off x="8496300" y="6581775"/>
            <a:ext cx="3810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defPPr>
            <a:lvl1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1pPr>
            <a:lvl2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2pPr>
            <a:lvl3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3pPr>
            <a:lvl4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4pPr>
            <a:lvl5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5pPr>
            <a:lvl6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6pPr>
            <a:lvl7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7pPr>
            <a:lvl8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8pPr>
            <a:lvl9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defRPr sz="1050" b="0">
                <a:solidFill>
                  <a:srgbClr val="48606F"/>
                </a:solidFill>
                <a:latin typeface="Arial"/>
                <a:ea typeface="Arial"/>
                <a:cs typeface="Arial"/>
              </a:defRPr>
            </a:pPr>
            <a:r>
              <a:t>7</a:t>
            </a:r>
          </a:p>
        </p:txBody>
      </p:sp>
      <p:sp>
        <p:nvSpPr>
          <p:cNvPr id="11" name="Tekst_zapis_4">
            <a:extLst>
              <a:ext uri="{FF2B5EF4-FFF2-40B4-BE49-F238E27FC236}">
                <a16:creationId xmlns:a16="http://schemas.microsoft.com/office/drawing/2014/main" id="{1EC8C203-3EF4-91A7-BAAE-3DCFB7A5C3BE}"/>
              </a:ext>
            </a:extLst>
          </p:cNvPr>
          <p:cNvSpPr>
            <a:spLocks noGrp="1"/>
          </p:cNvSpPr>
          <p:nvPr/>
        </p:nvSpPr>
        <p:spPr>
          <a:xfrm>
            <a:off x="1257300" y="1809750"/>
            <a:ext cx="7600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Lokalny stan UI</a:t>
            </a:r>
          </a:p>
        </p:txBody>
      </p:sp>
      <p:sp>
        <p:nvSpPr>
          <p:cNvPr id="13" name="Tekst_zapis_5">
            <a:extLst>
              <a:ext uri="{FF2B5EF4-FFF2-40B4-BE49-F238E27FC236}">
                <a16:creationId xmlns:a16="http://schemas.microsoft.com/office/drawing/2014/main" id="{0175E90F-3A4B-A8B0-0F92-2DC44D5846BA}"/>
              </a:ext>
            </a:extLst>
          </p:cNvPr>
          <p:cNvSpPr>
            <a:spLocks noGrp="1"/>
          </p:cNvSpPr>
          <p:nvPr/>
        </p:nvSpPr>
        <p:spPr>
          <a:xfrm>
            <a:off x="1257300" y="2190750"/>
            <a:ext cx="7600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rememberSaveable</a:t>
            </a:r>
            <a:r>
              <a:rPr dirty="0"/>
              <a:t>: </a:t>
            </a:r>
            <a:r>
              <a:rPr dirty="0" err="1"/>
              <a:t>wybrana</a:t>
            </a:r>
            <a:r>
              <a:rPr dirty="0"/>
              <a:t> </a:t>
            </a:r>
            <a:r>
              <a:rPr dirty="0" err="1"/>
              <a:t>zakładka</a:t>
            </a:r>
            <a:r>
              <a:rPr dirty="0"/>
              <a:t> </a:t>
            </a:r>
            <a:r>
              <a:rPr dirty="0" err="1"/>
              <a:t>lub</a:t>
            </a:r>
            <a:r>
              <a:rPr dirty="0"/>
              <a:t> </a:t>
            </a:r>
            <a:r>
              <a:rPr dirty="0" err="1"/>
              <a:t>rozwinięty</a:t>
            </a:r>
            <a:r>
              <a:rPr dirty="0"/>
              <a:t> </a:t>
            </a:r>
            <a:r>
              <a:rPr dirty="0" err="1"/>
              <a:t>opis</a:t>
            </a:r>
            <a:r>
              <a:rPr dirty="0"/>
              <a:t> </a:t>
            </a:r>
            <a:r>
              <a:rPr dirty="0" err="1"/>
              <a:t>filmu</a:t>
            </a:r>
            <a:r>
              <a:rPr dirty="0"/>
              <a:t>.</a:t>
            </a:r>
          </a:p>
        </p:txBody>
      </p:sp>
      <p:sp>
        <p:nvSpPr>
          <p:cNvPr id="15" name="Tekst_zapis_6">
            <a:extLst>
              <a:ext uri="{FF2B5EF4-FFF2-40B4-BE49-F238E27FC236}">
                <a16:creationId xmlns:a16="http://schemas.microsoft.com/office/drawing/2014/main" id="{51D5AE4D-6894-C6DD-9AB9-D5DBF644A509}"/>
              </a:ext>
            </a:extLst>
          </p:cNvPr>
          <p:cNvSpPr>
            <a:spLocks noGrp="1"/>
          </p:cNvSpPr>
          <p:nvPr/>
        </p:nvSpPr>
        <p:spPr>
          <a:xfrm>
            <a:off x="1257300" y="3067050"/>
            <a:ext cx="7600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Stan i operacje ekranu</a:t>
            </a:r>
          </a:p>
        </p:txBody>
      </p:sp>
      <p:sp>
        <p:nvSpPr>
          <p:cNvPr id="17" name="Tekst_zapis_7">
            <a:extLst>
              <a:ext uri="{FF2B5EF4-FFF2-40B4-BE49-F238E27FC236}">
                <a16:creationId xmlns:a16="http://schemas.microsoft.com/office/drawing/2014/main" id="{4A72BB11-E55E-B65D-C4BE-3F951B5996AD}"/>
              </a:ext>
            </a:extLst>
          </p:cNvPr>
          <p:cNvSpPr>
            <a:spLocks noGrp="1"/>
          </p:cNvSpPr>
          <p:nvPr/>
        </p:nvSpPr>
        <p:spPr>
          <a:xfrm>
            <a:off x="1257300" y="3448050"/>
            <a:ext cx="7600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ViewModel: fraza wyszukiwania, wyniki z repozytorium i zadanie pobierania.</a:t>
            </a:r>
          </a:p>
        </p:txBody>
      </p:sp>
      <p:sp>
        <p:nvSpPr>
          <p:cNvPr id="19" name="Tekst_zapis_8">
            <a:extLst>
              <a:ext uri="{FF2B5EF4-FFF2-40B4-BE49-F238E27FC236}">
                <a16:creationId xmlns:a16="http://schemas.microsoft.com/office/drawing/2014/main" id="{82DE7B74-F1FC-676F-0249-728235830E30}"/>
              </a:ext>
            </a:extLst>
          </p:cNvPr>
          <p:cNvSpPr>
            <a:spLocks noGrp="1"/>
          </p:cNvSpPr>
          <p:nvPr/>
        </p:nvSpPr>
        <p:spPr>
          <a:xfrm>
            <a:off x="1257300" y="4324350"/>
            <a:ext cx="76009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t>Odtworzenie po utracie procesu</a:t>
            </a:r>
          </a:p>
        </p:txBody>
      </p:sp>
      <p:sp>
        <p:nvSpPr>
          <p:cNvPr id="21" name="Tekst_zapis_9">
            <a:extLst>
              <a:ext uri="{FF2B5EF4-FFF2-40B4-BE49-F238E27FC236}">
                <a16:creationId xmlns:a16="http://schemas.microsoft.com/office/drawing/2014/main" id="{A055639B-7680-59DF-61AC-C596330B8C86}"/>
              </a:ext>
            </a:extLst>
          </p:cNvPr>
          <p:cNvSpPr>
            <a:spLocks noGrp="1"/>
          </p:cNvSpPr>
          <p:nvPr/>
        </p:nvSpPr>
        <p:spPr>
          <a:xfrm>
            <a:off x="1257300" y="4705350"/>
            <a:ext cx="76009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defPPr>
            <a:lvl1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1pPr>
            <a:lvl2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2pPr>
            <a:lvl3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3pPr>
            <a:lvl4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4pPr>
            <a:lvl5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5pPr>
            <a:lvl6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6pPr>
            <a:lvl7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7pPr>
            <a:lvl8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8pPr>
            <a:lvl9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75" b="0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rPr dirty="0" err="1"/>
              <a:t>SavedStateHandle</a:t>
            </a:r>
            <a:r>
              <a:rPr dirty="0"/>
              <a:t>: </a:t>
            </a:r>
            <a:r>
              <a:rPr dirty="0" err="1"/>
              <a:t>zapis</a:t>
            </a:r>
            <a:r>
              <a:rPr dirty="0"/>
              <a:t> </a:t>
            </a:r>
            <a:r>
              <a:rPr dirty="0" err="1"/>
              <a:t>frazy</a:t>
            </a:r>
            <a:r>
              <a:rPr dirty="0"/>
              <a:t>. Nowy </a:t>
            </a:r>
            <a:r>
              <a:rPr dirty="0" err="1"/>
              <a:t>ViewModel</a:t>
            </a:r>
            <a:r>
              <a:rPr dirty="0"/>
              <a:t> </a:t>
            </a:r>
            <a:r>
              <a:rPr dirty="0" err="1"/>
              <a:t>odczytuje</a:t>
            </a:r>
            <a:r>
              <a:rPr dirty="0"/>
              <a:t> </a:t>
            </a:r>
            <a:r>
              <a:rPr dirty="0" err="1"/>
              <a:t>ją</a:t>
            </a:r>
            <a:r>
              <a:rPr dirty="0"/>
              <a:t> </a:t>
            </a:r>
            <a:r>
              <a:rPr dirty="0" err="1"/>
              <a:t>i</a:t>
            </a:r>
            <a:r>
              <a:rPr dirty="0"/>
              <a:t> </a:t>
            </a:r>
            <a:r>
              <a:rPr dirty="0" err="1"/>
              <a:t>ponownie</a:t>
            </a:r>
            <a:r>
              <a:rPr dirty="0"/>
              <a:t> </a:t>
            </a:r>
            <a:r>
              <a:rPr dirty="0" err="1"/>
              <a:t>pobiera</a:t>
            </a:r>
            <a:r>
              <a:rPr dirty="0"/>
              <a:t> </a:t>
            </a:r>
            <a:r>
              <a:rPr dirty="0" err="1"/>
              <a:t>wyniki</a:t>
            </a:r>
            <a:r>
              <a:rPr dirty="0"/>
              <a:t>.</a:t>
            </a:r>
          </a:p>
        </p:txBody>
      </p:sp>
      <p:sp>
        <p:nvSpPr>
          <p:cNvPr id="23" name="Tekst_zapis_10">
            <a:extLst>
              <a:ext uri="{FF2B5EF4-FFF2-40B4-BE49-F238E27FC236}">
                <a16:creationId xmlns:a16="http://schemas.microsoft.com/office/drawing/2014/main" id="{B95901EE-0473-A8B7-9A00-5430997A7312}"/>
              </a:ext>
            </a:extLst>
          </p:cNvPr>
          <p:cNvSpPr>
            <a:spLocks noGrp="1"/>
          </p:cNvSpPr>
          <p:nvPr/>
        </p:nvSpPr>
        <p:spPr>
          <a:xfrm>
            <a:off x="1257300" y="5886450"/>
            <a:ext cx="76009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defPPr>
            <a:lvl1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1pPr>
            <a:lvl2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2pPr>
            <a:lvl3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3pPr>
            <a:lvl4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4pPr>
            <a:lvl5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5pPr>
            <a:lvl6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6pPr>
            <a:lvl7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7pPr>
            <a:lvl8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8pPr>
            <a:lvl9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lvl9pPr>
          </a:lstStyle>
          <a:p>
            <a:pPr algn="l">
              <a:defRPr sz="1800" b="1">
                <a:solidFill>
                  <a:srgbClr val="004785"/>
                </a:solidFill>
                <a:latin typeface="Arial"/>
                <a:ea typeface="Arial"/>
                <a:cs typeface="Arial"/>
              </a:defRPr>
            </a:pPr>
            <a:r>
              <a:rPr dirty="0"/>
              <a:t>Oba </a:t>
            </a:r>
            <a:r>
              <a:rPr dirty="0" err="1"/>
              <a:t>mechanizmy</a:t>
            </a:r>
            <a:r>
              <a:rPr dirty="0"/>
              <a:t> </a:t>
            </a:r>
            <a:r>
              <a:rPr dirty="0" err="1"/>
              <a:t>mogą</a:t>
            </a:r>
            <a:r>
              <a:rPr dirty="0"/>
              <a:t> </a:t>
            </a:r>
            <a:r>
              <a:rPr dirty="0" err="1"/>
              <a:t>współpracować</a:t>
            </a:r>
            <a:r>
              <a:rPr dirty="0"/>
              <a:t>. </a:t>
            </a:r>
            <a:r>
              <a:rPr dirty="0" err="1"/>
              <a:t>Każda</a:t>
            </a:r>
            <a:r>
              <a:rPr dirty="0"/>
              <a:t> </a:t>
            </a:r>
            <a:r>
              <a:rPr dirty="0" err="1"/>
              <a:t>wartość</a:t>
            </a:r>
            <a:r>
              <a:rPr dirty="0"/>
              <a:t> </a:t>
            </a:r>
            <a:r>
              <a:rPr dirty="0" err="1"/>
              <a:t>powinna</a:t>
            </a:r>
            <a:r>
              <a:rPr dirty="0"/>
              <a:t> </a:t>
            </a:r>
            <a:r>
              <a:rPr dirty="0" err="1"/>
              <a:t>mieć</a:t>
            </a:r>
            <a:r>
              <a:rPr dirty="0"/>
              <a:t> </a:t>
            </a:r>
            <a:r>
              <a:rPr dirty="0" err="1"/>
              <a:t>jednego</a:t>
            </a:r>
            <a:r>
              <a:rPr dirty="0"/>
              <a:t> </a:t>
            </a:r>
            <a:r>
              <a:rPr dirty="0" err="1"/>
              <a:t>właściciela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9207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769B3-E6D2-E3CD-0203-124FFD25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460FC7-3B95-B3F6-BCB7-FFCD1CCD5FE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4997FCDC-8EF9-E8F4-D651-230824174713}"/>
              </a:ext>
            </a:extLst>
          </p:cNvPr>
          <p:cNvSpPr txBox="1"/>
          <p:nvPr/>
        </p:nvSpPr>
        <p:spPr>
          <a:xfrm>
            <a:off x="1033753" y="796886"/>
            <a:ext cx="78488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Do tej pory trzymaliśmy dane razem z </a:t>
            </a:r>
            <a:r>
              <a:rPr lang="pl-PL" sz="1600" dirty="0" err="1"/>
              <a:t>elementacmi</a:t>
            </a:r>
            <a:r>
              <a:rPr lang="pl-PL" sz="1600" dirty="0"/>
              <a:t> </a:t>
            </a:r>
            <a:r>
              <a:rPr lang="pl-PL" sz="1600" dirty="0">
                <a:latin typeface="Verbatim"/>
                <a:ea typeface="Verdana" panose="020B0604030504040204" pitchFamily="34" charset="0"/>
              </a:rPr>
              <a:t>@Composable</a:t>
            </a:r>
            <a:r>
              <a:rPr lang="pl-PL" sz="1600" dirty="0"/>
              <a:t>, dzięki MVVM </a:t>
            </a:r>
            <a:r>
              <a:rPr lang="pl-PL" sz="1600" b="1" dirty="0"/>
              <a:t>rozdzielimy </a:t>
            </a:r>
            <a:r>
              <a:rPr lang="pl-PL" sz="1600" dirty="0"/>
              <a:t>odpowiedzialności. </a:t>
            </a:r>
            <a:r>
              <a:rPr lang="pl-PL" sz="1600" dirty="0" err="1">
                <a:latin typeface="Verbatim"/>
                <a:ea typeface="Verdana" panose="020B0604030504040204" pitchFamily="34" charset="0"/>
              </a:rPr>
              <a:t>Composable</a:t>
            </a:r>
            <a:r>
              <a:rPr lang="pl-PL" sz="1600" dirty="0"/>
              <a:t> zajmuje się </a:t>
            </a:r>
            <a:r>
              <a:rPr lang="pl-PL" sz="1600" b="1" dirty="0"/>
              <a:t>tylko wyświetlaniem</a:t>
            </a:r>
            <a:r>
              <a:rPr lang="pl-PL" sz="1600" dirty="0"/>
              <a:t>. Cała </a:t>
            </a:r>
            <a:r>
              <a:rPr lang="pl-PL" sz="1600" b="1" dirty="0"/>
              <a:t>logika i stan </a:t>
            </a:r>
            <a:r>
              <a:rPr lang="pl-PL" sz="1600" dirty="0"/>
              <a:t>znajdują się w </a:t>
            </a:r>
            <a:r>
              <a:rPr lang="pl-PL" sz="1600" dirty="0" err="1">
                <a:latin typeface="Verbatim"/>
              </a:rPr>
              <a:t>ViewModelu</a:t>
            </a:r>
            <a:r>
              <a:rPr lang="pl-PL" sz="1600" dirty="0"/>
              <a:t>.  </a:t>
            </a:r>
          </a:p>
        </p:txBody>
      </p:sp>
      <p:pic>
        <p:nvPicPr>
          <p:cNvPr id="5" name="bandicam 2025-07-31 15-11-03-009">
            <a:hlinkClick r:id="" action="ppaction://media"/>
            <a:extLst>
              <a:ext uri="{FF2B5EF4-FFF2-40B4-BE49-F238E27FC236}">
                <a16:creationId xmlns:a16="http://schemas.microsoft.com/office/drawing/2014/main" id="{252B3500-5E54-46D9-A4E3-4F60B1A98EA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707904" y="1627883"/>
            <a:ext cx="2311918" cy="520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9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6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8769B3-E6D2-E3CD-0203-124FFD25C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460FC7-3B95-B3F6-BCB7-FFCD1CCD5FE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9021620-68AD-5D6F-0125-7D077B1F26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980728"/>
            <a:ext cx="4600609" cy="5505490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24AF0B9-4CA7-C6CA-E1B6-B0B93898E87B}"/>
              </a:ext>
            </a:extLst>
          </p:cNvPr>
          <p:cNvSpPr/>
          <p:nvPr/>
        </p:nvSpPr>
        <p:spPr>
          <a:xfrm>
            <a:off x="128660" y="836712"/>
            <a:ext cx="4394170" cy="130316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A68905AE-075B-B96F-C826-CE2F29DFF942}"/>
              </a:ext>
            </a:extLst>
          </p:cNvPr>
          <p:cNvSpPr txBox="1"/>
          <p:nvPr/>
        </p:nvSpPr>
        <p:spPr>
          <a:xfrm>
            <a:off x="153245" y="836712"/>
            <a:ext cx="4369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Dziedziczenie po klasie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daje dostęp do metod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kluczowych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dla architektury aplikacji. Między innymi: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przeżywanie zmian konfiguracji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świadomość cyklu życia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posiada wbudowany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viewModelScope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3DC5E7DC-7EA6-C464-46EB-9889FEBB314F}"/>
              </a:ext>
            </a:extLst>
          </p:cNvPr>
          <p:cNvCxnSpPr>
            <a:cxnSpLocks/>
          </p:cNvCxnSpPr>
          <p:nvPr/>
        </p:nvCxnSpPr>
        <p:spPr>
          <a:xfrm flipV="1">
            <a:off x="4522830" y="1129099"/>
            <a:ext cx="1705354" cy="4924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7341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F4F91-5F8F-61BA-5686-E16917E989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8174723-5D93-88C0-8938-664081DBAF0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ADDACD7E-D465-28E7-51B3-4026FC2D55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980728"/>
            <a:ext cx="4600609" cy="5505490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2A4D6A25-1EC3-8956-B7FD-80F349CD5037}"/>
              </a:ext>
            </a:extLst>
          </p:cNvPr>
          <p:cNvSpPr/>
          <p:nvPr/>
        </p:nvSpPr>
        <p:spPr>
          <a:xfrm>
            <a:off x="128660" y="836712"/>
            <a:ext cx="4394170" cy="130316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CCEE9E6-2C92-15F9-EC82-581F30C34D9C}"/>
              </a:ext>
            </a:extLst>
          </p:cNvPr>
          <p:cNvSpPr txBox="1"/>
          <p:nvPr/>
        </p:nvSpPr>
        <p:spPr>
          <a:xfrm>
            <a:off x="153245" y="836712"/>
            <a:ext cx="4369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Dziedziczenie po klasie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daje dostęp do metod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kluczowych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dla architektury aplikacji. Między innymi: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przeżywanie zmian konfiguracji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świadomość cyklu życia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posiada wbudowany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viewModelScope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D59B344E-F050-E330-23EC-8581248A5AB1}"/>
              </a:ext>
            </a:extLst>
          </p:cNvPr>
          <p:cNvCxnSpPr>
            <a:cxnSpLocks/>
          </p:cNvCxnSpPr>
          <p:nvPr/>
        </p:nvCxnSpPr>
        <p:spPr>
          <a:xfrm flipV="1">
            <a:off x="4522830" y="1129099"/>
            <a:ext cx="1705354" cy="4924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6B5EAEBD-3154-F2A6-ED96-27B455889E11}"/>
              </a:ext>
            </a:extLst>
          </p:cNvPr>
          <p:cNvCxnSpPr>
            <a:cxnSpLocks/>
          </p:cNvCxnSpPr>
          <p:nvPr/>
        </p:nvCxnSpPr>
        <p:spPr>
          <a:xfrm flipV="1">
            <a:off x="4427984" y="2139873"/>
            <a:ext cx="792088" cy="36235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42B1D051-AE06-E6F6-6BCB-5EF4F1BC5CF9}"/>
              </a:ext>
            </a:extLst>
          </p:cNvPr>
          <p:cNvSpPr/>
          <p:nvPr/>
        </p:nvSpPr>
        <p:spPr>
          <a:xfrm>
            <a:off x="140647" y="2266940"/>
            <a:ext cx="4394170" cy="9847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01FFDF3-011F-490E-6E1D-98D8F6C1ABAB}"/>
              </a:ext>
            </a:extLst>
          </p:cNvPr>
          <p:cNvSpPr txBox="1"/>
          <p:nvPr/>
        </p:nvSpPr>
        <p:spPr>
          <a:xfrm>
            <a:off x="115407" y="2261473"/>
            <a:ext cx="4369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mutableStateOf("")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tworzy specjalny,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przez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</a:rPr>
              <a:t>Compose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obiekt, który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przechowuje stan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(w tym przypadku tekst). Słowo kluczowe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by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delegat właściwości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8274283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BC57-DF3E-AC5C-3FE4-2F51747E0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950D5E1-04EC-810D-9A0A-ADFE60F13D0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BB8DB489-6E2D-F778-D829-A21FA82F1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980728"/>
            <a:ext cx="4600609" cy="5505490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AB59C022-0A82-FD71-29E6-603E9B536476}"/>
              </a:ext>
            </a:extLst>
          </p:cNvPr>
          <p:cNvSpPr/>
          <p:nvPr/>
        </p:nvSpPr>
        <p:spPr>
          <a:xfrm>
            <a:off x="128660" y="836712"/>
            <a:ext cx="4394170" cy="130316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8A85549-7CF2-1AF2-6133-F8FC9094305C}"/>
              </a:ext>
            </a:extLst>
          </p:cNvPr>
          <p:cNvSpPr txBox="1"/>
          <p:nvPr/>
        </p:nvSpPr>
        <p:spPr>
          <a:xfrm>
            <a:off x="153245" y="836712"/>
            <a:ext cx="4369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Dziedziczenie po klasie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daje dostęp do metod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kluczowych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dla architektury aplikacji. Między innymi: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przeżywanie zmian konfiguracji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świadomość cyklu życia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posiada wbudowany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viewModelScope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84D85037-91EC-9E94-6208-1592499C2214}"/>
              </a:ext>
            </a:extLst>
          </p:cNvPr>
          <p:cNvCxnSpPr>
            <a:cxnSpLocks/>
          </p:cNvCxnSpPr>
          <p:nvPr/>
        </p:nvCxnSpPr>
        <p:spPr>
          <a:xfrm flipV="1">
            <a:off x="4522830" y="1129099"/>
            <a:ext cx="1705354" cy="4924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811446D2-E3D1-468E-3C84-1ABFA45A1E4F}"/>
              </a:ext>
            </a:extLst>
          </p:cNvPr>
          <p:cNvCxnSpPr>
            <a:cxnSpLocks/>
          </p:cNvCxnSpPr>
          <p:nvPr/>
        </p:nvCxnSpPr>
        <p:spPr>
          <a:xfrm flipV="1">
            <a:off x="4427984" y="2139873"/>
            <a:ext cx="792088" cy="36235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749D0B4D-D868-9AA0-BCB3-8F78E43F28DB}"/>
              </a:ext>
            </a:extLst>
          </p:cNvPr>
          <p:cNvSpPr/>
          <p:nvPr/>
        </p:nvSpPr>
        <p:spPr>
          <a:xfrm>
            <a:off x="140647" y="2266940"/>
            <a:ext cx="4394170" cy="9847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DE1A1D7F-F9B1-345C-95E5-38953858C18E}"/>
              </a:ext>
            </a:extLst>
          </p:cNvPr>
          <p:cNvSpPr txBox="1"/>
          <p:nvPr/>
        </p:nvSpPr>
        <p:spPr>
          <a:xfrm>
            <a:off x="115407" y="2261473"/>
            <a:ext cx="4369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mutableStateOf("")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tworzy specjalny,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przez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</a:rPr>
              <a:t>Compose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obiekt, który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przechowuje stan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(w tym przypadku tekst). Słowo kluczowe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by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delegat właściwości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77BE8C9F-8324-1025-0D50-9BE037A8DE2A}"/>
              </a:ext>
            </a:extLst>
          </p:cNvPr>
          <p:cNvSpPr/>
          <p:nvPr/>
        </p:nvSpPr>
        <p:spPr>
          <a:xfrm>
            <a:off x="64254" y="3356699"/>
            <a:ext cx="4394170" cy="116515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277317E9-FD8A-1487-A3AB-B653BB95E441}"/>
              </a:ext>
            </a:extLst>
          </p:cNvPr>
          <p:cNvSpPr txBox="1"/>
          <p:nvPr/>
        </p:nvSpPr>
        <p:spPr>
          <a:xfrm>
            <a:off x="93530" y="3352301"/>
            <a:ext cx="4369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private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to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modyfikator widoczności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zastosowany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tylko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settera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tej właściwości. Oznacza to, że operacja zapisu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(textFieldValue = "nowy tekst")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może być wykonana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wyłącznie wewnątrz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klasy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599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31D362-4480-898B-FDE3-6947924D3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BC6F0F-5B2C-A4FD-E73C-FFC2D1A8523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11BA71B-E53A-0C58-F63F-0B1F9A3E3B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980728"/>
            <a:ext cx="4600609" cy="5505490"/>
          </a:xfrm>
          <a:prstGeom prst="rect">
            <a:avLst/>
          </a:prstGeom>
        </p:spPr>
      </p:pic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6E610894-9BB5-5642-44FE-DB95A0C97516}"/>
              </a:ext>
            </a:extLst>
          </p:cNvPr>
          <p:cNvSpPr/>
          <p:nvPr/>
        </p:nvSpPr>
        <p:spPr>
          <a:xfrm>
            <a:off x="128660" y="836712"/>
            <a:ext cx="4394170" cy="130316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FBF2907-15E9-A900-7A6E-B7D0FB23DA8B}"/>
              </a:ext>
            </a:extLst>
          </p:cNvPr>
          <p:cNvSpPr txBox="1"/>
          <p:nvPr/>
        </p:nvSpPr>
        <p:spPr>
          <a:xfrm>
            <a:off x="153245" y="836712"/>
            <a:ext cx="4369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Dziedziczenie po klasie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daje dostęp do metod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kluczowych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dla architektury aplikacji. Między innymi: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przeżywanie zmian konfiguracji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świadomość cyklu życia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posiada wbudowany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viewModelScope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83254F85-E642-793B-3288-0D04B5D0DD67}"/>
              </a:ext>
            </a:extLst>
          </p:cNvPr>
          <p:cNvCxnSpPr>
            <a:cxnSpLocks/>
          </p:cNvCxnSpPr>
          <p:nvPr/>
        </p:nvCxnSpPr>
        <p:spPr>
          <a:xfrm flipV="1">
            <a:off x="4522830" y="1129099"/>
            <a:ext cx="1705354" cy="49244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04683B16-4E95-FA6C-2272-4D506D93F168}"/>
              </a:ext>
            </a:extLst>
          </p:cNvPr>
          <p:cNvCxnSpPr>
            <a:cxnSpLocks/>
          </p:cNvCxnSpPr>
          <p:nvPr/>
        </p:nvCxnSpPr>
        <p:spPr>
          <a:xfrm flipV="1">
            <a:off x="4427984" y="2139873"/>
            <a:ext cx="792088" cy="36235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2C2764FC-3EF1-D32F-7F3F-C290AC6A402C}"/>
              </a:ext>
            </a:extLst>
          </p:cNvPr>
          <p:cNvSpPr/>
          <p:nvPr/>
        </p:nvSpPr>
        <p:spPr>
          <a:xfrm>
            <a:off x="140647" y="2266940"/>
            <a:ext cx="4394170" cy="9847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B5BBAD69-52A3-D6B8-CE1E-A6BB805BA749}"/>
              </a:ext>
            </a:extLst>
          </p:cNvPr>
          <p:cNvSpPr txBox="1"/>
          <p:nvPr/>
        </p:nvSpPr>
        <p:spPr>
          <a:xfrm>
            <a:off x="115407" y="2261473"/>
            <a:ext cx="4369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mutableStateOf("")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tworzy specjalny,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przez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</a:rPr>
              <a:t>Compose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obiekt, który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przechowuje stan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(w tym przypadku tekst). Słowo kluczowe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by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</a:rPr>
              <a:t>delegat właściwości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</a:rPr>
              <a:t>. </a:t>
            </a:r>
          </a:p>
        </p:txBody>
      </p:sp>
      <p:sp>
        <p:nvSpPr>
          <p:cNvPr id="20" name="Prostokąt: zaokrąglone rogi 19">
            <a:extLst>
              <a:ext uri="{FF2B5EF4-FFF2-40B4-BE49-F238E27FC236}">
                <a16:creationId xmlns:a16="http://schemas.microsoft.com/office/drawing/2014/main" id="{740291F9-E729-C43B-D594-B4D5CA5A631C}"/>
              </a:ext>
            </a:extLst>
          </p:cNvPr>
          <p:cNvSpPr/>
          <p:nvPr/>
        </p:nvSpPr>
        <p:spPr>
          <a:xfrm>
            <a:off x="64254" y="3356699"/>
            <a:ext cx="4394170" cy="1165154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1" name="pole tekstowe 20">
            <a:extLst>
              <a:ext uri="{FF2B5EF4-FFF2-40B4-BE49-F238E27FC236}">
                <a16:creationId xmlns:a16="http://schemas.microsoft.com/office/drawing/2014/main" id="{8DDC4FD9-9622-6407-CDB1-DDE6C8165891}"/>
              </a:ext>
            </a:extLst>
          </p:cNvPr>
          <p:cNvSpPr txBox="1"/>
          <p:nvPr/>
        </p:nvSpPr>
        <p:spPr>
          <a:xfrm>
            <a:off x="93530" y="3352301"/>
            <a:ext cx="436958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private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 to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modyfikator widoczności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zastosowany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tylko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settera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tej właściwości. Oznacza to, że operacja zapisu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</a:rPr>
              <a:t>(textFieldValue = "nowy tekst")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może być wykonana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wyłącznie wewnątrz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klasy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245AC291-1A72-0849-CB09-FD32FF087C70}"/>
              </a:ext>
            </a:extLst>
          </p:cNvPr>
          <p:cNvCxnSpPr>
            <a:cxnSpLocks/>
          </p:cNvCxnSpPr>
          <p:nvPr/>
        </p:nvCxnSpPr>
        <p:spPr>
          <a:xfrm flipV="1">
            <a:off x="4402744" y="4052252"/>
            <a:ext cx="1105360" cy="100453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71F2ED11-CD18-E6E4-AFFF-1952C312B758}"/>
              </a:ext>
            </a:extLst>
          </p:cNvPr>
          <p:cNvSpPr/>
          <p:nvPr/>
        </p:nvSpPr>
        <p:spPr>
          <a:xfrm>
            <a:off x="115407" y="4821497"/>
            <a:ext cx="4394170" cy="98471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BFAF59EF-629B-8EEC-0A27-3E883443D438}"/>
              </a:ext>
            </a:extLst>
          </p:cNvPr>
          <p:cNvSpPr txBox="1"/>
          <p:nvPr/>
        </p:nvSpPr>
        <p:spPr>
          <a:xfrm>
            <a:off x="166862" y="4834720"/>
            <a:ext cx="43695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viewModelScope.launch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uruchamia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nową </a:t>
            </a:r>
            <a:r>
              <a:rPr lang="pl-PL" sz="1400" b="1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korutynę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specjalnym zakresie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scope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), który jest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integralną częścią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automatycznie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zarządza jej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cyklem życia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67930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63FC19-5824-FC00-F006-0A32056D7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4C959D-D360-36A1-A05B-65B1D86F6C9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9DC38EDD-7391-1C9A-0CEE-1FD66E628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7984" y="980728"/>
            <a:ext cx="4600609" cy="5505490"/>
          </a:xfrm>
          <a:prstGeom prst="rect">
            <a:avLst/>
          </a:prstGeom>
        </p:spPr>
      </p:pic>
      <p:cxnSp>
        <p:nvCxnSpPr>
          <p:cNvPr id="22" name="Łącznik prosty ze strzałką 21">
            <a:extLst>
              <a:ext uri="{FF2B5EF4-FFF2-40B4-BE49-F238E27FC236}">
                <a16:creationId xmlns:a16="http://schemas.microsoft.com/office/drawing/2014/main" id="{28D3D5DB-ADD3-6947-A5E2-AAD11713B748}"/>
              </a:ext>
            </a:extLst>
          </p:cNvPr>
          <p:cNvCxnSpPr>
            <a:cxnSpLocks/>
          </p:cNvCxnSpPr>
          <p:nvPr/>
        </p:nvCxnSpPr>
        <p:spPr>
          <a:xfrm>
            <a:off x="4572000" y="4052252"/>
            <a:ext cx="936104" cy="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Prostokąt: zaokrąglone rogi 22">
            <a:extLst>
              <a:ext uri="{FF2B5EF4-FFF2-40B4-BE49-F238E27FC236}">
                <a16:creationId xmlns:a16="http://schemas.microsoft.com/office/drawing/2014/main" id="{1589C6C5-877B-D986-C209-D33C01842D5E}"/>
              </a:ext>
            </a:extLst>
          </p:cNvPr>
          <p:cNvSpPr/>
          <p:nvPr/>
        </p:nvSpPr>
        <p:spPr>
          <a:xfrm>
            <a:off x="53424" y="903444"/>
            <a:ext cx="4518576" cy="499800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E8DC6154-3984-3530-4A31-D4BEFD17A129}"/>
              </a:ext>
            </a:extLst>
          </p:cNvPr>
          <p:cNvSpPr txBox="1"/>
          <p:nvPr/>
        </p:nvSpPr>
        <p:spPr>
          <a:xfrm>
            <a:off x="183716" y="956554"/>
            <a:ext cx="4369585" cy="491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kluczowe cechy i działanie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viewModelScope : </a:t>
            </a:r>
          </a:p>
          <a:p>
            <a:pPr marL="285750" indent="-28575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Automatyczne Anulowanie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To najważniejsza cecha. Każda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uruchomiona w viewModelScope jest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automatycznie anulowana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gdy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niszczony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(czyli gdy użytkownik na stałe opuszcza powiązany z nim ekran).</a:t>
            </a:r>
          </a:p>
          <a:p>
            <a:pPr marL="285750" indent="-285750" algn="just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Bezpieczeństwo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Zapobiega to wyciekom pamięci i próbom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aktualizacji interfejsu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który już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 istnieje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Nie ma konieczności ręcznie zarządzać zatrzymywaniem zadań w tle.</a:t>
            </a:r>
          </a:p>
          <a:p>
            <a:pPr marL="285750" indent="-285750" algn="just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Domyślny Wątek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Domyślnie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viewModelScope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używa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Dispatchers.Main.immediate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 oznacza, że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korutyna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rozpoczyna pracę na wątku głównym. Jest to wygodne do szybkiej aktualizacji UI, po czym można bezpiecznie wywołać funkcję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suspend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która przeniesie ciężką pracę na inny wątek (np.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Dispatchers.IO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29341025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E238EB-434B-DA4E-653B-D6CA49965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F4A188-9ABF-A54E-886B-A3088740EA4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1EF8C8BA-66FE-FA05-322A-1496511F4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9" y="873905"/>
            <a:ext cx="5220072" cy="597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7006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65E81D-6153-FB12-39B9-E24E156C0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A52BAEC-2217-0807-B567-74F047A96D3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FBAB44FD-9ADD-6D8E-5BC6-746AFBC69E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9" y="873905"/>
            <a:ext cx="5220072" cy="5971970"/>
          </a:xfrm>
          <a:prstGeom prst="rect">
            <a:avLst/>
          </a:prstGeom>
        </p:spPr>
      </p:pic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1C496138-3692-291B-DB5F-4C108758D052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923929" y="1556792"/>
            <a:ext cx="1440159" cy="2328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C5757EDE-9112-3EA7-4A68-27C4CC11AF0F}"/>
              </a:ext>
            </a:extLst>
          </p:cNvPr>
          <p:cNvSpPr/>
          <p:nvPr/>
        </p:nvSpPr>
        <p:spPr>
          <a:xfrm>
            <a:off x="107504" y="871614"/>
            <a:ext cx="3816425" cy="183598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FE5D03A9-1A18-FFDE-AF36-5E6AE737016C}"/>
              </a:ext>
            </a:extLst>
          </p:cNvPr>
          <p:cNvSpPr txBox="1"/>
          <p:nvPr/>
        </p:nvSpPr>
        <p:spPr>
          <a:xfrm>
            <a:off x="142308" y="891712"/>
            <a:ext cx="37810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swojego działania potrzebuje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aby móc odczytywać z niej dane (stan) i wywoływać jej funkcje (akcje). Konstrukcja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=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sprawia, że nie jest konieczne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ręczne tworzenie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przekazywanie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każdym wywołaniu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01883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FBB81-D6B1-EACD-D263-999653F28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EB9927-7A57-A55F-2E3A-132D9F860CF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29FA1393-A8FF-E31B-708E-07406D69B8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9" y="873905"/>
            <a:ext cx="5220072" cy="5971970"/>
          </a:xfrm>
          <a:prstGeom prst="rect">
            <a:avLst/>
          </a:prstGeom>
        </p:spPr>
      </p:pic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2E78DDC8-2821-EDC8-E9A9-E64DEB13C246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923929" y="1556792"/>
            <a:ext cx="1440159" cy="2328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E6DC9B4-A6E0-F0A5-8756-8585F4DF2007}"/>
              </a:ext>
            </a:extLst>
          </p:cNvPr>
          <p:cNvSpPr/>
          <p:nvPr/>
        </p:nvSpPr>
        <p:spPr>
          <a:xfrm>
            <a:off x="107504" y="871614"/>
            <a:ext cx="3816425" cy="183598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B98409D-739B-5D01-78BD-CDF37560EEC2}"/>
              </a:ext>
            </a:extLst>
          </p:cNvPr>
          <p:cNvSpPr txBox="1"/>
          <p:nvPr/>
        </p:nvSpPr>
        <p:spPr>
          <a:xfrm>
            <a:off x="142308" y="891712"/>
            <a:ext cx="37810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swojego działania potrzebuje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aby móc odczytywać z niej dane (stan) i wywoływać jej funkcje (akcje). Konstrukcja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=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sprawia, że nie jest konieczne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ręczne tworzenie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przekazywanie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każdym wywołaniu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736FD490-ADB1-EB5C-AA88-FE7EDCB680A5}"/>
              </a:ext>
            </a:extLst>
          </p:cNvPr>
          <p:cNvSpPr/>
          <p:nvPr/>
        </p:nvSpPr>
        <p:spPr>
          <a:xfrm>
            <a:off x="0" y="3228898"/>
            <a:ext cx="4752528" cy="248002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61A9EC6-5879-BAEE-A4FA-8F97DA738D4B}"/>
              </a:ext>
            </a:extLst>
          </p:cNvPr>
          <p:cNvSpPr txBox="1"/>
          <p:nvPr/>
        </p:nvSpPr>
        <p:spPr>
          <a:xfrm>
            <a:off x="29515" y="3246706"/>
            <a:ext cx="47525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Funkcja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specjalna funkcja z biblioteki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AndroidX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która: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Sprawdza, czy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już istnieje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bieżącego cyklu życia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(np. dla tego ekranu).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Jeśli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zwraca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tę istniejącą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instancję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Jeśli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tworzy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nową instancję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wiąże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ją z bieżącym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cyklem życia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Dzięki tej funkcji, gdy użytkownik obróci ekran,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otrzyma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tę samą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instancję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 wcześniej. Cały stan (lista słów) zostanie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zachowany.</a:t>
            </a:r>
          </a:p>
        </p:txBody>
      </p:sp>
    </p:spTree>
    <p:extLst>
      <p:ext uri="{BB962C8B-B14F-4D97-AF65-F5344CB8AC3E}">
        <p14:creationId xmlns:p14="http://schemas.microsoft.com/office/powerpoint/2010/main" val="34478715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2582D2-93AC-3970-D956-A79790185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89181B-65F2-F0B9-E4DB-6A80FB3C91F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32EF223D-85FB-EE78-B2D5-94D3B8172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3929" y="873905"/>
            <a:ext cx="5220072" cy="5971970"/>
          </a:xfrm>
          <a:prstGeom prst="rect">
            <a:avLst/>
          </a:prstGeom>
        </p:spPr>
      </p:pic>
      <p:cxnSp>
        <p:nvCxnSpPr>
          <p:cNvPr id="5" name="Łącznik prosty ze strzałką 4">
            <a:extLst>
              <a:ext uri="{FF2B5EF4-FFF2-40B4-BE49-F238E27FC236}">
                <a16:creationId xmlns:a16="http://schemas.microsoft.com/office/drawing/2014/main" id="{8FA60568-E9E5-4D77-1A15-B7A97255D30E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923929" y="1556792"/>
            <a:ext cx="1440159" cy="23281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3B7C22C1-A33E-BCDB-C0B9-A6D35E76AC1D}"/>
              </a:ext>
            </a:extLst>
          </p:cNvPr>
          <p:cNvSpPr/>
          <p:nvPr/>
        </p:nvSpPr>
        <p:spPr>
          <a:xfrm>
            <a:off x="107504" y="871614"/>
            <a:ext cx="3816425" cy="1835980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1F3E5C60-C5BD-BC7D-6620-AA390586DCC6}"/>
              </a:ext>
            </a:extLst>
          </p:cNvPr>
          <p:cNvSpPr txBox="1"/>
          <p:nvPr/>
        </p:nvSpPr>
        <p:spPr>
          <a:xfrm>
            <a:off x="142308" y="891712"/>
            <a:ext cx="378105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swojego działania potrzebuje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aby móc odczytywać z niej dane (stan) i wywoływać jej funkcje (akcje). Konstrukcja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=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sprawia, że nie jest konieczne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ręczne tworzenie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przekazywanie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każdym wywołaniu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91C1A150-F2D7-4A47-31EE-2C17E05C6342}"/>
              </a:ext>
            </a:extLst>
          </p:cNvPr>
          <p:cNvSpPr/>
          <p:nvPr/>
        </p:nvSpPr>
        <p:spPr>
          <a:xfrm>
            <a:off x="0" y="3228898"/>
            <a:ext cx="4752528" cy="248002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1775473C-F67C-F438-4CC2-DDD41B4AAC43}"/>
              </a:ext>
            </a:extLst>
          </p:cNvPr>
          <p:cNvSpPr txBox="1"/>
          <p:nvPr/>
        </p:nvSpPr>
        <p:spPr>
          <a:xfrm>
            <a:off x="29515" y="3246706"/>
            <a:ext cx="4752528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Funkcja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specjalna funkcja z biblioteki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AndroidX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która: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Sprawdza, czy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już istnieje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dla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bieżącego cyklu życia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(np. dla tego ekranu).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Jeśli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zwraca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tę istniejącą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instancję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Jeśli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tworzy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nową instancję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wiąże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ją z bieżącym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cyklem życia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Dzięki tej funkcji, gdy użytkownik obróci ekran,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WordListScreen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otrzyma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tę samą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instancję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co wcześniej. Cały stan (lista słów) zostanie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zachowany.</a:t>
            </a:r>
          </a:p>
        </p:txBody>
      </p: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8D3E97F5-691C-C176-330B-3ED3F1FA601A}"/>
              </a:ext>
            </a:extLst>
          </p:cNvPr>
          <p:cNvSpPr/>
          <p:nvPr/>
        </p:nvSpPr>
        <p:spPr>
          <a:xfrm>
            <a:off x="23697" y="6141744"/>
            <a:ext cx="6516216" cy="70413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3" name="pole tekstowe 12">
            <a:extLst>
              <a:ext uri="{FF2B5EF4-FFF2-40B4-BE49-F238E27FC236}">
                <a16:creationId xmlns:a16="http://schemas.microsoft.com/office/drawing/2014/main" id="{C23E3C53-CDFD-B4C6-8462-E96041A5A4A2}"/>
              </a:ext>
            </a:extLst>
          </p:cNvPr>
          <p:cNvSpPr txBox="1"/>
          <p:nvPr/>
        </p:nvSpPr>
        <p:spPr>
          <a:xfrm>
            <a:off x="-5818" y="6141744"/>
            <a:ext cx="65162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Znak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::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tworzy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referencję do funkcji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(lub właściwości). Jest to zwięzły sposób na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przekazanie funkcji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jako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parametru.</a:t>
            </a:r>
            <a:endParaRPr lang="pl-PL" sz="14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onValueChange = {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nowyTekst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 -&gt;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viewModel.onTextFieldValueChanged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nowyTekst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) }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2CB94D44-0032-CBB9-03BF-14639790CFC5}"/>
              </a:ext>
            </a:extLst>
          </p:cNvPr>
          <p:cNvCxnSpPr>
            <a:cxnSpLocks/>
          </p:cNvCxnSpPr>
          <p:nvPr/>
        </p:nvCxnSpPr>
        <p:spPr>
          <a:xfrm flipV="1">
            <a:off x="6569428" y="3068960"/>
            <a:ext cx="939095" cy="30727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09655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246248-2B73-4011-BD4C-9B0AF5848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71A552D-20CE-7E93-C021-7512F8F21BE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pic>
        <p:nvPicPr>
          <p:cNvPr id="3" name="Picture 2" descr="ViewModel: for UI business, not UI operations 😮">
            <a:extLst>
              <a:ext uri="{FF2B5EF4-FFF2-40B4-BE49-F238E27FC236}">
                <a16:creationId xmlns:a16="http://schemas.microsoft.com/office/drawing/2014/main" id="{F1179B11-345F-9DDE-4D90-8E44782CB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1124744"/>
            <a:ext cx="7474162" cy="540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094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59856A-2E80-C096-7DA2-B4951FAE64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B2CCA4-4A01-8F3F-7B29-9926E00AC62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pic>
        <p:nvPicPr>
          <p:cNvPr id="1026" name="Picture 2" descr="Android Repository Pattern using RX &amp; Room | by Ovidiu Latcu | Corebuild  Software | Medium">
            <a:extLst>
              <a:ext uri="{FF2B5EF4-FFF2-40B4-BE49-F238E27FC236}">
                <a16:creationId xmlns:a16="http://schemas.microsoft.com/office/drawing/2014/main" id="{BDD681FC-F1D9-A53D-F78D-DED6D34419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861048"/>
            <a:ext cx="6228184" cy="314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6E937A04-C432-628F-00F4-0EB685D5BA5A}"/>
              </a:ext>
            </a:extLst>
          </p:cNvPr>
          <p:cNvSpPr txBox="1"/>
          <p:nvPr/>
        </p:nvSpPr>
        <p:spPr>
          <a:xfrm>
            <a:off x="1033753" y="796886"/>
            <a:ext cx="78488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W naszej aplikacji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sam </a:t>
            </a:r>
            <a:r>
              <a:rPr lang="pl-PL" sz="1600" b="1" dirty="0"/>
              <a:t>przechowywał listę słów </a:t>
            </a:r>
            <a:r>
              <a:rPr lang="pl-PL" sz="1600" dirty="0"/>
              <a:t>i </a:t>
            </a:r>
            <a:r>
              <a:rPr lang="pl-PL" sz="1600" b="1" dirty="0"/>
              <a:t>logikę jej modyfikacji</a:t>
            </a:r>
            <a:r>
              <a:rPr lang="pl-PL" sz="1600" dirty="0"/>
              <a:t>. Na początku to działa, ale co, jeśli te dane miałyby pochodzić z pliku, bazy danych lub </a:t>
            </a:r>
            <a:r>
              <a:rPr lang="pl-PL" sz="1600" dirty="0" err="1"/>
              <a:t>internetu</a:t>
            </a:r>
            <a:r>
              <a:rPr lang="pl-PL" sz="1600" dirty="0"/>
              <a:t>?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musiałby „</a:t>
            </a:r>
            <a:r>
              <a:rPr lang="pl-PL" sz="1600" i="1" dirty="0"/>
              <a:t>wiedzieć</a:t>
            </a:r>
            <a:r>
              <a:rPr lang="pl-PL" sz="1600" dirty="0"/>
              <a:t>”, jak rozmawiać z każdym z tych źródeł. Staje się zbyt skomplikowany i łamie zasadę jednej odpowiedzialności.</a:t>
            </a:r>
          </a:p>
        </p:txBody>
      </p:sp>
    </p:spTree>
    <p:extLst>
      <p:ext uri="{BB962C8B-B14F-4D97-AF65-F5344CB8AC3E}">
        <p14:creationId xmlns:p14="http://schemas.microsoft.com/office/powerpoint/2010/main" val="35525586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8FB2E-1711-9991-B447-1238BEF6B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607A5A4-36D0-993C-22E5-060FDFE6752A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pic>
        <p:nvPicPr>
          <p:cNvPr id="1026" name="Picture 2" descr="Android Repository Pattern using RX &amp; Room | by Ovidiu Latcu | Corebuild  Software | Medium">
            <a:extLst>
              <a:ext uri="{FF2B5EF4-FFF2-40B4-BE49-F238E27FC236}">
                <a16:creationId xmlns:a16="http://schemas.microsoft.com/office/drawing/2014/main" id="{FEC35607-8939-0C88-6879-FED5CAC41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5736" y="3861048"/>
            <a:ext cx="6228184" cy="31422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pole tekstowe 3">
            <a:extLst>
              <a:ext uri="{FF2B5EF4-FFF2-40B4-BE49-F238E27FC236}">
                <a16:creationId xmlns:a16="http://schemas.microsoft.com/office/drawing/2014/main" id="{1EBC68FC-C8AF-B6C0-3825-273678A4AAF0}"/>
              </a:ext>
            </a:extLst>
          </p:cNvPr>
          <p:cNvSpPr txBox="1"/>
          <p:nvPr/>
        </p:nvSpPr>
        <p:spPr>
          <a:xfrm>
            <a:off x="1033753" y="796886"/>
            <a:ext cx="7848872" cy="16466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600"/>
              </a:spcAft>
            </a:pPr>
            <a:r>
              <a:rPr lang="pl-PL" sz="1600" dirty="0"/>
              <a:t>W naszej aplikacji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sam </a:t>
            </a:r>
            <a:r>
              <a:rPr lang="pl-PL" sz="1600" b="1" dirty="0"/>
              <a:t>przechowywał listę słów </a:t>
            </a:r>
            <a:r>
              <a:rPr lang="pl-PL" sz="1600" dirty="0"/>
              <a:t>i </a:t>
            </a:r>
            <a:r>
              <a:rPr lang="pl-PL" sz="1600" b="1" dirty="0"/>
              <a:t>logikę jej modyfikacji</a:t>
            </a:r>
            <a:r>
              <a:rPr lang="pl-PL" sz="1600" dirty="0"/>
              <a:t>. Na początku to działa, ale co, jeśli te dane miałyby pochodzić z pliku, bazy danych lub </a:t>
            </a:r>
            <a:r>
              <a:rPr lang="pl-PL" sz="1600" dirty="0" err="1"/>
              <a:t>internetu</a:t>
            </a:r>
            <a:r>
              <a:rPr lang="pl-PL" sz="1600" dirty="0"/>
              <a:t>?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musiałby „</a:t>
            </a:r>
            <a:r>
              <a:rPr lang="pl-PL" sz="1600" i="1" dirty="0"/>
              <a:t>wiedzieć</a:t>
            </a:r>
            <a:r>
              <a:rPr lang="pl-PL" sz="1600" dirty="0"/>
              <a:t>”, jak rozmawiać z każdym z tych źródeł. Staje się zbyt skomplikowany i łamie zasadę jednej odpowiedzialności.</a:t>
            </a:r>
          </a:p>
          <a:p>
            <a:pPr algn="just"/>
            <a:r>
              <a:rPr lang="pl-PL" sz="1600" dirty="0"/>
              <a:t>Nasz Szef Kuchni (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) jest świetny w gotowaniu (zarządzaniu logiką UI), ale obecnie sam chodzi na targ (</a:t>
            </a:r>
            <a:r>
              <a:rPr lang="pl-PL" sz="1600" dirty="0">
                <a:latin typeface="Verbatim"/>
              </a:rPr>
              <a:t>API</a:t>
            </a:r>
            <a:r>
              <a:rPr lang="pl-PL" sz="1600" dirty="0"/>
              <a:t>), do spiżarni (baza danych) i do hurtowni (</a:t>
            </a:r>
            <a:r>
              <a:rPr lang="pl-PL" sz="1600" dirty="0">
                <a:latin typeface="Verbatim"/>
              </a:rPr>
              <a:t>cache</a:t>
            </a:r>
            <a:r>
              <a:rPr lang="pl-PL" sz="1600" dirty="0"/>
              <a:t>).</a:t>
            </a:r>
          </a:p>
        </p:txBody>
      </p:sp>
      <p:cxnSp>
        <p:nvCxnSpPr>
          <p:cNvPr id="3" name="Łącznik prosty ze strzałką 2">
            <a:extLst>
              <a:ext uri="{FF2B5EF4-FFF2-40B4-BE49-F238E27FC236}">
                <a16:creationId xmlns:a16="http://schemas.microsoft.com/office/drawing/2014/main" id="{AF10BA7E-BD9F-C2ED-AE67-D008DCE43D56}"/>
              </a:ext>
            </a:extLst>
          </p:cNvPr>
          <p:cNvCxnSpPr>
            <a:cxnSpLocks/>
          </p:cNvCxnSpPr>
          <p:nvPr/>
        </p:nvCxnSpPr>
        <p:spPr>
          <a:xfrm>
            <a:off x="5190557" y="3589355"/>
            <a:ext cx="1181643" cy="142382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Prostokąt: zaokrąglone rogi 4">
            <a:extLst>
              <a:ext uri="{FF2B5EF4-FFF2-40B4-BE49-F238E27FC236}">
                <a16:creationId xmlns:a16="http://schemas.microsoft.com/office/drawing/2014/main" id="{4E774883-F1AF-4930-37F1-32DADC5BFC2F}"/>
              </a:ext>
            </a:extLst>
          </p:cNvPr>
          <p:cNvSpPr/>
          <p:nvPr/>
        </p:nvSpPr>
        <p:spPr>
          <a:xfrm>
            <a:off x="438029" y="2464315"/>
            <a:ext cx="4752528" cy="248002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77FEF86-24CD-297A-3A8E-A6415384A264}"/>
              </a:ext>
            </a:extLst>
          </p:cNvPr>
          <p:cNvSpPr txBox="1"/>
          <p:nvPr/>
        </p:nvSpPr>
        <p:spPr>
          <a:xfrm>
            <a:off x="467544" y="2482123"/>
            <a:ext cx="4752528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Tutaj wprowadzamy specjalistę -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Repozytorium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Jest to klasa, która działa jak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pośrednik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między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logiką aplikacji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a różnymi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źródłami danych.</a:t>
            </a:r>
          </a:p>
          <a:p>
            <a:pPr algn="just"/>
            <a:endParaRPr lang="pl-PL" sz="14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Repozytorium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jest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jedynym miejscem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aplikacji, z którym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rozmawia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gdy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potrzebuje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danych.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 wie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</a:t>
            </a:r>
            <a:r>
              <a:rPr lang="pl-PL" sz="14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 interesuje go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skąd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pochodzą dane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Pyta Repozytorium o "</a:t>
            </a:r>
            <a:r>
              <a:rPr lang="pl-PL" sz="14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listę słów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", a to Repozytorium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decyduje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czy pobrać je z pamięci, z lokalnej bazy danych, czy przez zapytanie sieciowe.</a:t>
            </a:r>
          </a:p>
        </p:txBody>
      </p:sp>
    </p:spTree>
    <p:extLst>
      <p:ext uri="{BB962C8B-B14F-4D97-AF65-F5344CB8AC3E}">
        <p14:creationId xmlns:p14="http://schemas.microsoft.com/office/powerpoint/2010/main" val="9080528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ACD16B-160D-FE6A-65AB-F405BB3E7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7DE051-EF9E-E5E5-D822-EE3E1237CD8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9EBD9AA-934D-F743-7438-1F06564F1D19}"/>
              </a:ext>
            </a:extLst>
          </p:cNvPr>
          <p:cNvSpPr txBox="1"/>
          <p:nvPr/>
        </p:nvSpPr>
        <p:spPr>
          <a:xfrm>
            <a:off x="1033753" y="796886"/>
            <a:ext cx="7848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Dodajmy Repozytorium do projektu.</a:t>
            </a:r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496AA67F-6749-DD5C-D601-088896A082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9032" y="1484784"/>
            <a:ext cx="7258103" cy="3667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54445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214D85-FDEF-7B13-D0D1-0EF2BA2A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1D63E9-B6E2-04D3-3D04-475D1E29DD4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2D904C7-F441-9DD1-0972-1A3725697AC6}"/>
              </a:ext>
            </a:extLst>
          </p:cNvPr>
          <p:cNvSpPr txBox="1"/>
          <p:nvPr/>
        </p:nvSpPr>
        <p:spPr>
          <a:xfrm>
            <a:off x="1033753" y="796886"/>
            <a:ext cx="78488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Musimy wprowadzić zmiany w </a:t>
            </a:r>
            <a:r>
              <a:rPr lang="pl-PL" sz="1600" dirty="0">
                <a:latin typeface="Verbatim"/>
              </a:rPr>
              <a:t>ViewModel</a:t>
            </a:r>
          </a:p>
        </p:txBody>
      </p:sp>
      <p:pic>
        <p:nvPicPr>
          <p:cNvPr id="8" name="Obraz 7">
            <a:extLst>
              <a:ext uri="{FF2B5EF4-FFF2-40B4-BE49-F238E27FC236}">
                <a16:creationId xmlns:a16="http://schemas.microsoft.com/office/drawing/2014/main" id="{FCD301F0-4BF1-A3D7-4731-320BB8DFCB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6596" y="1135440"/>
            <a:ext cx="5519788" cy="5418353"/>
          </a:xfrm>
          <a:prstGeom prst="rect">
            <a:avLst/>
          </a:prstGeom>
        </p:spPr>
      </p:pic>
      <p:cxnSp>
        <p:nvCxnSpPr>
          <p:cNvPr id="9" name="Łącznik prosty ze strzałką 8">
            <a:extLst>
              <a:ext uri="{FF2B5EF4-FFF2-40B4-BE49-F238E27FC236}">
                <a16:creationId xmlns:a16="http://schemas.microsoft.com/office/drawing/2014/main" id="{5324F903-37A9-D715-1090-400085C6F1BB}"/>
              </a:ext>
            </a:extLst>
          </p:cNvPr>
          <p:cNvCxnSpPr>
            <a:cxnSpLocks/>
          </p:cNvCxnSpPr>
          <p:nvPr/>
        </p:nvCxnSpPr>
        <p:spPr>
          <a:xfrm flipV="1">
            <a:off x="3419872" y="1341929"/>
            <a:ext cx="1728192" cy="2148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86E4A74E-A28A-7D89-D1E3-B12B7A1B9657}"/>
              </a:ext>
            </a:extLst>
          </p:cNvPr>
          <p:cNvSpPr/>
          <p:nvPr/>
        </p:nvSpPr>
        <p:spPr>
          <a:xfrm>
            <a:off x="0" y="1251243"/>
            <a:ext cx="3779912" cy="1313661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5CC58C71-9582-ACFC-4883-155B3F1B4B6A}"/>
              </a:ext>
            </a:extLst>
          </p:cNvPr>
          <p:cNvSpPr txBox="1"/>
          <p:nvPr/>
        </p:nvSpPr>
        <p:spPr>
          <a:xfrm>
            <a:off x="17616" y="1341929"/>
            <a:ext cx="377991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teraz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wymaga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dostarczenia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 instancji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WordRepository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do swojego działania. Stał się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zależny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od warstwy danych, co jest fundamentem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wstrzykiwania zależności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pl-PL" sz="1400" b="1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996A18FC-8E1B-05A6-3BBB-35A976E536A5}"/>
              </a:ext>
            </a:extLst>
          </p:cNvPr>
          <p:cNvCxnSpPr>
            <a:cxnSpLocks/>
          </p:cNvCxnSpPr>
          <p:nvPr/>
        </p:nvCxnSpPr>
        <p:spPr>
          <a:xfrm flipV="1">
            <a:off x="3419872" y="4077072"/>
            <a:ext cx="1368152" cy="11095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F3AFC04B-434B-C8DE-4B42-97AA18EBA230}"/>
              </a:ext>
            </a:extLst>
          </p:cNvPr>
          <p:cNvSpPr/>
          <p:nvPr/>
        </p:nvSpPr>
        <p:spPr>
          <a:xfrm>
            <a:off x="0" y="3882477"/>
            <a:ext cx="3779912" cy="914676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8" name="pole tekstowe 17">
            <a:extLst>
              <a:ext uri="{FF2B5EF4-FFF2-40B4-BE49-F238E27FC236}">
                <a16:creationId xmlns:a16="http://schemas.microsoft.com/office/drawing/2014/main" id="{853F055F-5DBB-B74F-4387-CD42DD62FE75}"/>
              </a:ext>
            </a:extLst>
          </p:cNvPr>
          <p:cNvSpPr txBox="1"/>
          <p:nvPr/>
        </p:nvSpPr>
        <p:spPr>
          <a:xfrm>
            <a:off x="17616" y="3973162"/>
            <a:ext cx="37799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ViewModel </a:t>
            </a:r>
            <a:r>
              <a:rPr lang="pl-PL" sz="1400" i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nie interesuje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 jaki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sposób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Repozytorium zdobędzie dane – wysyła tylko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żądanie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454607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7A98F6-1352-4A2E-2789-33242AACA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734043-989C-9489-D18E-C6E2FC528C1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FA458C9-8E54-05BC-E431-50156985B2CB}"/>
              </a:ext>
            </a:extLst>
          </p:cNvPr>
          <p:cNvSpPr txBox="1"/>
          <p:nvPr/>
        </p:nvSpPr>
        <p:spPr>
          <a:xfrm>
            <a:off x="1033753" y="796886"/>
            <a:ext cx="7848872" cy="1625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pl-PL" sz="1600" dirty="0"/>
              <a:t>Teraz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wymaga dostarczenia </a:t>
            </a:r>
            <a:r>
              <a:rPr lang="pl-PL" sz="1600" b="1" dirty="0"/>
              <a:t>instancji repozytorium </a:t>
            </a:r>
            <a:r>
              <a:rPr lang="pl-PL" sz="1600" dirty="0"/>
              <a:t>do konstruktora – domyślnie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posiada </a:t>
            </a:r>
            <a:r>
              <a:rPr lang="pl-PL" sz="1600" b="1" dirty="0"/>
              <a:t>pusty </a:t>
            </a:r>
            <a:r>
              <a:rPr lang="pl-PL" sz="1600" b="1" dirty="0" err="1"/>
              <a:t>konstrutor</a:t>
            </a:r>
            <a:r>
              <a:rPr lang="pl-PL" sz="1600" b="1" dirty="0"/>
              <a:t> </a:t>
            </a:r>
            <a:r>
              <a:rPr lang="pl-PL" sz="1600" dirty="0"/>
              <a:t>– konieczne jest stworzenie własnej </a:t>
            </a:r>
            <a:r>
              <a:rPr lang="pl-PL" sz="1600" b="1" dirty="0"/>
              <a:t>fabryki</a:t>
            </a:r>
            <a:r>
              <a:rPr lang="pl-PL" sz="1600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Konieczne jest dodanie do projektu, ponieważ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domyślny mechanizm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tworzenia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w Androidzie potrafi tworzyć tylko te, które mają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pusty konstruktor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A13F7EB-7DDC-908D-4D10-2549D5C9E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28" y="4725144"/>
            <a:ext cx="7826183" cy="199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33325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2BD3C-5A1E-B801-8583-3935702D8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11275CA-E866-77D5-9581-EDD07A0739D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D493C96-1A35-51B8-4E95-CA2729173563}"/>
              </a:ext>
            </a:extLst>
          </p:cNvPr>
          <p:cNvSpPr txBox="1"/>
          <p:nvPr/>
        </p:nvSpPr>
        <p:spPr>
          <a:xfrm>
            <a:off x="1033753" y="796886"/>
            <a:ext cx="7848872" cy="2807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lang="pl-PL" sz="1600" dirty="0"/>
              <a:t>Teraz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wymaga dostarczenia </a:t>
            </a:r>
            <a:r>
              <a:rPr lang="pl-PL" sz="1600" b="1" dirty="0"/>
              <a:t>instancji repozytorium </a:t>
            </a:r>
            <a:r>
              <a:rPr lang="pl-PL" sz="1600" dirty="0"/>
              <a:t>do konstruktora – domyślnie </a:t>
            </a:r>
            <a:r>
              <a:rPr lang="pl-PL" sz="1600" dirty="0">
                <a:latin typeface="Verbatim"/>
              </a:rPr>
              <a:t>ViewModel</a:t>
            </a:r>
            <a:r>
              <a:rPr lang="pl-PL" sz="1600" dirty="0"/>
              <a:t> posiada </a:t>
            </a:r>
            <a:r>
              <a:rPr lang="pl-PL" sz="1600" b="1" dirty="0"/>
              <a:t>pusty </a:t>
            </a:r>
            <a:r>
              <a:rPr lang="pl-PL" sz="1600" b="1" dirty="0" err="1"/>
              <a:t>konstrutor</a:t>
            </a:r>
            <a:r>
              <a:rPr lang="pl-PL" sz="1600" b="1" dirty="0"/>
              <a:t> </a:t>
            </a:r>
            <a:r>
              <a:rPr lang="pl-PL" sz="1600" dirty="0"/>
              <a:t>– konieczne jest stworzenie własnej </a:t>
            </a:r>
            <a:r>
              <a:rPr lang="pl-PL" sz="1600" b="1" dirty="0"/>
              <a:t>fabryki</a:t>
            </a:r>
            <a:r>
              <a:rPr lang="pl-PL" sz="1600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Konieczne jest dodanie do projektu, ponieważ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domyślny mechanizm 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tworzenia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w Androidzie potrafi tworzyć tylko te, które mają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pusty konstruktor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algn="just">
              <a:lnSpc>
                <a:spcPct val="120000"/>
              </a:lnSpc>
            </a:pPr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endParaRPr lang="pl-PL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120000"/>
              </a:lnSpc>
            </a:pP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Gdy dodaliśmy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WordRepository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jako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parametr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600" b="1" dirty="0">
                <a:latin typeface="Arial" panose="020B0604020202020204" pitchFamily="34" charset="0"/>
                <a:cs typeface="Arial" panose="020B0604020202020204" pitchFamily="34" charset="0"/>
              </a:rPr>
              <a:t>do konstruktora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, konieczne jest dostarczenie </a:t>
            </a:r>
            <a:r>
              <a:rPr lang="pl-PL" sz="1600" b="1" i="1" dirty="0">
                <a:latin typeface="Arial" panose="020B0604020202020204" pitchFamily="34" charset="0"/>
                <a:cs typeface="Arial" panose="020B0604020202020204" pitchFamily="34" charset="0"/>
              </a:rPr>
              <a:t>instrukcji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 do tworzenia </a:t>
            </a:r>
            <a:r>
              <a:rPr lang="pl-PL" sz="1600" dirty="0"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D93E3644-0B65-3426-BCDF-93B7D74358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3328" y="4725144"/>
            <a:ext cx="7826183" cy="1996072"/>
          </a:xfrm>
          <a:prstGeom prst="rect">
            <a:avLst/>
          </a:prstGeom>
        </p:spPr>
      </p:pic>
      <p:pic>
        <p:nvPicPr>
          <p:cNvPr id="7" name="Obraz 6">
            <a:extLst>
              <a:ext uri="{FF2B5EF4-FFF2-40B4-BE49-F238E27FC236}">
                <a16:creationId xmlns:a16="http://schemas.microsoft.com/office/drawing/2014/main" id="{8CF8829D-B904-663F-ADD2-1BB46ACED5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9632" y="2636912"/>
            <a:ext cx="6261699" cy="25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3309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EB4D34-DBEC-4402-FB89-8014D4654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F3BA0F7-1961-213E-6A6B-FE71BF956B8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Repozytorium</a:t>
            </a:r>
          </a:p>
        </p:txBody>
      </p: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D98713D9-54D2-B6AA-31FB-4777A878DCC7}"/>
              </a:ext>
            </a:extLst>
          </p:cNvPr>
          <p:cNvSpPr/>
          <p:nvPr/>
        </p:nvSpPr>
        <p:spPr>
          <a:xfrm>
            <a:off x="89756" y="1156233"/>
            <a:ext cx="3546140" cy="492443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F7563C21-FD2A-6A37-44DB-44C1D3BF58DD}"/>
              </a:ext>
            </a:extLst>
          </p:cNvPr>
          <p:cNvSpPr txBox="1"/>
          <p:nvPr/>
        </p:nvSpPr>
        <p:spPr>
          <a:xfrm>
            <a:off x="149107" y="1244239"/>
            <a:ext cx="37799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Tworzymy nową instancję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WordRepository</a:t>
            </a:r>
          </a:p>
        </p:txBody>
      </p:sp>
      <p:pic>
        <p:nvPicPr>
          <p:cNvPr id="12" name="Obraz 11">
            <a:extLst>
              <a:ext uri="{FF2B5EF4-FFF2-40B4-BE49-F238E27FC236}">
                <a16:creationId xmlns:a16="http://schemas.microsoft.com/office/drawing/2014/main" id="{46EA973E-69A3-431A-B573-C7F5B78A0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7484" y="1033047"/>
            <a:ext cx="5067409" cy="1346030"/>
          </a:xfrm>
          <a:prstGeom prst="rect">
            <a:avLst/>
          </a:prstGeom>
        </p:spPr>
      </p:pic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7757B8FA-C717-B5AD-AA77-FF614F744685}"/>
              </a:ext>
            </a:extLst>
          </p:cNvPr>
          <p:cNvCxnSpPr>
            <a:cxnSpLocks/>
          </p:cNvCxnSpPr>
          <p:nvPr/>
        </p:nvCxnSpPr>
        <p:spPr>
          <a:xfrm>
            <a:off x="3635896" y="1412776"/>
            <a:ext cx="576064" cy="42666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DC01B7DF-CA8A-ADCD-10F3-179FEB1E99A8}"/>
              </a:ext>
            </a:extLst>
          </p:cNvPr>
          <p:cNvSpPr/>
          <p:nvPr/>
        </p:nvSpPr>
        <p:spPr>
          <a:xfrm>
            <a:off x="89756" y="1899013"/>
            <a:ext cx="3258108" cy="665892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721113C8-A138-E969-56F4-D6A5C32A9D2A}"/>
              </a:ext>
            </a:extLst>
          </p:cNvPr>
          <p:cNvSpPr txBox="1"/>
          <p:nvPr/>
        </p:nvSpPr>
        <p:spPr>
          <a:xfrm>
            <a:off x="123782" y="1935886"/>
            <a:ext cx="32240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Tworzymy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fabrykę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ViewModelu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 i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Przekazujemy do niej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repozytorium.</a:t>
            </a:r>
            <a:endParaRPr lang="pl-PL" sz="1400" dirty="0">
              <a:solidFill>
                <a:schemeClr val="accent4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4132BAFD-8151-237F-9D42-2ED4CB3CF0C7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3347864" y="2007976"/>
            <a:ext cx="864096" cy="22398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0FF6EC86-947A-BA70-83B6-C677D3ABD84D}"/>
              </a:ext>
            </a:extLst>
          </p:cNvPr>
          <p:cNvSpPr/>
          <p:nvPr/>
        </p:nvSpPr>
        <p:spPr>
          <a:xfrm>
            <a:off x="66960" y="2924204"/>
            <a:ext cx="4321215" cy="1187579"/>
          </a:xfrm>
          <a:prstGeom prst="roundRect">
            <a:avLst>
              <a:gd name="adj" fmla="val 5695"/>
            </a:avLst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3" name="pole tekstowe 22">
            <a:extLst>
              <a:ext uri="{FF2B5EF4-FFF2-40B4-BE49-F238E27FC236}">
                <a16:creationId xmlns:a16="http://schemas.microsoft.com/office/drawing/2014/main" id="{A3A47F8A-E270-34D2-2EA7-86116AB7B07A}"/>
              </a:ext>
            </a:extLst>
          </p:cNvPr>
          <p:cNvSpPr txBox="1"/>
          <p:nvPr/>
        </p:nvSpPr>
        <p:spPr>
          <a:xfrm>
            <a:off x="66960" y="2942233"/>
            <a:ext cx="432121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Wywołujemy funkcję </a:t>
            </a:r>
            <a:r>
              <a:rPr lang="pl-PL" sz="1400" dirty="0" err="1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()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ale tym razem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przekazujemy do niej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naszą własną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fabrykę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Zostanie ona wykorzystana do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stworzenia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(lub pobrania istniejącej)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instancję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WordViewModel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poprawnie </a:t>
            </a:r>
            <a:r>
              <a:rPr lang="pl-PL" sz="1400" b="1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dostarczając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mu </a:t>
            </a:r>
            <a:r>
              <a:rPr lang="pl-PL" sz="1400" dirty="0">
                <a:solidFill>
                  <a:schemeClr val="accent4">
                    <a:lumMod val="50000"/>
                  </a:schemeClr>
                </a:solidFill>
                <a:latin typeface="Verbatim"/>
                <a:cs typeface="Arial" panose="020B0604020202020204" pitchFamily="34" charset="0"/>
              </a:rPr>
              <a:t>WordRepository.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284F4229-3273-A684-DB82-44E1C2E7980A}"/>
              </a:ext>
            </a:extLst>
          </p:cNvPr>
          <p:cNvCxnSpPr>
            <a:cxnSpLocks/>
          </p:cNvCxnSpPr>
          <p:nvPr/>
        </p:nvCxnSpPr>
        <p:spPr>
          <a:xfrm flipV="1">
            <a:off x="2987824" y="2331321"/>
            <a:ext cx="1296144" cy="59288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950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04989C-5F57-2FCF-B3BE-3C55F229D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6BC70B4-DFF9-1F6E-5677-B145E69DCA7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ViewModel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z parametrem</a:t>
            </a: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87564678-76E3-C80D-0127-3EDCDB7FEA0F}"/>
              </a:ext>
            </a:extLst>
          </p:cNvPr>
          <p:cNvSpPr txBox="1"/>
          <p:nvPr/>
        </p:nvSpPr>
        <p:spPr>
          <a:xfrm>
            <a:off x="1331640" y="980728"/>
            <a:ext cx="74168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l-PL" sz="2000" dirty="0">
                <a:latin typeface="Consolas" panose="020B0609020204030204" pitchFamily="49" charset="0"/>
              </a:rPr>
              <a:t>@Composable</a:t>
            </a:r>
          </a:p>
          <a:p>
            <a:pPr rtl="0">
              <a:buNone/>
            </a:pPr>
            <a:r>
              <a:rPr lang="pl-PL" sz="2000" dirty="0" err="1">
                <a:latin typeface="Consolas" panose="020B0609020204030204" pitchFamily="49" charset="0"/>
              </a:rPr>
              <a:t>fun</a:t>
            </a:r>
            <a:r>
              <a:rPr lang="pl-PL" sz="2000" dirty="0">
                <a:latin typeface="Consolas" panose="020B0609020204030204" pitchFamily="49" charset="0"/>
              </a:rPr>
              <a:t> </a:t>
            </a:r>
            <a:r>
              <a:rPr lang="pl-PL" sz="2000" dirty="0" err="1">
                <a:latin typeface="Consolas" panose="020B0609020204030204" pitchFamily="49" charset="0"/>
              </a:rPr>
              <a:t>WordListRoute</a:t>
            </a:r>
            <a:r>
              <a:rPr lang="pl-PL" sz="2000" dirty="0">
                <a:latin typeface="Consolas" panose="020B0609020204030204" pitchFamily="49" charset="0"/>
              </a:rPr>
              <a:t>(</a:t>
            </a:r>
            <a:r>
              <a:rPr lang="pl-PL" sz="2000" dirty="0" err="1">
                <a:latin typeface="Consolas" panose="020B0609020204030204" pitchFamily="49" charset="0"/>
              </a:rPr>
              <a:t>repository</a:t>
            </a:r>
            <a:r>
              <a:rPr lang="pl-PL" sz="2000" dirty="0">
                <a:latin typeface="Consolas" panose="020B0609020204030204" pitchFamily="49" charset="0"/>
              </a:rPr>
              <a:t>: </a:t>
            </a:r>
            <a:r>
              <a:rPr lang="pl-PL" sz="2000" dirty="0" err="1">
                <a:latin typeface="Consolas" panose="020B0609020204030204" pitchFamily="49" charset="0"/>
              </a:rPr>
              <a:t>WordRepository</a:t>
            </a:r>
            <a:r>
              <a:rPr lang="pl-PL" sz="2000" dirty="0">
                <a:latin typeface="Consolas" panose="020B0609020204030204" pitchFamily="49" charset="0"/>
              </a:rPr>
              <a:t>) {</a:t>
            </a:r>
          </a:p>
          <a:p>
            <a:pPr rtl="0">
              <a:buNone/>
            </a:pPr>
            <a:r>
              <a:rPr lang="pl-PL" sz="2000" dirty="0">
                <a:latin typeface="Consolas" panose="020B0609020204030204" pitchFamily="49" charset="0"/>
              </a:rPr>
              <a:t>    </a:t>
            </a:r>
            <a:r>
              <a:rPr lang="pl-PL" sz="2000" dirty="0" err="1">
                <a:latin typeface="Consolas" panose="020B0609020204030204" pitchFamily="49" charset="0"/>
              </a:rPr>
              <a:t>val</a:t>
            </a:r>
            <a:r>
              <a:rPr lang="pl-PL" sz="2000" dirty="0">
                <a:latin typeface="Consolas" panose="020B0609020204030204" pitchFamily="49" charset="0"/>
              </a:rPr>
              <a:t> </a:t>
            </a:r>
            <a:r>
              <a:rPr lang="pl-PL" sz="2000" dirty="0" err="1">
                <a:latin typeface="Consolas" panose="020B0609020204030204" pitchFamily="49" charset="0"/>
              </a:rPr>
              <a:t>vm</a:t>
            </a:r>
            <a:r>
              <a:rPr lang="pl-PL" sz="2000" dirty="0">
                <a:latin typeface="Consolas" panose="020B0609020204030204" pitchFamily="49" charset="0"/>
              </a:rPr>
              <a:t>: </a:t>
            </a:r>
            <a:r>
              <a:rPr lang="pl-PL" sz="2000" dirty="0" err="1">
                <a:latin typeface="Consolas" panose="020B0609020204030204" pitchFamily="49" charset="0"/>
              </a:rPr>
              <a:t>WordViewModel</a:t>
            </a:r>
            <a:r>
              <a:rPr lang="pl-PL" sz="2000" dirty="0">
                <a:latin typeface="Consolas" panose="020B0609020204030204" pitchFamily="49" charset="0"/>
              </a:rPr>
              <a:t> = </a:t>
            </a:r>
            <a:r>
              <a:rPr lang="pl-PL" sz="2000" dirty="0" err="1">
                <a:latin typeface="Consolas" panose="020B0609020204030204" pitchFamily="49" charset="0"/>
              </a:rPr>
              <a:t>viewModel</a:t>
            </a:r>
            <a:r>
              <a:rPr lang="pl-PL" sz="2000" dirty="0">
                <a:latin typeface="Consolas" panose="020B0609020204030204" pitchFamily="49" charset="0"/>
              </a:rPr>
              <a:t> {</a:t>
            </a:r>
          </a:p>
          <a:p>
            <a:pPr rtl="0">
              <a:buNone/>
            </a:pPr>
            <a:r>
              <a:rPr lang="pl-PL" sz="2000" dirty="0">
                <a:latin typeface="Consolas" panose="020B0609020204030204" pitchFamily="49" charset="0"/>
              </a:rPr>
              <a:t>        </a:t>
            </a:r>
            <a:r>
              <a:rPr lang="pl-PL" sz="2000" dirty="0" err="1">
                <a:latin typeface="Consolas" panose="020B0609020204030204" pitchFamily="49" charset="0"/>
              </a:rPr>
              <a:t>WordViewModel</a:t>
            </a:r>
            <a:r>
              <a:rPr lang="pl-PL" sz="2000" dirty="0">
                <a:latin typeface="Consolas" panose="020B0609020204030204" pitchFamily="49" charset="0"/>
              </a:rPr>
              <a:t>(</a:t>
            </a:r>
            <a:r>
              <a:rPr lang="pl-PL" sz="2000" dirty="0" err="1">
                <a:latin typeface="Consolas" panose="020B0609020204030204" pitchFamily="49" charset="0"/>
              </a:rPr>
              <a:t>repository</a:t>
            </a:r>
            <a:r>
              <a:rPr lang="pl-PL" sz="2000" dirty="0">
                <a:latin typeface="Consolas" panose="020B0609020204030204" pitchFamily="49" charset="0"/>
              </a:rPr>
              <a:t>)</a:t>
            </a:r>
          </a:p>
          <a:p>
            <a:pPr rtl="0">
              <a:buNone/>
            </a:pPr>
            <a:r>
              <a:rPr lang="pl-PL" sz="2000" dirty="0">
                <a:latin typeface="Consolas" panose="020B0609020204030204" pitchFamily="49" charset="0"/>
              </a:rPr>
              <a:t>    }</a:t>
            </a:r>
          </a:p>
          <a:p>
            <a:pPr rtl="0">
              <a:buNone/>
            </a:pPr>
            <a:endParaRPr lang="pl-PL" sz="2000" dirty="0"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pl-PL" sz="2000" dirty="0">
                <a:latin typeface="Consolas" panose="020B0609020204030204" pitchFamily="49" charset="0"/>
              </a:rPr>
              <a:t>    // Wyświetlenie ekranu korzystającego z </a:t>
            </a:r>
            <a:r>
              <a:rPr lang="pl-PL" sz="2000" dirty="0" err="1">
                <a:latin typeface="Consolas" panose="020B0609020204030204" pitchFamily="49" charset="0"/>
              </a:rPr>
              <a:t>vm</a:t>
            </a:r>
            <a:endParaRPr lang="pl-PL" sz="2000" dirty="0">
              <a:latin typeface="Consolas" panose="020B0609020204030204" pitchFamily="49" charset="0"/>
            </a:endParaRPr>
          </a:p>
          <a:p>
            <a:pPr rtl="0">
              <a:buNone/>
            </a:pPr>
            <a:r>
              <a:rPr lang="pl-PL" sz="20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88433935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80000</TotalTime>
  <Pages>0</Pages>
  <Words>2120</Words>
  <Characters>0</Characters>
  <Application>Microsoft Office PowerPoint</Application>
  <PresentationFormat>Pokaz na ekranie (4:3)</PresentationFormat>
  <Lines>0</Lines>
  <Paragraphs>229</Paragraphs>
  <Slides>34</Slides>
  <Notes>34</Notes>
  <HiddenSlides>0</HiddenSlides>
  <MMClips>1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34</vt:i4>
      </vt:variant>
    </vt:vector>
  </HeadingPairs>
  <TitlesOfParts>
    <vt:vector size="40" baseType="lpstr">
      <vt:lpstr>Arial</vt:lpstr>
      <vt:lpstr>Calibri</vt:lpstr>
      <vt:lpstr>Courier New</vt:lpstr>
      <vt:lpstr>Verbatim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1207</cp:revision>
  <dcterms:modified xsi:type="dcterms:W3CDTF">2026-10-23T15:08:45Z</dcterms:modified>
  <cp:category/>
</cp:coreProperties>
</file>