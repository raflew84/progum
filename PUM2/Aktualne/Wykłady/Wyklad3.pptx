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540" r:id="rId5"/>
    <p:sldId id="259" r:id="rId6"/>
    <p:sldId id="260" r:id="rId7"/>
    <p:sldId id="261" r:id="rId8"/>
    <p:sldId id="541" r:id="rId9"/>
    <p:sldId id="542" r:id="rId10"/>
    <p:sldId id="543" r:id="rId11"/>
    <p:sldId id="544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551" r:id="rId20"/>
    <p:sldId id="552" r:id="rId21"/>
    <p:sldId id="553" r:id="rId22"/>
    <p:sldId id="554" r:id="rId23"/>
    <p:sldId id="555" r:id="rId24"/>
    <p:sldId id="545" r:id="rId25"/>
    <p:sldId id="269" r:id="rId26"/>
    <p:sldId id="270" r:id="rId27"/>
    <p:sldId id="271" r:id="rId28"/>
    <p:sldId id="272" r:id="rId29"/>
    <p:sldId id="274" r:id="rId30"/>
    <p:sldId id="275" r:id="rId31"/>
    <p:sldId id="277" r:id="rId32"/>
    <p:sldId id="283" r:id="rId33"/>
  </p:sldIdLst>
  <p:sldSz cx="9144000" cy="6858000" type="screen4x3"/>
  <p:notesSz cx="6858000" cy="9144000"/>
  <p:defaultTextStyle>
    <a:defPPr>
      <a:buNone/>
    </a:defPPr>
    <a:lvl1pPr algn="l">
      <a:spcBef>
        <a:spcPct val="0"/>
      </a:spcBef>
      <a:spcAft>
        <a:spcPct val="0"/>
      </a:spcAft>
      <a:buNone/>
      <a:defRPr sz="1200" kern="1200">
        <a:solidFill>
          <a:srgbClr val="000000"/>
        </a:solidFill>
        <a:latin typeface="Arial"/>
        <a:ea typeface="Arial"/>
        <a:cs typeface="Arial"/>
      </a:defRPr>
    </a:lvl1pPr>
    <a:lvl2pPr marL="457200" algn="l">
      <a:spcBef>
        <a:spcPct val="0"/>
      </a:spcBef>
      <a:spcAft>
        <a:spcPct val="0"/>
      </a:spcAft>
      <a:buNone/>
      <a:defRPr sz="1200" kern="1200">
        <a:solidFill>
          <a:srgbClr val="000000"/>
        </a:solidFill>
        <a:latin typeface="Arial"/>
        <a:ea typeface="Arial"/>
        <a:cs typeface="Arial"/>
      </a:defRPr>
    </a:lvl2pPr>
    <a:lvl3pPr marL="914400" algn="l">
      <a:spcBef>
        <a:spcPct val="0"/>
      </a:spcBef>
      <a:spcAft>
        <a:spcPct val="0"/>
      </a:spcAft>
      <a:buNone/>
      <a:defRPr sz="1200" kern="1200">
        <a:solidFill>
          <a:srgbClr val="000000"/>
        </a:solidFill>
        <a:latin typeface="Arial"/>
        <a:ea typeface="Arial"/>
        <a:cs typeface="Arial"/>
      </a:defRPr>
    </a:lvl3pPr>
    <a:lvl4pPr marL="1371600" algn="l">
      <a:spcBef>
        <a:spcPct val="0"/>
      </a:spcBef>
      <a:spcAft>
        <a:spcPct val="0"/>
      </a:spcAft>
      <a:buNone/>
      <a:defRPr sz="1200" kern="1200">
        <a:solidFill>
          <a:srgbClr val="000000"/>
        </a:solidFill>
        <a:latin typeface="Arial"/>
        <a:ea typeface="Arial"/>
        <a:cs typeface="Arial"/>
      </a:defRPr>
    </a:lvl4pPr>
    <a:lvl5pPr marL="1828800" algn="l">
      <a:spcBef>
        <a:spcPct val="0"/>
      </a:spcBef>
      <a:spcAft>
        <a:spcPct val="0"/>
      </a:spcAft>
      <a:buNone/>
      <a:defRPr sz="1200" kern="1200">
        <a:solidFill>
          <a:srgbClr val="000000"/>
        </a:solidFill>
        <a:latin typeface="Arial"/>
        <a:ea typeface="Arial"/>
        <a:cs typeface="Arial"/>
      </a:defRPr>
    </a:lvl5pPr>
    <a:lvl6pPr marL="2286000" algn="l" defTabSz="914400">
      <a:buNone/>
      <a:defRPr sz="1200" kern="1200">
        <a:solidFill>
          <a:srgbClr val="000000"/>
        </a:solidFill>
        <a:latin typeface="Arial"/>
        <a:ea typeface="Arial"/>
        <a:cs typeface="Arial"/>
      </a:defRPr>
    </a:lvl6pPr>
    <a:lvl7pPr marL="2743200" algn="l" defTabSz="914400">
      <a:buNone/>
      <a:defRPr sz="1200" kern="1200">
        <a:solidFill>
          <a:srgbClr val="000000"/>
        </a:solidFill>
        <a:latin typeface="Arial"/>
        <a:ea typeface="Arial"/>
        <a:cs typeface="Arial"/>
      </a:defRPr>
    </a:lvl7pPr>
    <a:lvl8pPr marL="3200400" algn="l" defTabSz="914400">
      <a:buNone/>
      <a:defRPr sz="1200" kern="1200">
        <a:solidFill>
          <a:srgbClr val="000000"/>
        </a:solidFill>
        <a:latin typeface="Arial"/>
        <a:ea typeface="Arial"/>
        <a:cs typeface="Arial"/>
      </a:defRPr>
    </a:lvl8pPr>
    <a:lvl9pPr marL="3657600" algn="l" defTabSz="914400">
      <a:buNone/>
      <a:defRPr sz="1200" kern="120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615" autoAdjust="0"/>
  </p:normalViewPr>
  <p:slideViewPr>
    <p:cSldViewPr snapToGrid="0">
      <p:cViewPr varScale="1">
        <p:scale>
          <a:sx n="96" d="100"/>
          <a:sy n="96" d="100"/>
        </p:scale>
        <p:origin x="107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05BF-8907-163C-1C54-6FC09587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42BFB-F988-DC01-448A-134751273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5CE17-EF99-88FD-08EC-F92C05EC9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E2BE3-A669-B35A-436D-447B403E532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0992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10FB-134C-CD8F-C6F6-13E07922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F82F9-A75A-C963-3DFD-90501E01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66647-8F1A-A771-F54E-22C0F53BE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7AB83-53B7-9B17-0B50-96EF9C5366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8125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7507-0D94-C353-FE18-EF76E794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3DEC0-7A2A-13F5-5935-B6FE3A05D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032E9-9529-D075-E316-726F44790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48CB6-29AB-6437-B573-92AA0FA473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13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C6EF-70D2-44F1-2269-6C8E9BC5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BCF04-6E91-B3B8-DECA-8FC29CD7F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B0BC-B6CA-0C6B-E35D-B4A09AD67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32C75-B64E-E706-450C-4B808283518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1889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8F3B-6711-E86A-F9D8-219F9ADC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94A1B-54FF-73D2-852A-3EB594563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EACD-7B66-12F8-A3ED-B048AC64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C2DE5-1EF2-5225-6DA4-59325B25A0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253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Oba zadania wystartowały wcześniej. Pierwsze join oczekuje na warzywa, a mięso w tym czasie również robi postęp. Job.join nie zwraca wyniku zadania. Zawiesza wywołującą korutynę, jeśli zadanie jeszcze trwa, bez blokowania wątku.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Źródła:</a:t>
            </a:r>
          </a:p>
          <a:p>
            <a:pPr>
              <a:buNone/>
            </a:pPr>
            <a:r>
              <a:t>https://kotlinlang.org/api/kotlinx.coroutines/kotlinx-coroutines-core/kotlinx.coroutines/-job/join.html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Przykład celowo nie zawiera końcowego komunikatu „Można podawać”. Można sprawdzić parent.isCompleted w trakcie działania. Nie używać samego parent.isActive jako obserwowalnego stanu przycisku Compose.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Źródła:</a:t>
            </a:r>
          </a:p>
          <a:p>
            <a:pPr>
              <a:buNone/>
            </a:pPr>
            <a:r>
              <a:t>https://kotlinlang.org/api/kotlinx.coroutines/kotlinx-coroutines-core/kotlinx.coroutines/-job/join.html</a:t>
            </a:r>
          </a:p>
          <a:p>
            <a:pPr>
              <a:buNone/>
            </a:pPr>
            <a:r>
              <a:t>https://kotlinlang.org/docs/coroutines-basics.html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2255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FBB1-9D28-9C4D-A20A-2AA280BF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0E257-01CC-A3F4-DEB1-DCFA96820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83260-2859-9B93-75CB-1EAE10A33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0C98A-1CD1-5EB7-A176-2BAF24031E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1535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5AA5-FF35-97DF-1F94-24828565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F3AB6-A6D8-2ACD-3E83-CCFD44683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A6C1A-7884-9453-5BD1-11A9980B8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D9DD6-0D89-EDC1-B42B-AAC46C29EA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2295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B0E1-0A6A-A877-A717-18FC70340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E1B47-F691-450E-4FC9-BBA2C8685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A7618-25B5-3C86-8D53-E897DA191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74DE6-5C1B-49F2-EE55-85E8EC5A99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2939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A1A3-A131-FDB5-9329-7270C5DD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13DE3-C2DD-57BE-94F3-6489883CF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B0994-4390-6897-B726-51D108464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5695A-6916-6F98-2536-1394AC93A6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86198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774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Oba fragmenty są poprawne. Drugi pokazuje składnię Deferred, ale nie skraca czasu tej pojedynczej operacji. To zastępuje przykład generatora zwracającego zawsze ten sam tekst.</a:t>
            </a:r>
          </a:p>
          <a:p>
            <a:pPr>
              <a:buNone/>
            </a:pPr>
            <a:endParaRPr/>
          </a:p>
          <a:p>
            <a:pPr>
              <a:buNone/>
            </a:pPr>
            <a:r>
              <a:t>Źródła:</a:t>
            </a:r>
          </a:p>
          <a:p>
            <a:pPr>
              <a:buNone/>
            </a:pPr>
            <a:r>
              <a:t>https://kotlinlang.org/docs/composing-suspending-functions.html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F2B08D-8C19-40B4-8E90-90F2C328A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Kliknij, aby edyt. styl wz. tyt.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4293558-D4F0-4E8E-B439-1F098A022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05C08C1-D6B8-4E36-B7D6-DD77B244FB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6FFF456-6EA2-418B-AE2F-EAD1C9C417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F2D2F4-ECEC-4730-8F57-36F95100D7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003FEF5-976C-4EA3-84A7-FBC3543521F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B98479-07DE-4F6F-8065-87386F40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Kliknij, aby edyt. styl wz. tyt.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7FDB623-6A30-4078-9C05-5D05D91D0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08CF4D8-D613-4B8B-BC6E-405825CB4A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BFABA7E-86D7-46AB-BDFC-522AC59927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70F329C-B867-47D1-959D-66D32FF99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9B2623-FECC-458E-8887-8971830FA08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B6445A-87CB-4621-88B7-E0DE771F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Kliknij, aby edyt. styl wz. tyt.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181A42E-10E3-44B2-BE0F-19E46CB88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9E70BE-A882-44DF-B7BE-0E7B16AA69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B923B8-C9BE-4229-A4D5-C61565C913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B29FF30-4576-44F1-A346-AA0A447492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0FEC418-961B-4A97-8A49-C7EB1AA505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5CA48C-1B60-427C-954B-3BD257C9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Kliknij, aby edyt. styl wz. tyt.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D58CEC-12E2-4959-A660-1486C8FD0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E11AFAF-F698-4FC6-BBE3-6625E2C3AF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A03C92C-1ADD-4390-8987-45432701CE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43C1665-FC68-4A51-9521-98DAC6B7D2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6A83AB0-5150-4E9E-8D6D-9E635D6CBA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3BCE437-C745-4797-8E12-AE887F9C67E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353AD1-E6E5-458B-848A-DE014C97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Kliknij, aby edyt. styl wz. tyt.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5D1FE9-B7F9-421F-BA22-A9740C383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B713089-666E-41CE-AC2D-844BCE5262B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9D1EC84-0855-4341-92EA-EDAA518EB92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926D2D4-0041-424F-BA0A-0BA02C3B714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7640558-4705-415D-BBBE-B190D2A996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882BD4D-A7B5-4010-AADC-AB416006FF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8909A29-F003-4645-A9F2-9282062DAC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5ED58DE-157A-47FB-B6FE-2BF3DBE0897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1255E1-FAC8-4530-8DE7-228390CF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Kliknij, aby edyt. styl wz. tyt.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672B2DF-AB55-407B-A64C-015C506004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BA2BD73-43F4-4175-B6A0-318B2DCCA6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4675615-6C8B-4200-BADB-CA80497096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B53702-A4CE-4E37-AD1A-55778605B19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856D54D-9C07-4B24-8329-C27682B9A6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7D2AAC8-1D6C-4D03-9E6D-A6FC65BE52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DBC13D2-642A-4A63-9495-AB383723D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01E45C1-B7A3-4D83-AEC0-13697CCD1D3E}" type="slidenum">
              <a:t>‹#›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362D6E-02B9-4D4E-B2FD-3F61E52C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Kliknij, aby edyt. styl wz. tyt.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E8C828-566D-4F1A-8810-E193D004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9F505BB-A2D5-41F9-A324-77846152DF9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DEA621A-0383-45A8-A783-2CFCCF7C4A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9BFAC45-0198-4694-B037-C389958BDB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042D8D4-6193-48B4-82DF-D20CDA5E53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FF751C0-3663-4EFE-8A6A-10BE31BDC91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FF0263-213A-4E7A-A10B-4ABA60DA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Kliknij, aby edyt. styl wz. tyt.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E5A6BA6-397D-435E-98D8-434619230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Przeciągnij obraz na symbol zastępczy lub kliknij ikonę, aby go dodać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E869D6E-D31F-4F1A-9A81-8DF2EED658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49F3A96-7975-4CEE-A6DA-20A1DFF5A9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AC3887B-B135-4E9E-82D9-E06D1667F8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A3286C7-20EF-4800-8FB1-AE7420931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BFEB7E-1F88-4AE7-AA89-93BE3C1A9C1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90B7A9-3368-4DC0-98FF-A668D66D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Kliknij, aby edyt. styl wz. tyt.</a:t>
            </a:r>
          </a:p>
        </p:txBody>
      </p:sp>
      <p:sp>
        <p:nvSpPr>
          <p:cNvPr id="3" name="Symbol zastępczy tekstu pionowego 2">
            <a:extLst>
              <a:ext uri="{FF2B5EF4-FFF2-40B4-BE49-F238E27FC236}">
                <a16:creationId xmlns:a16="http://schemas.microsoft.com/office/drawing/2014/main" id="{5D48D640-2688-45AF-9577-1C8D6357A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0AA31C9-D354-49EA-8377-EC52532747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9C5336-1205-48F7-9A88-8FF560663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527DA51-80E2-4187-97D3-D4EFBD80EF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C4C5AF-A148-4762-92DF-376362746BF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395424F-06BB-4C79-A247-8943B823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Kliknij, aby edyt. styl wz. tyt.</a:t>
            </a:r>
          </a:p>
        </p:txBody>
      </p:sp>
      <p:sp>
        <p:nvSpPr>
          <p:cNvPr id="3" name="Symbol zastępczy tekstu pionowego 2">
            <a:extLst>
              <a:ext uri="{FF2B5EF4-FFF2-40B4-BE49-F238E27FC236}">
                <a16:creationId xmlns:a16="http://schemas.microsoft.com/office/drawing/2014/main" id="{74EAD15C-AB77-4D97-BE32-78F5B111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0C0BE7-C7CB-4F25-BBC0-F73CFFD386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943C0D-D607-465B-947C-510E29EF9D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D5D1EF3-150D-4A15-851E-5B46DDC680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BDDEFBB-CA7F-4380-AF49-7EC026DA26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08863FC-8C16-4733-9336-5DEA64FD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Kliknij, aby edyt. styl wz. tyt.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8F0A78-6BFB-49A8-ACDD-A4852379C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Kliknij, aby edytować style wzorca tekstu</a:t>
            </a:r>
          </a:p>
          <a:p>
            <a:pPr lvl="1">
              <a:buNone/>
            </a:pPr>
            <a:r>
              <a:t>Drugi poziom</a:t>
            </a:r>
          </a:p>
          <a:p>
            <a:pPr lvl="2">
              <a:buNone/>
            </a:pPr>
            <a:r>
              <a:t>Trzeci poziom</a:t>
            </a:r>
          </a:p>
          <a:p>
            <a:pPr lvl="3">
              <a:buNone/>
            </a:pPr>
            <a:r>
              <a:t>Czwarty poziom</a:t>
            </a:r>
          </a:p>
          <a:p>
            <a:pPr lvl="4">
              <a:buNone/>
            </a:pPr>
            <a:r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492D697-E52E-4F66-BFC2-FF458E30E00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t>15.10.2026</a:t>
            </a:fld>
            <a:endParaRPr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B96A1DE-6B00-4B92-84C6-3BD4F9698A4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822B130-243B-407E-BE12-8487A38FB0C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69798-3C9E-4B1C-8803-4909B6230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910520-6782-4B45-8401-8F9D52282710}"/>
              </a:ext>
            </a:extLst>
          </p:cNvPr>
          <p:cNvSpPr>
            <a:spLocks noGrp="1"/>
          </p:cNvSpPr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1">
                <a:solidFill>
                  <a:schemeClr val="bg1"/>
                </a:solidFill>
              </a:rPr>
              <a:t>PROGRAMOWANIE URZĄDZEŃ</a:t>
            </a:r>
          </a:p>
          <a:p>
            <a:pPr algn="ctr">
              <a:buNone/>
            </a:pPr>
            <a:r>
              <a:rPr sz="3200" b="1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>
            <a:spLocks noGrp="1"/>
          </p:cNvSpPr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>
                <a:solidFill>
                  <a:schemeClr val="bg1"/>
                </a:solidFill>
              </a:rPr>
              <a:t>WYKŁAD 3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>
            <a:spLocks noGrp="1"/>
          </p:cNvSpPr>
          <p:nvPr/>
        </p:nvSpPr>
        <p:spPr>
          <a:xfrm>
            <a:off x="3131840" y="4437112"/>
            <a:ext cx="547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sz="1800">
                <a:solidFill>
                  <a:schemeClr val="bg1"/>
                </a:solidFill>
              </a:rPr>
              <a:t>Korutyny: współbieżność i cykl życia zadań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główek">
            <a:extLst>
              <a:ext uri="{FF2B5EF4-FFF2-40B4-BE49-F238E27FC236}">
                <a16:creationId xmlns:a16="http://schemas.microsoft.com/office/drawing/2014/main" id="{84EB50D2-BEB5-4B96-84AC-C8A2330BD738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Zakres, zadanie i wykonanie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0CE81B62-0E52-420E-8A11-C2A4B914FF94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97EB33F-A038-4715-A2BB-33555EACCBEF}"/>
              </a:ext>
            </a:extLst>
          </p:cNvPr>
          <p:cNvGraphicFramePr/>
          <p:nvPr/>
        </p:nvGraphicFramePr>
        <p:xfrm>
          <a:off x="1257300" y="1752600"/>
          <a:ext cx="7600950" cy="3714750"/>
        </p:xfrm>
        <a:graphic>
          <a:graphicData uri="http://schemas.openxmlformats.org/drawingml/2006/table">
            <a:tbl>
              <a:tblPr/>
              <a:tblGrid>
                <a:gridCol w="2470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Pojęcie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Znaczenie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CoroutineScope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Zakres, w którym uruchamiamy korutyny.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Job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Uchwyt do zadania i jego cyklu życia.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Dispatcher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Określa miejsce wykonywania kodu.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suspend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Pozwala zawiesić wykonanie funkcji.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kst_2">
            <a:extLst>
              <a:ext uri="{FF2B5EF4-FFF2-40B4-BE49-F238E27FC236}">
                <a16:creationId xmlns:a16="http://schemas.microsoft.com/office/drawing/2014/main" id="{3F36F3B7-2D6A-40BE-8DC3-867A7321E3EF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/>
              <a:t>Samo suspend ani launch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przenosi</a:t>
            </a:r>
            <a:r>
              <a:rPr dirty="0"/>
              <a:t> </a:t>
            </a:r>
            <a:r>
              <a:rPr dirty="0" err="1"/>
              <a:t>pracy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inny</a:t>
            </a:r>
            <a:r>
              <a:rPr dirty="0"/>
              <a:t> </a:t>
            </a:r>
            <a:r>
              <a:rPr dirty="0" err="1"/>
              <a:t>wątek</a:t>
            </a:r>
            <a:r>
              <a:rPr dirty="0"/>
              <a:t>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CF41C9F-1996-7D4F-1414-D8E85FEC302F}"/>
              </a:ext>
            </a:extLst>
          </p:cNvPr>
          <p:cNvSpPr txBox="1"/>
          <p:nvPr/>
        </p:nvSpPr>
        <p:spPr>
          <a:xfrm>
            <a:off x="1033753" y="79688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 poprzednim wykładzie dowiedzieliśmy się, że </a:t>
            </a:r>
            <a:r>
              <a:rPr lang="pl-PL" sz="1600" dirty="0" err="1"/>
              <a:t>korutyny</a:t>
            </a:r>
            <a:r>
              <a:rPr lang="pl-PL" sz="1600" dirty="0"/>
              <a:t> </a:t>
            </a:r>
            <a:r>
              <a:rPr lang="pl-PL" sz="1600" b="1" dirty="0"/>
              <a:t>„żyją” w </a:t>
            </a:r>
            <a:r>
              <a:rPr lang="pl-PL" sz="1600" b="1" dirty="0" err="1">
                <a:latin typeface="Verbatim"/>
              </a:rPr>
              <a:t>CoroutineScope</a:t>
            </a:r>
            <a:r>
              <a:rPr lang="pl-PL" sz="1600" dirty="0"/>
              <a:t>. </a:t>
            </a:r>
            <a:r>
              <a:rPr lang="pl-PL" sz="1600" b="1" dirty="0"/>
              <a:t>Ustrukturyzowana Współbieżność </a:t>
            </a:r>
            <a:r>
              <a:rPr lang="pl-PL" sz="1600" dirty="0"/>
              <a:t>to zasada, która mówi, że </a:t>
            </a:r>
            <a:r>
              <a:rPr lang="pl-PL" sz="1600" b="1" dirty="0"/>
              <a:t>cykl życia </a:t>
            </a:r>
            <a:r>
              <a:rPr lang="pl-PL" sz="1600" dirty="0" err="1"/>
              <a:t>korutyny</a:t>
            </a:r>
            <a:r>
              <a:rPr lang="pl-PL" sz="1600" dirty="0"/>
              <a:t> jest </a:t>
            </a:r>
            <a:r>
              <a:rPr lang="pl-PL" sz="1600" b="1" dirty="0"/>
              <a:t>nierozerwalnie związany </a:t>
            </a:r>
            <a:r>
              <a:rPr lang="pl-PL" sz="1600" dirty="0"/>
              <a:t>z jej zakresem (</a:t>
            </a:r>
            <a:r>
              <a:rPr lang="pl-PL" sz="1600" dirty="0" err="1">
                <a:latin typeface="Verbatim"/>
              </a:rPr>
              <a:t>scope</a:t>
            </a:r>
            <a:r>
              <a:rPr lang="pl-PL" sz="1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główek">
            <a:extLst>
              <a:ext uri="{FF2B5EF4-FFF2-40B4-BE49-F238E27FC236}">
                <a16:creationId xmlns:a16="http://schemas.microsoft.com/office/drawing/2014/main" id="{30C53ED8-5A61-4A94-BD23-5A3DD17DB177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Współbieżność a równoległość</a:t>
            </a:r>
          </a:p>
        </p:txBody>
      </p:sp>
      <p:sp>
        <p:nvSpPr>
          <p:cNvPr id="2" name="Tekst_3">
            <a:extLst>
              <a:ext uri="{FF2B5EF4-FFF2-40B4-BE49-F238E27FC236}">
                <a16:creationId xmlns:a16="http://schemas.microsoft.com/office/drawing/2014/main" id="{325BE2BF-02B6-4A17-84D4-58B44A654D23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Współbieżne zadania mogą robić postęp na jednym wątku.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AA77D834-CDD2-4898-A351-9877AB245E55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B007895-6C9F-4FF8-B275-D68AEFAD4B7D}"/>
              </a:ext>
            </a:extLst>
          </p:cNvPr>
          <p:cNvGraphicFramePr/>
          <p:nvPr/>
        </p:nvGraphicFramePr>
        <p:xfrm>
          <a:off x="1257300" y="1752600"/>
          <a:ext cx="7600950" cy="2971800"/>
        </p:xfrm>
        <a:graphic>
          <a:graphicData uri="http://schemas.openxmlformats.org/drawingml/2006/table">
            <a:tbl>
              <a:tblPr/>
              <a:tblGrid>
                <a:gridCol w="270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Przebieg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 dzieje się z zadaniami?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Sekwencyjny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Zadanie B rozpoczyna się po zakończeniu 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Współbieżny, jeden wątek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Gdy A czeka, wątek może wykonywać B.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Równoległy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A i B wykonują kod w tym samym czasie na różnych wątkach.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ADEB6-60D0-0B2D-D747-FC8DC684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główek">
            <a:extLst>
              <a:ext uri="{FF2B5EF4-FFF2-40B4-BE49-F238E27FC236}">
                <a16:creationId xmlns:a16="http://schemas.microsoft.com/office/drawing/2014/main" id="{B99B2977-15FE-9F16-190F-EF41A4DCEC79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Współbieżność a równoległość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3CB47D5-5540-2195-98DB-A618B29A2207}"/>
              </a:ext>
            </a:extLst>
          </p:cNvPr>
          <p:cNvSpPr txBox="1"/>
          <p:nvPr/>
        </p:nvSpPr>
        <p:spPr>
          <a:xfrm>
            <a:off x="1033753" y="796886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Współbieżność</a:t>
            </a:r>
            <a:r>
              <a:rPr lang="pl-PL" sz="1600" dirty="0"/>
              <a:t> polega na </a:t>
            </a:r>
            <a:r>
              <a:rPr lang="pl-PL" sz="1600" b="1" dirty="0"/>
              <a:t>zdolności</a:t>
            </a:r>
            <a:r>
              <a:rPr lang="pl-PL" sz="1600" dirty="0"/>
              <a:t> </a:t>
            </a:r>
            <a:r>
              <a:rPr lang="pl-PL" sz="1600" b="1" dirty="0"/>
              <a:t>systemu</a:t>
            </a:r>
            <a:r>
              <a:rPr lang="pl-PL" sz="1600" dirty="0"/>
              <a:t> do obsługi </a:t>
            </a:r>
            <a:r>
              <a:rPr lang="pl-PL" sz="1600" b="1" dirty="0"/>
              <a:t>wielu zadań jednocześnie</a:t>
            </a:r>
            <a:r>
              <a:rPr lang="pl-PL" sz="1600" dirty="0"/>
              <a:t>, co niekoniecznie oznacza ich wykonywanie w tym samym fizycznym momencie. Chodzi o </a:t>
            </a:r>
            <a:r>
              <a:rPr lang="pl-PL" sz="1600" b="1" dirty="0"/>
              <a:t>zarządzanie wieloma zadaniami </a:t>
            </a:r>
            <a:r>
              <a:rPr lang="pl-PL" sz="1600" dirty="0"/>
              <a:t>i przełączanie się między nimi tak, aby wszystkie posuwały się do przodu.</a:t>
            </a:r>
          </a:p>
        </p:txBody>
      </p:sp>
      <p:pic>
        <p:nvPicPr>
          <p:cNvPr id="16" name="Picture 2" descr="Concurrency Vs Parallelism!">
            <a:extLst>
              <a:ext uri="{FF2B5EF4-FFF2-40B4-BE49-F238E27FC236}">
                <a16:creationId xmlns:a16="http://schemas.microsoft.com/office/drawing/2014/main" id="{4837ED0C-B133-9EF8-42C5-103CA7A74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96" y="1875057"/>
            <a:ext cx="8085546" cy="454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1E4AF65-B980-AAC9-A1BB-B83E309FF019}"/>
              </a:ext>
            </a:extLst>
          </p:cNvPr>
          <p:cNvSpPr txBox="1"/>
          <p:nvPr/>
        </p:nvSpPr>
        <p:spPr>
          <a:xfrm>
            <a:off x="1049188" y="6530860"/>
            <a:ext cx="4584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https://www.youtube.com/watch?v=RlM9AfWf1WU</a:t>
            </a:r>
          </a:p>
        </p:txBody>
      </p:sp>
    </p:spTree>
    <p:extLst>
      <p:ext uri="{BB962C8B-B14F-4D97-AF65-F5344CB8AC3E}">
        <p14:creationId xmlns:p14="http://schemas.microsoft.com/office/powerpoint/2010/main" val="12555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główek">
            <a:extLst>
              <a:ext uri="{FF2B5EF4-FFF2-40B4-BE49-F238E27FC236}">
                <a16:creationId xmlns:a16="http://schemas.microsoft.com/office/drawing/2014/main" id="{B69713B9-F6BE-4647-B888-697743319555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Ustrukturyzowana współbieżność</a:t>
            </a:r>
          </a:p>
        </p:txBody>
      </p:sp>
      <p:sp>
        <p:nvSpPr>
          <p:cNvPr id="2" name="Tekst_5">
            <a:extLst>
              <a:ext uri="{FF2B5EF4-FFF2-40B4-BE49-F238E27FC236}">
                <a16:creationId xmlns:a16="http://schemas.microsoft.com/office/drawing/2014/main" id="{A6605D6F-D56A-4A67-BDF9-A24C213864C8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Powiązania rodzic–dziecko tworzą hierarchię zadań.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B5E9214C-AB57-4BF3-85E9-6BD49F556713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C1440F7-B49B-487C-8316-B506B6ED8606}"/>
              </a:ext>
            </a:extLst>
          </p:cNvPr>
          <p:cNvGraphicFramePr/>
          <p:nvPr/>
        </p:nvGraphicFramePr>
        <p:xfrm>
          <a:off x="1257300" y="1752600"/>
          <a:ext cx="7600950" cy="2971800"/>
        </p:xfrm>
        <a:graphic>
          <a:graphicData uri="http://schemas.openxmlformats.org/drawingml/2006/table">
            <a:tbl>
              <a:tblPr/>
              <a:tblGrid>
                <a:gridCol w="403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Zadanie w przykładzie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Rodzic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Przygotowanie posiłku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Job zakresu ekranu Compose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Przygotowanie mięsa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Korutyna przygotowania posiłku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Przygotowanie warzyw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Korutyna przygotowania posiłku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kst_6">
            <a:extLst>
              <a:ext uri="{FF2B5EF4-FFF2-40B4-BE49-F238E27FC236}">
                <a16:creationId xmlns:a16="http://schemas.microsoft.com/office/drawing/2014/main" id="{91C6749E-AAEC-4C48-81A3-7E33F64D0C10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Rodzic</a:t>
            </a:r>
            <a:r>
              <a:rPr dirty="0"/>
              <a:t> </a:t>
            </a:r>
            <a:r>
              <a:rPr dirty="0" err="1"/>
              <a:t>kończy</a:t>
            </a:r>
            <a:r>
              <a:rPr dirty="0"/>
              <a:t> </a:t>
            </a:r>
            <a:r>
              <a:rPr dirty="0" err="1"/>
              <a:t>się</a:t>
            </a:r>
            <a:r>
              <a:rPr dirty="0"/>
              <a:t> po </a:t>
            </a:r>
            <a:r>
              <a:rPr dirty="0" err="1"/>
              <a:t>dzieciach</a:t>
            </a:r>
            <a:r>
              <a:rPr dirty="0"/>
              <a:t>. </a:t>
            </a:r>
            <a:r>
              <a:rPr dirty="0" err="1"/>
              <a:t>Anulowanie</a:t>
            </a:r>
            <a:r>
              <a:rPr dirty="0"/>
              <a:t> </a:t>
            </a:r>
            <a:r>
              <a:rPr dirty="0" err="1"/>
              <a:t>rodzica</a:t>
            </a:r>
            <a:r>
              <a:rPr dirty="0"/>
              <a:t> </a:t>
            </a:r>
            <a:r>
              <a:rPr dirty="0" err="1"/>
              <a:t>obejmuje</a:t>
            </a:r>
            <a:r>
              <a:rPr dirty="0"/>
              <a:t> </a:t>
            </a:r>
            <a:r>
              <a:rPr dirty="0" err="1"/>
              <a:t>dzieci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11E7CF08-874F-4E75-AE18-0F46881DAFBA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Przykład: przygotowanie posiłku</a:t>
            </a:r>
          </a:p>
        </p:txBody>
      </p:sp>
      <p:sp>
        <p:nvSpPr>
          <p:cNvPr id="2" name="Tekst_7">
            <a:extLst>
              <a:ext uri="{FF2B5EF4-FFF2-40B4-BE49-F238E27FC236}">
                <a16:creationId xmlns:a16="http://schemas.microsoft.com/office/drawing/2014/main" id="{906E25DA-4D2A-47D7-ADF2-B687BB9A8AF4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Dwa niezależne zadania oraz wspólny komunikat końcowy.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9AB0175C-A8E5-4486-8DAA-AF87AAB060C9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5" name="Tekst_8">
            <a:extLst>
              <a:ext uri="{FF2B5EF4-FFF2-40B4-BE49-F238E27FC236}">
                <a16:creationId xmlns:a16="http://schemas.microsoft.com/office/drawing/2014/main" id="{A4FB4948-CB17-462E-83DE-759F155D6D46}"/>
              </a:ext>
            </a:extLst>
          </p:cNvPr>
          <p:cNvSpPr>
            <a:spLocks noGrp="1"/>
          </p:cNvSpPr>
          <p:nvPr/>
        </p:nvSpPr>
        <p:spPr>
          <a:xfrm>
            <a:off x="4000500" y="206692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Mięso</a:t>
            </a:r>
          </a:p>
        </p:txBody>
      </p:sp>
      <p:sp>
        <p:nvSpPr>
          <p:cNvPr id="6" name="Tekst_9">
            <a:extLst>
              <a:ext uri="{FF2B5EF4-FFF2-40B4-BE49-F238E27FC236}">
                <a16:creationId xmlns:a16="http://schemas.microsoft.com/office/drawing/2014/main" id="{5FF0F8D1-EDC8-406C-B61F-F94754D40632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Symulowane przygotowanie: 2 s.</a:t>
            </a:r>
          </a:p>
        </p:txBody>
      </p:sp>
      <p:sp>
        <p:nvSpPr>
          <p:cNvPr id="7" name="Tekst_10">
            <a:extLst>
              <a:ext uri="{FF2B5EF4-FFF2-40B4-BE49-F238E27FC236}">
                <a16:creationId xmlns:a16="http://schemas.microsoft.com/office/drawing/2014/main" id="{124FB2A9-1A7F-41AC-A135-0A71769498EE}"/>
              </a:ext>
            </a:extLst>
          </p:cNvPr>
          <p:cNvSpPr>
            <a:spLocks noGrp="1"/>
          </p:cNvSpPr>
          <p:nvPr/>
        </p:nvSpPr>
        <p:spPr>
          <a:xfrm>
            <a:off x="4000500" y="319087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Warzywa</a:t>
            </a:r>
          </a:p>
        </p:txBody>
      </p:sp>
      <p:sp>
        <p:nvSpPr>
          <p:cNvPr id="8" name="Tekst_11">
            <a:extLst>
              <a:ext uri="{FF2B5EF4-FFF2-40B4-BE49-F238E27FC236}">
                <a16:creationId xmlns:a16="http://schemas.microsoft.com/office/drawing/2014/main" id="{DE8A35D6-719D-480D-B37B-0EAB3D38F2EE}"/>
              </a:ext>
            </a:extLst>
          </p:cNvPr>
          <p:cNvSpPr>
            <a:spLocks noGrp="1"/>
          </p:cNvSpPr>
          <p:nvPr/>
        </p:nvSpPr>
        <p:spPr>
          <a:xfrm>
            <a:off x="4000500" y="347662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Symulowane przygotowanie: 3 s.</a:t>
            </a:r>
          </a:p>
        </p:txBody>
      </p:sp>
      <p:sp>
        <p:nvSpPr>
          <p:cNvPr id="9" name="Tekst_12">
            <a:extLst>
              <a:ext uri="{FF2B5EF4-FFF2-40B4-BE49-F238E27FC236}">
                <a16:creationId xmlns:a16="http://schemas.microsoft.com/office/drawing/2014/main" id="{1FCD80E6-A2EB-434E-ADD5-95FAAE9EBA51}"/>
              </a:ext>
            </a:extLst>
          </p:cNvPr>
          <p:cNvSpPr>
            <a:spLocks noGrp="1"/>
          </p:cNvSpPr>
          <p:nvPr/>
        </p:nvSpPr>
        <p:spPr>
          <a:xfrm>
            <a:off x="4000500" y="431482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Podanie posiłku</a:t>
            </a:r>
          </a:p>
        </p:txBody>
      </p:sp>
      <p:sp>
        <p:nvSpPr>
          <p:cNvPr id="10" name="Tekst_13">
            <a:extLst>
              <a:ext uri="{FF2B5EF4-FFF2-40B4-BE49-F238E27FC236}">
                <a16:creationId xmlns:a16="http://schemas.microsoft.com/office/drawing/2014/main" id="{9588274F-B8BD-4F65-9B4E-994E4BA1AFCB}"/>
              </a:ext>
            </a:extLst>
          </p:cNvPr>
          <p:cNvSpPr>
            <a:spLocks noGrp="1"/>
          </p:cNvSpPr>
          <p:nvPr/>
        </p:nvSpPr>
        <p:spPr>
          <a:xfrm>
            <a:off x="4000500" y="460057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Dopiero po zakończeniu obu zadań.</a:t>
            </a:r>
          </a:p>
        </p:txBody>
      </p:sp>
      <p:sp>
        <p:nvSpPr>
          <p:cNvPr id="11" name="Tekst_14">
            <a:extLst>
              <a:ext uri="{FF2B5EF4-FFF2-40B4-BE49-F238E27FC236}">
                <a16:creationId xmlns:a16="http://schemas.microsoft.com/office/drawing/2014/main" id="{17D8FC96-6208-4F3F-9CBE-0BFF891A7BAA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Przy współbieżnym oczekiwaniu całość trwa około 3 s.</a:t>
            </a:r>
          </a:p>
        </p:txBody>
      </p:sp>
      <p:pic>
        <p:nvPicPr>
          <p:cNvPr id="13" name="bandicam 2025-07-29 15-13-43-718">
            <a:hlinkClick r:id="" action="ppaction://media"/>
            <a:extLst>
              <a:ext uri="{FF2B5EF4-FFF2-40B4-BE49-F238E27FC236}">
                <a16:creationId xmlns:a16="http://schemas.microsoft.com/office/drawing/2014/main" id="{2E4FF619-80D9-7620-37C9-AEB257F57C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9785" y="1337544"/>
            <a:ext cx="2175937" cy="477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355B18A6-6928-404F-A3C3-DB459626BC57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Stan ekranu i zakres korutyn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5E3A3434-5287-6114-0478-99C03D7A7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5513" cy="6021288"/>
          </a:xfrm>
          <a:prstGeom prst="rect">
            <a:avLst/>
          </a:prstGeom>
        </p:spPr>
      </p:pic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D27FE6AF-E421-81BA-94DC-1C3D24E0893D}"/>
              </a:ext>
            </a:extLst>
          </p:cNvPr>
          <p:cNvSpPr/>
          <p:nvPr/>
        </p:nvSpPr>
        <p:spPr>
          <a:xfrm>
            <a:off x="0" y="681083"/>
            <a:ext cx="3468372" cy="61396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563E81B8-6ED6-B479-16D9-9C28A7F65034}"/>
              </a:ext>
            </a:extLst>
          </p:cNvPr>
          <p:cNvSpPr txBox="1"/>
          <p:nvPr/>
        </p:nvSpPr>
        <p:spPr>
          <a:xfrm>
            <a:off x="90716" y="685736"/>
            <a:ext cx="3286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listę, która przechowuje logi z operacji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27ED57D1-E9AE-1549-7534-40A68C94216F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468372" y="988065"/>
            <a:ext cx="311540" cy="136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8CAF4557-DCBB-8415-B2A2-ECC6120ECC8B}"/>
              </a:ext>
            </a:extLst>
          </p:cNvPr>
          <p:cNvSpPr/>
          <p:nvPr/>
        </p:nvSpPr>
        <p:spPr>
          <a:xfrm>
            <a:off x="0" y="1480507"/>
            <a:ext cx="3468372" cy="83565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C760EAEB-C9CB-6E2F-0ADE-C79A74C1E092}"/>
              </a:ext>
            </a:extLst>
          </p:cNvPr>
          <p:cNvSpPr txBox="1"/>
          <p:nvPr/>
        </p:nvSpPr>
        <p:spPr>
          <a:xfrm>
            <a:off x="90716" y="1485160"/>
            <a:ext cx="32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zakres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tego komponentu.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A312DD4-42CD-A089-E37B-69AADC1E7F22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468372" y="1295046"/>
            <a:ext cx="335048" cy="603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9398A-712A-8F82-690B-6181CA2F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F85A88FC-13ED-7FD7-2A08-6B641F8F33AF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Stan ekranu i zakres korutyn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BB244693-B388-E63A-6302-75C079CE2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5513" cy="602128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18CCAB63-7E7E-139E-4A2A-330F799C2151}"/>
              </a:ext>
            </a:extLst>
          </p:cNvPr>
          <p:cNvSpPr/>
          <p:nvPr/>
        </p:nvSpPr>
        <p:spPr>
          <a:xfrm>
            <a:off x="0" y="681083"/>
            <a:ext cx="3468372" cy="61396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4602528-9EEA-53DC-0333-CC7C76B1D284}"/>
              </a:ext>
            </a:extLst>
          </p:cNvPr>
          <p:cNvSpPr txBox="1"/>
          <p:nvPr/>
        </p:nvSpPr>
        <p:spPr>
          <a:xfrm>
            <a:off x="90716" y="685736"/>
            <a:ext cx="3286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listę, która przechowuje logi z operacji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446878AC-E9E5-DA0E-9DA8-F629BD7A74F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68372" y="988065"/>
            <a:ext cx="311540" cy="136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F5CCDA9B-060C-F8EE-DB6C-A0DD1234EE4E}"/>
              </a:ext>
            </a:extLst>
          </p:cNvPr>
          <p:cNvSpPr/>
          <p:nvPr/>
        </p:nvSpPr>
        <p:spPr>
          <a:xfrm>
            <a:off x="0" y="1480507"/>
            <a:ext cx="3468372" cy="83565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D2BD03D-6E3A-34B3-BA6D-405F0AA1867C}"/>
              </a:ext>
            </a:extLst>
          </p:cNvPr>
          <p:cNvSpPr txBox="1"/>
          <p:nvPr/>
        </p:nvSpPr>
        <p:spPr>
          <a:xfrm>
            <a:off x="90716" y="1485160"/>
            <a:ext cx="32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zakres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tego komponentu.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E0DD9DF4-7FC7-E26D-8EC4-36761791A45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68372" y="1295046"/>
            <a:ext cx="335048" cy="603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9BF4A341-7C8D-42AF-7F69-40DF7BC9848A}"/>
              </a:ext>
            </a:extLst>
          </p:cNvPr>
          <p:cNvSpPr/>
          <p:nvPr/>
        </p:nvSpPr>
        <p:spPr>
          <a:xfrm>
            <a:off x="467543" y="2542127"/>
            <a:ext cx="2996377" cy="343207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96EC123-E3E2-005C-13AE-0F8A55BFFD75}"/>
              </a:ext>
            </a:extLst>
          </p:cNvPr>
          <p:cNvSpPr txBox="1"/>
          <p:nvPr/>
        </p:nvSpPr>
        <p:spPr>
          <a:xfrm>
            <a:off x="539551" y="2546780"/>
            <a:ext cx="283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3B9C4140-7631-E9D4-3675-A2DD9869786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463920" y="2492896"/>
            <a:ext cx="820048" cy="2208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925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9FEF7-A21C-88B9-399A-30B6D9F0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84917C9E-A37A-9CBD-8DA2-37A7C37F3A88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Stan ekranu i zakres korutyn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160F2400-0B86-57ED-CC22-03BBCE6D3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5513" cy="6021288"/>
          </a:xfrm>
          <a:prstGeom prst="rect">
            <a:avLst/>
          </a:prstGeom>
        </p:spPr>
      </p:pic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78A6897F-D383-03C6-DD48-79C4A7FC72B3}"/>
              </a:ext>
            </a:extLst>
          </p:cNvPr>
          <p:cNvSpPr/>
          <p:nvPr/>
        </p:nvSpPr>
        <p:spPr>
          <a:xfrm>
            <a:off x="0" y="681083"/>
            <a:ext cx="3468372" cy="61396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23F43F9-3170-6207-D4E0-FDC3DBF10635}"/>
              </a:ext>
            </a:extLst>
          </p:cNvPr>
          <p:cNvSpPr txBox="1"/>
          <p:nvPr/>
        </p:nvSpPr>
        <p:spPr>
          <a:xfrm>
            <a:off x="90716" y="685736"/>
            <a:ext cx="3286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listę, która przechowuje logi z operacji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D5A013DC-AD4B-F641-389B-A7E36DC7866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468372" y="988065"/>
            <a:ext cx="311540" cy="136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5066F8C-B860-7830-0695-75DCB1BC9132}"/>
              </a:ext>
            </a:extLst>
          </p:cNvPr>
          <p:cNvSpPr/>
          <p:nvPr/>
        </p:nvSpPr>
        <p:spPr>
          <a:xfrm>
            <a:off x="0" y="1480507"/>
            <a:ext cx="3468372" cy="83565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36F159D6-6FB4-6028-32C7-2CA0F06A428F}"/>
              </a:ext>
            </a:extLst>
          </p:cNvPr>
          <p:cNvSpPr txBox="1"/>
          <p:nvPr/>
        </p:nvSpPr>
        <p:spPr>
          <a:xfrm>
            <a:off x="90716" y="1485160"/>
            <a:ext cx="32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zakres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tego komponentu.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156A0AE6-8A64-B31A-7DE9-FE2603C7A3F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468372" y="1295046"/>
            <a:ext cx="335048" cy="603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6A0CB627-70D8-B6DB-CD15-796F8F57FFF0}"/>
              </a:ext>
            </a:extLst>
          </p:cNvPr>
          <p:cNvSpPr/>
          <p:nvPr/>
        </p:nvSpPr>
        <p:spPr>
          <a:xfrm>
            <a:off x="467543" y="2542127"/>
            <a:ext cx="2996377" cy="343207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A9497E2-4F49-D9EF-5262-80D5EBFF1AE3}"/>
              </a:ext>
            </a:extLst>
          </p:cNvPr>
          <p:cNvSpPr txBox="1"/>
          <p:nvPr/>
        </p:nvSpPr>
        <p:spPr>
          <a:xfrm>
            <a:off x="539551" y="2546780"/>
            <a:ext cx="283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80F1B2F0-C12F-19F4-4EA7-5F15B8B6C274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463920" y="2492896"/>
            <a:ext cx="820048" cy="2208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746469CF-E5E1-7834-0495-89E4381137C2}"/>
              </a:ext>
            </a:extLst>
          </p:cNvPr>
          <p:cNvSpPr/>
          <p:nvPr/>
        </p:nvSpPr>
        <p:spPr>
          <a:xfrm>
            <a:off x="57519" y="3195658"/>
            <a:ext cx="3468372" cy="1174258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61406171-E084-110B-FFFD-7C638BFE93A5}"/>
              </a:ext>
            </a:extLst>
          </p:cNvPr>
          <p:cNvSpPr txBox="1"/>
          <p:nvPr/>
        </p:nvSpPr>
        <p:spPr>
          <a:xfrm>
            <a:off x="129527" y="3200310"/>
            <a:ext cx="3419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Uruchamiane są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Obie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startują niemal w tym samym momencie i działają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F48CF2F0-48DC-A16C-A2FA-8BEB77344253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25891" y="3007425"/>
            <a:ext cx="1046109" cy="77536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38B72E9-7938-2AA2-ECE3-780B0478C999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25891" y="3780521"/>
            <a:ext cx="1046109" cy="22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63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E4D6B-019E-59BC-0605-CE444FDB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3F8669BB-2D79-86FC-FBC3-C9D429C77D8D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Stan ekranu i zakres korutyn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CEEBB04F-F0E1-161F-6CE3-8CAB8D78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5513" cy="602128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C3EF9F66-C063-9BC6-4948-6A35C46D0CE8}"/>
              </a:ext>
            </a:extLst>
          </p:cNvPr>
          <p:cNvSpPr/>
          <p:nvPr/>
        </p:nvSpPr>
        <p:spPr>
          <a:xfrm>
            <a:off x="0" y="681083"/>
            <a:ext cx="3468372" cy="61396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AA4B364-23EA-38C3-8E12-EB0F3A2AEBD6}"/>
              </a:ext>
            </a:extLst>
          </p:cNvPr>
          <p:cNvSpPr txBox="1"/>
          <p:nvPr/>
        </p:nvSpPr>
        <p:spPr>
          <a:xfrm>
            <a:off x="90716" y="685736"/>
            <a:ext cx="3286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listę, która przechowuje logi z operacji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62EF4F73-B75D-E6BA-8B99-B4640ADD31D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468372" y="988065"/>
            <a:ext cx="311540" cy="136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FBCE2A34-A181-1689-3E61-5E4757B65441}"/>
              </a:ext>
            </a:extLst>
          </p:cNvPr>
          <p:cNvSpPr/>
          <p:nvPr/>
        </p:nvSpPr>
        <p:spPr>
          <a:xfrm>
            <a:off x="0" y="1480507"/>
            <a:ext cx="3468372" cy="83565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8149942-ED13-A64C-C406-42F91E9E7B9A}"/>
              </a:ext>
            </a:extLst>
          </p:cNvPr>
          <p:cNvSpPr txBox="1"/>
          <p:nvPr/>
        </p:nvSpPr>
        <p:spPr>
          <a:xfrm>
            <a:off x="90716" y="1485160"/>
            <a:ext cx="32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zakres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tego komponentu.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6F24DB5-63A2-DFD3-E005-68CFE74DF32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468372" y="1295046"/>
            <a:ext cx="335048" cy="603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DCFE4397-4F1D-0B0F-BDB1-03D69A174EEB}"/>
              </a:ext>
            </a:extLst>
          </p:cNvPr>
          <p:cNvSpPr/>
          <p:nvPr/>
        </p:nvSpPr>
        <p:spPr>
          <a:xfrm>
            <a:off x="467543" y="2542127"/>
            <a:ext cx="2996377" cy="343207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994B2F3-665C-AC6F-4B37-52759B05BA54}"/>
              </a:ext>
            </a:extLst>
          </p:cNvPr>
          <p:cNvSpPr txBox="1"/>
          <p:nvPr/>
        </p:nvSpPr>
        <p:spPr>
          <a:xfrm>
            <a:off x="539551" y="2546780"/>
            <a:ext cx="283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6BEB004A-ACFE-BC20-A23B-97B7336AEF57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463920" y="2492896"/>
            <a:ext cx="820048" cy="2208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39303446-EAE3-FB14-55AB-3B98BD0929D2}"/>
              </a:ext>
            </a:extLst>
          </p:cNvPr>
          <p:cNvSpPr/>
          <p:nvPr/>
        </p:nvSpPr>
        <p:spPr>
          <a:xfrm>
            <a:off x="57519" y="3195658"/>
            <a:ext cx="3468372" cy="1174258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E5A2F8C4-C199-E400-6613-162735B24BEA}"/>
              </a:ext>
            </a:extLst>
          </p:cNvPr>
          <p:cNvSpPr txBox="1"/>
          <p:nvPr/>
        </p:nvSpPr>
        <p:spPr>
          <a:xfrm>
            <a:off x="129527" y="3200310"/>
            <a:ext cx="3419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Uruchamiane są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Obie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startują niemal w tym samym momencie i działają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CD7CAA9-2819-4915-F172-4E44A15DD7F5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525891" y="3007425"/>
            <a:ext cx="1046109" cy="77536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prosty ze strzałką 29">
            <a:extLst>
              <a:ext uri="{FF2B5EF4-FFF2-40B4-BE49-F238E27FC236}">
                <a16:creationId xmlns:a16="http://schemas.microsoft.com/office/drawing/2014/main" id="{26E37F20-D4A7-5E32-4CF3-DD9FB8AD38B8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525891" y="3780521"/>
            <a:ext cx="1046109" cy="22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172083F3-2C7B-7C69-B300-64479743E33D}"/>
              </a:ext>
            </a:extLst>
          </p:cNvPr>
          <p:cNvSpPr/>
          <p:nvPr/>
        </p:nvSpPr>
        <p:spPr>
          <a:xfrm>
            <a:off x="23508" y="4686568"/>
            <a:ext cx="3468372" cy="133471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EB30104D-9F05-3CC1-2174-11AB56AB4CE0}"/>
              </a:ext>
            </a:extLst>
          </p:cNvPr>
          <p:cNvSpPr txBox="1"/>
          <p:nvPr/>
        </p:nvSpPr>
        <p:spPr>
          <a:xfrm>
            <a:off x="95516" y="4691221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wykonać akcję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 zakończeniu wszystkich zadań-dzieci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musimy na 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jawnie poczekać.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 do tego 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join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().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AEE9363D-FB3E-B699-9744-FF051FAE9EF7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491880" y="4851843"/>
            <a:ext cx="1046109" cy="5020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0CB3DE44-CA3C-62F1-FD30-10B2374C7A2B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491880" y="5084143"/>
            <a:ext cx="1046109" cy="2697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4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8B88D-7DEC-32FC-11D6-C295B7AF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AEEEC7C4-39F2-3B15-7396-4B90008E759A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Stan ekranu i zakres korutyn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21A20BEB-3350-2A14-5BD3-C7A874C63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836712"/>
            <a:ext cx="5545513" cy="6021288"/>
          </a:xfrm>
          <a:prstGeom prst="rect">
            <a:avLst/>
          </a:prstGeom>
        </p:spPr>
      </p:pic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F1578BA1-928C-A001-EE64-67FB4B897B14}"/>
              </a:ext>
            </a:extLst>
          </p:cNvPr>
          <p:cNvSpPr/>
          <p:nvPr/>
        </p:nvSpPr>
        <p:spPr>
          <a:xfrm>
            <a:off x="0" y="681083"/>
            <a:ext cx="3468372" cy="61396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3C02471-A5DA-2599-0BBB-B372819DFFFE}"/>
              </a:ext>
            </a:extLst>
          </p:cNvPr>
          <p:cNvSpPr txBox="1"/>
          <p:nvPr/>
        </p:nvSpPr>
        <p:spPr>
          <a:xfrm>
            <a:off x="90716" y="685736"/>
            <a:ext cx="3286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listę, która przechowuje logi z operacji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1C7B6C04-FE70-60D6-3C58-FD5E332082D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468372" y="988065"/>
            <a:ext cx="311540" cy="136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917B3326-D7DF-288B-5D87-4EC7D7D0F8CF}"/>
              </a:ext>
            </a:extLst>
          </p:cNvPr>
          <p:cNvSpPr/>
          <p:nvPr/>
        </p:nvSpPr>
        <p:spPr>
          <a:xfrm>
            <a:off x="0" y="1480507"/>
            <a:ext cx="3468372" cy="83565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B6EFE06B-A1EE-D00D-6F07-95FD5F32E922}"/>
              </a:ext>
            </a:extLst>
          </p:cNvPr>
          <p:cNvSpPr txBox="1"/>
          <p:nvPr/>
        </p:nvSpPr>
        <p:spPr>
          <a:xfrm>
            <a:off x="90716" y="1485160"/>
            <a:ext cx="328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zakres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tego komponentu.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F7FB4EF5-D347-5B21-2778-9F6F7A075814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468372" y="1295046"/>
            <a:ext cx="335048" cy="60328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A9BA8AE1-018D-904F-35DA-BEF848B7759B}"/>
              </a:ext>
            </a:extLst>
          </p:cNvPr>
          <p:cNvSpPr/>
          <p:nvPr/>
        </p:nvSpPr>
        <p:spPr>
          <a:xfrm>
            <a:off x="467543" y="2542127"/>
            <a:ext cx="2996377" cy="343207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6879CD5-D2D4-7ADD-0334-ACCB9C8C4F16}"/>
              </a:ext>
            </a:extLst>
          </p:cNvPr>
          <p:cNvSpPr txBox="1"/>
          <p:nvPr/>
        </p:nvSpPr>
        <p:spPr>
          <a:xfrm>
            <a:off x="539551" y="2546780"/>
            <a:ext cx="2833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A3599143-5DC3-375F-250E-FD2B33ED41A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3463920" y="2492896"/>
            <a:ext cx="820048" cy="2208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9AF2D6FC-D1A5-0DEB-C9A9-AA2BDB32BB18}"/>
              </a:ext>
            </a:extLst>
          </p:cNvPr>
          <p:cNvSpPr/>
          <p:nvPr/>
        </p:nvSpPr>
        <p:spPr>
          <a:xfrm>
            <a:off x="57519" y="3195658"/>
            <a:ext cx="3468372" cy="1174258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8A6C002C-451F-E79C-0BD2-1BD251A9B060}"/>
              </a:ext>
            </a:extLst>
          </p:cNvPr>
          <p:cNvSpPr txBox="1"/>
          <p:nvPr/>
        </p:nvSpPr>
        <p:spPr>
          <a:xfrm>
            <a:off x="129527" y="3200310"/>
            <a:ext cx="3419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Uruchamiane są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Obie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startują niemal w tym samym momencie i działają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współbieżnie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C7FA315D-DDDD-F587-D31E-5EF4085EEF3E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25891" y="3007425"/>
            <a:ext cx="1046109" cy="77536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4BEB4B19-9096-4892-9A43-C83D6A8A36B0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525891" y="3780521"/>
            <a:ext cx="1046109" cy="226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357B5B60-CB22-8619-D6F4-E10278D23BD3}"/>
              </a:ext>
            </a:extLst>
          </p:cNvPr>
          <p:cNvSpPr/>
          <p:nvPr/>
        </p:nvSpPr>
        <p:spPr>
          <a:xfrm>
            <a:off x="23508" y="4686568"/>
            <a:ext cx="3468372" cy="133471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DF86AB14-E1F5-B88C-1BCA-FBFAC690FBC9}"/>
              </a:ext>
            </a:extLst>
          </p:cNvPr>
          <p:cNvSpPr txBox="1"/>
          <p:nvPr/>
        </p:nvSpPr>
        <p:spPr>
          <a:xfrm>
            <a:off x="95516" y="4691221"/>
            <a:ext cx="3419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wykonać akcję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 zakończeniu wszystkich zadań-dzieci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musimy na 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jawnie poczekać.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Służy do tego 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join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().</a:t>
            </a:r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F1310318-B20D-1CF9-81B9-2E879DAF67C3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3491880" y="4851843"/>
            <a:ext cx="1046109" cy="5020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C495FC1D-BCB3-648D-AE0F-A11C55C77E5B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3491880" y="5084143"/>
            <a:ext cx="1046109" cy="26978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rostokąt: zaokrąglone rogi 38">
            <a:extLst>
              <a:ext uri="{FF2B5EF4-FFF2-40B4-BE49-F238E27FC236}">
                <a16:creationId xmlns:a16="http://schemas.microsoft.com/office/drawing/2014/main" id="{C79B28AD-F0FC-EEFF-1611-0DAE54AD9B95}"/>
              </a:ext>
            </a:extLst>
          </p:cNvPr>
          <p:cNvSpPr/>
          <p:nvPr/>
        </p:nvSpPr>
        <p:spPr>
          <a:xfrm>
            <a:off x="137732" y="6102766"/>
            <a:ext cx="7530612" cy="75523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0" name="pole tekstowe 39">
            <a:extLst>
              <a:ext uri="{FF2B5EF4-FFF2-40B4-BE49-F238E27FC236}">
                <a16:creationId xmlns:a16="http://schemas.microsoft.com/office/drawing/2014/main" id="{95EEB303-80AA-28FC-89E3-E582C05BA942}"/>
              </a:ext>
            </a:extLst>
          </p:cNvPr>
          <p:cNvSpPr txBox="1"/>
          <p:nvPr/>
        </p:nvSpPr>
        <p:spPr>
          <a:xfrm>
            <a:off x="160513" y="6096140"/>
            <a:ext cx="77768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b="1" dirty="0" err="1">
                <a:latin typeface="Verbatim"/>
              </a:rPr>
              <a:t>launch</a:t>
            </a:r>
            <a:r>
              <a:rPr lang="pl-PL" sz="1400" dirty="0"/>
              <a:t> zwraca obiekt typu </a:t>
            </a:r>
            <a:r>
              <a:rPr lang="pl-PL" sz="1400" b="1" dirty="0">
                <a:latin typeface="Verbatim"/>
              </a:rPr>
              <a:t>Job</a:t>
            </a:r>
            <a:r>
              <a:rPr lang="pl-PL" sz="1400" dirty="0"/>
              <a:t>, który </a:t>
            </a:r>
            <a:r>
              <a:rPr lang="pl-PL" sz="1400" b="1" dirty="0"/>
              <a:t>reprezentuje cykl życia </a:t>
            </a:r>
            <a:r>
              <a:rPr lang="pl-PL" sz="1400" dirty="0" err="1"/>
              <a:t>korutyny</a:t>
            </a:r>
            <a:r>
              <a:rPr lang="pl-PL" sz="1400" dirty="0"/>
              <a:t>. </a:t>
            </a:r>
          </a:p>
          <a:p>
            <a:r>
              <a:rPr lang="pl-PL" sz="1400" b="1" dirty="0" err="1">
                <a:latin typeface="Verbatim"/>
              </a:rPr>
              <a:t>job.join</a:t>
            </a:r>
            <a:r>
              <a:rPr lang="pl-PL" sz="1400" b="1" dirty="0">
                <a:latin typeface="Verbatim"/>
              </a:rPr>
              <a:t>() </a:t>
            </a:r>
            <a:r>
              <a:rPr lang="pl-PL" sz="1400" dirty="0"/>
              <a:t>to funkcja </a:t>
            </a:r>
            <a:r>
              <a:rPr lang="pl-PL" sz="1400" b="1" dirty="0" err="1">
                <a:latin typeface="Verbatim"/>
              </a:rPr>
              <a:t>suspend</a:t>
            </a:r>
            <a:r>
              <a:rPr lang="pl-PL" sz="1400" dirty="0"/>
              <a:t>, która </a:t>
            </a:r>
            <a:r>
              <a:rPr lang="pl-PL" sz="1400" b="1" dirty="0"/>
              <a:t>zawiesza </a:t>
            </a:r>
            <a:r>
              <a:rPr lang="pl-PL" sz="1400" b="1" dirty="0" err="1"/>
              <a:t>korutynę</a:t>
            </a:r>
            <a:r>
              <a:rPr lang="pl-PL" sz="1400" dirty="0"/>
              <a:t>, w której została wywołana (w tym przypadku rodzica), do czasu, aż </a:t>
            </a:r>
            <a:r>
              <a:rPr lang="pl-PL" sz="1400" b="1" dirty="0" err="1">
                <a:latin typeface="Verbatim"/>
              </a:rPr>
              <a:t>job</a:t>
            </a:r>
            <a:r>
              <a:rPr lang="pl-PL" sz="1400" dirty="0"/>
              <a:t> się zakończy.</a:t>
            </a:r>
          </a:p>
        </p:txBody>
      </p:sp>
    </p:spTree>
    <p:extLst>
      <p:ext uri="{BB962C8B-B14F-4D97-AF65-F5344CB8AC3E}">
        <p14:creationId xmlns:p14="http://schemas.microsoft.com/office/powerpoint/2010/main" val="174267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agłówek">
            <a:extLst>
              <a:ext uri="{FF2B5EF4-FFF2-40B4-BE49-F238E27FC236}">
                <a16:creationId xmlns:a16="http://schemas.microsoft.com/office/drawing/2014/main" id="{6B35E5F5-D2DB-4B8E-8E25-570472EC0F22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Rodzic uruchamia dwoje dzieci</a:t>
            </a:r>
          </a:p>
        </p:txBody>
      </p:sp>
      <p:sp>
        <p:nvSpPr>
          <p:cNvPr id="2" name="Tekst_17">
            <a:extLst>
              <a:ext uri="{FF2B5EF4-FFF2-40B4-BE49-F238E27FC236}">
                <a16:creationId xmlns:a16="http://schemas.microsoft.com/office/drawing/2014/main" id="{C53737E6-F255-407B-BEF8-C3D8CD15E245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Kod należy do obsługi kliknięcia przycisku.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7B251317-EAA6-4240-A47C-3295F2E17CBF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C0CD793F-E283-4D1F-B1C4-F750F4B5C0CE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scope.launch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41D87209-88EE-46DC-9F79-E6C0360C71F0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"Zaczynamy przygotowanie"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3CC60263-4937-4E30-8F21-D563347E25BD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meat = launch {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39AE7182-42EC-47F8-8FD1-EE2E844158F2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2000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5FACA7A5-34E6-4BAD-BA2C-A34643D08FF3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"Mięso gotowe"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2C9BB394-DEF2-4FA4-8EC4-69C0153CECA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045853B2-CA6E-427A-BD56-179B72FBD3E1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vegetables = launch {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FDEA1877-0154-41B6-869D-53A58FECFF2E}"/>
              </a:ext>
            </a:extLst>
          </p:cNvPr>
          <p:cNvSpPr>
            <a:spLocks noGrp="1"/>
          </p:cNvSpPr>
          <p:nvPr/>
        </p:nvSpPr>
        <p:spPr>
          <a:xfrm>
            <a:off x="1257300" y="36861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2" name="Kod_9">
            <a:extLst>
              <a:ext uri="{FF2B5EF4-FFF2-40B4-BE49-F238E27FC236}">
                <a16:creationId xmlns:a16="http://schemas.microsoft.com/office/drawing/2014/main" id="{1A783A14-B7C7-49DA-988B-94CF8EFEAD62}"/>
              </a:ext>
            </a:extLst>
          </p:cNvPr>
          <p:cNvSpPr>
            <a:spLocks noGrp="1"/>
          </p:cNvSpPr>
          <p:nvPr/>
        </p:nvSpPr>
        <p:spPr>
          <a:xfrm>
            <a:off x="1257300" y="39624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"Warzywa gotowe"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3" name="Kod_10">
            <a:extLst>
              <a:ext uri="{FF2B5EF4-FFF2-40B4-BE49-F238E27FC236}">
                <a16:creationId xmlns:a16="http://schemas.microsoft.com/office/drawing/2014/main" id="{D2EC014E-DA63-46EE-959B-19E230B10656}"/>
              </a:ext>
            </a:extLst>
          </p:cNvPr>
          <p:cNvSpPr>
            <a:spLocks noGrp="1"/>
          </p:cNvSpPr>
          <p:nvPr/>
        </p:nvSpPr>
        <p:spPr>
          <a:xfrm>
            <a:off x="1257300" y="42386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4" name="Kod_11">
            <a:extLst>
              <a:ext uri="{FF2B5EF4-FFF2-40B4-BE49-F238E27FC236}">
                <a16:creationId xmlns:a16="http://schemas.microsoft.com/office/drawing/2014/main" id="{18DDF1C2-DBC0-4F18-8143-771EBAE2A1F3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"Zadania uruchomione"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5" name="Kod_12">
            <a:extLst>
              <a:ext uri="{FF2B5EF4-FFF2-40B4-BE49-F238E27FC236}">
                <a16:creationId xmlns:a16="http://schemas.microsoft.com/office/drawing/2014/main" id="{43D663AA-AF50-4A39-BC78-79A57B0D721C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6" name="Tekst_18">
            <a:extLst>
              <a:ext uri="{FF2B5EF4-FFF2-40B4-BE49-F238E27FC236}">
                <a16:creationId xmlns:a16="http://schemas.microsoft.com/office/drawing/2014/main" id="{5E3DF0EA-770E-4C94-9958-7ADAACF27232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Oba launch są wywołane przed oczekiwaniem na zakończenie.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agłówek">
            <a:extLst>
              <a:ext uri="{FF2B5EF4-FFF2-40B4-BE49-F238E27FC236}">
                <a16:creationId xmlns:a16="http://schemas.microsoft.com/office/drawing/2014/main" id="{FD535F8F-B089-4CE2-8D73-FC8412B82262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Oczekiwanie przez join()</a:t>
            </a:r>
          </a:p>
        </p:txBody>
      </p:sp>
      <p:sp>
        <p:nvSpPr>
          <p:cNvPr id="2" name="Tekst_19">
            <a:extLst>
              <a:ext uri="{FF2B5EF4-FFF2-40B4-BE49-F238E27FC236}">
                <a16:creationId xmlns:a16="http://schemas.microsoft.com/office/drawing/2014/main" id="{ACA53BEA-A968-4C19-AD83-6CA4E32D57E7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join() ustala, kiedy wykona się dalszy kod rodzica.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0B4F39D7-D94E-46DA-BA39-43D261889962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5C7172A9-FC6B-432F-98EA-9E685DC16F5F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scope.launch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13001B8C-1DB4-429C-8648-F9B9D479C40A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meat = launch {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D351023C-B474-4BD0-B62D-F0D9422B628A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2000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506A89AD-1E06-4831-83D1-C8763869CD3D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"Mięso gotowe"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2FF29C8E-E226-4344-9254-B2E9A6FA9611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3CB96E71-FAD6-40D5-99B9-47ECC42AE1BA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vegetables = launch {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8DC177B0-EFD8-4113-AFD3-3A9282047006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68E48149-4477-48BA-95F3-B50665ED29F5}"/>
              </a:ext>
            </a:extLst>
          </p:cNvPr>
          <p:cNvSpPr>
            <a:spLocks noGrp="1"/>
          </p:cNvSpPr>
          <p:nvPr/>
        </p:nvSpPr>
        <p:spPr>
          <a:xfrm>
            <a:off x="1257300" y="36861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"Warzywa gotowe"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2" name="Kod_9">
            <a:extLst>
              <a:ext uri="{FF2B5EF4-FFF2-40B4-BE49-F238E27FC236}">
                <a16:creationId xmlns:a16="http://schemas.microsoft.com/office/drawing/2014/main" id="{E87CC760-AAA0-4B1E-A2EF-2004FC051920}"/>
              </a:ext>
            </a:extLst>
          </p:cNvPr>
          <p:cNvSpPr>
            <a:spLocks noGrp="1"/>
          </p:cNvSpPr>
          <p:nvPr/>
        </p:nvSpPr>
        <p:spPr>
          <a:xfrm>
            <a:off x="1257300" y="39624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3" name="Kod_10">
            <a:extLst>
              <a:ext uri="{FF2B5EF4-FFF2-40B4-BE49-F238E27FC236}">
                <a16:creationId xmlns:a16="http://schemas.microsoft.com/office/drawing/2014/main" id="{AADD329F-34CF-4734-84D2-11C5A5862CDD}"/>
              </a:ext>
            </a:extLst>
          </p:cNvPr>
          <p:cNvSpPr>
            <a:spLocks noGrp="1"/>
          </p:cNvSpPr>
          <p:nvPr/>
        </p:nvSpPr>
        <p:spPr>
          <a:xfrm>
            <a:off x="1257300" y="4238625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vegetables.join()</a:t>
            </a:r>
          </a:p>
        </p:txBody>
      </p:sp>
      <p:sp>
        <p:nvSpPr>
          <p:cNvPr id="14" name="Kod_11">
            <a:extLst>
              <a:ext uri="{FF2B5EF4-FFF2-40B4-BE49-F238E27FC236}">
                <a16:creationId xmlns:a16="http://schemas.microsoft.com/office/drawing/2014/main" id="{6C497E66-2E33-4B73-BC32-754CB2C73940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meat.join()</a:t>
            </a:r>
          </a:p>
        </p:txBody>
      </p:sp>
      <p:sp>
        <p:nvSpPr>
          <p:cNvPr id="15" name="Kod_12">
            <a:extLst>
              <a:ext uri="{FF2B5EF4-FFF2-40B4-BE49-F238E27FC236}">
                <a16:creationId xmlns:a16="http://schemas.microsoft.com/office/drawing/2014/main" id="{85D5C050-6E04-4095-8B28-A2A82079C3F1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"Można podawać posiłek"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6" name="Kod_13">
            <a:extLst>
              <a:ext uri="{FF2B5EF4-FFF2-40B4-BE49-F238E27FC236}">
                <a16:creationId xmlns:a16="http://schemas.microsoft.com/office/drawing/2014/main" id="{03CE2DB9-FF41-4EAC-BFB0-9C59ED90D2F3}"/>
              </a:ext>
            </a:extLst>
          </p:cNvPr>
          <p:cNvSpPr>
            <a:spLocks noGrp="1"/>
          </p:cNvSpPr>
          <p:nvPr/>
        </p:nvSpPr>
        <p:spPr>
          <a:xfrm>
            <a:off x="1257300" y="50673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7" name="Tekst_20">
            <a:extLst>
              <a:ext uri="{FF2B5EF4-FFF2-40B4-BE49-F238E27FC236}">
                <a16:creationId xmlns:a16="http://schemas.microsoft.com/office/drawing/2014/main" id="{9456A46A-EE74-44F3-8144-EADB1AC097F6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Dwa join() po kolei nie zmieniają uruchomionych zadań w sekwencyjne.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główek">
            <a:extLst>
              <a:ext uri="{FF2B5EF4-FFF2-40B4-BE49-F238E27FC236}">
                <a16:creationId xmlns:a16="http://schemas.microsoft.com/office/drawing/2014/main" id="{3CE702F8-C444-4514-88E2-8EA8ABEE69EC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Rodzic bez jawnego join()</a:t>
            </a:r>
          </a:p>
        </p:txBody>
      </p:sp>
      <p:sp>
        <p:nvSpPr>
          <p:cNvPr id="2" name="Tekst_21">
            <a:extLst>
              <a:ext uri="{FF2B5EF4-FFF2-40B4-BE49-F238E27FC236}">
                <a16:creationId xmlns:a16="http://schemas.microsoft.com/office/drawing/2014/main" id="{244EA64F-D21F-4266-B16D-0AC8FDA57DE9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Zakończenie bloku kodu i zakończenie Job to różne momenty.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CAB8802E-F4D2-41AC-82C4-AA44AC165739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C780F1C0-ACD3-40E9-8854-82EF3C79C093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parent = scope.launch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E7418110-1774-448B-9FE1-262460ED8460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launch { delay(</a:t>
            </a:r>
            <a:r>
              <a:rPr>
                <a:solidFill>
                  <a:srgbClr val="194BC4"/>
                </a:solidFill>
              </a:rPr>
              <a:t>2000</a:t>
            </a:r>
            <a:r>
              <a:rPr>
                <a:solidFill>
                  <a:srgbClr val="161616"/>
                </a:solidFill>
              </a:rPr>
              <a:t>); log(</a:t>
            </a:r>
            <a:r>
              <a:rPr>
                <a:solidFill>
                  <a:srgbClr val="167529"/>
                </a:solidFill>
              </a:rPr>
              <a:t>"Mięso gotowe"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74057C2F-032F-4EF5-8658-481ABAC18180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launch {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); log(</a:t>
            </a:r>
            <a:r>
              <a:rPr>
                <a:solidFill>
                  <a:srgbClr val="167529"/>
                </a:solidFill>
              </a:rPr>
              <a:t>"Warzywa gotowe"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8FA19B92-BB62-4504-B31B-A6F0B4D0DC21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"Koniec bloku rodzica"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F18C3830-58C9-488C-BBC4-FD89FCD7905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9" name="Tekst_22">
            <a:extLst>
              <a:ext uri="{FF2B5EF4-FFF2-40B4-BE49-F238E27FC236}">
                <a16:creationId xmlns:a16="http://schemas.microsoft.com/office/drawing/2014/main" id="{81519F59-B91D-46CC-A3BF-FA5823C5A523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Komunikat</a:t>
            </a:r>
          </a:p>
        </p:txBody>
      </p:sp>
      <p:sp>
        <p:nvSpPr>
          <p:cNvPr id="10" name="Tekst_23">
            <a:extLst>
              <a:ext uri="{FF2B5EF4-FFF2-40B4-BE49-F238E27FC236}">
                <a16:creationId xmlns:a16="http://schemas.microsoft.com/office/drawing/2014/main" id="{F9A8AAF8-D8B0-4FB9-B2B2-272A9E83BAC0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Może pojawić się przed komunikatami dzieci.</a:t>
            </a:r>
          </a:p>
        </p:txBody>
      </p:sp>
      <p:sp>
        <p:nvSpPr>
          <p:cNvPr id="11" name="Tekst_24">
            <a:extLst>
              <a:ext uri="{FF2B5EF4-FFF2-40B4-BE49-F238E27FC236}">
                <a16:creationId xmlns:a16="http://schemas.microsoft.com/office/drawing/2014/main" id="{0712941F-2F59-4DBC-8BF5-C46C8A5E95CE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Zakończenie Job</a:t>
            </a:r>
          </a:p>
        </p:txBody>
      </p:sp>
      <p:sp>
        <p:nvSpPr>
          <p:cNvPr id="12" name="Tekst_25">
            <a:extLst>
              <a:ext uri="{FF2B5EF4-FFF2-40B4-BE49-F238E27FC236}">
                <a16:creationId xmlns:a16="http://schemas.microsoft.com/office/drawing/2014/main" id="{5DA5DA72-E09F-4F00-937B-9635376FF452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Rodzic nadal czeka na zakończenie swoich dzieci.</a:t>
            </a:r>
          </a:p>
        </p:txBody>
      </p:sp>
      <p:sp>
        <p:nvSpPr>
          <p:cNvPr id="13" name="Tekst_26">
            <a:extLst>
              <a:ext uri="{FF2B5EF4-FFF2-40B4-BE49-F238E27FC236}">
                <a16:creationId xmlns:a16="http://schemas.microsoft.com/office/drawing/2014/main" id="{ADF51453-1BFB-446B-BEA0-9226207B0EEB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join() ustala kolejność instrukcji wewnątrz korutyny rodzica.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główek">
            <a:extLst>
              <a:ext uri="{FF2B5EF4-FFF2-40B4-BE49-F238E27FC236}">
                <a16:creationId xmlns:a16="http://schemas.microsoft.com/office/drawing/2014/main" id="{CCFDF59B-CDFD-4D35-A417-B9513101F6A8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CoroutineScope i coroutineScope</a:t>
            </a:r>
          </a:p>
        </p:txBody>
      </p:sp>
      <p:sp>
        <p:nvSpPr>
          <p:cNvPr id="2" name="Tekst_27">
            <a:extLst>
              <a:ext uri="{FF2B5EF4-FFF2-40B4-BE49-F238E27FC236}">
                <a16:creationId xmlns:a16="http://schemas.microsoft.com/office/drawing/2014/main" id="{08E7C363-F6BA-449A-A6B5-56C844B6482E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coroutineScope { ... } grupuje podzadania jednej funkcji suspend.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4F75C6A3-85B1-47F5-8590-4347E9CB6062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73F505AF-C26A-40B5-994A-EABB478F8816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prepareMeal(log: (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) -&gt; </a:t>
            </a:r>
            <a:r>
              <a:rPr>
                <a:solidFill>
                  <a:srgbClr val="80521C"/>
                </a:solidFill>
              </a:rPr>
              <a:t>Unit</a:t>
            </a:r>
            <a:r>
              <a:rPr>
                <a:solidFill>
                  <a:srgbClr val="161616"/>
                </a:solidFill>
              </a:rPr>
              <a:t>)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32002425-5E74-4704-AAB4-7C861A1AA8D2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coroutineScope {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519DC5B3-82B5-439E-9695-E72C1C029253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launch { delay(</a:t>
            </a:r>
            <a:r>
              <a:rPr>
                <a:solidFill>
                  <a:srgbClr val="194BC4"/>
                </a:solidFill>
              </a:rPr>
              <a:t>2000</a:t>
            </a:r>
            <a:r>
              <a:rPr>
                <a:solidFill>
                  <a:srgbClr val="161616"/>
                </a:solidFill>
              </a:rPr>
              <a:t>); log(</a:t>
            </a:r>
            <a:r>
              <a:rPr>
                <a:solidFill>
                  <a:srgbClr val="167529"/>
                </a:solidFill>
              </a:rPr>
              <a:t>"Mięso gotowe"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065CE097-388D-4953-84DE-1C7A200CF4BD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launch {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); log(</a:t>
            </a:r>
            <a:r>
              <a:rPr>
                <a:solidFill>
                  <a:srgbClr val="167529"/>
                </a:solidFill>
              </a:rPr>
              <a:t>"Warzywa gotowe"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E6C39894-469B-4CD0-81AA-1B22187F508E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26FB3E53-E3E6-406E-B1D9-BE8E75E434D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"Można podawać posiłek"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E7D09B3C-358B-4B7D-9A3B-AC077AA8BCC5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1" name="Tekst_28">
            <a:extLst>
              <a:ext uri="{FF2B5EF4-FFF2-40B4-BE49-F238E27FC236}">
                <a16:creationId xmlns:a16="http://schemas.microsoft.com/office/drawing/2014/main" id="{7E0AF4DF-2BCA-4C14-A5F1-61CEB3D521ED}"/>
              </a:ext>
            </a:extLst>
          </p:cNvPr>
          <p:cNvSpPr>
            <a:spLocks noGrp="1"/>
          </p:cNvSpPr>
          <p:nvPr/>
        </p:nvSpPr>
        <p:spPr>
          <a:xfrm>
            <a:off x="1257300" y="3895725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CoroutineScope</a:t>
            </a:r>
          </a:p>
        </p:txBody>
      </p:sp>
      <p:sp>
        <p:nvSpPr>
          <p:cNvPr id="12" name="Tekst_29">
            <a:extLst>
              <a:ext uri="{FF2B5EF4-FFF2-40B4-BE49-F238E27FC236}">
                <a16:creationId xmlns:a16="http://schemas.microsoft.com/office/drawing/2014/main" id="{600C82A4-FD9C-4B77-9912-9A99554905BB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Typ zakresu dostępnego np. w scope.launch.</a:t>
            </a:r>
          </a:p>
        </p:txBody>
      </p:sp>
      <p:sp>
        <p:nvSpPr>
          <p:cNvPr id="13" name="Tekst_30">
            <a:extLst>
              <a:ext uri="{FF2B5EF4-FFF2-40B4-BE49-F238E27FC236}">
                <a16:creationId xmlns:a16="http://schemas.microsoft.com/office/drawing/2014/main" id="{756C9CE5-8A04-4FAA-864E-FD1554885DB3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coroutineScope { ... }</a:t>
            </a:r>
          </a:p>
        </p:txBody>
      </p:sp>
      <p:sp>
        <p:nvSpPr>
          <p:cNvPr id="14" name="Tekst_31">
            <a:extLst>
              <a:ext uri="{FF2B5EF4-FFF2-40B4-BE49-F238E27FC236}">
                <a16:creationId xmlns:a16="http://schemas.microsoft.com/office/drawing/2014/main" id="{EECDC558-89E4-4D7C-A802-55E49DD75C23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Czeka na cały blok i jego dzieci, następnie zwraca wynik.</a:t>
            </a:r>
          </a:p>
        </p:txBody>
      </p:sp>
      <p:sp>
        <p:nvSpPr>
          <p:cNvPr id="15" name="Tekst_32">
            <a:extLst>
              <a:ext uri="{FF2B5EF4-FFF2-40B4-BE49-F238E27FC236}">
                <a16:creationId xmlns:a16="http://schemas.microsoft.com/office/drawing/2014/main" id="{B4EEF232-45FF-4C18-8C97-81F9BE298E6E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Po poprawnym zakończeniu coroutineScope oba składniki są gotowe.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Nagłówek">
            <a:extLst>
              <a:ext uri="{FF2B5EF4-FFF2-40B4-BE49-F238E27FC236}">
                <a16:creationId xmlns:a16="http://schemas.microsoft.com/office/drawing/2014/main" id="{89F02CB9-E608-41F7-A075-2B6499980FAC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Anulowanie całej operacji</a:t>
            </a:r>
          </a:p>
        </p:txBody>
      </p:sp>
      <p:sp>
        <p:nvSpPr>
          <p:cNvPr id="2" name="Tekst_33">
            <a:extLst>
              <a:ext uri="{FF2B5EF4-FFF2-40B4-BE49-F238E27FC236}">
                <a16:creationId xmlns:a16="http://schemas.microsoft.com/office/drawing/2014/main" id="{C1AB883C-3EF4-40B3-8191-CD78F1B43E70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Stan isCooking steruje interfejsem, a Job pozwala anulować zadanie.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04566369-DBB3-4351-BF18-7CAD29FE644E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24809695-E54C-4047-8D15-76A649AB8089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var</a:t>
            </a:r>
            <a:r>
              <a:rPr>
                <a:solidFill>
                  <a:srgbClr val="161616"/>
                </a:solidFill>
              </a:rPr>
              <a:t> cookingJob </a:t>
            </a:r>
            <a:r>
              <a:rPr>
                <a:solidFill>
                  <a:srgbClr val="0039B4"/>
                </a:solidFill>
              </a:rPr>
              <a:t>by</a:t>
            </a:r>
            <a:r>
              <a:rPr>
                <a:solidFill>
                  <a:srgbClr val="161616"/>
                </a:solidFill>
              </a:rPr>
              <a:t> remember { mutableStateOf&lt;</a:t>
            </a:r>
            <a:r>
              <a:rPr>
                <a:solidFill>
                  <a:srgbClr val="80521C"/>
                </a:solidFill>
              </a:rPr>
              <a:t>Job</a:t>
            </a:r>
            <a:r>
              <a:rPr>
                <a:solidFill>
                  <a:srgbClr val="161616"/>
                </a:solidFill>
              </a:rPr>
              <a:t>?&gt;(</a:t>
            </a:r>
            <a:r>
              <a:rPr>
                <a:solidFill>
                  <a:srgbClr val="0039B4"/>
                </a:solidFill>
              </a:rPr>
              <a:t>null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6B0DAA74-D1A4-428E-AE0B-206BC805CCAF}"/>
              </a:ext>
            </a:extLst>
          </p:cNvPr>
          <p:cNvSpPr>
            <a:spLocks noGrp="1"/>
          </p:cNvSpPr>
          <p:nvPr/>
        </p:nvSpPr>
        <p:spPr>
          <a:xfrm>
            <a:off x="1257300" y="200977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var</a:t>
            </a:r>
            <a:r>
              <a:rPr>
                <a:solidFill>
                  <a:srgbClr val="161616"/>
                </a:solidFill>
              </a:rPr>
              <a:t> isCooking </a:t>
            </a:r>
            <a:r>
              <a:rPr>
                <a:solidFill>
                  <a:srgbClr val="0039B4"/>
                </a:solidFill>
              </a:rPr>
              <a:t>by</a:t>
            </a:r>
            <a:r>
              <a:rPr>
                <a:solidFill>
                  <a:srgbClr val="161616"/>
                </a:solidFill>
              </a:rPr>
              <a:t> remember { mutableStateOf(</a:t>
            </a:r>
            <a:r>
              <a:rPr>
                <a:solidFill>
                  <a:srgbClr val="0039B4"/>
                </a:solidFill>
              </a:rPr>
              <a:t>false</a:t>
            </a:r>
            <a:r>
              <a:rPr>
                <a:solidFill>
                  <a:srgbClr val="161616"/>
                </a:solidFill>
              </a:rPr>
              <a:t>) }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AB5C086D-4AA5-4922-89FB-89D7378AA820}"/>
              </a:ext>
            </a:extLst>
          </p:cNvPr>
          <p:cNvSpPr>
            <a:spLocks noGrp="1"/>
          </p:cNvSpPr>
          <p:nvPr/>
        </p:nvSpPr>
        <p:spPr>
          <a:xfrm>
            <a:off x="1257300" y="226695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4FC8C470-1D0B-4C60-B922-5B7D903730E2}"/>
              </a:ext>
            </a:extLst>
          </p:cNvPr>
          <p:cNvSpPr>
            <a:spLocks noGrp="1"/>
          </p:cNvSpPr>
          <p:nvPr/>
        </p:nvSpPr>
        <p:spPr>
          <a:xfrm>
            <a:off x="1257300" y="252412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B7278"/>
                </a:solidFill>
              </a:rPr>
              <a:t>// Kliknięcie „Rozpocznij” (gdy !isCooking):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DB80D487-7198-4D8B-AD8A-D597956550F9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isCooking = </a:t>
            </a:r>
            <a:r>
              <a:rPr>
                <a:solidFill>
                  <a:srgbClr val="0039B4"/>
                </a:solidFill>
              </a:rPr>
              <a:t>true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E30EE81D-E4AF-41A0-A903-153BB18F4BF0}"/>
              </a:ext>
            </a:extLst>
          </p:cNvPr>
          <p:cNvSpPr>
            <a:spLocks noGrp="1"/>
          </p:cNvSpPr>
          <p:nvPr/>
        </p:nvSpPr>
        <p:spPr>
          <a:xfrm>
            <a:off x="1257300" y="303847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cookingJob = scope.launch {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25AD4E5D-46D7-4A13-9904-603ED65CD947}"/>
              </a:ext>
            </a:extLst>
          </p:cNvPr>
          <p:cNvSpPr>
            <a:spLocks noGrp="1"/>
          </p:cNvSpPr>
          <p:nvPr/>
        </p:nvSpPr>
        <p:spPr>
          <a:xfrm>
            <a:off x="1257300" y="329565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try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9422E35E-C4FF-40C0-BB66-EB436C65B9B9}"/>
              </a:ext>
            </a:extLst>
          </p:cNvPr>
          <p:cNvSpPr>
            <a:spLocks noGrp="1"/>
          </p:cNvSpPr>
          <p:nvPr/>
        </p:nvSpPr>
        <p:spPr>
          <a:xfrm>
            <a:off x="1257300" y="355282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prepareMeal(log)</a:t>
            </a:r>
          </a:p>
        </p:txBody>
      </p:sp>
      <p:sp>
        <p:nvSpPr>
          <p:cNvPr id="12" name="Kod_9">
            <a:extLst>
              <a:ext uri="{FF2B5EF4-FFF2-40B4-BE49-F238E27FC236}">
                <a16:creationId xmlns:a16="http://schemas.microsoft.com/office/drawing/2014/main" id="{FC0FF58A-2C5B-4404-B5AC-D8A6168AB525}"/>
              </a:ext>
            </a:extLst>
          </p:cNvPr>
          <p:cNvSpPr>
            <a:spLocks noGrp="1"/>
          </p:cNvSpPr>
          <p:nvPr/>
        </p:nvSpPr>
        <p:spPr>
          <a:xfrm>
            <a:off x="1257300" y="381000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 </a:t>
            </a:r>
            <a:r>
              <a:rPr>
                <a:solidFill>
                  <a:srgbClr val="0039B4"/>
                </a:solidFill>
              </a:rPr>
              <a:t>finally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13" name="Kod_10">
            <a:extLst>
              <a:ext uri="{FF2B5EF4-FFF2-40B4-BE49-F238E27FC236}">
                <a16:creationId xmlns:a16="http://schemas.microsoft.com/office/drawing/2014/main" id="{3B4D11A1-CC81-4D82-A662-D651357D9BA5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isCooking = </a:t>
            </a:r>
            <a:r>
              <a:rPr>
                <a:solidFill>
                  <a:srgbClr val="0039B4"/>
                </a:solidFill>
              </a:rPr>
              <a:t>false</a:t>
            </a:r>
          </a:p>
        </p:txBody>
      </p:sp>
      <p:sp>
        <p:nvSpPr>
          <p:cNvPr id="14" name="Kod_11">
            <a:extLst>
              <a:ext uri="{FF2B5EF4-FFF2-40B4-BE49-F238E27FC236}">
                <a16:creationId xmlns:a16="http://schemas.microsoft.com/office/drawing/2014/main" id="{49E22449-BDF1-4858-ACD8-366C2FD28D19}"/>
              </a:ext>
            </a:extLst>
          </p:cNvPr>
          <p:cNvSpPr>
            <a:spLocks noGrp="1"/>
          </p:cNvSpPr>
          <p:nvPr/>
        </p:nvSpPr>
        <p:spPr>
          <a:xfrm>
            <a:off x="1257300" y="432435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5" name="Kod_12">
            <a:extLst>
              <a:ext uri="{FF2B5EF4-FFF2-40B4-BE49-F238E27FC236}">
                <a16:creationId xmlns:a16="http://schemas.microsoft.com/office/drawing/2014/main" id="{4D2FAD3F-369C-490B-905E-F6FCEF5DA880}"/>
              </a:ext>
            </a:extLst>
          </p:cNvPr>
          <p:cNvSpPr>
            <a:spLocks noGrp="1"/>
          </p:cNvSpPr>
          <p:nvPr/>
        </p:nvSpPr>
        <p:spPr>
          <a:xfrm>
            <a:off x="1257300" y="458152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6" name="Kod_13">
            <a:extLst>
              <a:ext uri="{FF2B5EF4-FFF2-40B4-BE49-F238E27FC236}">
                <a16:creationId xmlns:a16="http://schemas.microsoft.com/office/drawing/2014/main" id="{12F1B752-8EE0-4529-B925-4EB8AE779478}"/>
              </a:ext>
            </a:extLst>
          </p:cNvPr>
          <p:cNvSpPr>
            <a:spLocks noGrp="1"/>
          </p:cNvSpPr>
          <p:nvPr/>
        </p:nvSpPr>
        <p:spPr>
          <a:xfrm>
            <a:off x="1257300" y="4838700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B7278"/>
                </a:solidFill>
              </a:rPr>
              <a:t>// Kliknięcie „Anuluj”:</a:t>
            </a:r>
          </a:p>
        </p:txBody>
      </p:sp>
      <p:sp>
        <p:nvSpPr>
          <p:cNvPr id="17" name="Kod_14">
            <a:extLst>
              <a:ext uri="{FF2B5EF4-FFF2-40B4-BE49-F238E27FC236}">
                <a16:creationId xmlns:a16="http://schemas.microsoft.com/office/drawing/2014/main" id="{AC7CC7F3-DC26-4585-B736-0406F213B9AE}"/>
              </a:ext>
            </a:extLst>
          </p:cNvPr>
          <p:cNvSpPr>
            <a:spLocks noGrp="1"/>
          </p:cNvSpPr>
          <p:nvPr/>
        </p:nvSpPr>
        <p:spPr>
          <a:xfrm>
            <a:off x="1257300" y="5095875"/>
            <a:ext cx="76009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cookingJob?.cancel()</a:t>
            </a:r>
          </a:p>
        </p:txBody>
      </p:sp>
      <p:sp>
        <p:nvSpPr>
          <p:cNvPr id="18" name="Tekst_34">
            <a:extLst>
              <a:ext uri="{FF2B5EF4-FFF2-40B4-BE49-F238E27FC236}">
                <a16:creationId xmlns:a16="http://schemas.microsoft.com/office/drawing/2014/main" id="{AC4C7047-7D24-4591-9735-B14BABF4E719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Anulowanie rodzica obejmuje obie korutyny przygotowujące składniki.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agłówek">
            <a:extLst>
              <a:ext uri="{FF2B5EF4-FFF2-40B4-BE49-F238E27FC236}">
                <a16:creationId xmlns:a16="http://schemas.microsoft.com/office/drawing/2014/main" id="{052C99DE-29CE-435D-9CAD-A54801E45E17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Anulowanie jest kooperatywne</a:t>
            </a:r>
          </a:p>
        </p:txBody>
      </p:sp>
      <p:sp>
        <p:nvSpPr>
          <p:cNvPr id="2" name="Tekst_35">
            <a:extLst>
              <a:ext uri="{FF2B5EF4-FFF2-40B4-BE49-F238E27FC236}">
                <a16:creationId xmlns:a16="http://schemas.microsoft.com/office/drawing/2014/main" id="{F000BDB4-1564-4ED3-9E23-C69D83F983EB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delay() reaguje na anulowanie. Sekcja finally wykonuje sprzątanie.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23A657EB-EC31-4765-82E9-6CA189F10D0F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44B214D3-FB1F-4CDA-9EA2-0660FFC678F7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launch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91ACC3DA-E30F-4B3E-B4B9-A0B55D93D8EE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try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2472A469-B698-47B8-95C9-626A7C5C0E01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DB3BEA55-F5D7-48DC-BB84-981F2C5EA5CF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"Składnik gotowy"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627E2B5F-E6CA-45D3-9610-DB1303D12864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 </a:t>
            </a:r>
            <a:r>
              <a:rPr>
                <a:solidFill>
                  <a:srgbClr val="0039B4"/>
                </a:solidFill>
              </a:rPr>
              <a:t>finally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1D48A77C-293C-49CB-9797-75A57D84AA01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log(</a:t>
            </a:r>
            <a:r>
              <a:rPr>
                <a:solidFill>
                  <a:srgbClr val="167529"/>
                </a:solidFill>
              </a:rPr>
              <a:t>"Koniec pracy nad składnikiem"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BCA62D92-8D25-4864-9501-918F048AD619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C4E99410-6FA0-4FCC-846C-02A621BDC8EA}"/>
              </a:ext>
            </a:extLst>
          </p:cNvPr>
          <p:cNvSpPr>
            <a:spLocks noGrp="1"/>
          </p:cNvSpPr>
          <p:nvPr/>
        </p:nvSpPr>
        <p:spPr>
          <a:xfrm>
            <a:off x="1257300" y="36861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2" name="Tekst_36">
            <a:extLst>
              <a:ext uri="{FF2B5EF4-FFF2-40B4-BE49-F238E27FC236}">
                <a16:creationId xmlns:a16="http://schemas.microsoft.com/office/drawing/2014/main" id="{E62127F1-873D-47E4-99C2-64A0D7C4A06C}"/>
              </a:ext>
            </a:extLst>
          </p:cNvPr>
          <p:cNvSpPr>
            <a:spLocks noGrp="1"/>
          </p:cNvSpPr>
          <p:nvPr/>
        </p:nvSpPr>
        <p:spPr>
          <a:xfrm>
            <a:off x="1257300" y="417195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Po anulowaniu podczas delay()</a:t>
            </a:r>
          </a:p>
        </p:txBody>
      </p:sp>
      <p:sp>
        <p:nvSpPr>
          <p:cNvPr id="13" name="Tekst_37">
            <a:extLst>
              <a:ext uri="{FF2B5EF4-FFF2-40B4-BE49-F238E27FC236}">
                <a16:creationId xmlns:a16="http://schemas.microsoft.com/office/drawing/2014/main" id="{1DBC11EC-D3E2-40E5-A573-4AFAA1DE52A5}"/>
              </a:ext>
            </a:extLst>
          </p:cNvPr>
          <p:cNvSpPr>
            <a:spLocks noGrp="1"/>
          </p:cNvSpPr>
          <p:nvPr/>
        </p:nvSpPr>
        <p:spPr>
          <a:xfrm>
            <a:off x="1257300" y="44577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Komunikat „Składnik gotowy” nie zostanie wyświetlony.</a:t>
            </a:r>
          </a:p>
        </p:txBody>
      </p:sp>
      <p:sp>
        <p:nvSpPr>
          <p:cNvPr id="14" name="Tekst_38">
            <a:extLst>
              <a:ext uri="{FF2B5EF4-FFF2-40B4-BE49-F238E27FC236}">
                <a16:creationId xmlns:a16="http://schemas.microsoft.com/office/drawing/2014/main" id="{FB489AA7-9131-439F-BF9B-C93DB94741A3}"/>
              </a:ext>
            </a:extLst>
          </p:cNvPr>
          <p:cNvSpPr>
            <a:spLocks noGrp="1"/>
          </p:cNvSpPr>
          <p:nvPr/>
        </p:nvSpPr>
        <p:spPr>
          <a:xfrm>
            <a:off x="1257300" y="49911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Długie obliczenia</a:t>
            </a:r>
          </a:p>
        </p:txBody>
      </p:sp>
      <p:sp>
        <p:nvSpPr>
          <p:cNvPr id="15" name="Tekst_39">
            <a:extLst>
              <a:ext uri="{FF2B5EF4-FFF2-40B4-BE49-F238E27FC236}">
                <a16:creationId xmlns:a16="http://schemas.microsoft.com/office/drawing/2014/main" id="{D53F2C70-744B-43AD-8ABB-6544A5C1DD0E}"/>
              </a:ext>
            </a:extLst>
          </p:cNvPr>
          <p:cNvSpPr>
            <a:spLocks noGrp="1"/>
          </p:cNvSpPr>
          <p:nvPr/>
        </p:nvSpPr>
        <p:spPr>
          <a:xfrm>
            <a:off x="1257300" y="52768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Pętla powinna sprawdzać anulowanie, np. przez ensureActive().</a:t>
            </a:r>
          </a:p>
        </p:txBody>
      </p:sp>
      <p:sp>
        <p:nvSpPr>
          <p:cNvPr id="16" name="Tekst_40">
            <a:extLst>
              <a:ext uri="{FF2B5EF4-FFF2-40B4-BE49-F238E27FC236}">
                <a16:creationId xmlns:a16="http://schemas.microsoft.com/office/drawing/2014/main" id="{030540E4-0A5A-4BFE-B726-6F5F464FAF09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Przechwycone CancellationException należy przekazać dalej.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14CD1D66-F756-4EA0-A6A1-4C675531AACD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lang="pl-PL" dirty="0"/>
              <a:t>Asynchroniczność</a:t>
            </a:r>
            <a:endParaRPr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170CE15-08BB-5349-4759-8A24DA852654}"/>
              </a:ext>
            </a:extLst>
          </p:cNvPr>
          <p:cNvSpPr txBox="1"/>
          <p:nvPr/>
        </p:nvSpPr>
        <p:spPr>
          <a:xfrm>
            <a:off x="1033753" y="79688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poprzednich przykładach włączaliśmy </a:t>
            </a:r>
            <a:r>
              <a:rPr lang="pl-PL" sz="1600" dirty="0" err="1"/>
              <a:t>korutyny</a:t>
            </a:r>
            <a:r>
              <a:rPr lang="pl-PL" sz="1600" dirty="0"/>
              <a:t> za pomocą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dirty="0"/>
              <a:t>. W tym przykładzie zobaczymy w jaki sposób odebrać </a:t>
            </a:r>
            <a:r>
              <a:rPr lang="pl-PL" sz="1600" b="1" dirty="0"/>
              <a:t>wynik działania asynchronicznego (</a:t>
            </a:r>
            <a:r>
              <a:rPr lang="pl-PL" sz="1600" b="1" dirty="0" err="1">
                <a:latin typeface="Verbatim"/>
              </a:rPr>
              <a:t>async</a:t>
            </a:r>
            <a:r>
              <a:rPr lang="pl-PL" sz="1600" b="1" dirty="0"/>
              <a:t>)</a:t>
            </a:r>
            <a:r>
              <a:rPr lang="pl-PL" sz="1600" dirty="0"/>
              <a:t>.</a:t>
            </a:r>
          </a:p>
        </p:txBody>
      </p:sp>
      <p:pic>
        <p:nvPicPr>
          <p:cNvPr id="15" name="bandicam 2025-07-29 16-09-24-028">
            <a:hlinkClick r:id="" action="ppaction://media"/>
            <a:extLst>
              <a:ext uri="{FF2B5EF4-FFF2-40B4-BE49-F238E27FC236}">
                <a16:creationId xmlns:a16="http://schemas.microsoft.com/office/drawing/2014/main" id="{5D1A5706-1DA5-2D74-3E7D-FE7F4F2E31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03617" y="1845817"/>
            <a:ext cx="2109144" cy="474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14CD1D66-F756-4EA0-A6A1-4C675531AACD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lang="pl-PL" dirty="0"/>
              <a:t>Asynchroniczność</a:t>
            </a:r>
            <a:endParaRPr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DE6AF52E-CD74-6895-C56B-5CAFBD34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68" y="836712"/>
            <a:ext cx="4610186" cy="602128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2E15D36-DAD0-0479-0DB3-0E65690257E4}"/>
              </a:ext>
            </a:extLst>
          </p:cNvPr>
          <p:cNvSpPr/>
          <p:nvPr/>
        </p:nvSpPr>
        <p:spPr>
          <a:xfrm>
            <a:off x="239590" y="980729"/>
            <a:ext cx="4116386" cy="10081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A288095-4698-CC79-D356-E1CC6F854C15}"/>
              </a:ext>
            </a:extLst>
          </p:cNvPr>
          <p:cNvSpPr txBox="1"/>
          <p:nvPr/>
        </p:nvSpPr>
        <p:spPr>
          <a:xfrm>
            <a:off x="249846" y="946175"/>
            <a:ext cx="4116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delay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(3000) zawiesza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3 sekundy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blokowania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wątku UI, 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następnie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 wynik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postaci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String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29294B9F-A757-F5EE-44EE-062601047D3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355976" y="1484785"/>
            <a:ext cx="504056" cy="4320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A5CFA19-B9B8-C3D2-182F-2DD030D260AE}"/>
              </a:ext>
            </a:extLst>
          </p:cNvPr>
          <p:cNvSpPr/>
          <p:nvPr/>
        </p:nvSpPr>
        <p:spPr>
          <a:xfrm>
            <a:off x="7236296" y="2420888"/>
            <a:ext cx="1738768" cy="49956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0AC8590D-BA2B-84E4-2565-65A41819BBC6}"/>
              </a:ext>
            </a:extLst>
          </p:cNvPr>
          <p:cNvCxnSpPr>
            <a:cxnSpLocks/>
          </p:cNvCxnSpPr>
          <p:nvPr/>
        </p:nvCxnSpPr>
        <p:spPr>
          <a:xfrm flipH="1" flipV="1">
            <a:off x="5508104" y="2420888"/>
            <a:ext cx="1728192" cy="2271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A76145D-7A91-766F-8E28-882A5735E0BF}"/>
              </a:ext>
            </a:extLst>
          </p:cNvPr>
          <p:cNvSpPr txBox="1"/>
          <p:nvPr/>
        </p:nvSpPr>
        <p:spPr>
          <a:xfrm>
            <a:off x="7308304" y="2480581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Zwraca wynik</a:t>
            </a:r>
          </a:p>
        </p:txBody>
      </p:sp>
    </p:spTree>
    <p:extLst>
      <p:ext uri="{BB962C8B-B14F-4D97-AF65-F5344CB8AC3E}">
        <p14:creationId xmlns:p14="http://schemas.microsoft.com/office/powerpoint/2010/main" val="3075237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3AAD6-5494-5E13-60A1-DFFC4197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502C8490-8A5E-682E-7B11-AE84DF4445C8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lang="pl-PL" dirty="0"/>
              <a:t>Asynchroniczność</a:t>
            </a:r>
            <a:endParaRPr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46C354C6-AC63-18CD-2607-0C63EB7AF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68" y="836712"/>
            <a:ext cx="4610186" cy="6021288"/>
          </a:xfrm>
          <a:prstGeom prst="rect">
            <a:avLst/>
          </a:prstGeom>
        </p:spPr>
      </p:pic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51908DAC-3805-F414-9833-D6A9014325D0}"/>
              </a:ext>
            </a:extLst>
          </p:cNvPr>
          <p:cNvSpPr/>
          <p:nvPr/>
        </p:nvSpPr>
        <p:spPr>
          <a:xfrm>
            <a:off x="239590" y="980729"/>
            <a:ext cx="4116386" cy="10081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34BC84A-FD0B-8C23-E1D5-473B357E92E9}"/>
              </a:ext>
            </a:extLst>
          </p:cNvPr>
          <p:cNvSpPr txBox="1"/>
          <p:nvPr/>
        </p:nvSpPr>
        <p:spPr>
          <a:xfrm>
            <a:off x="249846" y="946175"/>
            <a:ext cx="4116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delay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(3000) zawiesza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3 sekundy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blokowania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wątku UI, 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następnie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 wynik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postaci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String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BF0A6F8B-F904-65F4-2186-57CA586E9AB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55976" y="1484785"/>
            <a:ext cx="504056" cy="4320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DB0401AA-97DA-F0B0-276F-B77AA1B74A1D}"/>
              </a:ext>
            </a:extLst>
          </p:cNvPr>
          <p:cNvSpPr/>
          <p:nvPr/>
        </p:nvSpPr>
        <p:spPr>
          <a:xfrm>
            <a:off x="7236296" y="2420888"/>
            <a:ext cx="1738768" cy="49956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0BD43ED5-1A1D-8DDB-CA5A-A842F89F7C4D}"/>
              </a:ext>
            </a:extLst>
          </p:cNvPr>
          <p:cNvCxnSpPr>
            <a:cxnSpLocks/>
          </p:cNvCxnSpPr>
          <p:nvPr/>
        </p:nvCxnSpPr>
        <p:spPr>
          <a:xfrm flipH="1" flipV="1">
            <a:off x="5508104" y="2420888"/>
            <a:ext cx="1728192" cy="2271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F14FB39-17CE-5E9C-704D-618C8405B57B}"/>
              </a:ext>
            </a:extLst>
          </p:cNvPr>
          <p:cNvSpPr txBox="1"/>
          <p:nvPr/>
        </p:nvSpPr>
        <p:spPr>
          <a:xfrm>
            <a:off x="7308304" y="2480581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Zwraca wynik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035626E-E152-D8FA-1B7C-56C93D449A4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201257" y="2226721"/>
            <a:ext cx="1224263" cy="23544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B9111A8F-B23C-2B65-2016-81B1A7CFFE81}"/>
              </a:ext>
            </a:extLst>
          </p:cNvPr>
          <p:cNvSpPr/>
          <p:nvPr/>
        </p:nvSpPr>
        <p:spPr>
          <a:xfrm>
            <a:off x="1295084" y="2040673"/>
            <a:ext cx="2858914" cy="3385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FC92B539-A382-21E2-8FA7-A6FCD428E482}"/>
              </a:ext>
            </a:extLst>
          </p:cNvPr>
          <p:cNvSpPr txBox="1"/>
          <p:nvPr/>
        </p:nvSpPr>
        <p:spPr>
          <a:xfrm>
            <a:off x="1342343" y="2057444"/>
            <a:ext cx="285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339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C5229-220E-70F8-3B5A-5198E975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FD128E07-FAB2-83E3-06A7-2871EA78DC74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lang="pl-PL" dirty="0"/>
              <a:t>Asynchroniczność</a:t>
            </a:r>
            <a:endParaRPr dirty="0"/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BEFBCA6E-EA06-03CB-B3AB-B378046DE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68" y="836712"/>
            <a:ext cx="4610186" cy="602128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36FDE52-90ED-5FF2-3AB5-CB59DD30F2F6}"/>
              </a:ext>
            </a:extLst>
          </p:cNvPr>
          <p:cNvSpPr/>
          <p:nvPr/>
        </p:nvSpPr>
        <p:spPr>
          <a:xfrm>
            <a:off x="239590" y="980729"/>
            <a:ext cx="4116386" cy="10081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AEC6ED6-85A7-8FD9-88D0-7048A9B630DC}"/>
              </a:ext>
            </a:extLst>
          </p:cNvPr>
          <p:cNvSpPr txBox="1"/>
          <p:nvPr/>
        </p:nvSpPr>
        <p:spPr>
          <a:xfrm>
            <a:off x="249846" y="946175"/>
            <a:ext cx="4116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delay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(3000) zawiesza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3 sekundy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blokowania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wątku UI, 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następnie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 wynik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postaci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String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9B8094A1-719A-39A9-23EE-7D8CA2F02FA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355976" y="1484785"/>
            <a:ext cx="504056" cy="4320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1ACB309-2F5D-9B9E-B86D-18EF147A1EE5}"/>
              </a:ext>
            </a:extLst>
          </p:cNvPr>
          <p:cNvSpPr/>
          <p:nvPr/>
        </p:nvSpPr>
        <p:spPr>
          <a:xfrm>
            <a:off x="7236296" y="2420888"/>
            <a:ext cx="1738768" cy="49956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11CB4677-18E4-35AD-892F-D08E56BF4F66}"/>
              </a:ext>
            </a:extLst>
          </p:cNvPr>
          <p:cNvCxnSpPr>
            <a:cxnSpLocks/>
          </p:cNvCxnSpPr>
          <p:nvPr/>
        </p:nvCxnSpPr>
        <p:spPr>
          <a:xfrm flipH="1" flipV="1">
            <a:off x="5508104" y="2420888"/>
            <a:ext cx="1728192" cy="2271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68010E0-0DD6-D5AD-2F83-0D61B25057F0}"/>
              </a:ext>
            </a:extLst>
          </p:cNvPr>
          <p:cNvSpPr txBox="1"/>
          <p:nvPr/>
        </p:nvSpPr>
        <p:spPr>
          <a:xfrm>
            <a:off x="7308304" y="2480581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Zwraca wynik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35DB09D-3F73-00FA-05CE-19B44B8F2B6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01257" y="2226721"/>
            <a:ext cx="1224263" cy="23544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0282AB72-5455-F965-1E89-B6234633C988}"/>
              </a:ext>
            </a:extLst>
          </p:cNvPr>
          <p:cNvSpPr/>
          <p:nvPr/>
        </p:nvSpPr>
        <p:spPr>
          <a:xfrm>
            <a:off x="1295084" y="2040673"/>
            <a:ext cx="2858914" cy="3385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B371D07D-0801-50CB-1843-219808FD847D}"/>
              </a:ext>
            </a:extLst>
          </p:cNvPr>
          <p:cNvSpPr txBox="1"/>
          <p:nvPr/>
        </p:nvSpPr>
        <p:spPr>
          <a:xfrm>
            <a:off x="1342343" y="2057444"/>
            <a:ext cx="285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A61BA692-9C41-3339-EE94-D0A321DF2697}"/>
              </a:ext>
            </a:extLst>
          </p:cNvPr>
          <p:cNvCxnSpPr>
            <a:cxnSpLocks/>
          </p:cNvCxnSpPr>
          <p:nvPr/>
        </p:nvCxnSpPr>
        <p:spPr>
          <a:xfrm>
            <a:off x="4355976" y="3607569"/>
            <a:ext cx="1368152" cy="1181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423DAAAC-4D79-D8E6-8309-11A67606C4C4}"/>
              </a:ext>
            </a:extLst>
          </p:cNvPr>
          <p:cNvSpPr/>
          <p:nvPr/>
        </p:nvSpPr>
        <p:spPr>
          <a:xfrm>
            <a:off x="190226" y="2461335"/>
            <a:ext cx="4191222" cy="132299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403D108-05E2-DDA0-5F8E-74514A9F1BE0}"/>
              </a:ext>
            </a:extLst>
          </p:cNvPr>
          <p:cNvSpPr txBox="1"/>
          <p:nvPr/>
        </p:nvSpPr>
        <p:spPr>
          <a:xfrm>
            <a:off x="200758" y="2422861"/>
            <a:ext cx="4129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głównej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uruchamia nowe, zagnieżdżone zadanie w tle w celu wywołania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generatePassword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Zamiast wyniku,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natychmiast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zwraca 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Deferred.</a:t>
            </a:r>
          </a:p>
        </p:txBody>
      </p:sp>
    </p:spTree>
    <p:extLst>
      <p:ext uri="{BB962C8B-B14F-4D97-AF65-F5344CB8AC3E}">
        <p14:creationId xmlns:p14="http://schemas.microsoft.com/office/powerpoint/2010/main" val="2927989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2D411-E195-110C-5589-42B31982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06746127-36EB-F42E-838B-8670CA942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68" y="836712"/>
            <a:ext cx="4610186" cy="6021288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C873B087-B04E-6BD8-C75C-244DC1D7599E}"/>
              </a:ext>
            </a:extLst>
          </p:cNvPr>
          <p:cNvSpPr/>
          <p:nvPr/>
        </p:nvSpPr>
        <p:spPr>
          <a:xfrm>
            <a:off x="172929" y="2443852"/>
            <a:ext cx="4191222" cy="132299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33AD17F-8B21-9132-43D2-5BEE2A66AD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8CB4FD4-3F8D-6B1C-8BA5-A6429F0C02EB}"/>
              </a:ext>
            </a:extLst>
          </p:cNvPr>
          <p:cNvSpPr/>
          <p:nvPr/>
        </p:nvSpPr>
        <p:spPr>
          <a:xfrm>
            <a:off x="239590" y="980729"/>
            <a:ext cx="4116386" cy="10081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F6CACFE-7209-D934-ECE7-65D14194DBC8}"/>
              </a:ext>
            </a:extLst>
          </p:cNvPr>
          <p:cNvSpPr txBox="1"/>
          <p:nvPr/>
        </p:nvSpPr>
        <p:spPr>
          <a:xfrm>
            <a:off x="249846" y="946175"/>
            <a:ext cx="4116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delay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(3000) zawiesza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3 sekundy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blokowania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wątku UI, 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następnie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 wynik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postaci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String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15B2C22-4A3B-F30F-6F80-1334909A5A8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355976" y="1484785"/>
            <a:ext cx="504056" cy="4320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C13A7691-75A3-D215-C081-3F035E6C5B7F}"/>
              </a:ext>
            </a:extLst>
          </p:cNvPr>
          <p:cNvSpPr/>
          <p:nvPr/>
        </p:nvSpPr>
        <p:spPr>
          <a:xfrm>
            <a:off x="7236296" y="2420888"/>
            <a:ext cx="1738768" cy="49956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8F4A771-D9F0-7163-5715-476552F89D4A}"/>
              </a:ext>
            </a:extLst>
          </p:cNvPr>
          <p:cNvCxnSpPr>
            <a:cxnSpLocks/>
          </p:cNvCxnSpPr>
          <p:nvPr/>
        </p:nvCxnSpPr>
        <p:spPr>
          <a:xfrm flipH="1" flipV="1">
            <a:off x="5508104" y="2420888"/>
            <a:ext cx="1728192" cy="2271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11EE188A-D5C2-676A-FA96-8CEB9F5AD5E0}"/>
              </a:ext>
            </a:extLst>
          </p:cNvPr>
          <p:cNvSpPr txBox="1"/>
          <p:nvPr/>
        </p:nvSpPr>
        <p:spPr>
          <a:xfrm>
            <a:off x="7308304" y="2480581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Zwraca wynik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72DC6B7D-8022-2844-80F7-58966692B0B4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201257" y="2226721"/>
            <a:ext cx="1224263" cy="23544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62A21E7-4876-C618-E1DB-99F854EE5498}"/>
              </a:ext>
            </a:extLst>
          </p:cNvPr>
          <p:cNvSpPr/>
          <p:nvPr/>
        </p:nvSpPr>
        <p:spPr>
          <a:xfrm>
            <a:off x="1295084" y="2040673"/>
            <a:ext cx="2858914" cy="3385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60917311-9679-1698-317D-12D65499B6B8}"/>
              </a:ext>
            </a:extLst>
          </p:cNvPr>
          <p:cNvSpPr txBox="1"/>
          <p:nvPr/>
        </p:nvSpPr>
        <p:spPr>
          <a:xfrm>
            <a:off x="1342343" y="2057444"/>
            <a:ext cx="285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CCEE3AC6-75A8-4647-0E04-F0772AB48E07}"/>
              </a:ext>
            </a:extLst>
          </p:cNvPr>
          <p:cNvCxnSpPr>
            <a:cxnSpLocks/>
          </p:cNvCxnSpPr>
          <p:nvPr/>
        </p:nvCxnSpPr>
        <p:spPr>
          <a:xfrm>
            <a:off x="4355976" y="3607569"/>
            <a:ext cx="1368152" cy="1181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ECB30CF2-5405-C0F8-06EB-D7D92CF0E16B}"/>
              </a:ext>
            </a:extLst>
          </p:cNvPr>
          <p:cNvSpPr txBox="1"/>
          <p:nvPr/>
        </p:nvSpPr>
        <p:spPr>
          <a:xfrm>
            <a:off x="200758" y="2422861"/>
            <a:ext cx="4129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głównej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uruchamia nowe, zagnieżdżone zadanie w tle w celu wywołania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generatePassword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Zamiast wyniku,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natychmiast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zwraca 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Deferred.</a:t>
            </a:r>
          </a:p>
        </p:txBody>
      </p:sp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4BA2BA38-225C-1ECA-5EE9-0C0446A93BF4}"/>
              </a:ext>
            </a:extLst>
          </p:cNvPr>
          <p:cNvSpPr/>
          <p:nvPr/>
        </p:nvSpPr>
        <p:spPr>
          <a:xfrm>
            <a:off x="212428" y="3842091"/>
            <a:ext cx="4191222" cy="132299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8FC3ABB3-D10B-9243-5CF6-C6EB9B9FF835}"/>
              </a:ext>
            </a:extLst>
          </p:cNvPr>
          <p:cNvSpPr txBox="1"/>
          <p:nvPr/>
        </p:nvSpPr>
        <p:spPr>
          <a:xfrm>
            <a:off x="298194" y="3838400"/>
            <a:ext cx="4129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Deferred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to obiekt, który otrzymujesz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natychmiast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 wywołaniu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zanim jeszcze właściwe obliczenia się zakończą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Podobnie jak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Deferred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również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reprezentuje cykl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zadania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.</a:t>
            </a:r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38D00A39-2748-07E8-F8A7-376C9613C739}"/>
              </a:ext>
            </a:extLst>
          </p:cNvPr>
          <p:cNvCxnSpPr>
            <a:cxnSpLocks/>
          </p:cNvCxnSpPr>
          <p:nvPr/>
        </p:nvCxnSpPr>
        <p:spPr>
          <a:xfrm flipV="1">
            <a:off x="4450909" y="4841508"/>
            <a:ext cx="2929403" cy="495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60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689A3-0717-6826-1ACE-E47923DB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37361DC-3C1C-29D2-9DB0-393622788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68" y="836712"/>
            <a:ext cx="4610186" cy="6021288"/>
          </a:xfrm>
          <a:prstGeom prst="rect">
            <a:avLst/>
          </a:prstGeom>
        </p:spPr>
      </p:pic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E156DDC3-1555-57A6-E1AA-11DF6E2CAB79}"/>
              </a:ext>
            </a:extLst>
          </p:cNvPr>
          <p:cNvSpPr/>
          <p:nvPr/>
        </p:nvSpPr>
        <p:spPr>
          <a:xfrm>
            <a:off x="46104" y="5293475"/>
            <a:ext cx="4767284" cy="153590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DEC221A-C5F1-50ED-031C-5213F2DDC43E}"/>
              </a:ext>
            </a:extLst>
          </p:cNvPr>
          <p:cNvSpPr/>
          <p:nvPr/>
        </p:nvSpPr>
        <p:spPr>
          <a:xfrm>
            <a:off x="172929" y="2443852"/>
            <a:ext cx="4191222" cy="132299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A65438-8728-D739-AEE7-EDDBABBB854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22438915-F01A-85F5-26DA-6EF6EB22E319}"/>
              </a:ext>
            </a:extLst>
          </p:cNvPr>
          <p:cNvSpPr/>
          <p:nvPr/>
        </p:nvSpPr>
        <p:spPr>
          <a:xfrm>
            <a:off x="239590" y="980729"/>
            <a:ext cx="4116386" cy="10081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2A1758A-CCF1-72C5-4B7A-7D9AFF5B1C9D}"/>
              </a:ext>
            </a:extLst>
          </p:cNvPr>
          <p:cNvSpPr txBox="1"/>
          <p:nvPr/>
        </p:nvSpPr>
        <p:spPr>
          <a:xfrm>
            <a:off x="249846" y="946175"/>
            <a:ext cx="41163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delay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(3000) zawiesza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 3 sekundy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blokowania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wątku UI, 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następnie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zwraca wynik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postaci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String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BB36B86F-0C4D-12E1-4E18-960A92361AB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355976" y="1484785"/>
            <a:ext cx="504056" cy="4320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BECB7E62-FE6D-D28E-D976-0B816C11C7FD}"/>
              </a:ext>
            </a:extLst>
          </p:cNvPr>
          <p:cNvSpPr/>
          <p:nvPr/>
        </p:nvSpPr>
        <p:spPr>
          <a:xfrm>
            <a:off x="7236296" y="2420888"/>
            <a:ext cx="1738768" cy="49956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39A94EC3-4195-2B99-5304-8FD6D862DE3E}"/>
              </a:ext>
            </a:extLst>
          </p:cNvPr>
          <p:cNvCxnSpPr>
            <a:cxnSpLocks/>
          </p:cNvCxnSpPr>
          <p:nvPr/>
        </p:nvCxnSpPr>
        <p:spPr>
          <a:xfrm flipH="1" flipV="1">
            <a:off x="5508104" y="2420888"/>
            <a:ext cx="1728192" cy="2271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38C1325F-4C49-965F-FC54-EAC877074C0D}"/>
              </a:ext>
            </a:extLst>
          </p:cNvPr>
          <p:cNvSpPr txBox="1"/>
          <p:nvPr/>
        </p:nvSpPr>
        <p:spPr>
          <a:xfrm>
            <a:off x="7308304" y="2480581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Zwraca wynik</a:t>
            </a:r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79055D2C-3FCA-9D36-2DC7-BD87B23B7938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201257" y="2226721"/>
            <a:ext cx="1224263" cy="23544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9B9E1F5F-E9FD-1FAB-E111-05D619E6C9FC}"/>
              </a:ext>
            </a:extLst>
          </p:cNvPr>
          <p:cNvSpPr/>
          <p:nvPr/>
        </p:nvSpPr>
        <p:spPr>
          <a:xfrm>
            <a:off x="1295084" y="2040673"/>
            <a:ext cx="2858914" cy="3385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0441A896-746F-E4AB-3A67-AB591E5E1E1D}"/>
              </a:ext>
            </a:extLst>
          </p:cNvPr>
          <p:cNvSpPr txBox="1"/>
          <p:nvPr/>
        </p:nvSpPr>
        <p:spPr>
          <a:xfrm>
            <a:off x="1342343" y="2057444"/>
            <a:ext cx="285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Uruchamia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korutynę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49FF2787-8F22-5F49-CC98-87F105B369BD}"/>
              </a:ext>
            </a:extLst>
          </p:cNvPr>
          <p:cNvCxnSpPr>
            <a:cxnSpLocks/>
          </p:cNvCxnSpPr>
          <p:nvPr/>
        </p:nvCxnSpPr>
        <p:spPr>
          <a:xfrm>
            <a:off x="4355976" y="3607569"/>
            <a:ext cx="1368152" cy="1181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F1192649-4366-8B02-B7E0-140F1AE2A2CF}"/>
              </a:ext>
            </a:extLst>
          </p:cNvPr>
          <p:cNvSpPr txBox="1"/>
          <p:nvPr/>
        </p:nvSpPr>
        <p:spPr>
          <a:xfrm>
            <a:off x="200758" y="2422861"/>
            <a:ext cx="4129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głównej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uruchamia nowe, zagnieżdżone zadanie w tle w celu wywołania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generatePassword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Zamiast wyniku,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natychmiast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zwraca 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Deferred.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2A36CECC-EB40-6BBB-2760-7D68DEC0CA7E}"/>
              </a:ext>
            </a:extLst>
          </p:cNvPr>
          <p:cNvSpPr/>
          <p:nvPr/>
        </p:nvSpPr>
        <p:spPr>
          <a:xfrm>
            <a:off x="212428" y="3842091"/>
            <a:ext cx="4191222" cy="132299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ED73E290-3261-46AE-0C65-683796F8163C}"/>
              </a:ext>
            </a:extLst>
          </p:cNvPr>
          <p:cNvSpPr txBox="1"/>
          <p:nvPr/>
        </p:nvSpPr>
        <p:spPr>
          <a:xfrm>
            <a:off x="298194" y="3838400"/>
            <a:ext cx="4129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Deferred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to obiekt, który otrzymujesz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natychmiast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 wywołaniu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zanim jeszcze właściwe obliczenia się zakończą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Podobnie jak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Deferred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również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reprezentuje cykl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zadania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.</a:t>
            </a:r>
          </a:p>
        </p:txBody>
      </p: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2A503E10-972E-FA16-28B3-384DB33189ED}"/>
              </a:ext>
            </a:extLst>
          </p:cNvPr>
          <p:cNvSpPr txBox="1"/>
          <p:nvPr/>
        </p:nvSpPr>
        <p:spPr>
          <a:xfrm>
            <a:off x="58873" y="5296726"/>
            <a:ext cx="47672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zawiesza się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tym miejscu, czekając na zakończenie zadania. Gdy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async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zakończy pracę i dostarczy wynik,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await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"odpakowuje"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przypisuje do zmiennej stanu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 powoduje finalną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aktualizację UI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rekompozycję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04844C61-C62B-7EAD-BBA0-D2202AF6EFCA}"/>
              </a:ext>
            </a:extLst>
          </p:cNvPr>
          <p:cNvCxnSpPr>
            <a:cxnSpLocks/>
          </p:cNvCxnSpPr>
          <p:nvPr/>
        </p:nvCxnSpPr>
        <p:spPr>
          <a:xfrm flipV="1">
            <a:off x="4450909" y="4841508"/>
            <a:ext cx="2929403" cy="495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F9AFD86D-53E7-A9AE-DCDA-FC78BB180F5F}"/>
              </a:ext>
            </a:extLst>
          </p:cNvPr>
          <p:cNvCxnSpPr>
            <a:cxnSpLocks/>
          </p:cNvCxnSpPr>
          <p:nvPr/>
        </p:nvCxnSpPr>
        <p:spPr>
          <a:xfrm flipV="1">
            <a:off x="4797237" y="5264850"/>
            <a:ext cx="2929403" cy="7218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32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główek">
            <a:extLst>
              <a:ext uri="{FF2B5EF4-FFF2-40B4-BE49-F238E27FC236}">
                <a16:creationId xmlns:a16="http://schemas.microsoft.com/office/drawing/2014/main" id="{14CD1D66-F756-4EA0-A6A1-4C675531AACD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Przykład: profil użytkownika</a:t>
            </a:r>
          </a:p>
        </p:txBody>
      </p:sp>
      <p:sp>
        <p:nvSpPr>
          <p:cNvPr id="2" name="Tekst_41">
            <a:extLst>
              <a:ext uri="{FF2B5EF4-FFF2-40B4-BE49-F238E27FC236}">
                <a16:creationId xmlns:a16="http://schemas.microsoft.com/office/drawing/2014/main" id="{3582EA4D-5373-4362-A1AC-30207913E141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Ekran potrzebuje dwóch niezależnych informacji.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A9DCCFB6-3A6A-42B7-8DF1-BD0597634C1C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Tekst_42">
            <a:extLst>
              <a:ext uri="{FF2B5EF4-FFF2-40B4-BE49-F238E27FC236}">
                <a16:creationId xmlns:a16="http://schemas.microsoft.com/office/drawing/2014/main" id="{47D4DF25-07B0-4D92-A486-71059E1365FA}"/>
              </a:ext>
            </a:extLst>
          </p:cNvPr>
          <p:cNvSpPr>
            <a:spLocks noGrp="1"/>
          </p:cNvSpPr>
          <p:nvPr/>
        </p:nvSpPr>
        <p:spPr>
          <a:xfrm>
            <a:off x="4000500" y="206692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Nazwa użytkownika</a:t>
            </a:r>
          </a:p>
        </p:txBody>
      </p:sp>
      <p:sp>
        <p:nvSpPr>
          <p:cNvPr id="6" name="Tekst_43">
            <a:extLst>
              <a:ext uri="{FF2B5EF4-FFF2-40B4-BE49-F238E27FC236}">
                <a16:creationId xmlns:a16="http://schemas.microsoft.com/office/drawing/2014/main" id="{FD79E441-BBD6-4617-B3C2-E11EB193C35B}"/>
              </a:ext>
            </a:extLst>
          </p:cNvPr>
          <p:cNvSpPr>
            <a:spLocks noGrp="1"/>
          </p:cNvSpPr>
          <p:nvPr/>
        </p:nvSpPr>
        <p:spPr>
          <a:xfrm>
            <a:off x="4000500" y="235267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Symulowane</a:t>
            </a:r>
            <a:r>
              <a:rPr dirty="0"/>
              <a:t> </a:t>
            </a:r>
            <a:r>
              <a:rPr dirty="0" err="1"/>
              <a:t>pobieranie</a:t>
            </a:r>
            <a:r>
              <a:rPr dirty="0"/>
              <a:t> </a:t>
            </a:r>
            <a:r>
              <a:rPr dirty="0" err="1"/>
              <a:t>trwa</a:t>
            </a:r>
            <a:r>
              <a:rPr dirty="0"/>
              <a:t> 2 s.</a:t>
            </a:r>
          </a:p>
        </p:txBody>
      </p:sp>
      <p:sp>
        <p:nvSpPr>
          <p:cNvPr id="7" name="Tekst_44">
            <a:extLst>
              <a:ext uri="{FF2B5EF4-FFF2-40B4-BE49-F238E27FC236}">
                <a16:creationId xmlns:a16="http://schemas.microsoft.com/office/drawing/2014/main" id="{2A2F6460-CB0C-4C98-8FBA-6B88828F858B}"/>
              </a:ext>
            </a:extLst>
          </p:cNvPr>
          <p:cNvSpPr>
            <a:spLocks noGrp="1"/>
          </p:cNvSpPr>
          <p:nvPr/>
        </p:nvSpPr>
        <p:spPr>
          <a:xfrm>
            <a:off x="4000500" y="319087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Ostatnia aktywność</a:t>
            </a:r>
          </a:p>
        </p:txBody>
      </p:sp>
      <p:sp>
        <p:nvSpPr>
          <p:cNvPr id="8" name="Tekst_45">
            <a:extLst>
              <a:ext uri="{FF2B5EF4-FFF2-40B4-BE49-F238E27FC236}">
                <a16:creationId xmlns:a16="http://schemas.microsoft.com/office/drawing/2014/main" id="{F492B01E-6FA0-4D74-8037-9BDE9821C0B8}"/>
              </a:ext>
            </a:extLst>
          </p:cNvPr>
          <p:cNvSpPr>
            <a:spLocks noGrp="1"/>
          </p:cNvSpPr>
          <p:nvPr/>
        </p:nvSpPr>
        <p:spPr>
          <a:xfrm>
            <a:off x="4000500" y="347662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Symulowane pobieranie trwa 3 s.</a:t>
            </a:r>
          </a:p>
        </p:txBody>
      </p:sp>
      <p:sp>
        <p:nvSpPr>
          <p:cNvPr id="9" name="Tekst_46">
            <a:extLst>
              <a:ext uri="{FF2B5EF4-FFF2-40B4-BE49-F238E27FC236}">
                <a16:creationId xmlns:a16="http://schemas.microsoft.com/office/drawing/2014/main" id="{D629009A-5831-412D-AF3F-C1706A11A26B}"/>
              </a:ext>
            </a:extLst>
          </p:cNvPr>
          <p:cNvSpPr>
            <a:spLocks noGrp="1"/>
          </p:cNvSpPr>
          <p:nvPr/>
        </p:nvSpPr>
        <p:spPr>
          <a:xfrm>
            <a:off x="4000500" y="431482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Wspólny wynik</a:t>
            </a:r>
          </a:p>
        </p:txBody>
      </p:sp>
      <p:sp>
        <p:nvSpPr>
          <p:cNvPr id="10" name="Tekst_47">
            <a:extLst>
              <a:ext uri="{FF2B5EF4-FFF2-40B4-BE49-F238E27FC236}">
                <a16:creationId xmlns:a16="http://schemas.microsoft.com/office/drawing/2014/main" id="{45B702D5-DCD4-48DC-AA01-6D993708089F}"/>
              </a:ext>
            </a:extLst>
          </p:cNvPr>
          <p:cNvSpPr>
            <a:spLocks noGrp="1"/>
          </p:cNvSpPr>
          <p:nvPr/>
        </p:nvSpPr>
        <p:spPr>
          <a:xfrm>
            <a:off x="4000500" y="4600575"/>
            <a:ext cx="4714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Pokazujemy komplet danych i zmierzony czas.</a:t>
            </a:r>
          </a:p>
        </p:txBody>
      </p:sp>
      <p:sp>
        <p:nvSpPr>
          <p:cNvPr id="11" name="Tekst_48">
            <a:extLst>
              <a:ext uri="{FF2B5EF4-FFF2-40B4-BE49-F238E27FC236}">
                <a16:creationId xmlns:a16="http://schemas.microsoft.com/office/drawing/2014/main" id="{FE8A1EE6-DA8B-4BB3-8FDF-7192D9C27EA3}"/>
              </a:ext>
            </a:extLst>
          </p:cNvPr>
          <p:cNvSpPr>
            <a:spLocks noGrp="1"/>
          </p:cNvSpPr>
          <p:nvPr/>
        </p:nvSpPr>
        <p:spPr>
          <a:xfrm>
            <a:off x="1257300" y="62674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Najpierw</a:t>
            </a:r>
            <a:r>
              <a:rPr dirty="0"/>
              <a:t> </a:t>
            </a:r>
            <a:r>
              <a:rPr dirty="0" err="1"/>
              <a:t>porównamy</a:t>
            </a:r>
            <a:r>
              <a:rPr dirty="0"/>
              <a:t> </a:t>
            </a:r>
            <a:r>
              <a:rPr dirty="0" err="1"/>
              <a:t>wywołania</a:t>
            </a:r>
            <a:r>
              <a:rPr dirty="0"/>
              <a:t> </a:t>
            </a:r>
            <a:r>
              <a:rPr dirty="0" err="1"/>
              <a:t>sekwencyjne</a:t>
            </a:r>
            <a:r>
              <a:rPr dirty="0"/>
              <a:t> z </a:t>
            </a:r>
            <a:r>
              <a:rPr dirty="0" err="1"/>
              <a:t>dwoma</a:t>
            </a:r>
            <a:r>
              <a:rPr dirty="0"/>
              <a:t> async.</a:t>
            </a:r>
          </a:p>
        </p:txBody>
      </p:sp>
      <p:pic>
        <p:nvPicPr>
          <p:cNvPr id="13" name="bandicam 2025-07-29 16-46-50-192">
            <a:hlinkClick r:id="" action="ppaction://media"/>
            <a:extLst>
              <a:ext uri="{FF2B5EF4-FFF2-40B4-BE49-F238E27FC236}">
                <a16:creationId xmlns:a16="http://schemas.microsoft.com/office/drawing/2014/main" id="{7B179A9D-B8BB-1CCB-D4A6-A9D94B717A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37861" y="1309687"/>
            <a:ext cx="2117865" cy="476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2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główek">
            <a:extLst>
              <a:ext uri="{FF2B5EF4-FFF2-40B4-BE49-F238E27FC236}">
                <a16:creationId xmlns:a16="http://schemas.microsoft.com/office/drawing/2014/main" id="{0C184F0E-D7E2-4749-A9A4-FC8947D02F15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Funkcje zwracające dane</a:t>
            </a:r>
          </a:p>
        </p:txBody>
      </p:sp>
      <p:sp>
        <p:nvSpPr>
          <p:cNvPr id="2" name="Tekst_49">
            <a:extLst>
              <a:ext uri="{FF2B5EF4-FFF2-40B4-BE49-F238E27FC236}">
                <a16:creationId xmlns:a16="http://schemas.microsoft.com/office/drawing/2014/main" id="{B1CF29B6-539D-4866-AE2B-F93C51F0EEF0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delay() symuluje oczekiwanie na dane. Funkcje zwracają zwykłe wartości.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199B2B14-E561-4702-BBA3-2251CF57902B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75971424-1789-42AA-85B9-C52B6D0CA58B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data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class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(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name: 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,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activity: 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0D158D9F-884F-4761-B511-019E36915E9E}"/>
              </a:ext>
            </a:extLst>
          </p:cNvPr>
          <p:cNvSpPr>
            <a:spLocks noGrp="1"/>
          </p:cNvSpPr>
          <p:nvPr/>
        </p:nvSpPr>
        <p:spPr>
          <a:xfrm>
            <a:off x="1257300" y="20193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822F06AD-AA99-493C-BBC5-CFDCEB9266E7}"/>
              </a:ext>
            </a:extLst>
          </p:cNvPr>
          <p:cNvSpPr>
            <a:spLocks noGrp="1"/>
          </p:cNvSpPr>
          <p:nvPr/>
        </p:nvSpPr>
        <p:spPr>
          <a:xfrm>
            <a:off x="1257300" y="22860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fetchUserName(): 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F32BA627-A2EB-4472-B777-D811121DBE2C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delay(</a:t>
            </a:r>
            <a:r>
              <a:rPr>
                <a:solidFill>
                  <a:srgbClr val="194BC4"/>
                </a:solidFill>
              </a:rPr>
              <a:t>2000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0891FA21-AC54-4DD9-B59B-7C30404ED371}"/>
              </a:ext>
            </a:extLst>
          </p:cNvPr>
          <p:cNvSpPr>
            <a:spLocks noGrp="1"/>
          </p:cNvSpPr>
          <p:nvPr/>
        </p:nvSpPr>
        <p:spPr>
          <a:xfrm>
            <a:off x="1257300" y="28194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return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167529"/>
                </a:solidFill>
              </a:rPr>
              <a:t>"Ada"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7C0B534F-3E95-4E5E-ADEC-44BB7DD07F4D}"/>
              </a:ext>
            </a:extLst>
          </p:cNvPr>
          <p:cNvSpPr>
            <a:spLocks noGrp="1"/>
          </p:cNvSpPr>
          <p:nvPr/>
        </p:nvSpPr>
        <p:spPr>
          <a:xfrm>
            <a:off x="1257300" y="30861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0C00FD8C-044D-4D51-8052-19F6F5F2351F}"/>
              </a:ext>
            </a:extLst>
          </p:cNvPr>
          <p:cNvSpPr>
            <a:spLocks noGrp="1"/>
          </p:cNvSpPr>
          <p:nvPr/>
        </p:nvSpPr>
        <p:spPr>
          <a:xfrm>
            <a:off x="1257300" y="33528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56A3EE52-4537-454B-B59F-7FA6F027AC4F}"/>
              </a:ext>
            </a:extLst>
          </p:cNvPr>
          <p:cNvSpPr>
            <a:spLocks noGrp="1"/>
          </p:cNvSpPr>
          <p:nvPr/>
        </p:nvSpPr>
        <p:spPr>
          <a:xfrm>
            <a:off x="1257300" y="36195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fetchUserActivity(): 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12" name="Kod_9">
            <a:extLst>
              <a:ext uri="{FF2B5EF4-FFF2-40B4-BE49-F238E27FC236}">
                <a16:creationId xmlns:a16="http://schemas.microsoft.com/office/drawing/2014/main" id="{977610B3-5EBD-49E4-B8BB-A8C9FBD70D0D}"/>
              </a:ext>
            </a:extLst>
          </p:cNvPr>
          <p:cNvSpPr>
            <a:spLocks noGrp="1"/>
          </p:cNvSpPr>
          <p:nvPr/>
        </p:nvSpPr>
        <p:spPr>
          <a:xfrm>
            <a:off x="1257300" y="38862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delay(</a:t>
            </a:r>
            <a:r>
              <a:rPr>
                <a:solidFill>
                  <a:srgbClr val="194BC4"/>
                </a:solidFill>
              </a:rPr>
              <a:t>3000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3" name="Kod_10">
            <a:extLst>
              <a:ext uri="{FF2B5EF4-FFF2-40B4-BE49-F238E27FC236}">
                <a16:creationId xmlns:a16="http://schemas.microsoft.com/office/drawing/2014/main" id="{1B7065A9-84C5-48ED-9749-6765727898A3}"/>
              </a:ext>
            </a:extLst>
          </p:cNvPr>
          <p:cNvSpPr>
            <a:spLocks noGrp="1"/>
          </p:cNvSpPr>
          <p:nvPr/>
        </p:nvSpPr>
        <p:spPr>
          <a:xfrm>
            <a:off x="1257300" y="41529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return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167529"/>
                </a:solidFill>
              </a:rPr>
              <a:t>"Dodała post"</a:t>
            </a:r>
          </a:p>
        </p:txBody>
      </p:sp>
      <p:sp>
        <p:nvSpPr>
          <p:cNvPr id="14" name="Kod_11">
            <a:extLst>
              <a:ext uri="{FF2B5EF4-FFF2-40B4-BE49-F238E27FC236}">
                <a16:creationId xmlns:a16="http://schemas.microsoft.com/office/drawing/2014/main" id="{9E11A0A0-5602-49EA-89D0-AC0B556D5FDB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7600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główek">
            <a:extLst>
              <a:ext uri="{FF2B5EF4-FFF2-40B4-BE49-F238E27FC236}">
                <a16:creationId xmlns:a16="http://schemas.microsoft.com/office/drawing/2014/main" id="{F33E9ACB-0AE8-46FF-A95F-38ED33724FD4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Dane pobierane sekwencyjnie</a:t>
            </a:r>
          </a:p>
        </p:txBody>
      </p:sp>
      <p:sp>
        <p:nvSpPr>
          <p:cNvPr id="2" name="Tekst_51">
            <a:extLst>
              <a:ext uri="{FF2B5EF4-FFF2-40B4-BE49-F238E27FC236}">
                <a16:creationId xmlns:a16="http://schemas.microsoft.com/office/drawing/2014/main" id="{FE44DDD3-B6BF-4FF2-81DF-8E8FCB96D143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Kolejne wywołanie zaczyna się dopiero po zakończeniu poprzedniego.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EAABB4DC-F320-45F1-9639-FCB14CD07514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476C36FE-E210-41F6-9195-9B3841E9D250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loadProfileSequential():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138B4E3C-CDA8-4A42-A308-CC8B34B021EC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 = fetchUserName()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D3F32F02-970B-4FCC-B625-6F4AFFC4A578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 = fetchUserActivity()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76D7693C-32B6-44EF-A4C4-062E1381F616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return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(name, activity)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1302CD23-CDBC-4C96-9E52-36B789256005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9" name="Tekst_52">
            <a:extLst>
              <a:ext uri="{FF2B5EF4-FFF2-40B4-BE49-F238E27FC236}">
                <a16:creationId xmlns:a16="http://schemas.microsoft.com/office/drawing/2014/main" id="{C2061578-78E2-4D2A-8215-32BA1DCF7B5D}"/>
              </a:ext>
            </a:extLst>
          </p:cNvPr>
          <p:cNvSpPr>
            <a:spLocks noGrp="1"/>
          </p:cNvSpPr>
          <p:nvPr/>
        </p:nvSpPr>
        <p:spPr>
          <a:xfrm>
            <a:off x="1257300" y="34290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Pierwszy wynik</a:t>
            </a:r>
          </a:p>
        </p:txBody>
      </p:sp>
      <p:sp>
        <p:nvSpPr>
          <p:cNvPr id="10" name="Tekst_53">
            <a:extLst>
              <a:ext uri="{FF2B5EF4-FFF2-40B4-BE49-F238E27FC236}">
                <a16:creationId xmlns:a16="http://schemas.microsoft.com/office/drawing/2014/main" id="{92D42531-0C96-4680-BD92-9CA3B9ED23DA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Nazwa użytkownika jest dostępna po około 2 s.</a:t>
            </a:r>
          </a:p>
        </p:txBody>
      </p:sp>
      <p:sp>
        <p:nvSpPr>
          <p:cNvPr id="11" name="Tekst_54">
            <a:extLst>
              <a:ext uri="{FF2B5EF4-FFF2-40B4-BE49-F238E27FC236}">
                <a16:creationId xmlns:a16="http://schemas.microsoft.com/office/drawing/2014/main" id="{B487D018-0A87-4E5D-96C5-1C0615CA7D4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Kompletny profil</a:t>
            </a:r>
          </a:p>
        </p:txBody>
      </p:sp>
      <p:sp>
        <p:nvSpPr>
          <p:cNvPr id="12" name="Tekst_55">
            <a:extLst>
              <a:ext uri="{FF2B5EF4-FFF2-40B4-BE49-F238E27FC236}">
                <a16:creationId xmlns:a16="http://schemas.microsoft.com/office/drawing/2014/main" id="{C2BD81E3-2E9E-4894-91CB-A5E4B6AA306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Aktywność wymaga następnych około 3 s.</a:t>
            </a:r>
          </a:p>
        </p:txBody>
      </p:sp>
      <p:sp>
        <p:nvSpPr>
          <p:cNvPr id="13" name="Tekst_56">
            <a:extLst>
              <a:ext uri="{FF2B5EF4-FFF2-40B4-BE49-F238E27FC236}">
                <a16:creationId xmlns:a16="http://schemas.microsoft.com/office/drawing/2014/main" id="{E72F24F5-11D2-4802-8282-606E655E0462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Łącznie</a:t>
            </a:r>
            <a:r>
              <a:rPr dirty="0"/>
              <a:t> </a:t>
            </a:r>
            <a:r>
              <a:rPr dirty="0" err="1"/>
              <a:t>około</a:t>
            </a:r>
            <a:r>
              <a:rPr dirty="0"/>
              <a:t> 5 s. </a:t>
            </a:r>
            <a:r>
              <a:rPr dirty="0" err="1"/>
              <a:t>Interfejs</a:t>
            </a:r>
            <a:r>
              <a:rPr dirty="0"/>
              <a:t> </a:t>
            </a:r>
            <a:r>
              <a:rPr dirty="0" err="1"/>
              <a:t>może</a:t>
            </a:r>
            <a:r>
              <a:rPr dirty="0"/>
              <a:t> </a:t>
            </a:r>
            <a:r>
              <a:rPr dirty="0" err="1"/>
              <a:t>nadal</a:t>
            </a:r>
            <a:r>
              <a:rPr dirty="0"/>
              <a:t> </a:t>
            </a:r>
            <a:r>
              <a:rPr dirty="0" err="1"/>
              <a:t>reagować</a:t>
            </a:r>
            <a:r>
              <a:rPr dirty="0"/>
              <a:t> </a:t>
            </a:r>
            <a:r>
              <a:rPr dirty="0" err="1"/>
              <a:t>dzięki</a:t>
            </a:r>
            <a:r>
              <a:rPr dirty="0"/>
              <a:t> delay().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CCA77F9F-1710-41C0-AB04-E41E6800557C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async rozpoczyna podzadanie</a:t>
            </a:r>
          </a:p>
        </p:txBody>
      </p:sp>
      <p:sp>
        <p:nvSpPr>
          <p:cNvPr id="2" name="Tekst_57">
            <a:extLst>
              <a:ext uri="{FF2B5EF4-FFF2-40B4-BE49-F238E27FC236}">
                <a16:creationId xmlns:a16="http://schemas.microsoft.com/office/drawing/2014/main" id="{A57BD9F7-A5B4-471D-BC3B-AC40D97F0FE2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Najpierw uruchamiamy obie operacje, a dopiero potem odbieramy wyniki.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A0590DB1-5BAC-4C92-BD5B-E02174647BAA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FD3C8661-CABE-43E9-80E3-BFC96EC88ED0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loadProfile():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 = coroutineScope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B2F000B5-7090-425F-9263-F08DB3F59B43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nameTask = async { fetchUserName() }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91F9E1F1-10D6-41CA-9012-9E4308A3D36E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activityTask = async { fetchUserActivity() }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5E3CFB11-19B3-407E-BA7C-87A3537683FC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337D38BA-A613-4D94-910B-D95F61906DFB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(nameTask.await(), activityTask.await())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A1C9963E-B332-491A-BCB8-58D42BE332D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0" name="Tekst_58">
            <a:extLst>
              <a:ext uri="{FF2B5EF4-FFF2-40B4-BE49-F238E27FC236}">
                <a16:creationId xmlns:a16="http://schemas.microsoft.com/office/drawing/2014/main" id="{E638FD6B-E9DF-46B5-8140-2EF584892609}"/>
              </a:ext>
            </a:extLst>
          </p:cNvPr>
          <p:cNvSpPr>
            <a:spLocks noGrp="1"/>
          </p:cNvSpPr>
          <p:nvPr/>
        </p:nvSpPr>
        <p:spPr>
          <a:xfrm>
            <a:off x="1257300" y="36195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Wartość nameTask</a:t>
            </a:r>
          </a:p>
        </p:txBody>
      </p:sp>
      <p:sp>
        <p:nvSpPr>
          <p:cNvPr id="11" name="Tekst_59">
            <a:extLst>
              <a:ext uri="{FF2B5EF4-FFF2-40B4-BE49-F238E27FC236}">
                <a16:creationId xmlns:a16="http://schemas.microsoft.com/office/drawing/2014/main" id="{E2CE2A08-8BEF-40AB-8B73-148C8D55F0FF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Deferred&lt;String&gt;: uchwyt do zadania i przyszłego wyniku.</a:t>
            </a:r>
          </a:p>
        </p:txBody>
      </p:sp>
      <p:sp>
        <p:nvSpPr>
          <p:cNvPr id="12" name="Tekst_60">
            <a:extLst>
              <a:ext uri="{FF2B5EF4-FFF2-40B4-BE49-F238E27FC236}">
                <a16:creationId xmlns:a16="http://schemas.microsoft.com/office/drawing/2014/main" id="{428C0352-8812-4E27-8EA5-474615D1A217}"/>
              </a:ext>
            </a:extLst>
          </p:cNvPr>
          <p:cNvSpPr>
            <a:spLocks noGrp="1"/>
          </p:cNvSpPr>
          <p:nvPr/>
        </p:nvSpPr>
        <p:spPr>
          <a:xfrm>
            <a:off x="1257300" y="443865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Kontekst wykonania</a:t>
            </a:r>
          </a:p>
        </p:txBody>
      </p:sp>
      <p:sp>
        <p:nvSpPr>
          <p:cNvPr id="13" name="Tekst_61">
            <a:extLst>
              <a:ext uri="{FF2B5EF4-FFF2-40B4-BE49-F238E27FC236}">
                <a16:creationId xmlns:a16="http://schemas.microsoft.com/office/drawing/2014/main" id="{A823298A-5FCD-4794-B970-0FCE383BD09B}"/>
              </a:ext>
            </a:extLst>
          </p:cNvPr>
          <p:cNvSpPr>
            <a:spLocks noGrp="1"/>
          </p:cNvSpPr>
          <p:nvPr/>
        </p:nvSpPr>
        <p:spPr>
          <a:xfrm>
            <a:off x="1257300" y="47244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async domyślnie korzysta z kontekstu otaczającego zakresu.</a:t>
            </a:r>
          </a:p>
        </p:txBody>
      </p:sp>
      <p:sp>
        <p:nvSpPr>
          <p:cNvPr id="14" name="Tekst_62">
            <a:extLst>
              <a:ext uri="{FF2B5EF4-FFF2-40B4-BE49-F238E27FC236}">
                <a16:creationId xmlns:a16="http://schemas.microsoft.com/office/drawing/2014/main" id="{FCFEE770-6D4A-45A1-AF9D-0F67169A8E88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/>
              <a:t>async </a:t>
            </a:r>
            <a:r>
              <a:rPr dirty="0" err="1"/>
              <a:t>tworzy</a:t>
            </a:r>
            <a:r>
              <a:rPr dirty="0"/>
              <a:t> </a:t>
            </a:r>
            <a:r>
              <a:rPr dirty="0" err="1"/>
              <a:t>korutynę</a:t>
            </a:r>
            <a:r>
              <a:rPr dirty="0"/>
              <a:t> </a:t>
            </a:r>
            <a:r>
              <a:rPr dirty="0" err="1"/>
              <a:t>potomną</a:t>
            </a:r>
            <a:r>
              <a:rPr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główek">
            <a:extLst>
              <a:ext uri="{FF2B5EF4-FFF2-40B4-BE49-F238E27FC236}">
                <a16:creationId xmlns:a16="http://schemas.microsoft.com/office/drawing/2014/main" id="{37F5575B-2757-4188-BA18-B23F96351631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await() odbiera wynik</a:t>
            </a:r>
          </a:p>
        </p:txBody>
      </p:sp>
      <p:sp>
        <p:nvSpPr>
          <p:cNvPr id="2" name="Tekst_63">
            <a:extLst>
              <a:ext uri="{FF2B5EF4-FFF2-40B4-BE49-F238E27FC236}">
                <a16:creationId xmlns:a16="http://schemas.microsoft.com/office/drawing/2014/main" id="{E08D2C30-B03E-418C-87CE-7ECFD09C5A03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await() zawiesza wywołującą korutynę, jeżeli wynik nie jest jeszcze gotowy.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9E6DB4B6-364B-4A18-B2E8-7C5FB56E7003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94CB5F29-990A-4EBD-8876-16D4772AABB3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loadProfile():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 = coroutineScope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E1256521-CBAF-4C76-913F-6266BFCAD54B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nameTask = async { fetchUserName() }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7636AB28-C9AA-4EC3-8B24-5CA98EA139BC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activityTask = async { fetchUserActivity() }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AE18C52E-7AEB-41D3-9615-0E74D4AA2415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343DA26E-B7BB-4829-9A5F-AB7EAEEADE26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 = nameTask.await()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4CAF9CF4-04E0-4ED9-B202-29753C2B0FF1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 = activityTask.await()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0B0E559E-3011-463D-BF00-A2D38C828394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solidFill>
            <a:srgbClr val="E6F3FA"/>
          </a:solidFill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(name, activity)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2DA59333-B309-4C87-8E72-A848A8581FDF}"/>
              </a:ext>
            </a:extLst>
          </p:cNvPr>
          <p:cNvSpPr>
            <a:spLocks noGrp="1"/>
          </p:cNvSpPr>
          <p:nvPr/>
        </p:nvSpPr>
        <p:spPr>
          <a:xfrm>
            <a:off x="1257300" y="36861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2" name="Tekst_64">
            <a:extLst>
              <a:ext uri="{FF2B5EF4-FFF2-40B4-BE49-F238E27FC236}">
                <a16:creationId xmlns:a16="http://schemas.microsoft.com/office/drawing/2014/main" id="{0C4C61B6-70CC-4BAF-A74E-15B38C2EB9F7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Wynik jest dostępny po około 3 s. await() może też zgłosić wyjątek.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główek">
            <a:extLst>
              <a:ext uri="{FF2B5EF4-FFF2-40B4-BE49-F238E27FC236}">
                <a16:creationId xmlns:a16="http://schemas.microsoft.com/office/drawing/2014/main" id="{922FDBFE-5AD6-4C27-8376-CF6BDADCC018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launch, async, join i await</a:t>
            </a:r>
          </a:p>
        </p:txBody>
      </p:sp>
      <p:sp>
        <p:nvSpPr>
          <p:cNvPr id="2" name="Tekst_67">
            <a:extLst>
              <a:ext uri="{FF2B5EF4-FFF2-40B4-BE49-F238E27FC236}">
                <a16:creationId xmlns:a16="http://schemas.microsoft.com/office/drawing/2014/main" id="{4A997984-A659-4C6B-8CC2-35823B190D67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Każda z tych operacji ma inną rolę.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14AAF602-65E7-4E28-B470-103F4D1854AC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077AFE6-1E9A-4ACE-873C-9886EA534D63}"/>
              </a:ext>
            </a:extLst>
          </p:cNvPr>
          <p:cNvGraphicFramePr/>
          <p:nvPr/>
        </p:nvGraphicFramePr>
        <p:xfrm>
          <a:off x="1257300" y="1752600"/>
          <a:ext cx="7600950" cy="3714750"/>
        </p:xfrm>
        <a:graphic>
          <a:graphicData uri="http://schemas.openxmlformats.org/drawingml/2006/table">
            <a:tbl>
              <a:tblPr/>
              <a:tblGrid>
                <a:gridCol w="2327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5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Operacja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 otrzymujemy?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Oczekiwanie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launch { ... }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Job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job.join()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async { ... }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Deferred&lt;T&gt;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task.await()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job.join()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Czeka na zakończenie zadania.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task.await()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 albo wyjątek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Odbiera wynik zadania.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kst_68">
            <a:extLst>
              <a:ext uri="{FF2B5EF4-FFF2-40B4-BE49-F238E27FC236}">
                <a16:creationId xmlns:a16="http://schemas.microsoft.com/office/drawing/2014/main" id="{0A91DEBF-99AC-4CFC-BC95-F2F309E9DB37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Deferred&lt;T&gt; jest także Job: można sprawdzić jego stan i go anulować.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główek">
            <a:extLst>
              <a:ext uri="{FF2B5EF4-FFF2-40B4-BE49-F238E27FC236}">
                <a16:creationId xmlns:a16="http://schemas.microsoft.com/office/drawing/2014/main" id="{3D7ADDCF-6704-4854-A983-234698B1EC09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Jeden wynik z funkcji suspend</a:t>
            </a:r>
          </a:p>
        </p:txBody>
      </p:sp>
      <p:sp>
        <p:nvSpPr>
          <p:cNvPr id="2" name="Tekst_69">
            <a:extLst>
              <a:ext uri="{FF2B5EF4-FFF2-40B4-BE49-F238E27FC236}">
                <a16:creationId xmlns:a16="http://schemas.microsoft.com/office/drawing/2014/main" id="{CD89D24A-2927-4B37-AB2B-61D47F41485A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Dla jednej operacji wystarczy bezpośrednie wywołanie w korutynie.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D1B698EA-4559-450B-A65B-472C78EE42A9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4" name="Tekst_70">
            <a:extLst>
              <a:ext uri="{FF2B5EF4-FFF2-40B4-BE49-F238E27FC236}">
                <a16:creationId xmlns:a16="http://schemas.microsoft.com/office/drawing/2014/main" id="{D59F4810-31D3-4DCA-B113-C05E407805A6}"/>
              </a:ext>
            </a:extLst>
          </p:cNvPr>
          <p:cNvSpPr>
            <a:spLocks noGrp="1"/>
          </p:cNvSpPr>
          <p:nvPr/>
        </p:nvSpPr>
        <p:spPr>
          <a:xfrm>
            <a:off x="1257300" y="1743075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Bezpośredni odbiór wyniku</a:t>
            </a:r>
          </a:p>
        </p:txBody>
      </p:sp>
      <p:sp>
        <p:nvSpPr>
          <p:cNvPr id="5" name="Kod_1">
            <a:extLst>
              <a:ext uri="{FF2B5EF4-FFF2-40B4-BE49-F238E27FC236}">
                <a16:creationId xmlns:a16="http://schemas.microsoft.com/office/drawing/2014/main" id="{36F98046-72DF-4946-8B16-1DEA02142650}"/>
              </a:ext>
            </a:extLst>
          </p:cNvPr>
          <p:cNvSpPr>
            <a:spLocks noGrp="1"/>
          </p:cNvSpPr>
          <p:nvPr/>
        </p:nvSpPr>
        <p:spPr>
          <a:xfrm>
            <a:off x="1257300" y="21431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scope.launch {</a:t>
            </a:r>
          </a:p>
        </p:txBody>
      </p:sp>
      <p:sp>
        <p:nvSpPr>
          <p:cNvPr id="6" name="Kod_2">
            <a:extLst>
              <a:ext uri="{FF2B5EF4-FFF2-40B4-BE49-F238E27FC236}">
                <a16:creationId xmlns:a16="http://schemas.microsoft.com/office/drawing/2014/main" id="{162653D9-A2B5-4E95-A6B5-68522AE3CE93}"/>
              </a:ext>
            </a:extLst>
          </p:cNvPr>
          <p:cNvSpPr>
            <a:spLocks noGrp="1"/>
          </p:cNvSpPr>
          <p:nvPr/>
        </p:nvSpPr>
        <p:spPr>
          <a:xfrm>
            <a:off x="1257300" y="24193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 = fetchUserName()</a:t>
            </a:r>
          </a:p>
        </p:txBody>
      </p:sp>
      <p:sp>
        <p:nvSpPr>
          <p:cNvPr id="7" name="Kod_3">
            <a:extLst>
              <a:ext uri="{FF2B5EF4-FFF2-40B4-BE49-F238E27FC236}">
                <a16:creationId xmlns:a16="http://schemas.microsoft.com/office/drawing/2014/main" id="{CFB8CF2A-3D31-40CB-BAB7-75994E25D195}"/>
              </a:ext>
            </a:extLst>
          </p:cNvPr>
          <p:cNvSpPr>
            <a:spLocks noGrp="1"/>
          </p:cNvSpPr>
          <p:nvPr/>
        </p:nvSpPr>
        <p:spPr>
          <a:xfrm>
            <a:off x="1257300" y="26955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log(name)</a:t>
            </a:r>
          </a:p>
        </p:txBody>
      </p:sp>
      <p:sp>
        <p:nvSpPr>
          <p:cNvPr id="8" name="Kod_4">
            <a:extLst>
              <a:ext uri="{FF2B5EF4-FFF2-40B4-BE49-F238E27FC236}">
                <a16:creationId xmlns:a16="http://schemas.microsoft.com/office/drawing/2014/main" id="{4A5BBD9D-2798-4081-9823-E9CA1B1C6531}"/>
              </a:ext>
            </a:extLst>
          </p:cNvPr>
          <p:cNvSpPr>
            <a:spLocks noGrp="1"/>
          </p:cNvSpPr>
          <p:nvPr/>
        </p:nvSpPr>
        <p:spPr>
          <a:xfrm>
            <a:off x="1257300" y="29718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9" name="Tekst_71">
            <a:extLst>
              <a:ext uri="{FF2B5EF4-FFF2-40B4-BE49-F238E27FC236}">
                <a16:creationId xmlns:a16="http://schemas.microsoft.com/office/drawing/2014/main" id="{D0153CCD-0176-4917-AE1E-9D89C67A7CC5}"/>
              </a:ext>
            </a:extLst>
          </p:cNvPr>
          <p:cNvSpPr>
            <a:spLocks noGrp="1"/>
          </p:cNvSpPr>
          <p:nvPr/>
        </p:nvSpPr>
        <p:spPr>
          <a:xfrm>
            <a:off x="1257300" y="3581400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Dodatkowa korutyna bez korzyści w tym przykładzie</a:t>
            </a:r>
          </a:p>
        </p:txBody>
      </p:sp>
      <p:sp>
        <p:nvSpPr>
          <p:cNvPr id="10" name="Kod_1">
            <a:extLst>
              <a:ext uri="{FF2B5EF4-FFF2-40B4-BE49-F238E27FC236}">
                <a16:creationId xmlns:a16="http://schemas.microsoft.com/office/drawing/2014/main" id="{0A3A12F4-9F55-43D1-BA70-47AB40A2E20E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scope.launch {</a:t>
            </a:r>
          </a:p>
        </p:txBody>
      </p:sp>
      <p:sp>
        <p:nvSpPr>
          <p:cNvPr id="11" name="Kod_2">
            <a:extLst>
              <a:ext uri="{FF2B5EF4-FFF2-40B4-BE49-F238E27FC236}">
                <a16:creationId xmlns:a16="http://schemas.microsoft.com/office/drawing/2014/main" id="{9D1983DD-1A38-4F97-B870-8D5DF2CCB9A8}"/>
              </a:ext>
            </a:extLst>
          </p:cNvPr>
          <p:cNvSpPr>
            <a:spLocks noGrp="1"/>
          </p:cNvSpPr>
          <p:nvPr/>
        </p:nvSpPr>
        <p:spPr>
          <a:xfrm>
            <a:off x="1257300" y="42576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task = async { fetchUserName() }</a:t>
            </a:r>
          </a:p>
        </p:txBody>
      </p:sp>
      <p:sp>
        <p:nvSpPr>
          <p:cNvPr id="12" name="Kod_3">
            <a:extLst>
              <a:ext uri="{FF2B5EF4-FFF2-40B4-BE49-F238E27FC236}">
                <a16:creationId xmlns:a16="http://schemas.microsoft.com/office/drawing/2014/main" id="{5440FE12-54D4-4FDB-8DEF-A321EFF112D6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log(task.await())</a:t>
            </a:r>
          </a:p>
        </p:txBody>
      </p:sp>
      <p:sp>
        <p:nvSpPr>
          <p:cNvPr id="13" name="Kod_4">
            <a:extLst>
              <a:ext uri="{FF2B5EF4-FFF2-40B4-BE49-F238E27FC236}">
                <a16:creationId xmlns:a16="http://schemas.microsoft.com/office/drawing/2014/main" id="{97AA3C8B-CD9D-4CE2-BA13-19D3575B4E44}"/>
              </a:ext>
            </a:extLst>
          </p:cNvPr>
          <p:cNvSpPr>
            <a:spLocks noGrp="1"/>
          </p:cNvSpPr>
          <p:nvPr/>
        </p:nvSpPr>
        <p:spPr>
          <a:xfrm>
            <a:off x="1257300" y="48101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4" name="Tekst_72">
            <a:extLst>
              <a:ext uri="{FF2B5EF4-FFF2-40B4-BE49-F238E27FC236}">
                <a16:creationId xmlns:a16="http://schemas.microsoft.com/office/drawing/2014/main" id="{7C560DA7-F0AD-413F-BD1B-E151F5D8B5B3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async przydaje się, gdy chcemy uruchomić pracę współbieżnie.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agłówek">
            <a:extLst>
              <a:ext uri="{FF2B5EF4-FFF2-40B4-BE49-F238E27FC236}">
                <a16:creationId xmlns:a16="http://schemas.microsoft.com/office/drawing/2014/main" id="{AAE0D9A5-969B-4F5C-9B28-6126B348824B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Błąd jednego z dzieci</a:t>
            </a:r>
          </a:p>
        </p:txBody>
      </p:sp>
      <p:sp>
        <p:nvSpPr>
          <p:cNvPr id="2" name="Tekst_77">
            <a:extLst>
              <a:ext uri="{FF2B5EF4-FFF2-40B4-BE49-F238E27FC236}">
                <a16:creationId xmlns:a16="http://schemas.microsoft.com/office/drawing/2014/main" id="{0BEB6CFD-8081-4DD2-AC60-1719DADDE1BC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W zwykłym coroutineScope niepowodzenie dziecka kończy wspólną operację.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986695D7-DA91-4948-B8CB-05054A81EA7F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562F4C4D-E725-440C-8C6D-82B4A4D72D46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39B4"/>
                </a:solidFill>
              </a:rPr>
              <a:t>suspend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loadWithFailure():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 = coroutineScope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7716EFFD-C615-4BF2-B3E0-B307F31343AF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nameTask = async { fetchUserName() }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B6D72550-7AB7-4435-8AEC-241815E85C97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activityTask = async&lt;</a:t>
            </a:r>
            <a:r>
              <a:rPr>
                <a:solidFill>
                  <a:srgbClr val="80521C"/>
                </a:solidFill>
              </a:rPr>
              <a:t>String</a:t>
            </a:r>
            <a:r>
              <a:rPr>
                <a:solidFill>
                  <a:srgbClr val="161616"/>
                </a:solidFill>
              </a:rPr>
              <a:t>&gt; {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4E6A4DEB-EEBC-4F1D-9C4A-B36ED7227119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delay(</a:t>
            </a:r>
            <a:r>
              <a:rPr>
                <a:solidFill>
                  <a:srgbClr val="194BC4"/>
                </a:solidFill>
              </a:rPr>
              <a:t>1000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C8CB16BF-49DC-4BFA-BABB-D0D1B86E25F2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</a:t>
            </a:r>
            <a:r>
              <a:rPr>
                <a:solidFill>
                  <a:srgbClr val="0039B4"/>
                </a:solidFill>
              </a:rPr>
              <a:t>throw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80521C"/>
                </a:solidFill>
              </a:rPr>
              <a:t>IOException</a:t>
            </a:r>
            <a:r>
              <a:rPr>
                <a:solidFill>
                  <a:srgbClr val="161616"/>
                </a:solidFill>
              </a:rPr>
              <a:t>(</a:t>
            </a:r>
            <a:r>
              <a:rPr>
                <a:solidFill>
                  <a:srgbClr val="167529"/>
                </a:solidFill>
              </a:rPr>
              <a:t>"Brak połączenia"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2EECEC91-D64F-47DD-9F25-32D62C81676C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07DAF924-16D6-4B81-8772-126679CE48BE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80521C"/>
                </a:solidFill>
              </a:rPr>
              <a:t>Profile</a:t>
            </a:r>
            <a:r>
              <a:rPr>
                <a:solidFill>
                  <a:srgbClr val="161616"/>
                </a:solidFill>
              </a:rPr>
              <a:t>(nameTask.await(), activityTask.await())</a:t>
            </a:r>
          </a:p>
        </p:txBody>
      </p:sp>
      <p:sp>
        <p:nvSpPr>
          <p:cNvPr id="11" name="Kod_8">
            <a:extLst>
              <a:ext uri="{FF2B5EF4-FFF2-40B4-BE49-F238E27FC236}">
                <a16:creationId xmlns:a16="http://schemas.microsoft.com/office/drawing/2014/main" id="{48833C40-E3F4-4B78-8E79-AD60F4807B6C}"/>
              </a:ext>
            </a:extLst>
          </p:cNvPr>
          <p:cNvSpPr>
            <a:spLocks noGrp="1"/>
          </p:cNvSpPr>
          <p:nvPr/>
        </p:nvSpPr>
        <p:spPr>
          <a:xfrm>
            <a:off x="1257300" y="36861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2" name="Tekst_78">
            <a:extLst>
              <a:ext uri="{FF2B5EF4-FFF2-40B4-BE49-F238E27FC236}">
                <a16:creationId xmlns:a16="http://schemas.microsoft.com/office/drawing/2014/main" id="{6CD0A31F-DDF5-44BB-9A65-407C57509048}"/>
              </a:ext>
            </a:extLst>
          </p:cNvPr>
          <p:cNvSpPr>
            <a:spLocks noGrp="1"/>
          </p:cNvSpPr>
          <p:nvPr/>
        </p:nvSpPr>
        <p:spPr>
          <a:xfrm>
            <a:off x="1257300" y="417195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Po około 1 s</a:t>
            </a:r>
          </a:p>
        </p:txBody>
      </p:sp>
      <p:sp>
        <p:nvSpPr>
          <p:cNvPr id="13" name="Tekst_79">
            <a:extLst>
              <a:ext uri="{FF2B5EF4-FFF2-40B4-BE49-F238E27FC236}">
                <a16:creationId xmlns:a16="http://schemas.microsoft.com/office/drawing/2014/main" id="{D88FC8AC-113D-4427-A505-DFCABE746494}"/>
              </a:ext>
            </a:extLst>
          </p:cNvPr>
          <p:cNvSpPr>
            <a:spLocks noGrp="1"/>
          </p:cNvSpPr>
          <p:nvPr/>
        </p:nvSpPr>
        <p:spPr>
          <a:xfrm>
            <a:off x="1257300" y="445770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activityTask zgłasza błąd. nameTask zostaje anulowane.</a:t>
            </a:r>
          </a:p>
        </p:txBody>
      </p:sp>
      <p:sp>
        <p:nvSpPr>
          <p:cNvPr id="14" name="Tekst_80">
            <a:extLst>
              <a:ext uri="{FF2B5EF4-FFF2-40B4-BE49-F238E27FC236}">
                <a16:creationId xmlns:a16="http://schemas.microsoft.com/office/drawing/2014/main" id="{D0D4EA30-19DC-4D7E-A8C3-68B2E2D1DCFF}"/>
              </a:ext>
            </a:extLst>
          </p:cNvPr>
          <p:cNvSpPr>
            <a:spLocks noGrp="1"/>
          </p:cNvSpPr>
          <p:nvPr/>
        </p:nvSpPr>
        <p:spPr>
          <a:xfrm>
            <a:off x="1257300" y="49911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Wywołujący</a:t>
            </a:r>
          </a:p>
        </p:txBody>
      </p:sp>
      <p:sp>
        <p:nvSpPr>
          <p:cNvPr id="15" name="Tekst_81">
            <a:extLst>
              <a:ext uri="{FF2B5EF4-FFF2-40B4-BE49-F238E27FC236}">
                <a16:creationId xmlns:a16="http://schemas.microsoft.com/office/drawing/2014/main" id="{D7998266-97EF-442A-8F2A-D9627140DA25}"/>
              </a:ext>
            </a:extLst>
          </p:cNvPr>
          <p:cNvSpPr>
            <a:spLocks noGrp="1"/>
          </p:cNvSpPr>
          <p:nvPr/>
        </p:nvSpPr>
        <p:spPr>
          <a:xfrm>
            <a:off x="1257300" y="52768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Otrzymuje wyjątek zamiast częściowego profilu.</a:t>
            </a:r>
          </a:p>
        </p:txBody>
      </p:sp>
      <p:sp>
        <p:nvSpPr>
          <p:cNvPr id="16" name="Tekst_82">
            <a:extLst>
              <a:ext uri="{FF2B5EF4-FFF2-40B4-BE49-F238E27FC236}">
                <a16:creationId xmlns:a16="http://schemas.microsoft.com/office/drawing/2014/main" id="{E5384C27-4B07-4CC2-8B5D-25952CC09221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Obsługę błędu umieszczamy wokół wywołania całej operacji.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główek">
            <a:extLst>
              <a:ext uri="{FF2B5EF4-FFF2-40B4-BE49-F238E27FC236}">
                <a16:creationId xmlns:a16="http://schemas.microsoft.com/office/drawing/2014/main" id="{ED2C1A7D-8537-47FE-B65B-EE4EF2950B4B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t>Miejsce wykonywania kodu</a:t>
            </a:r>
          </a:p>
        </p:txBody>
      </p:sp>
      <p:sp>
        <p:nvSpPr>
          <p:cNvPr id="2" name="Tekst_97">
            <a:extLst>
              <a:ext uri="{FF2B5EF4-FFF2-40B4-BE49-F238E27FC236}">
                <a16:creationId xmlns:a16="http://schemas.microsoft.com/office/drawing/2014/main" id="{B6934A85-23F4-4D52-8D3B-797AF59D0F9D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Dispatcher wybieramy dla rodzaju wykonywanej pracy.</a:t>
            </a:r>
          </a:p>
        </p:txBody>
      </p:sp>
      <p:sp>
        <p:nvSpPr>
          <p:cNvPr id="3" name="Numer slajdu">
            <a:extLst>
              <a:ext uri="{FF2B5EF4-FFF2-40B4-BE49-F238E27FC236}">
                <a16:creationId xmlns:a16="http://schemas.microsoft.com/office/drawing/2014/main" id="{FCDB0C6B-A088-473A-AB73-708C762A2F92}"/>
              </a:ext>
            </a:extLst>
          </p:cNvPr>
          <p:cNvSpPr>
            <a:spLocks noGrp="1"/>
          </p:cNvSpPr>
          <p:nvPr/>
        </p:nvSpPr>
        <p:spPr>
          <a:xfrm>
            <a:off x="8496300" y="65341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28</a:t>
            </a:r>
          </a:p>
        </p:txBody>
      </p:sp>
      <p:sp>
        <p:nvSpPr>
          <p:cNvPr id="4" name="Kod_1">
            <a:extLst>
              <a:ext uri="{FF2B5EF4-FFF2-40B4-BE49-F238E27FC236}">
                <a16:creationId xmlns:a16="http://schemas.microsoft.com/office/drawing/2014/main" id="{3EC4204A-F4C8-429E-A4C5-D5BAC5A12B11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scope.launch {</a:t>
            </a:r>
          </a:p>
        </p:txBody>
      </p:sp>
      <p:sp>
        <p:nvSpPr>
          <p:cNvPr id="5" name="Kod_2">
            <a:extLst>
              <a:ext uri="{FF2B5EF4-FFF2-40B4-BE49-F238E27FC236}">
                <a16:creationId xmlns:a16="http://schemas.microsoft.com/office/drawing/2014/main" id="{4910872E-2B90-4780-9B3F-0F4F0C43B7B8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sorted = withContext(</a:t>
            </a:r>
            <a:r>
              <a:rPr>
                <a:solidFill>
                  <a:srgbClr val="80521C"/>
                </a:solidFill>
              </a:rPr>
              <a:t>Dispatchers</a:t>
            </a:r>
            <a:r>
              <a:rPr>
                <a:solidFill>
                  <a:srgbClr val="161616"/>
                </a:solidFill>
              </a:rPr>
              <a:t>.Default) {</a:t>
            </a:r>
          </a:p>
        </p:txBody>
      </p:sp>
      <p:sp>
        <p:nvSpPr>
          <p:cNvPr id="6" name="Kod_3">
            <a:extLst>
              <a:ext uri="{FF2B5EF4-FFF2-40B4-BE49-F238E27FC236}">
                <a16:creationId xmlns:a16="http://schemas.microsoft.com/office/drawing/2014/main" id="{23402FE5-99CA-4D22-AA02-4195951443EF}"/>
              </a:ext>
            </a:extLst>
          </p:cNvPr>
          <p:cNvSpPr>
            <a:spLocks noGrp="1"/>
          </p:cNvSpPr>
          <p:nvPr/>
        </p:nvSpPr>
        <p:spPr>
          <a:xfrm>
            <a:off x="1257300" y="23050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List(</a:t>
            </a:r>
            <a:r>
              <a:rPr>
                <a:solidFill>
                  <a:srgbClr val="194BC4"/>
                </a:solidFill>
              </a:rPr>
              <a:t>200_000</a:t>
            </a:r>
            <a:r>
              <a:rPr>
                <a:solidFill>
                  <a:srgbClr val="161616"/>
                </a:solidFill>
              </a:rPr>
              <a:t>) { index -&gt; </a:t>
            </a:r>
            <a:r>
              <a:rPr>
                <a:solidFill>
                  <a:srgbClr val="194BC4"/>
                </a:solidFill>
              </a:rPr>
              <a:t>200_000</a:t>
            </a:r>
            <a:r>
              <a:rPr>
                <a:solidFill>
                  <a:srgbClr val="161616"/>
                </a:solidFill>
              </a:rPr>
              <a:t> - index }</a:t>
            </a:r>
          </a:p>
        </p:txBody>
      </p:sp>
      <p:sp>
        <p:nvSpPr>
          <p:cNvPr id="7" name="Kod_4">
            <a:extLst>
              <a:ext uri="{FF2B5EF4-FFF2-40B4-BE49-F238E27FC236}">
                <a16:creationId xmlns:a16="http://schemas.microsoft.com/office/drawing/2014/main" id="{57169707-C629-4E38-981C-14704FEC21CD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        .sorted()</a:t>
            </a:r>
          </a:p>
        </p:txBody>
      </p:sp>
      <p:sp>
        <p:nvSpPr>
          <p:cNvPr id="8" name="Kod_5">
            <a:extLst>
              <a:ext uri="{FF2B5EF4-FFF2-40B4-BE49-F238E27FC236}">
                <a16:creationId xmlns:a16="http://schemas.microsoft.com/office/drawing/2014/main" id="{D5E1EE03-F3A6-4B46-964D-4F42B0263955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9" name="Kod_6">
            <a:extLst>
              <a:ext uri="{FF2B5EF4-FFF2-40B4-BE49-F238E27FC236}">
                <a16:creationId xmlns:a16="http://schemas.microsoft.com/office/drawing/2014/main" id="{8EE1FAAB-C510-482F-8D77-E9BA8215DE1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    log(</a:t>
            </a:r>
            <a:r>
              <a:rPr>
                <a:solidFill>
                  <a:srgbClr val="167529"/>
                </a:solidFill>
              </a:rPr>
              <a:t>"Posortowano ${sorted.size} liczb"</a:t>
            </a:r>
            <a:r>
              <a:rPr>
                <a:solidFill>
                  <a:srgbClr val="161616"/>
                </a:solidFill>
              </a:rPr>
              <a:t>)</a:t>
            </a:r>
          </a:p>
        </p:txBody>
      </p:sp>
      <p:sp>
        <p:nvSpPr>
          <p:cNvPr id="10" name="Kod_7">
            <a:extLst>
              <a:ext uri="{FF2B5EF4-FFF2-40B4-BE49-F238E27FC236}">
                <a16:creationId xmlns:a16="http://schemas.microsoft.com/office/drawing/2014/main" id="{E0C60C1C-172F-4547-AC95-BD07250B5435}"/>
              </a:ext>
            </a:extLst>
          </p:cNvPr>
          <p:cNvSpPr>
            <a:spLocks noGrp="1"/>
          </p:cNvSpPr>
          <p:nvPr/>
        </p:nvSpPr>
        <p:spPr>
          <a:xfrm>
            <a:off x="1257300" y="3409950"/>
            <a:ext cx="76009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11" name="Tekst_98">
            <a:extLst>
              <a:ext uri="{FF2B5EF4-FFF2-40B4-BE49-F238E27FC236}">
                <a16:creationId xmlns:a16="http://schemas.microsoft.com/office/drawing/2014/main" id="{871DEE41-64AC-4C5C-9EA2-B6561A9FC35B}"/>
              </a:ext>
            </a:extLst>
          </p:cNvPr>
          <p:cNvSpPr>
            <a:spLocks noGrp="1"/>
          </p:cNvSpPr>
          <p:nvPr/>
        </p:nvSpPr>
        <p:spPr>
          <a:xfrm>
            <a:off x="1257300" y="3895725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Dispatchers.Default</a:t>
            </a:r>
          </a:p>
        </p:txBody>
      </p:sp>
      <p:sp>
        <p:nvSpPr>
          <p:cNvPr id="12" name="Tekst_99">
            <a:extLst>
              <a:ext uri="{FF2B5EF4-FFF2-40B4-BE49-F238E27FC236}">
                <a16:creationId xmlns:a16="http://schemas.microsoft.com/office/drawing/2014/main" id="{EFD9386B-32A0-402B-9103-8902DC97D6F1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Obliczenia intensywnie wykorzystujące CPU.</a:t>
            </a:r>
          </a:p>
        </p:txBody>
      </p:sp>
      <p:sp>
        <p:nvSpPr>
          <p:cNvPr id="13" name="Tekst_100">
            <a:extLst>
              <a:ext uri="{FF2B5EF4-FFF2-40B4-BE49-F238E27FC236}">
                <a16:creationId xmlns:a16="http://schemas.microsoft.com/office/drawing/2014/main" id="{FDEA8DA1-C17A-4684-8DE6-8261CABB37E3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Dispatchers.IO</a:t>
            </a:r>
          </a:p>
        </p:txBody>
      </p:sp>
      <p:sp>
        <p:nvSpPr>
          <p:cNvPr id="14" name="Tekst_101">
            <a:extLst>
              <a:ext uri="{FF2B5EF4-FFF2-40B4-BE49-F238E27FC236}">
                <a16:creationId xmlns:a16="http://schemas.microsoft.com/office/drawing/2014/main" id="{533C949F-B1AC-40D1-A394-121F32555265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Blokujące operacje wejścia–wyjścia.</a:t>
            </a:r>
          </a:p>
        </p:txBody>
      </p:sp>
      <p:sp>
        <p:nvSpPr>
          <p:cNvPr id="15" name="Tekst_102">
            <a:extLst>
              <a:ext uri="{FF2B5EF4-FFF2-40B4-BE49-F238E27FC236}">
                <a16:creationId xmlns:a16="http://schemas.microsoft.com/office/drawing/2014/main" id="{7900D4B2-8C1B-4F74-A8F6-1863E4072F31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withContext zwraca wynik i po zakończeniu przywraca kontekst wywołujący.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2296</Words>
  <Application>Microsoft Office PowerPoint</Application>
  <DocSecurity>0</DocSecurity>
  <PresentationFormat>Pokaz na ekranie (4:3)</PresentationFormat>
  <Paragraphs>342</Paragraphs>
  <Slides>32</Slides>
  <Notes>32</Notes>
  <HiddenSlides>1</HiddenSlides>
  <MMClips>3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Rafał Lewandków</cp:lastModifiedBy>
  <cp:revision>8</cp:revision>
  <dcterms:created xsi:type="dcterms:W3CDTF">2026-10-15T14:11:03Z</dcterms:created>
  <dcterms:modified xsi:type="dcterms:W3CDTF">2026-10-15T14:54:44Z</dcterms:modified>
</cp:coreProperties>
</file>