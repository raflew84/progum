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540" r:id="rId5"/>
    <p:sldId id="259" r:id="rId6"/>
    <p:sldId id="260" r:id="rId7"/>
    <p:sldId id="261" r:id="rId8"/>
    <p:sldId id="541" r:id="rId9"/>
    <p:sldId id="542" r:id="rId10"/>
    <p:sldId id="543" r:id="rId11"/>
    <p:sldId id="544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551" r:id="rId20"/>
    <p:sldId id="552" r:id="rId21"/>
    <p:sldId id="553" r:id="rId22"/>
    <p:sldId id="554" r:id="rId23"/>
    <p:sldId id="555" r:id="rId24"/>
    <p:sldId id="545" r:id="rId25"/>
    <p:sldId id="269" r:id="rId26"/>
    <p:sldId id="270" r:id="rId27"/>
    <p:sldId id="271" r:id="rId28"/>
    <p:sldId id="272" r:id="rId29"/>
    <p:sldId id="274" r:id="rId30"/>
    <p:sldId id="275" r:id="rId31"/>
    <p:sldId id="277" r:id="rId32"/>
    <p:sldId id="283" r:id="rId33"/>
  </p:sldIdLst>
  <p:sldSz cx="9144000" cy="6858000" type="screen4x3"/>
  <p:notesSz cx="6858000" cy="9144000"/>
  <p:defaultTextStyle>
    <a:defPPr>
      <a:buNone/>
    </a:defPPr>
    <a:lvl1pPr algn="l">
      <a:spcBef>
        <a:spcPct val="0"/>
      </a:spcBef>
      <a:spcAft>
        <a:spcPct val="0"/>
      </a:spcAft>
      <a:buNone/>
      <a:defRPr sz="1200" kern="1200">
        <a:solidFill>
          <a:srgbClr val="000000"/>
        </a:solidFill>
        <a:latin typeface="Arial"/>
        <a:ea typeface="Arial"/>
        <a:cs typeface="Arial"/>
      </a:defRPr>
    </a:lvl1pPr>
    <a:lvl2pPr marL="457200" algn="l">
      <a:spcBef>
        <a:spcPct val="0"/>
      </a:spcBef>
      <a:spcAft>
        <a:spcPct val="0"/>
      </a:spcAft>
      <a:buNone/>
      <a:defRPr sz="1200" kern="1200">
        <a:solidFill>
          <a:srgbClr val="000000"/>
        </a:solidFill>
        <a:latin typeface="Arial"/>
        <a:ea typeface="Arial"/>
        <a:cs typeface="Arial"/>
      </a:defRPr>
    </a:lvl2pPr>
    <a:lvl3pPr marL="914400" algn="l">
      <a:spcBef>
        <a:spcPct val="0"/>
      </a:spcBef>
      <a:spcAft>
        <a:spcPct val="0"/>
      </a:spcAft>
      <a:buNone/>
      <a:defRPr sz="1200" kern="1200">
        <a:solidFill>
          <a:srgbClr val="000000"/>
        </a:solidFill>
        <a:latin typeface="Arial"/>
        <a:ea typeface="Arial"/>
        <a:cs typeface="Arial"/>
      </a:defRPr>
    </a:lvl3pPr>
    <a:lvl4pPr marL="1371600" algn="l">
      <a:spcBef>
        <a:spcPct val="0"/>
      </a:spcBef>
      <a:spcAft>
        <a:spcPct val="0"/>
      </a:spcAft>
      <a:buNone/>
      <a:defRPr sz="1200" kern="1200">
        <a:solidFill>
          <a:srgbClr val="000000"/>
        </a:solidFill>
        <a:latin typeface="Arial"/>
        <a:ea typeface="Arial"/>
        <a:cs typeface="Arial"/>
      </a:defRPr>
    </a:lvl4pPr>
    <a:lvl5pPr marL="1828800" algn="l">
      <a:spcBef>
        <a:spcPct val="0"/>
      </a:spcBef>
      <a:spcAft>
        <a:spcPct val="0"/>
      </a:spcAft>
      <a:buNone/>
      <a:defRPr sz="1200" kern="1200">
        <a:solidFill>
          <a:srgbClr val="000000"/>
        </a:solidFill>
        <a:latin typeface="Arial"/>
        <a:ea typeface="Arial"/>
        <a:cs typeface="Arial"/>
      </a:defRPr>
    </a:lvl5pPr>
    <a:lvl6pPr marL="2286000" algn="l" defTabSz="914400">
      <a:buNone/>
      <a:defRPr sz="1200" kern="1200">
        <a:solidFill>
          <a:srgbClr val="000000"/>
        </a:solidFill>
        <a:latin typeface="Arial"/>
        <a:ea typeface="Arial"/>
        <a:cs typeface="Arial"/>
      </a:defRPr>
    </a:lvl6pPr>
    <a:lvl7pPr marL="2743200" algn="l" defTabSz="914400">
      <a:buNone/>
      <a:defRPr sz="1200" kern="1200">
        <a:solidFill>
          <a:srgbClr val="000000"/>
        </a:solidFill>
        <a:latin typeface="Arial"/>
        <a:ea typeface="Arial"/>
        <a:cs typeface="Arial"/>
      </a:defRPr>
    </a:lvl7pPr>
    <a:lvl8pPr marL="3200400" algn="l" defTabSz="914400">
      <a:buNone/>
      <a:defRPr sz="1200" kern="1200">
        <a:solidFill>
          <a:srgbClr val="000000"/>
        </a:solidFill>
        <a:latin typeface="Arial"/>
        <a:ea typeface="Arial"/>
        <a:cs typeface="Arial"/>
      </a:defRPr>
    </a:lvl8pPr>
    <a:lvl9pPr marL="3657600" algn="l" defTabSz="914400">
      <a:buNone/>
      <a:defRPr sz="1200" kern="1200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Styl pośredni 2 — Ak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Styl pośredni 2 — Ak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Styl pośredni 2 — Ak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Styl pośredni 2 — Ak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615" autoAdjust="0"/>
  </p:normalViewPr>
  <p:slideViewPr>
    <p:cSldViewPr snapToGrid="0">
      <p:cViewPr varScale="1">
        <p:scale>
          <a:sx n="96" d="100"/>
          <a:sy n="96" d="100"/>
        </p:scale>
        <p:origin x="1071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B05BF-8907-163C-1C54-6FC09587E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242BFB-F988-DC01-448A-1347512735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5CE17-EF99-88FD-08EC-F92C05EC9A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4E2BE3-A669-B35A-436D-447B403E532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509925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410FB-134C-CD8F-C6F6-13E07922E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CF82F9-A75A-C963-3DFD-90501E011F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166647-8F1A-A771-F54E-22C0F53BE9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A7AB83-53B7-9B17-0B50-96EF9C5366B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981253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67507-0D94-C353-FE18-EF76E7943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33DEC0-7A2A-13F5-5935-B6FE3A05D8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1032E9-9529-D075-E316-726F44790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048CB6-29AB-6437-B573-92AA0FA4737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21354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BC6EF-70D2-44F1-2269-6C8E9BC59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ABCF04-6E91-B3B8-DECA-8FC29CD7FD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A4B0BC-B6CA-0C6B-E35D-B4A09AD674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32C75-B64E-E706-450C-4B808283518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718896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48F3B-6711-E86A-F9D8-219F9ADC9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294A1B-54FF-73D2-852A-3EB5945632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67EACD-7B66-12F8-A3ED-B048AC6410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C2DE5-1EF2-5225-6DA4-59325B25A07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432532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t>Oba zadania wystartowały wcześniej. Pierwsze join oczekuje na warzywa, a mięso w tym czasie również robi postęp. Job.join nie zwraca wyniku zadania. Zawiesza wywołującą korutynę, jeśli zadanie jeszcze trwa, bez blokowania wątku.</a:t>
            </a:r>
          </a:p>
          <a:p>
            <a:pPr>
              <a:buNone/>
            </a:pPr>
            <a:endParaRPr/>
          </a:p>
          <a:p>
            <a:pPr>
              <a:buNone/>
            </a:pPr>
            <a:r>
              <a:t>Źródła:</a:t>
            </a:r>
          </a:p>
          <a:p>
            <a:pPr>
              <a:buNone/>
            </a:pPr>
            <a:r>
              <a:t>https://kotlinlang.org/api/kotlinx.coroutines/kotlinx-coroutines-core/kotlinx.coroutines/-job/join.html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t>Przykład celowo nie zawiera końcowego komunikatu „Można podawać”. Można sprawdzić parent.isCompleted w trakcie działania. Nie używać samego parent.isActive jako obserwowalnego stanu przycisku Compose.</a:t>
            </a:r>
          </a:p>
          <a:p>
            <a:pPr>
              <a:buNone/>
            </a:pPr>
            <a:endParaRPr/>
          </a:p>
          <a:p>
            <a:pPr>
              <a:buNone/>
            </a:pPr>
            <a:r>
              <a:t>Źródła:</a:t>
            </a:r>
          </a:p>
          <a:p>
            <a:pPr>
              <a:buNone/>
            </a:pPr>
            <a:r>
              <a:t>https://kotlinlang.org/api/kotlinx.coroutines/kotlinx-coroutines-core/kotlinx.coroutines/-job/join.html</a:t>
            </a:r>
          </a:p>
          <a:p>
            <a:pPr>
              <a:buNone/>
            </a:pPr>
            <a:r>
              <a:t>https://kotlinlang.org/docs/coroutines-basics.html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422555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0FBB1-9D28-9C4D-A20A-2AA280BF3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B0E257-01CC-A3F4-DEB1-DCFA96820F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783260-2859-9B93-75CB-1EAE10A33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80C98A-1CD1-5EB7-A176-2BAF24031EA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3153548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55AA5-FF35-97DF-1F94-248285652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9F3AB6-A6D8-2ACD-3E83-CCFD446839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2A6C1A-7884-9453-5BD1-11A9980B82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ED9DD6-0D89-EDC1-B42B-AAC46C29EAE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922953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2B0E1-0A6A-A877-A717-18FC70340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DE1B47-F691-450E-4FC9-BBA2C8685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6A7618-25B5-3C86-8D53-E897DA191B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E74DE6-5C1B-49F2-EE55-85E8EC5A991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7293963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7A1A3-A131-FDB5-9329-7270C5DDA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213DE3-C2DD-57BE-94F3-6489883CF4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AB0994-4390-6897-B726-51D1084642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65695A-6916-6F98-2536-1394AC93A6A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5861981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57746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t>Oba fragmenty są poprawne. Drugi pokazuje składnię Deferred, ale nie skraca czasu tej pojedynczej operacji. To zastępuje przykład generatora zwracającego zawsze ten sam tekst.</a:t>
            </a:r>
          </a:p>
          <a:p>
            <a:pPr>
              <a:buNone/>
            </a:pPr>
            <a:endParaRPr/>
          </a:p>
          <a:p>
            <a:pPr>
              <a:buNone/>
            </a:pPr>
            <a:r>
              <a:t>Źródła:</a:t>
            </a:r>
          </a:p>
          <a:p>
            <a:pPr>
              <a:buNone/>
            </a:pPr>
            <a:r>
              <a:t>https://kotlinlang.org/docs/composing-suspending-functions.html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EF2B08D-8C19-40B4-8E90-90F2C328A8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Kliknij, aby edyt. styl wz. tyt.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24293558-D4F0-4E8E-B439-1F098A022D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605C08C1-D6B8-4E36-B7D6-DD77B244FBE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1017B01-0C30-B241-B19F-621BE4770608}" type="datetimeFigureOut">
              <a:t>22.10.2026</a:t>
            </a:fld>
            <a:endParaRPr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6FFF456-6EA2-418B-AE2F-EAD1C9C417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AF2D2F4-ECEC-4730-8F57-36F95100D72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003FEF5-976C-4EA3-84A7-FBC3543521F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3B98479-07DE-4F6F-8065-87386F40E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Kliknij, aby edyt. styl wz. tyt.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7FDB623-6A30-4078-9C05-5D05D91D01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Kliknij, aby edytować style wzorca tekstu</a:t>
            </a:r>
          </a:p>
          <a:p>
            <a:pPr lvl="1">
              <a:buNone/>
            </a:pPr>
            <a:r>
              <a:t>Drugi poziom</a:t>
            </a:r>
          </a:p>
          <a:p>
            <a:pPr lvl="2">
              <a:buNone/>
            </a:pPr>
            <a:r>
              <a:t>Trzeci poziom</a:t>
            </a:r>
          </a:p>
          <a:p>
            <a:pPr lvl="3">
              <a:buNone/>
            </a:pPr>
            <a:r>
              <a:t>Czwarty poziom</a:t>
            </a:r>
          </a:p>
          <a:p>
            <a:pPr lvl="4">
              <a:buNone/>
            </a:pPr>
            <a:r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608CF4D8-D613-4B8B-BC6E-405825CB4AE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1017B01-0C30-B241-B19F-621BE4770608}" type="datetimeFigureOut">
              <a:t>22.10.2026</a:t>
            </a:fld>
            <a:endParaRPr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BFABA7E-86D7-46AB-BDFC-522AC599270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770F329C-B867-47D1-959D-66D32FF9946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59B2623-FECC-458E-8887-8971830FA08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6B6445A-87CB-4621-88B7-E0DE771F9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Kliknij, aby edyt. styl wz. tyt.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4181A42E-10E3-44B2-BE0F-19E46CB884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29E70BE-A882-44DF-B7BE-0E7B16AA69D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1017B01-0C30-B241-B19F-621BE4770608}" type="datetimeFigureOut">
              <a:t>22.10.2026</a:t>
            </a:fld>
            <a:endParaRPr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1B923B8-C9BE-4229-A4D5-C61565C9130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B29FF30-4576-44F1-A346-AA0A4474924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0FEC418-961B-4A97-8A49-C7EB1AA505E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45CA48C-1B60-427C-954B-3BD257C94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Kliknij, aby edyt. styl wz. tyt.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7D58CEC-12E2-4959-A660-1486C8FD0D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Kliknij, aby edytować style wzorca tekstu</a:t>
            </a:r>
          </a:p>
          <a:p>
            <a:pPr lvl="1">
              <a:buNone/>
            </a:pPr>
            <a:r>
              <a:t>Drugi poziom</a:t>
            </a:r>
          </a:p>
          <a:p>
            <a:pPr lvl="2">
              <a:buNone/>
            </a:pPr>
            <a:r>
              <a:t>Trzeci poziom</a:t>
            </a:r>
          </a:p>
          <a:p>
            <a:pPr lvl="3">
              <a:buNone/>
            </a:pPr>
            <a:r>
              <a:t>Czwarty poziom</a:t>
            </a:r>
          </a:p>
          <a:p>
            <a:pPr lvl="4">
              <a:buNone/>
            </a:pPr>
            <a:r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AE11AFAF-F698-4FC6-BBE3-6625E2C3AF6B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Kliknij, aby edytować style wzorca tekstu</a:t>
            </a:r>
          </a:p>
          <a:p>
            <a:pPr lvl="1">
              <a:buNone/>
            </a:pPr>
            <a:r>
              <a:t>Drugi poziom</a:t>
            </a:r>
          </a:p>
          <a:p>
            <a:pPr lvl="2">
              <a:buNone/>
            </a:pPr>
            <a:r>
              <a:t>Trzeci poziom</a:t>
            </a:r>
          </a:p>
          <a:p>
            <a:pPr lvl="3">
              <a:buNone/>
            </a:pPr>
            <a:r>
              <a:t>Czwarty poziom</a:t>
            </a:r>
          </a:p>
          <a:p>
            <a:pPr lvl="4">
              <a:buNone/>
            </a:pPr>
            <a:r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FA03C92C-1ADD-4390-8987-45432701CE4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1017B01-0C30-B241-B19F-621BE4770608}" type="datetimeFigureOut">
              <a:t>22.10.2026</a:t>
            </a:fld>
            <a:endParaRPr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343C1665-FC68-4A51-9521-98DAC6B7D22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06A83AB0-5150-4E9E-8D6D-9E635D6CBA9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3BCE437-C745-4797-8E12-AE887F9C67E0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B353AD1-E6E5-458B-848A-DE014C97F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Kliknij, aby edyt. styl wz. tyt.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075D1FE9-B7F9-421F-BA22-A9740C383E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4B713089-666E-41CE-AC2D-844BCE5262B5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Kliknij, aby edytować style wzorca tekstu</a:t>
            </a:r>
          </a:p>
          <a:p>
            <a:pPr lvl="1">
              <a:buNone/>
            </a:pPr>
            <a:r>
              <a:t>Drugi poziom</a:t>
            </a:r>
          </a:p>
          <a:p>
            <a:pPr lvl="2">
              <a:buNone/>
            </a:pPr>
            <a:r>
              <a:t>Trzeci poziom</a:t>
            </a:r>
          </a:p>
          <a:p>
            <a:pPr lvl="3">
              <a:buNone/>
            </a:pPr>
            <a:r>
              <a:t>Czwarty poziom</a:t>
            </a:r>
          </a:p>
          <a:p>
            <a:pPr lvl="4">
              <a:buNone/>
            </a:pPr>
            <a:r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89D1EC84-0855-4341-92EA-EDAA518EB92A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D926D2D4-0041-424F-BA0A-0BA02C3B7143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Kliknij, aby edytować style wzorca tekstu</a:t>
            </a:r>
          </a:p>
          <a:p>
            <a:pPr lvl="1">
              <a:buNone/>
            </a:pPr>
            <a:r>
              <a:t>Drugi poziom</a:t>
            </a:r>
          </a:p>
          <a:p>
            <a:pPr lvl="2">
              <a:buNone/>
            </a:pPr>
            <a:r>
              <a:t>Trzeci poziom</a:t>
            </a:r>
          </a:p>
          <a:p>
            <a:pPr lvl="3">
              <a:buNone/>
            </a:pPr>
            <a:r>
              <a:t>Czwarty poziom</a:t>
            </a:r>
          </a:p>
          <a:p>
            <a:pPr lvl="4">
              <a:buNone/>
            </a:pPr>
            <a:r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47640558-4705-415D-BBBE-B190D2A9962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1017B01-0C30-B241-B19F-621BE4770608}" type="datetimeFigureOut">
              <a:t>22.10.2026</a:t>
            </a:fld>
            <a:endParaRPr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6882BD4D-A7B5-4010-AADC-AB416006FF9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A8909A29-F003-4645-A9F2-9282062DAC1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5ED58DE-157A-47FB-B6FE-2BF3DBE0897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E1255E1-FAC8-4530-8DE7-228390CF8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Kliknij, aby edyt. styl wz. tyt.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7672B2DF-AB55-407B-A64C-015C5060049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1017B01-0C30-B241-B19F-621BE4770608}" type="datetimeFigureOut">
              <a:t>22.10.2026</a:t>
            </a:fld>
            <a:endParaRPr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4BA2BD73-43F4-4175-B6A0-318B2DCCA66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74675615-6C8B-4200-BADB-CA80497096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6B53702-A4CE-4E37-AD1A-55778605B19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2856D54D-9C07-4B24-8329-C27682B9A68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1017B01-0C30-B241-B19F-621BE4770608}" type="datetimeFigureOut">
              <a:t>22.10.2026</a:t>
            </a:fld>
            <a:endParaRPr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77D2AAC8-1D6C-4D03-9E6D-A6FC65BE52E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0DBC13D2-642A-4A63-9495-AB383723DBF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01E45C1-B7A3-4D83-AEC0-13697CCD1D3E}" type="slidenum">
              <a:t>‹#›</a:t>
            </a:fld>
            <a:endParaRPr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E362D6E-02B9-4D4E-B2FD-3F61E52C6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Kliknij, aby edyt. styl wz. tyt.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0E8C828-566D-4F1A-8810-E193D0045F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Kliknij, aby edytować style wzorca tekstu</a:t>
            </a:r>
          </a:p>
          <a:p>
            <a:pPr lvl="1">
              <a:buNone/>
            </a:pPr>
            <a:r>
              <a:t>Drugi poziom</a:t>
            </a:r>
          </a:p>
          <a:p>
            <a:pPr lvl="2">
              <a:buNone/>
            </a:pPr>
            <a:r>
              <a:t>Trzeci poziom</a:t>
            </a:r>
          </a:p>
          <a:p>
            <a:pPr lvl="3">
              <a:buNone/>
            </a:pPr>
            <a:r>
              <a:t>Czwarty poziom</a:t>
            </a:r>
          </a:p>
          <a:p>
            <a:pPr lvl="4">
              <a:buNone/>
            </a:pPr>
            <a:r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59F505BB-A2D5-41F9-A324-77846152DF9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2DEA621A-0383-45A8-A783-2CFCCF7C4A3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1017B01-0C30-B241-B19F-621BE4770608}" type="datetimeFigureOut">
              <a:t>22.10.2026</a:t>
            </a:fld>
            <a:endParaRPr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B9BFAC45-0198-4694-B037-C389958BDBF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7042D8D4-6193-48B4-82DF-D20CDA5E530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FF751C0-3663-4EFE-8A6A-10BE31BDC91C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EFF0263-213A-4E7A-A10B-4ABA60DA3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Kliknij, aby edyt. styl wz. tyt.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AE5A6BA6-397D-435E-98D8-4346192309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t>Przeciągnij obraz na symbol zastępczy lub kliknij ikonę, aby go dodać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9E869D6E-D31F-4F1A-9A81-8DF2EED658D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249F3A96-7975-4CEE-A6DA-20A1DFF5A9D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1017B01-0C30-B241-B19F-621BE4770608}" type="datetimeFigureOut">
              <a:t>22.10.2026</a:t>
            </a:fld>
            <a:endParaRPr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FAC3887B-B135-4E9E-82D9-E06D1667F8A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BA3286C7-20EF-4800-8FB1-AE742093179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CBFEB7E-1F88-4AE7-AA89-93BE3C1A9C1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C90B7A9-3368-4DC0-98FF-A668D66D9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Kliknij, aby edyt. styl wz. tyt.</a:t>
            </a:r>
          </a:p>
        </p:txBody>
      </p:sp>
      <p:sp>
        <p:nvSpPr>
          <p:cNvPr id="3" name="Symbol zastępczy tekstu pionowego 2">
            <a:extLst>
              <a:ext uri="{FF2B5EF4-FFF2-40B4-BE49-F238E27FC236}">
                <a16:creationId xmlns:a16="http://schemas.microsoft.com/office/drawing/2014/main" id="{5D48D640-2688-45AF-9577-1C8D6357AE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Kliknij, aby edytować style wzorca tekstu</a:t>
            </a:r>
          </a:p>
          <a:p>
            <a:pPr lvl="1">
              <a:buNone/>
            </a:pPr>
            <a:r>
              <a:t>Drugi poziom</a:t>
            </a:r>
          </a:p>
          <a:p>
            <a:pPr lvl="2">
              <a:buNone/>
            </a:pPr>
            <a:r>
              <a:t>Trzeci poziom</a:t>
            </a:r>
          </a:p>
          <a:p>
            <a:pPr lvl="3">
              <a:buNone/>
            </a:pPr>
            <a:r>
              <a:t>Czwarty poziom</a:t>
            </a:r>
          </a:p>
          <a:p>
            <a:pPr lvl="4">
              <a:buNone/>
            </a:pPr>
            <a:r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40AA31C9-D354-49EA-8377-EC52532747A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1017B01-0C30-B241-B19F-621BE4770608}" type="datetimeFigureOut">
              <a:t>22.10.2026</a:t>
            </a:fld>
            <a:endParaRPr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F9C5336-1205-48F7-9A88-8FF5606639E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527DA51-80E2-4187-97D3-D4EFBD80EF5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4C4C5AF-A148-4762-92DF-376362746BF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C395424F-06BB-4C79-A247-8943B8234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Kliknij, aby edyt. styl wz. tyt.</a:t>
            </a:r>
          </a:p>
        </p:txBody>
      </p:sp>
      <p:sp>
        <p:nvSpPr>
          <p:cNvPr id="3" name="Symbol zastępczy tekstu pionowego 2">
            <a:extLst>
              <a:ext uri="{FF2B5EF4-FFF2-40B4-BE49-F238E27FC236}">
                <a16:creationId xmlns:a16="http://schemas.microsoft.com/office/drawing/2014/main" id="{74EAD15C-AB77-4D97-BE32-78F5B1115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buNone/>
            </a:pPr>
            <a:r>
              <a:t>Kliknij, aby edytować style wzorca tekstu</a:t>
            </a:r>
          </a:p>
          <a:p>
            <a:pPr lvl="1">
              <a:buNone/>
            </a:pPr>
            <a:r>
              <a:t>Drugi poziom</a:t>
            </a:r>
          </a:p>
          <a:p>
            <a:pPr lvl="2">
              <a:buNone/>
            </a:pPr>
            <a:r>
              <a:t>Trzeci poziom</a:t>
            </a:r>
          </a:p>
          <a:p>
            <a:pPr lvl="3">
              <a:buNone/>
            </a:pPr>
            <a:r>
              <a:t>Czwarty poziom</a:t>
            </a:r>
          </a:p>
          <a:p>
            <a:pPr lvl="4">
              <a:buNone/>
            </a:pPr>
            <a:r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C0C0BE7-C7CB-4F25-BBC0-F73CFFD386F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1017B01-0C30-B241-B19F-621BE4770608}" type="datetimeFigureOut">
              <a:t>22.10.2026</a:t>
            </a:fld>
            <a:endParaRPr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B943C0D-D607-465B-947C-510E29EF9D7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D5D1EF3-150D-4A15-851E-5B46DDC680E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BDDEFBB-CA7F-4380-AF49-7EC026DA26A3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308863FC-8C16-4733-9336-5DEA64FD3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Kliknij, aby edyt. styl wz. tyt.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78F0A78-6BFB-49A8-ACDD-A4852379C1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Kliknij, aby edytować style wzorca tekstu</a:t>
            </a:r>
          </a:p>
          <a:p>
            <a:pPr lvl="1">
              <a:buNone/>
            </a:pPr>
            <a:r>
              <a:t>Drugi poziom</a:t>
            </a:r>
          </a:p>
          <a:p>
            <a:pPr lvl="2">
              <a:buNone/>
            </a:pPr>
            <a:r>
              <a:t>Trzeci poziom</a:t>
            </a:r>
          </a:p>
          <a:p>
            <a:pPr lvl="3">
              <a:buNone/>
            </a:pPr>
            <a:r>
              <a:t>Czwarty poziom</a:t>
            </a:r>
          </a:p>
          <a:p>
            <a:pPr lvl="4">
              <a:buNone/>
            </a:pPr>
            <a:r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492D697-E52E-4F66-BFC2-FF458E30E00A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017B01-0C30-B241-B19F-621BE4770608}" type="datetimeFigureOut">
              <a:t>22.10.2026</a:t>
            </a:fld>
            <a:endParaRPr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8B96A1DE-6B00-4B92-84C6-3BD4F9698A45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9822B130-243B-407E-BE12-8487A38FB0C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1E45C1-B7A3-4D83-AEC0-13697CCD1D3E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6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CB69798-3C9E-4B1C-8803-4909B62305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5896" y="260648"/>
            <a:ext cx="4752274" cy="3988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3910520-6782-4B45-8401-8F9D52282710}"/>
              </a:ext>
            </a:extLst>
          </p:cNvPr>
          <p:cNvSpPr>
            <a:spLocks noGrp="1"/>
          </p:cNvSpPr>
          <p:nvPr/>
        </p:nvSpPr>
        <p:spPr>
          <a:xfrm>
            <a:off x="179512" y="1628800"/>
            <a:ext cx="842493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3200" b="1">
                <a:solidFill>
                  <a:schemeClr val="bg1"/>
                </a:solidFill>
              </a:rPr>
              <a:t>PROGRAMOWANIE URZĄDZEŃ</a:t>
            </a:r>
          </a:p>
          <a:p>
            <a:pPr algn="ctr">
              <a:buNone/>
            </a:pPr>
            <a:r>
              <a:rPr sz="3200" b="1">
                <a:solidFill>
                  <a:schemeClr val="bg1"/>
                </a:solidFill>
              </a:rPr>
              <a:t>MOBILNYCH 2</a:t>
            </a:r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B3CC2FAF-D489-4F42-90E1-D634E6FA5CAF}"/>
              </a:ext>
            </a:extLst>
          </p:cNvPr>
          <p:cNvSpPr>
            <a:spLocks noGrp="1"/>
          </p:cNvSpPr>
          <p:nvPr/>
        </p:nvSpPr>
        <p:spPr>
          <a:xfrm>
            <a:off x="179512" y="3861048"/>
            <a:ext cx="84249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2400">
                <a:solidFill>
                  <a:schemeClr val="bg1"/>
                </a:solidFill>
              </a:rPr>
              <a:t>WYKŁAD 3</a:t>
            </a:r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A5201681-6767-4194-BF52-C2BE7C096DA3}"/>
              </a:ext>
            </a:extLst>
          </p:cNvPr>
          <p:cNvSpPr>
            <a:spLocks noGrp="1"/>
          </p:cNvSpPr>
          <p:nvPr/>
        </p:nvSpPr>
        <p:spPr>
          <a:xfrm>
            <a:off x="3131840" y="4437112"/>
            <a:ext cx="547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Courier New"/>
              <a:buChar char="o"/>
            </a:pPr>
            <a:r>
              <a:rPr sz="1800">
                <a:solidFill>
                  <a:schemeClr val="bg1"/>
                </a:solidFill>
              </a:rPr>
              <a:t>Korutyny: współbieżność i cykl życia zadań</a:t>
            </a:r>
          </a:p>
        </p:txBody>
      </p:sp>
    </p:spTree>
    <p:extLst>
      <p:ext uri="{BB962C8B-B14F-4D97-AF65-F5344CB8AC3E}">
        <p14:creationId xmlns:p14="http://schemas.microsoft.com/office/powerpoint/2010/main" val="3098348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agłówek">
            <a:extLst>
              <a:ext uri="{FF2B5EF4-FFF2-40B4-BE49-F238E27FC236}">
                <a16:creationId xmlns:a16="http://schemas.microsoft.com/office/drawing/2014/main" id="{84EB50D2-BEB5-4B96-84AC-C8A2330BD738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t>Zakres, zadanie i wykonanie</a:t>
            </a:r>
          </a:p>
        </p:txBody>
      </p:sp>
      <p:sp>
        <p:nvSpPr>
          <p:cNvPr id="3" name="Numer slajdu">
            <a:extLst>
              <a:ext uri="{FF2B5EF4-FFF2-40B4-BE49-F238E27FC236}">
                <a16:creationId xmlns:a16="http://schemas.microsoft.com/office/drawing/2014/main" id="{0CE81B62-0E52-420E-8A11-C2A4B914FF94}"/>
              </a:ext>
            </a:extLst>
          </p:cNvPr>
          <p:cNvSpPr>
            <a:spLocks noGrp="1"/>
          </p:cNvSpPr>
          <p:nvPr/>
        </p:nvSpPr>
        <p:spPr>
          <a:xfrm>
            <a:off x="8496300" y="6534150"/>
            <a:ext cx="38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F97EB33F-A038-4715-A2BB-33555EACCBEF}"/>
              </a:ext>
            </a:extLst>
          </p:cNvPr>
          <p:cNvGraphicFramePr/>
          <p:nvPr/>
        </p:nvGraphicFramePr>
        <p:xfrm>
          <a:off x="1257300" y="1752600"/>
          <a:ext cx="7600950" cy="3714750"/>
        </p:xfrm>
        <a:graphic>
          <a:graphicData uri="http://schemas.openxmlformats.org/drawingml/2006/table">
            <a:tbl>
              <a:tblPr/>
              <a:tblGrid>
                <a:gridCol w="24703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306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Pojęcie</a:t>
                      </a:r>
                    </a:p>
                  </a:txBody>
                  <a:tcPr anchor="ctr">
                    <a:lnL w="19050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>
                      <a:solidFill>
                        <a:srgbClr val="FFFFFF"/>
                      </a:solidFill>
                      <a:prstDash val="soli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5AA8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Znaczenie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>
                      <a:solidFill>
                        <a:srgbClr val="FFFFFF"/>
                      </a:solidFill>
                      <a:prstDash val="soli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5AA8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CoroutineScope</a:t>
                      </a:r>
                    </a:p>
                  </a:txBody>
                  <a:tcPr anchor="ctr">
                    <a:lnL w="19050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E5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Zakres, w którym uruchamiamy korutyny.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E5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Job</a:t>
                      </a:r>
                    </a:p>
                  </a:txBody>
                  <a:tcPr anchor="ctr">
                    <a:lnL w="19050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Uchwyt do zadania i jego cyklu życia.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Dispatcher</a:t>
                      </a:r>
                    </a:p>
                  </a:txBody>
                  <a:tcPr anchor="ctr">
                    <a:lnL w="19050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E5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Określa miejsce wykonywania kodu.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E5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suspend</a:t>
                      </a:r>
                    </a:p>
                  </a:txBody>
                  <a:tcPr anchor="ctr">
                    <a:lnL w="19050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Pozwala zawiesić wykonanie funkcji.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kst_2">
            <a:extLst>
              <a:ext uri="{FF2B5EF4-FFF2-40B4-BE49-F238E27FC236}">
                <a16:creationId xmlns:a16="http://schemas.microsoft.com/office/drawing/2014/main" id="{3F36F3B7-2D6A-40BE-8DC3-867A7321E3EF}"/>
              </a:ext>
            </a:extLst>
          </p:cNvPr>
          <p:cNvSpPr>
            <a:spLocks noGrp="1"/>
          </p:cNvSpPr>
          <p:nvPr/>
        </p:nvSpPr>
        <p:spPr>
          <a:xfrm>
            <a:off x="1257300" y="6076950"/>
            <a:ext cx="76009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rPr dirty="0"/>
              <a:t>Samo suspend ani launch </a:t>
            </a:r>
            <a:r>
              <a:rPr dirty="0" err="1"/>
              <a:t>nie</a:t>
            </a:r>
            <a:r>
              <a:rPr dirty="0"/>
              <a:t> </a:t>
            </a:r>
            <a:r>
              <a:rPr dirty="0" err="1"/>
              <a:t>przenosi</a:t>
            </a:r>
            <a:r>
              <a:rPr dirty="0"/>
              <a:t> </a:t>
            </a:r>
            <a:r>
              <a:rPr dirty="0" err="1"/>
              <a:t>pracy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inny</a:t>
            </a:r>
            <a:r>
              <a:rPr dirty="0"/>
              <a:t> </a:t>
            </a:r>
            <a:r>
              <a:rPr dirty="0" err="1"/>
              <a:t>wątek</a:t>
            </a:r>
            <a:r>
              <a:rPr dirty="0"/>
              <a:t>.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CCF41C9F-1996-7D4F-1414-D8E85FEC302F}"/>
              </a:ext>
            </a:extLst>
          </p:cNvPr>
          <p:cNvSpPr txBox="1"/>
          <p:nvPr/>
        </p:nvSpPr>
        <p:spPr>
          <a:xfrm>
            <a:off x="1033753" y="796886"/>
            <a:ext cx="78488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Na poprzednim wykładzie dowiedzieliśmy się, że </a:t>
            </a:r>
            <a:r>
              <a:rPr lang="pl-PL" sz="1600" dirty="0" err="1"/>
              <a:t>korutyny</a:t>
            </a:r>
            <a:r>
              <a:rPr lang="pl-PL" sz="1600" dirty="0"/>
              <a:t> </a:t>
            </a:r>
            <a:r>
              <a:rPr lang="pl-PL" sz="1600" b="1" dirty="0"/>
              <a:t>„żyją” w </a:t>
            </a:r>
            <a:r>
              <a:rPr lang="pl-PL" sz="1600" b="1" dirty="0" err="1">
                <a:latin typeface="Verbatim"/>
              </a:rPr>
              <a:t>CoroutineScope</a:t>
            </a:r>
            <a:r>
              <a:rPr lang="pl-PL" sz="1600" dirty="0"/>
              <a:t>. </a:t>
            </a:r>
            <a:r>
              <a:rPr lang="pl-PL" sz="1600" b="1" dirty="0"/>
              <a:t>Ustrukturyzowana Współbieżność </a:t>
            </a:r>
            <a:r>
              <a:rPr lang="pl-PL" sz="1600" dirty="0"/>
              <a:t>to zasada, która mówi, że </a:t>
            </a:r>
            <a:r>
              <a:rPr lang="pl-PL" sz="1600" b="1" dirty="0"/>
              <a:t>cykl życia </a:t>
            </a:r>
            <a:r>
              <a:rPr lang="pl-PL" sz="1600" dirty="0" err="1"/>
              <a:t>korutyny</a:t>
            </a:r>
            <a:r>
              <a:rPr lang="pl-PL" sz="1600" dirty="0"/>
              <a:t> jest </a:t>
            </a:r>
            <a:r>
              <a:rPr lang="pl-PL" sz="1600" b="1" dirty="0"/>
              <a:t>nierozerwalnie związany </a:t>
            </a:r>
            <a:r>
              <a:rPr lang="pl-PL" sz="1600" dirty="0"/>
              <a:t>z jej zakresem (</a:t>
            </a:r>
            <a:r>
              <a:rPr lang="pl-PL" sz="1600" dirty="0" err="1">
                <a:latin typeface="Verbatim"/>
              </a:rPr>
              <a:t>scope</a:t>
            </a:r>
            <a:r>
              <a:rPr lang="pl-PL" sz="16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314592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agłówek">
            <a:extLst>
              <a:ext uri="{FF2B5EF4-FFF2-40B4-BE49-F238E27FC236}">
                <a16:creationId xmlns:a16="http://schemas.microsoft.com/office/drawing/2014/main" id="{30C53ED8-5A61-4A94-BD23-5A3DD17DB177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t>Współbieżność a równoległość</a:t>
            </a:r>
          </a:p>
        </p:txBody>
      </p:sp>
      <p:sp>
        <p:nvSpPr>
          <p:cNvPr id="2" name="Tekst_3">
            <a:extLst>
              <a:ext uri="{FF2B5EF4-FFF2-40B4-BE49-F238E27FC236}">
                <a16:creationId xmlns:a16="http://schemas.microsoft.com/office/drawing/2014/main" id="{325BE2BF-02B6-4A17-84D4-58B44A654D23}"/>
              </a:ext>
            </a:extLst>
          </p:cNvPr>
          <p:cNvSpPr>
            <a:spLocks noGrp="1"/>
          </p:cNvSpPr>
          <p:nvPr/>
        </p:nvSpPr>
        <p:spPr>
          <a:xfrm>
            <a:off x="1257300" y="1000125"/>
            <a:ext cx="76009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Współbieżne zadania mogą robić postęp na jednym wątku.</a:t>
            </a:r>
          </a:p>
        </p:txBody>
      </p:sp>
      <p:sp>
        <p:nvSpPr>
          <p:cNvPr id="3" name="Numer slajdu">
            <a:extLst>
              <a:ext uri="{FF2B5EF4-FFF2-40B4-BE49-F238E27FC236}">
                <a16:creationId xmlns:a16="http://schemas.microsoft.com/office/drawing/2014/main" id="{AA77D834-CDD2-4898-A351-9877AB245E55}"/>
              </a:ext>
            </a:extLst>
          </p:cNvPr>
          <p:cNvSpPr>
            <a:spLocks noGrp="1"/>
          </p:cNvSpPr>
          <p:nvPr/>
        </p:nvSpPr>
        <p:spPr>
          <a:xfrm>
            <a:off x="8496300" y="6534150"/>
            <a:ext cx="38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7B007895-6C9F-4FF8-B275-D68AEFAD4B7D}"/>
              </a:ext>
            </a:extLst>
          </p:cNvPr>
          <p:cNvGraphicFramePr/>
          <p:nvPr/>
        </p:nvGraphicFramePr>
        <p:xfrm>
          <a:off x="1257300" y="1752600"/>
          <a:ext cx="7600950" cy="2971800"/>
        </p:xfrm>
        <a:graphic>
          <a:graphicData uri="http://schemas.openxmlformats.org/drawingml/2006/table">
            <a:tbl>
              <a:tblPr/>
              <a:tblGrid>
                <a:gridCol w="27078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31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Przebieg</a:t>
                      </a:r>
                    </a:p>
                  </a:txBody>
                  <a:tcPr anchor="ctr">
                    <a:lnL w="19050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>
                      <a:solidFill>
                        <a:srgbClr val="FFFFFF"/>
                      </a:solidFill>
                      <a:prstDash val="soli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5AA8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 dzieje się z zadaniami?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>
                      <a:solidFill>
                        <a:srgbClr val="FFFFFF"/>
                      </a:solidFill>
                      <a:prstDash val="soli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5AA8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Sekwencyjny</a:t>
                      </a:r>
                    </a:p>
                  </a:txBody>
                  <a:tcPr anchor="ctr">
                    <a:lnL w="19050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E5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Zadanie B rozpoczyna się po zakończeniu A.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E5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Współbieżny, jeden wątek</a:t>
                      </a:r>
                    </a:p>
                  </a:txBody>
                  <a:tcPr anchor="ctr">
                    <a:lnL w="19050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Gdy A czeka, wątek może wykonywać B.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Równoległy</a:t>
                      </a:r>
                    </a:p>
                  </a:txBody>
                  <a:tcPr anchor="ctr">
                    <a:lnL w="19050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E5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A i B wykonują kod w tym samym czasie na różnych wątkach.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E5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1459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4ADEB6-60D0-0B2D-D747-FC8DC6840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agłówek">
            <a:extLst>
              <a:ext uri="{FF2B5EF4-FFF2-40B4-BE49-F238E27FC236}">
                <a16:creationId xmlns:a16="http://schemas.microsoft.com/office/drawing/2014/main" id="{B99B2977-15FE-9F16-190F-EF41A4DCEC79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t>Współbieżność a równoległość</a:t>
            </a: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F3CB47D5-5540-2195-98DB-A618B29A2207}"/>
              </a:ext>
            </a:extLst>
          </p:cNvPr>
          <p:cNvSpPr txBox="1"/>
          <p:nvPr/>
        </p:nvSpPr>
        <p:spPr>
          <a:xfrm>
            <a:off x="1033753" y="796886"/>
            <a:ext cx="7848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/>
              <a:t>Współbieżność</a:t>
            </a:r>
            <a:r>
              <a:rPr lang="pl-PL" sz="1600" dirty="0"/>
              <a:t> polega na </a:t>
            </a:r>
            <a:r>
              <a:rPr lang="pl-PL" sz="1600" b="1" dirty="0"/>
              <a:t>zdolności</a:t>
            </a:r>
            <a:r>
              <a:rPr lang="pl-PL" sz="1600" dirty="0"/>
              <a:t> </a:t>
            </a:r>
            <a:r>
              <a:rPr lang="pl-PL" sz="1600" b="1" dirty="0"/>
              <a:t>systemu</a:t>
            </a:r>
            <a:r>
              <a:rPr lang="pl-PL" sz="1600" dirty="0"/>
              <a:t> do obsługi </a:t>
            </a:r>
            <a:r>
              <a:rPr lang="pl-PL" sz="1600" b="1" dirty="0"/>
              <a:t>wielu zadań jednocześnie</a:t>
            </a:r>
            <a:r>
              <a:rPr lang="pl-PL" sz="1600" dirty="0"/>
              <a:t>, co niekoniecznie oznacza ich wykonywanie w tym samym fizycznym momencie. Chodzi o </a:t>
            </a:r>
            <a:r>
              <a:rPr lang="pl-PL" sz="1600" b="1" dirty="0"/>
              <a:t>zarządzanie wieloma zadaniami </a:t>
            </a:r>
            <a:r>
              <a:rPr lang="pl-PL" sz="1600" dirty="0"/>
              <a:t>i przełączanie się między nimi tak, aby wszystkie posuwały się do przodu.</a:t>
            </a:r>
          </a:p>
        </p:txBody>
      </p:sp>
      <p:pic>
        <p:nvPicPr>
          <p:cNvPr id="16" name="Picture 2" descr="Concurrency Vs Parallelism!">
            <a:extLst>
              <a:ext uri="{FF2B5EF4-FFF2-40B4-BE49-F238E27FC236}">
                <a16:creationId xmlns:a16="http://schemas.microsoft.com/office/drawing/2014/main" id="{4837ED0C-B133-9EF8-42C5-103CA7A74B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3396" y="1875057"/>
            <a:ext cx="8085546" cy="4548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pole tekstowe 17">
            <a:extLst>
              <a:ext uri="{FF2B5EF4-FFF2-40B4-BE49-F238E27FC236}">
                <a16:creationId xmlns:a16="http://schemas.microsoft.com/office/drawing/2014/main" id="{B1E4AF65-B980-AAC9-A1BB-B83E309FF019}"/>
              </a:ext>
            </a:extLst>
          </p:cNvPr>
          <p:cNvSpPr txBox="1"/>
          <p:nvPr/>
        </p:nvSpPr>
        <p:spPr>
          <a:xfrm>
            <a:off x="1049188" y="6530860"/>
            <a:ext cx="4584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050" dirty="0"/>
              <a:t>https://www.youtube.com/watch?v=RlM9AfWf1WU</a:t>
            </a:r>
          </a:p>
        </p:txBody>
      </p:sp>
    </p:spTree>
    <p:extLst>
      <p:ext uri="{BB962C8B-B14F-4D97-AF65-F5344CB8AC3E}">
        <p14:creationId xmlns:p14="http://schemas.microsoft.com/office/powerpoint/2010/main" val="1255590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agłówek">
            <a:extLst>
              <a:ext uri="{FF2B5EF4-FFF2-40B4-BE49-F238E27FC236}">
                <a16:creationId xmlns:a16="http://schemas.microsoft.com/office/drawing/2014/main" id="{B69713B9-F6BE-4647-B888-697743319555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t>Ustrukturyzowana współbieżność</a:t>
            </a:r>
          </a:p>
        </p:txBody>
      </p:sp>
      <p:sp>
        <p:nvSpPr>
          <p:cNvPr id="2" name="Tekst_5">
            <a:extLst>
              <a:ext uri="{FF2B5EF4-FFF2-40B4-BE49-F238E27FC236}">
                <a16:creationId xmlns:a16="http://schemas.microsoft.com/office/drawing/2014/main" id="{A6605D6F-D56A-4A67-BDF9-A24C213864C8}"/>
              </a:ext>
            </a:extLst>
          </p:cNvPr>
          <p:cNvSpPr>
            <a:spLocks noGrp="1"/>
          </p:cNvSpPr>
          <p:nvPr/>
        </p:nvSpPr>
        <p:spPr>
          <a:xfrm>
            <a:off x="1257300" y="1000125"/>
            <a:ext cx="76009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Powiązania rodzic–dziecko tworzą hierarchię zadań.</a:t>
            </a:r>
          </a:p>
        </p:txBody>
      </p:sp>
      <p:sp>
        <p:nvSpPr>
          <p:cNvPr id="3" name="Numer slajdu">
            <a:extLst>
              <a:ext uri="{FF2B5EF4-FFF2-40B4-BE49-F238E27FC236}">
                <a16:creationId xmlns:a16="http://schemas.microsoft.com/office/drawing/2014/main" id="{B5E9214C-AB57-4BF3-85E9-6BD49F556713}"/>
              </a:ext>
            </a:extLst>
          </p:cNvPr>
          <p:cNvSpPr>
            <a:spLocks noGrp="1"/>
          </p:cNvSpPr>
          <p:nvPr/>
        </p:nvSpPr>
        <p:spPr>
          <a:xfrm>
            <a:off x="8496300" y="6534150"/>
            <a:ext cx="38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pPr>
            <a:r>
              <a:t>4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AC1440F7-B49B-487C-8316-B506B6ED8606}"/>
              </a:ext>
            </a:extLst>
          </p:cNvPr>
          <p:cNvGraphicFramePr/>
          <p:nvPr/>
        </p:nvGraphicFramePr>
        <p:xfrm>
          <a:off x="1257300" y="1752600"/>
          <a:ext cx="7600950" cy="2971800"/>
        </p:xfrm>
        <a:graphic>
          <a:graphicData uri="http://schemas.openxmlformats.org/drawingml/2006/table">
            <a:tbl>
              <a:tblPr/>
              <a:tblGrid>
                <a:gridCol w="4038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29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Zadanie w przykładzie</a:t>
                      </a:r>
                    </a:p>
                  </a:txBody>
                  <a:tcPr anchor="ctr">
                    <a:lnL w="19050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>
                      <a:solidFill>
                        <a:srgbClr val="FFFFFF"/>
                      </a:solidFill>
                      <a:prstDash val="soli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5AA8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Rodzic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>
                      <a:solidFill>
                        <a:srgbClr val="FFFFFF"/>
                      </a:solidFill>
                      <a:prstDash val="soli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5AA8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Przygotowanie posiłku</a:t>
                      </a:r>
                    </a:p>
                  </a:txBody>
                  <a:tcPr anchor="ctr">
                    <a:lnL w="19050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E5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Job zakresu ekranu Compose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E5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Przygotowanie mięsa</a:t>
                      </a:r>
                    </a:p>
                  </a:txBody>
                  <a:tcPr anchor="ctr">
                    <a:lnL w="19050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Korutyna przygotowania posiłku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Przygotowanie warzyw</a:t>
                      </a:r>
                    </a:p>
                  </a:txBody>
                  <a:tcPr anchor="ctr">
                    <a:lnL w="19050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E5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Korutyna przygotowania posiłku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E5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kst_6">
            <a:extLst>
              <a:ext uri="{FF2B5EF4-FFF2-40B4-BE49-F238E27FC236}">
                <a16:creationId xmlns:a16="http://schemas.microsoft.com/office/drawing/2014/main" id="{91C6749E-AAEC-4C48-81A3-7E33F64D0C10}"/>
              </a:ext>
            </a:extLst>
          </p:cNvPr>
          <p:cNvSpPr>
            <a:spLocks noGrp="1"/>
          </p:cNvSpPr>
          <p:nvPr/>
        </p:nvSpPr>
        <p:spPr>
          <a:xfrm>
            <a:off x="1257300" y="6076950"/>
            <a:ext cx="76009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rPr dirty="0" err="1"/>
              <a:t>Rodzic</a:t>
            </a:r>
            <a:r>
              <a:rPr dirty="0"/>
              <a:t> </a:t>
            </a:r>
            <a:r>
              <a:rPr dirty="0" err="1"/>
              <a:t>kończy</a:t>
            </a:r>
            <a:r>
              <a:rPr dirty="0"/>
              <a:t> </a:t>
            </a:r>
            <a:r>
              <a:rPr dirty="0" err="1"/>
              <a:t>się</a:t>
            </a:r>
            <a:r>
              <a:rPr dirty="0"/>
              <a:t> po </a:t>
            </a:r>
            <a:r>
              <a:rPr dirty="0" err="1"/>
              <a:t>dzieciach</a:t>
            </a:r>
            <a:r>
              <a:rPr dirty="0"/>
              <a:t>. </a:t>
            </a:r>
            <a:r>
              <a:rPr dirty="0" err="1"/>
              <a:t>Anulowanie</a:t>
            </a:r>
            <a:r>
              <a:rPr dirty="0"/>
              <a:t> </a:t>
            </a:r>
            <a:r>
              <a:rPr dirty="0" err="1"/>
              <a:t>rodzica</a:t>
            </a:r>
            <a:r>
              <a:rPr dirty="0"/>
              <a:t> </a:t>
            </a:r>
            <a:r>
              <a:rPr dirty="0" err="1"/>
              <a:t>obejmuje</a:t>
            </a:r>
            <a:r>
              <a:rPr dirty="0"/>
              <a:t> </a:t>
            </a:r>
            <a:r>
              <a:rPr dirty="0" err="1"/>
              <a:t>dzieci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31459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Nagłówek">
            <a:extLst>
              <a:ext uri="{FF2B5EF4-FFF2-40B4-BE49-F238E27FC236}">
                <a16:creationId xmlns:a16="http://schemas.microsoft.com/office/drawing/2014/main" id="{11E7CF08-874F-4E75-AE18-0F46881DAFBA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t>Przykład: przygotowanie posiłku</a:t>
            </a:r>
          </a:p>
        </p:txBody>
      </p:sp>
      <p:sp>
        <p:nvSpPr>
          <p:cNvPr id="2" name="Tekst_7">
            <a:extLst>
              <a:ext uri="{FF2B5EF4-FFF2-40B4-BE49-F238E27FC236}">
                <a16:creationId xmlns:a16="http://schemas.microsoft.com/office/drawing/2014/main" id="{906E25DA-4D2A-47D7-ADF2-B687BB9A8AF4}"/>
              </a:ext>
            </a:extLst>
          </p:cNvPr>
          <p:cNvSpPr>
            <a:spLocks noGrp="1"/>
          </p:cNvSpPr>
          <p:nvPr/>
        </p:nvSpPr>
        <p:spPr>
          <a:xfrm>
            <a:off x="1257300" y="1000125"/>
            <a:ext cx="76009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Dwa niezależne zadania oraz wspólny komunikat końcowy.</a:t>
            </a:r>
          </a:p>
        </p:txBody>
      </p:sp>
      <p:sp>
        <p:nvSpPr>
          <p:cNvPr id="3" name="Numer slajdu">
            <a:extLst>
              <a:ext uri="{FF2B5EF4-FFF2-40B4-BE49-F238E27FC236}">
                <a16:creationId xmlns:a16="http://schemas.microsoft.com/office/drawing/2014/main" id="{9AB0175C-A8E5-4486-8DAA-AF87AAB060C9}"/>
              </a:ext>
            </a:extLst>
          </p:cNvPr>
          <p:cNvSpPr>
            <a:spLocks noGrp="1"/>
          </p:cNvSpPr>
          <p:nvPr/>
        </p:nvSpPr>
        <p:spPr>
          <a:xfrm>
            <a:off x="8496300" y="6534150"/>
            <a:ext cx="38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pPr>
            <a:r>
              <a:t>5</a:t>
            </a:r>
          </a:p>
        </p:txBody>
      </p:sp>
      <p:sp>
        <p:nvSpPr>
          <p:cNvPr id="5" name="Tekst_8">
            <a:extLst>
              <a:ext uri="{FF2B5EF4-FFF2-40B4-BE49-F238E27FC236}">
                <a16:creationId xmlns:a16="http://schemas.microsoft.com/office/drawing/2014/main" id="{A4FB4948-CB17-462E-83DE-759F155D6D46}"/>
              </a:ext>
            </a:extLst>
          </p:cNvPr>
          <p:cNvSpPr>
            <a:spLocks noGrp="1"/>
          </p:cNvSpPr>
          <p:nvPr/>
        </p:nvSpPr>
        <p:spPr>
          <a:xfrm>
            <a:off x="4000500" y="2066925"/>
            <a:ext cx="4714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Mięso</a:t>
            </a:r>
          </a:p>
        </p:txBody>
      </p:sp>
      <p:sp>
        <p:nvSpPr>
          <p:cNvPr id="6" name="Tekst_9">
            <a:extLst>
              <a:ext uri="{FF2B5EF4-FFF2-40B4-BE49-F238E27FC236}">
                <a16:creationId xmlns:a16="http://schemas.microsoft.com/office/drawing/2014/main" id="{5FF0F8D1-EDC8-406C-B61F-F94754D40632}"/>
              </a:ext>
            </a:extLst>
          </p:cNvPr>
          <p:cNvSpPr>
            <a:spLocks noGrp="1"/>
          </p:cNvSpPr>
          <p:nvPr/>
        </p:nvSpPr>
        <p:spPr>
          <a:xfrm>
            <a:off x="4000500" y="2352675"/>
            <a:ext cx="471487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Symulowane przygotowanie: 2 s.</a:t>
            </a:r>
          </a:p>
        </p:txBody>
      </p:sp>
      <p:sp>
        <p:nvSpPr>
          <p:cNvPr id="7" name="Tekst_10">
            <a:extLst>
              <a:ext uri="{FF2B5EF4-FFF2-40B4-BE49-F238E27FC236}">
                <a16:creationId xmlns:a16="http://schemas.microsoft.com/office/drawing/2014/main" id="{124FB2A9-1A7F-41AC-A135-0A71769498EE}"/>
              </a:ext>
            </a:extLst>
          </p:cNvPr>
          <p:cNvSpPr>
            <a:spLocks noGrp="1"/>
          </p:cNvSpPr>
          <p:nvPr/>
        </p:nvSpPr>
        <p:spPr>
          <a:xfrm>
            <a:off x="4000500" y="3190875"/>
            <a:ext cx="4714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Warzywa</a:t>
            </a:r>
          </a:p>
        </p:txBody>
      </p:sp>
      <p:sp>
        <p:nvSpPr>
          <p:cNvPr id="8" name="Tekst_11">
            <a:extLst>
              <a:ext uri="{FF2B5EF4-FFF2-40B4-BE49-F238E27FC236}">
                <a16:creationId xmlns:a16="http://schemas.microsoft.com/office/drawing/2014/main" id="{DE8A35D6-719D-480D-B37B-0EAB3D38F2EE}"/>
              </a:ext>
            </a:extLst>
          </p:cNvPr>
          <p:cNvSpPr>
            <a:spLocks noGrp="1"/>
          </p:cNvSpPr>
          <p:nvPr/>
        </p:nvSpPr>
        <p:spPr>
          <a:xfrm>
            <a:off x="4000500" y="3476625"/>
            <a:ext cx="471487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Symulowane przygotowanie: 3 s.</a:t>
            </a:r>
          </a:p>
        </p:txBody>
      </p:sp>
      <p:sp>
        <p:nvSpPr>
          <p:cNvPr id="9" name="Tekst_12">
            <a:extLst>
              <a:ext uri="{FF2B5EF4-FFF2-40B4-BE49-F238E27FC236}">
                <a16:creationId xmlns:a16="http://schemas.microsoft.com/office/drawing/2014/main" id="{1FCD80E6-A2EB-434E-ADD5-95FAAE9EBA51}"/>
              </a:ext>
            </a:extLst>
          </p:cNvPr>
          <p:cNvSpPr>
            <a:spLocks noGrp="1"/>
          </p:cNvSpPr>
          <p:nvPr/>
        </p:nvSpPr>
        <p:spPr>
          <a:xfrm>
            <a:off x="4000500" y="4314825"/>
            <a:ext cx="4714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Podanie posiłku</a:t>
            </a:r>
          </a:p>
        </p:txBody>
      </p:sp>
      <p:sp>
        <p:nvSpPr>
          <p:cNvPr id="10" name="Tekst_13">
            <a:extLst>
              <a:ext uri="{FF2B5EF4-FFF2-40B4-BE49-F238E27FC236}">
                <a16:creationId xmlns:a16="http://schemas.microsoft.com/office/drawing/2014/main" id="{9588274F-B8BD-4F65-9B4E-994E4BA1AFCB}"/>
              </a:ext>
            </a:extLst>
          </p:cNvPr>
          <p:cNvSpPr>
            <a:spLocks noGrp="1"/>
          </p:cNvSpPr>
          <p:nvPr/>
        </p:nvSpPr>
        <p:spPr>
          <a:xfrm>
            <a:off x="4000500" y="4600575"/>
            <a:ext cx="471487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Dopiero po zakończeniu obu zadań.</a:t>
            </a:r>
          </a:p>
        </p:txBody>
      </p:sp>
      <p:sp>
        <p:nvSpPr>
          <p:cNvPr id="11" name="Tekst_14">
            <a:extLst>
              <a:ext uri="{FF2B5EF4-FFF2-40B4-BE49-F238E27FC236}">
                <a16:creationId xmlns:a16="http://schemas.microsoft.com/office/drawing/2014/main" id="{17D8FC96-6208-4F3F-9CBE-0BFF891A7BAA}"/>
              </a:ext>
            </a:extLst>
          </p:cNvPr>
          <p:cNvSpPr>
            <a:spLocks noGrp="1"/>
          </p:cNvSpPr>
          <p:nvPr/>
        </p:nvSpPr>
        <p:spPr>
          <a:xfrm>
            <a:off x="1257300" y="6076950"/>
            <a:ext cx="76009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Przy współbieżnym oczekiwaniu całość trwa około 3 s.</a:t>
            </a:r>
          </a:p>
        </p:txBody>
      </p:sp>
      <p:pic>
        <p:nvPicPr>
          <p:cNvPr id="13" name="bandicam 2025-07-29 15-13-43-718">
            <a:hlinkClick r:id="" action="ppaction://media"/>
            <a:extLst>
              <a:ext uri="{FF2B5EF4-FFF2-40B4-BE49-F238E27FC236}">
                <a16:creationId xmlns:a16="http://schemas.microsoft.com/office/drawing/2014/main" id="{2E4FF619-80D9-7620-37C9-AEB257F57CE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279785" y="1337544"/>
            <a:ext cx="2175937" cy="477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459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767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Nagłówek">
            <a:extLst>
              <a:ext uri="{FF2B5EF4-FFF2-40B4-BE49-F238E27FC236}">
                <a16:creationId xmlns:a16="http://schemas.microsoft.com/office/drawing/2014/main" id="{355B18A6-6928-404F-A3C3-DB459626BC57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t>Stan ekranu i zakres korutyn</a:t>
            </a:r>
          </a:p>
        </p:txBody>
      </p:sp>
      <p:pic>
        <p:nvPicPr>
          <p:cNvPr id="16" name="Obraz 15">
            <a:extLst>
              <a:ext uri="{FF2B5EF4-FFF2-40B4-BE49-F238E27FC236}">
                <a16:creationId xmlns:a16="http://schemas.microsoft.com/office/drawing/2014/main" id="{5E3A3434-5287-6114-0478-99C03D7A7A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1880" y="836712"/>
            <a:ext cx="5545513" cy="6021288"/>
          </a:xfrm>
          <a:prstGeom prst="rect">
            <a:avLst/>
          </a:prstGeom>
        </p:spPr>
      </p:pic>
      <p:sp>
        <p:nvSpPr>
          <p:cNvPr id="17" name="Prostokąt: zaokrąglone rogi 16">
            <a:extLst>
              <a:ext uri="{FF2B5EF4-FFF2-40B4-BE49-F238E27FC236}">
                <a16:creationId xmlns:a16="http://schemas.microsoft.com/office/drawing/2014/main" id="{D27FE6AF-E421-81BA-94DC-1C3D24E0893D}"/>
              </a:ext>
            </a:extLst>
          </p:cNvPr>
          <p:cNvSpPr/>
          <p:nvPr/>
        </p:nvSpPr>
        <p:spPr>
          <a:xfrm>
            <a:off x="0" y="681083"/>
            <a:ext cx="3468372" cy="613963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" name="pole tekstowe 17">
            <a:extLst>
              <a:ext uri="{FF2B5EF4-FFF2-40B4-BE49-F238E27FC236}">
                <a16:creationId xmlns:a16="http://schemas.microsoft.com/office/drawing/2014/main" id="{563E81B8-6ED6-B479-16D9-9C28A7F65034}"/>
              </a:ext>
            </a:extLst>
          </p:cNvPr>
          <p:cNvSpPr txBox="1"/>
          <p:nvPr/>
        </p:nvSpPr>
        <p:spPr>
          <a:xfrm>
            <a:off x="90716" y="685736"/>
            <a:ext cx="32869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Tworzy listę, która przechowuje logi z operacji</a:t>
            </a:r>
          </a:p>
        </p:txBody>
      </p:sp>
      <p:cxnSp>
        <p:nvCxnSpPr>
          <p:cNvPr id="19" name="Łącznik prosty ze strzałką 18">
            <a:extLst>
              <a:ext uri="{FF2B5EF4-FFF2-40B4-BE49-F238E27FC236}">
                <a16:creationId xmlns:a16="http://schemas.microsoft.com/office/drawing/2014/main" id="{27ED57D1-E9AE-1549-7534-40A68C94216F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3468372" y="988065"/>
            <a:ext cx="311540" cy="136679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Prostokąt: zaokrąglone rogi 19">
            <a:extLst>
              <a:ext uri="{FF2B5EF4-FFF2-40B4-BE49-F238E27FC236}">
                <a16:creationId xmlns:a16="http://schemas.microsoft.com/office/drawing/2014/main" id="{8CAF4557-DCBB-8415-B2A2-ECC6120ECC8B}"/>
              </a:ext>
            </a:extLst>
          </p:cNvPr>
          <p:cNvSpPr/>
          <p:nvPr/>
        </p:nvSpPr>
        <p:spPr>
          <a:xfrm>
            <a:off x="0" y="1480507"/>
            <a:ext cx="3468372" cy="835650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" name="pole tekstowe 20">
            <a:extLst>
              <a:ext uri="{FF2B5EF4-FFF2-40B4-BE49-F238E27FC236}">
                <a16:creationId xmlns:a16="http://schemas.microsoft.com/office/drawing/2014/main" id="{C760EAEB-C9CB-6E2F-0ADE-C79A74C1E092}"/>
              </a:ext>
            </a:extLst>
          </p:cNvPr>
          <p:cNvSpPr txBox="1"/>
          <p:nvPr/>
        </p:nvSpPr>
        <p:spPr>
          <a:xfrm>
            <a:off x="90716" y="1485160"/>
            <a:ext cx="32869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Tworzy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bezpieczny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zakres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,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powiązany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z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cyklem życia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tego komponentu.</a:t>
            </a:r>
          </a:p>
        </p:txBody>
      </p:sp>
      <p:cxnSp>
        <p:nvCxnSpPr>
          <p:cNvPr id="22" name="Łącznik prosty ze strzałką 21">
            <a:extLst>
              <a:ext uri="{FF2B5EF4-FFF2-40B4-BE49-F238E27FC236}">
                <a16:creationId xmlns:a16="http://schemas.microsoft.com/office/drawing/2014/main" id="{6A312DD4-42CD-A089-E37B-69AADC1E7F22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3468372" y="1295046"/>
            <a:ext cx="335048" cy="603286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14592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B9398A-712A-8F82-690B-6181CA2F1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Nagłówek">
            <a:extLst>
              <a:ext uri="{FF2B5EF4-FFF2-40B4-BE49-F238E27FC236}">
                <a16:creationId xmlns:a16="http://schemas.microsoft.com/office/drawing/2014/main" id="{F85A88FC-13ED-7FD7-2A08-6B641F8F33AF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t>Stan ekranu i zakres korutyn</a:t>
            </a:r>
          </a:p>
        </p:txBody>
      </p:sp>
      <p:pic>
        <p:nvPicPr>
          <p:cNvPr id="2" name="Obraz 1">
            <a:extLst>
              <a:ext uri="{FF2B5EF4-FFF2-40B4-BE49-F238E27FC236}">
                <a16:creationId xmlns:a16="http://schemas.microsoft.com/office/drawing/2014/main" id="{BB244693-B388-E63A-6302-75C079CE21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1880" y="836712"/>
            <a:ext cx="5545513" cy="6021288"/>
          </a:xfrm>
          <a:prstGeom prst="rect">
            <a:avLst/>
          </a:prstGeom>
        </p:spPr>
      </p:pic>
      <p:sp>
        <p:nvSpPr>
          <p:cNvPr id="3" name="Prostokąt: zaokrąglone rogi 2">
            <a:extLst>
              <a:ext uri="{FF2B5EF4-FFF2-40B4-BE49-F238E27FC236}">
                <a16:creationId xmlns:a16="http://schemas.microsoft.com/office/drawing/2014/main" id="{18CCAB63-7E7E-139E-4A2A-330F799C2151}"/>
              </a:ext>
            </a:extLst>
          </p:cNvPr>
          <p:cNvSpPr/>
          <p:nvPr/>
        </p:nvSpPr>
        <p:spPr>
          <a:xfrm>
            <a:off x="0" y="681083"/>
            <a:ext cx="3468372" cy="613963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94602528-9EEA-53DC-0333-CC7C76B1D284}"/>
              </a:ext>
            </a:extLst>
          </p:cNvPr>
          <p:cNvSpPr txBox="1"/>
          <p:nvPr/>
        </p:nvSpPr>
        <p:spPr>
          <a:xfrm>
            <a:off x="90716" y="685736"/>
            <a:ext cx="32869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Tworzy listę, która przechowuje logi z operacji</a:t>
            </a:r>
          </a:p>
        </p:txBody>
      </p:sp>
      <p:cxnSp>
        <p:nvCxnSpPr>
          <p:cNvPr id="5" name="Łącznik prosty ze strzałką 4">
            <a:extLst>
              <a:ext uri="{FF2B5EF4-FFF2-40B4-BE49-F238E27FC236}">
                <a16:creationId xmlns:a16="http://schemas.microsoft.com/office/drawing/2014/main" id="{446878AC-E9E5-DA0E-9DA8-F629BD7A74F6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3468372" y="988065"/>
            <a:ext cx="311540" cy="136679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F5CCDA9B-060C-F8EE-DB6C-A0DD1234EE4E}"/>
              </a:ext>
            </a:extLst>
          </p:cNvPr>
          <p:cNvSpPr/>
          <p:nvPr/>
        </p:nvSpPr>
        <p:spPr>
          <a:xfrm>
            <a:off x="0" y="1480507"/>
            <a:ext cx="3468372" cy="835650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0D2BD03D-6E3A-34B3-BA6D-405F0AA1867C}"/>
              </a:ext>
            </a:extLst>
          </p:cNvPr>
          <p:cNvSpPr txBox="1"/>
          <p:nvPr/>
        </p:nvSpPr>
        <p:spPr>
          <a:xfrm>
            <a:off x="90716" y="1485160"/>
            <a:ext cx="32869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Tworzy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bezpieczny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zakres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,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powiązany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z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cyklem życia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tego komponentu.</a:t>
            </a:r>
          </a:p>
        </p:txBody>
      </p:sp>
      <p:cxnSp>
        <p:nvCxnSpPr>
          <p:cNvPr id="8" name="Łącznik prosty ze strzałką 7">
            <a:extLst>
              <a:ext uri="{FF2B5EF4-FFF2-40B4-BE49-F238E27FC236}">
                <a16:creationId xmlns:a16="http://schemas.microsoft.com/office/drawing/2014/main" id="{E0DD9DF4-7FC7-E26D-8EC4-36761791A45C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3468372" y="1295046"/>
            <a:ext cx="335048" cy="603286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rostokąt: zaokrąglone rogi 8">
            <a:extLst>
              <a:ext uri="{FF2B5EF4-FFF2-40B4-BE49-F238E27FC236}">
                <a16:creationId xmlns:a16="http://schemas.microsoft.com/office/drawing/2014/main" id="{9BF4A341-7C8D-42AF-7F69-40DF7BC9848A}"/>
              </a:ext>
            </a:extLst>
          </p:cNvPr>
          <p:cNvSpPr/>
          <p:nvPr/>
        </p:nvSpPr>
        <p:spPr>
          <a:xfrm>
            <a:off x="467543" y="2542127"/>
            <a:ext cx="2996377" cy="343207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F96EC123-E3E2-005C-13AE-0F8A55BFFD75}"/>
              </a:ext>
            </a:extLst>
          </p:cNvPr>
          <p:cNvSpPr txBox="1"/>
          <p:nvPr/>
        </p:nvSpPr>
        <p:spPr>
          <a:xfrm>
            <a:off x="539551" y="2546780"/>
            <a:ext cx="28336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Uruchamia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główną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korutynę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</a:t>
            </a:r>
          </a:p>
        </p:txBody>
      </p:sp>
      <p:cxnSp>
        <p:nvCxnSpPr>
          <p:cNvPr id="11" name="Łącznik prosty ze strzałką 10">
            <a:extLst>
              <a:ext uri="{FF2B5EF4-FFF2-40B4-BE49-F238E27FC236}">
                <a16:creationId xmlns:a16="http://schemas.microsoft.com/office/drawing/2014/main" id="{3B9C4140-7631-E9D4-3675-A2DD98697864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463920" y="2492896"/>
            <a:ext cx="820048" cy="220835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29259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99FEF7-A21C-88B9-399A-30B6D9F0D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Nagłówek">
            <a:extLst>
              <a:ext uri="{FF2B5EF4-FFF2-40B4-BE49-F238E27FC236}">
                <a16:creationId xmlns:a16="http://schemas.microsoft.com/office/drawing/2014/main" id="{84917C9E-A37A-9CBD-8DA2-37A7C37F3A88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t>Stan ekranu i zakres korutyn</a:t>
            </a:r>
          </a:p>
        </p:txBody>
      </p:sp>
      <p:pic>
        <p:nvPicPr>
          <p:cNvPr id="12" name="Obraz 11">
            <a:extLst>
              <a:ext uri="{FF2B5EF4-FFF2-40B4-BE49-F238E27FC236}">
                <a16:creationId xmlns:a16="http://schemas.microsoft.com/office/drawing/2014/main" id="{160F2400-0B86-57ED-CC22-03BBCE6D3F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1880" y="836712"/>
            <a:ext cx="5545513" cy="6021288"/>
          </a:xfrm>
          <a:prstGeom prst="rect">
            <a:avLst/>
          </a:prstGeom>
        </p:spPr>
      </p:pic>
      <p:sp>
        <p:nvSpPr>
          <p:cNvPr id="13" name="Prostokąt: zaokrąglone rogi 12">
            <a:extLst>
              <a:ext uri="{FF2B5EF4-FFF2-40B4-BE49-F238E27FC236}">
                <a16:creationId xmlns:a16="http://schemas.microsoft.com/office/drawing/2014/main" id="{78A6897F-D383-03C6-DD48-79C4A7FC72B3}"/>
              </a:ext>
            </a:extLst>
          </p:cNvPr>
          <p:cNvSpPr/>
          <p:nvPr/>
        </p:nvSpPr>
        <p:spPr>
          <a:xfrm>
            <a:off x="0" y="681083"/>
            <a:ext cx="3468372" cy="613963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123F43F9-3170-6207-D4E0-FDC3DBF10635}"/>
              </a:ext>
            </a:extLst>
          </p:cNvPr>
          <p:cNvSpPr txBox="1"/>
          <p:nvPr/>
        </p:nvSpPr>
        <p:spPr>
          <a:xfrm>
            <a:off x="90716" y="685736"/>
            <a:ext cx="32869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Tworzy listę, która przechowuje logi z operacji</a:t>
            </a:r>
          </a:p>
        </p:txBody>
      </p:sp>
      <p:cxnSp>
        <p:nvCxnSpPr>
          <p:cNvPr id="16" name="Łącznik prosty ze strzałką 15">
            <a:extLst>
              <a:ext uri="{FF2B5EF4-FFF2-40B4-BE49-F238E27FC236}">
                <a16:creationId xmlns:a16="http://schemas.microsoft.com/office/drawing/2014/main" id="{D5A013DC-AD4B-F641-389B-A7E36DC7866F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3468372" y="988065"/>
            <a:ext cx="311540" cy="136679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Prostokąt: zaokrąglone rogi 16">
            <a:extLst>
              <a:ext uri="{FF2B5EF4-FFF2-40B4-BE49-F238E27FC236}">
                <a16:creationId xmlns:a16="http://schemas.microsoft.com/office/drawing/2014/main" id="{A5066F8C-B860-7830-0695-75DCB1BC9132}"/>
              </a:ext>
            </a:extLst>
          </p:cNvPr>
          <p:cNvSpPr/>
          <p:nvPr/>
        </p:nvSpPr>
        <p:spPr>
          <a:xfrm>
            <a:off x="0" y="1480507"/>
            <a:ext cx="3468372" cy="835650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" name="pole tekstowe 17">
            <a:extLst>
              <a:ext uri="{FF2B5EF4-FFF2-40B4-BE49-F238E27FC236}">
                <a16:creationId xmlns:a16="http://schemas.microsoft.com/office/drawing/2014/main" id="{36F159D6-6FB4-6028-32C7-2CA0F06A428F}"/>
              </a:ext>
            </a:extLst>
          </p:cNvPr>
          <p:cNvSpPr txBox="1"/>
          <p:nvPr/>
        </p:nvSpPr>
        <p:spPr>
          <a:xfrm>
            <a:off x="90716" y="1485160"/>
            <a:ext cx="32869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Tworzy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bezpieczny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zakres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,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powiązany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z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cyklem życia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tego komponentu.</a:t>
            </a:r>
          </a:p>
        </p:txBody>
      </p:sp>
      <p:cxnSp>
        <p:nvCxnSpPr>
          <p:cNvPr id="19" name="Łącznik prosty ze strzałką 18">
            <a:extLst>
              <a:ext uri="{FF2B5EF4-FFF2-40B4-BE49-F238E27FC236}">
                <a16:creationId xmlns:a16="http://schemas.microsoft.com/office/drawing/2014/main" id="{156A0AE6-8A64-B31A-7DE9-FE2603C7A3FC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3468372" y="1295046"/>
            <a:ext cx="335048" cy="603286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Prostokąt: zaokrąglone rogi 19">
            <a:extLst>
              <a:ext uri="{FF2B5EF4-FFF2-40B4-BE49-F238E27FC236}">
                <a16:creationId xmlns:a16="http://schemas.microsoft.com/office/drawing/2014/main" id="{6A0CB627-70D8-B6DB-CD15-796F8F57FFF0}"/>
              </a:ext>
            </a:extLst>
          </p:cNvPr>
          <p:cNvSpPr/>
          <p:nvPr/>
        </p:nvSpPr>
        <p:spPr>
          <a:xfrm>
            <a:off x="467543" y="2542127"/>
            <a:ext cx="2996377" cy="343207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" name="pole tekstowe 20">
            <a:extLst>
              <a:ext uri="{FF2B5EF4-FFF2-40B4-BE49-F238E27FC236}">
                <a16:creationId xmlns:a16="http://schemas.microsoft.com/office/drawing/2014/main" id="{BA9497E2-4F49-D9EF-5262-80D5EBFF1AE3}"/>
              </a:ext>
            </a:extLst>
          </p:cNvPr>
          <p:cNvSpPr txBox="1"/>
          <p:nvPr/>
        </p:nvSpPr>
        <p:spPr>
          <a:xfrm>
            <a:off x="539551" y="2546780"/>
            <a:ext cx="28336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Uruchamia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główną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korutynę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</a:t>
            </a:r>
          </a:p>
        </p:txBody>
      </p:sp>
      <p:cxnSp>
        <p:nvCxnSpPr>
          <p:cNvPr id="22" name="Łącznik prosty ze strzałką 21">
            <a:extLst>
              <a:ext uri="{FF2B5EF4-FFF2-40B4-BE49-F238E27FC236}">
                <a16:creationId xmlns:a16="http://schemas.microsoft.com/office/drawing/2014/main" id="{80F1B2F0-C12F-19F4-4EA7-5F15B8B6C274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3463920" y="2492896"/>
            <a:ext cx="820048" cy="220835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Prostokąt: zaokrąglone rogi 22">
            <a:extLst>
              <a:ext uri="{FF2B5EF4-FFF2-40B4-BE49-F238E27FC236}">
                <a16:creationId xmlns:a16="http://schemas.microsoft.com/office/drawing/2014/main" id="{746469CF-E5E1-7834-0495-89E4381137C2}"/>
              </a:ext>
            </a:extLst>
          </p:cNvPr>
          <p:cNvSpPr/>
          <p:nvPr/>
        </p:nvSpPr>
        <p:spPr>
          <a:xfrm>
            <a:off x="57519" y="3195658"/>
            <a:ext cx="3468372" cy="1174258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" name="pole tekstowe 23">
            <a:extLst>
              <a:ext uri="{FF2B5EF4-FFF2-40B4-BE49-F238E27FC236}">
                <a16:creationId xmlns:a16="http://schemas.microsoft.com/office/drawing/2014/main" id="{61406171-E084-110B-FFFD-7C638BFE93A5}"/>
              </a:ext>
            </a:extLst>
          </p:cNvPr>
          <p:cNvSpPr txBox="1"/>
          <p:nvPr/>
        </p:nvSpPr>
        <p:spPr>
          <a:xfrm>
            <a:off x="129527" y="3200310"/>
            <a:ext cx="3419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Uruchamiane są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współbieżne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 Obie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startują niemal w tym samym momencie i działają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współbieżnie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</a:t>
            </a:r>
          </a:p>
        </p:txBody>
      </p:sp>
      <p:cxnSp>
        <p:nvCxnSpPr>
          <p:cNvPr id="25" name="Łącznik prosty ze strzałką 24">
            <a:extLst>
              <a:ext uri="{FF2B5EF4-FFF2-40B4-BE49-F238E27FC236}">
                <a16:creationId xmlns:a16="http://schemas.microsoft.com/office/drawing/2014/main" id="{F48CF2F0-48DC-A16C-A2FA-8BEB77344253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3525891" y="3007425"/>
            <a:ext cx="1046109" cy="775362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Łącznik prosty ze strzałką 25">
            <a:extLst>
              <a:ext uri="{FF2B5EF4-FFF2-40B4-BE49-F238E27FC236}">
                <a16:creationId xmlns:a16="http://schemas.microsoft.com/office/drawing/2014/main" id="{738B72E9-7938-2AA2-ECE3-780B0478C999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3525891" y="3780521"/>
            <a:ext cx="1046109" cy="2266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36634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3E4D6B-019E-59BC-0605-CE444FDB6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Nagłówek">
            <a:extLst>
              <a:ext uri="{FF2B5EF4-FFF2-40B4-BE49-F238E27FC236}">
                <a16:creationId xmlns:a16="http://schemas.microsoft.com/office/drawing/2014/main" id="{3F8669BB-2D79-86FC-FBC3-C9D429C77D8D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t>Stan ekranu i zakres korutyn</a:t>
            </a:r>
          </a:p>
        </p:txBody>
      </p:sp>
      <p:pic>
        <p:nvPicPr>
          <p:cNvPr id="2" name="Obraz 1">
            <a:extLst>
              <a:ext uri="{FF2B5EF4-FFF2-40B4-BE49-F238E27FC236}">
                <a16:creationId xmlns:a16="http://schemas.microsoft.com/office/drawing/2014/main" id="{CEEBB04F-F0E1-161F-6CE3-8CAB8D78BF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1880" y="836712"/>
            <a:ext cx="5545513" cy="6021288"/>
          </a:xfrm>
          <a:prstGeom prst="rect">
            <a:avLst/>
          </a:prstGeom>
        </p:spPr>
      </p:pic>
      <p:sp>
        <p:nvSpPr>
          <p:cNvPr id="3" name="Prostokąt: zaokrąglone rogi 2">
            <a:extLst>
              <a:ext uri="{FF2B5EF4-FFF2-40B4-BE49-F238E27FC236}">
                <a16:creationId xmlns:a16="http://schemas.microsoft.com/office/drawing/2014/main" id="{C3EF9F66-C063-9BC6-4948-6A35C46D0CE8}"/>
              </a:ext>
            </a:extLst>
          </p:cNvPr>
          <p:cNvSpPr/>
          <p:nvPr/>
        </p:nvSpPr>
        <p:spPr>
          <a:xfrm>
            <a:off x="0" y="681083"/>
            <a:ext cx="3468372" cy="613963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CAA4B364-23EA-38C3-8E12-EB0F3A2AEBD6}"/>
              </a:ext>
            </a:extLst>
          </p:cNvPr>
          <p:cNvSpPr txBox="1"/>
          <p:nvPr/>
        </p:nvSpPr>
        <p:spPr>
          <a:xfrm>
            <a:off x="90716" y="685736"/>
            <a:ext cx="32869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Tworzy listę, która przechowuje logi z operacji</a:t>
            </a:r>
          </a:p>
        </p:txBody>
      </p:sp>
      <p:cxnSp>
        <p:nvCxnSpPr>
          <p:cNvPr id="5" name="Łącznik prosty ze strzałką 4">
            <a:extLst>
              <a:ext uri="{FF2B5EF4-FFF2-40B4-BE49-F238E27FC236}">
                <a16:creationId xmlns:a16="http://schemas.microsoft.com/office/drawing/2014/main" id="{62EF4F73-B75D-E6BA-8B99-B4640ADD31D4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3468372" y="988065"/>
            <a:ext cx="311540" cy="136679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FBCE2A34-A181-1689-3E61-5E4757B65441}"/>
              </a:ext>
            </a:extLst>
          </p:cNvPr>
          <p:cNvSpPr/>
          <p:nvPr/>
        </p:nvSpPr>
        <p:spPr>
          <a:xfrm>
            <a:off x="0" y="1480507"/>
            <a:ext cx="3468372" cy="835650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88149942-ED13-A64C-C406-42F91E9E7B9A}"/>
              </a:ext>
            </a:extLst>
          </p:cNvPr>
          <p:cNvSpPr txBox="1"/>
          <p:nvPr/>
        </p:nvSpPr>
        <p:spPr>
          <a:xfrm>
            <a:off x="90716" y="1485160"/>
            <a:ext cx="32869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Tworzy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bezpieczny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zakres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,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powiązany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z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cyklem życia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tego komponentu.</a:t>
            </a:r>
          </a:p>
        </p:txBody>
      </p:sp>
      <p:cxnSp>
        <p:nvCxnSpPr>
          <p:cNvPr id="8" name="Łącznik prosty ze strzałką 7">
            <a:extLst>
              <a:ext uri="{FF2B5EF4-FFF2-40B4-BE49-F238E27FC236}">
                <a16:creationId xmlns:a16="http://schemas.microsoft.com/office/drawing/2014/main" id="{76F24DB5-63A2-DFD3-E005-68CFE74DF327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3468372" y="1295046"/>
            <a:ext cx="335048" cy="603286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rostokąt: zaokrąglone rogi 8">
            <a:extLst>
              <a:ext uri="{FF2B5EF4-FFF2-40B4-BE49-F238E27FC236}">
                <a16:creationId xmlns:a16="http://schemas.microsoft.com/office/drawing/2014/main" id="{DCFE4397-4F1D-0B0F-BDB1-03D69A174EEB}"/>
              </a:ext>
            </a:extLst>
          </p:cNvPr>
          <p:cNvSpPr/>
          <p:nvPr/>
        </p:nvSpPr>
        <p:spPr>
          <a:xfrm>
            <a:off x="467543" y="2542127"/>
            <a:ext cx="2996377" cy="343207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F994B2F3-665C-AC6F-4B37-52759B05BA54}"/>
              </a:ext>
            </a:extLst>
          </p:cNvPr>
          <p:cNvSpPr txBox="1"/>
          <p:nvPr/>
        </p:nvSpPr>
        <p:spPr>
          <a:xfrm>
            <a:off x="539551" y="2546780"/>
            <a:ext cx="28336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Uruchamia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główną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korutynę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</a:t>
            </a:r>
          </a:p>
        </p:txBody>
      </p:sp>
      <p:cxnSp>
        <p:nvCxnSpPr>
          <p:cNvPr id="11" name="Łącznik prosty ze strzałką 10">
            <a:extLst>
              <a:ext uri="{FF2B5EF4-FFF2-40B4-BE49-F238E27FC236}">
                <a16:creationId xmlns:a16="http://schemas.microsoft.com/office/drawing/2014/main" id="{6BEB004A-ACFE-BC20-A23B-97B7336AEF57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463920" y="2492896"/>
            <a:ext cx="820048" cy="220835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Prostokąt: zaokrąglone rogi 26">
            <a:extLst>
              <a:ext uri="{FF2B5EF4-FFF2-40B4-BE49-F238E27FC236}">
                <a16:creationId xmlns:a16="http://schemas.microsoft.com/office/drawing/2014/main" id="{39303446-EAE3-FB14-55AB-3B98BD0929D2}"/>
              </a:ext>
            </a:extLst>
          </p:cNvPr>
          <p:cNvSpPr/>
          <p:nvPr/>
        </p:nvSpPr>
        <p:spPr>
          <a:xfrm>
            <a:off x="57519" y="3195658"/>
            <a:ext cx="3468372" cy="1174258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" name="pole tekstowe 27">
            <a:extLst>
              <a:ext uri="{FF2B5EF4-FFF2-40B4-BE49-F238E27FC236}">
                <a16:creationId xmlns:a16="http://schemas.microsoft.com/office/drawing/2014/main" id="{E5A2F8C4-C199-E400-6613-162735B24BEA}"/>
              </a:ext>
            </a:extLst>
          </p:cNvPr>
          <p:cNvSpPr txBox="1"/>
          <p:nvPr/>
        </p:nvSpPr>
        <p:spPr>
          <a:xfrm>
            <a:off x="129527" y="3200310"/>
            <a:ext cx="3419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Uruchamiane są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współbieżne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 Obie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startują niemal w tym samym momencie i działają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współbieżnie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</a:t>
            </a:r>
          </a:p>
        </p:txBody>
      </p:sp>
      <p:cxnSp>
        <p:nvCxnSpPr>
          <p:cNvPr id="29" name="Łącznik prosty ze strzałką 28">
            <a:extLst>
              <a:ext uri="{FF2B5EF4-FFF2-40B4-BE49-F238E27FC236}">
                <a16:creationId xmlns:a16="http://schemas.microsoft.com/office/drawing/2014/main" id="{ACD7CAA9-2819-4915-F172-4E44A15DD7F5}"/>
              </a:ext>
            </a:extLst>
          </p:cNvPr>
          <p:cNvCxnSpPr>
            <a:cxnSpLocks/>
            <a:stCxn id="27" idx="3"/>
          </p:cNvCxnSpPr>
          <p:nvPr/>
        </p:nvCxnSpPr>
        <p:spPr>
          <a:xfrm flipV="1">
            <a:off x="3525891" y="3007425"/>
            <a:ext cx="1046109" cy="775362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Łącznik prosty ze strzałką 29">
            <a:extLst>
              <a:ext uri="{FF2B5EF4-FFF2-40B4-BE49-F238E27FC236}">
                <a16:creationId xmlns:a16="http://schemas.microsoft.com/office/drawing/2014/main" id="{26E37F20-D4A7-5E32-4CF3-DD9FB8AD38B8}"/>
              </a:ext>
            </a:extLst>
          </p:cNvPr>
          <p:cNvCxnSpPr>
            <a:cxnSpLocks/>
            <a:stCxn id="27" idx="3"/>
          </p:cNvCxnSpPr>
          <p:nvPr/>
        </p:nvCxnSpPr>
        <p:spPr>
          <a:xfrm flipV="1">
            <a:off x="3525891" y="3780521"/>
            <a:ext cx="1046109" cy="2266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Prostokąt: zaokrąglone rogi 30">
            <a:extLst>
              <a:ext uri="{FF2B5EF4-FFF2-40B4-BE49-F238E27FC236}">
                <a16:creationId xmlns:a16="http://schemas.microsoft.com/office/drawing/2014/main" id="{172083F3-2C7B-7C69-B300-64479743E33D}"/>
              </a:ext>
            </a:extLst>
          </p:cNvPr>
          <p:cNvSpPr/>
          <p:nvPr/>
        </p:nvSpPr>
        <p:spPr>
          <a:xfrm>
            <a:off x="23508" y="4686568"/>
            <a:ext cx="3468372" cy="1334719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2" name="pole tekstowe 31">
            <a:extLst>
              <a:ext uri="{FF2B5EF4-FFF2-40B4-BE49-F238E27FC236}">
                <a16:creationId xmlns:a16="http://schemas.microsoft.com/office/drawing/2014/main" id="{EB30104D-9F05-3CC1-2174-11AB56AB4CE0}"/>
              </a:ext>
            </a:extLst>
          </p:cNvPr>
          <p:cNvSpPr txBox="1"/>
          <p:nvPr/>
        </p:nvSpPr>
        <p:spPr>
          <a:xfrm>
            <a:off x="95516" y="4691221"/>
            <a:ext cx="341987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Aby wykonać akcję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po zakończeniu wszystkich zadań-dzieci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, musimy na nie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jawnie poczekać.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Służy do tego funkcja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join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().</a:t>
            </a:r>
          </a:p>
        </p:txBody>
      </p:sp>
      <p:cxnSp>
        <p:nvCxnSpPr>
          <p:cNvPr id="33" name="Łącznik prosty ze strzałką 32">
            <a:extLst>
              <a:ext uri="{FF2B5EF4-FFF2-40B4-BE49-F238E27FC236}">
                <a16:creationId xmlns:a16="http://schemas.microsoft.com/office/drawing/2014/main" id="{AEE9363D-FB3E-B699-9744-FF051FAE9EF7}"/>
              </a:ext>
            </a:extLst>
          </p:cNvPr>
          <p:cNvCxnSpPr>
            <a:cxnSpLocks/>
            <a:stCxn id="31" idx="3"/>
          </p:cNvCxnSpPr>
          <p:nvPr/>
        </p:nvCxnSpPr>
        <p:spPr>
          <a:xfrm flipV="1">
            <a:off x="3491880" y="4851843"/>
            <a:ext cx="1046109" cy="502085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Łącznik prosty ze strzałką 33">
            <a:extLst>
              <a:ext uri="{FF2B5EF4-FFF2-40B4-BE49-F238E27FC236}">
                <a16:creationId xmlns:a16="http://schemas.microsoft.com/office/drawing/2014/main" id="{0CB3DE44-CA3C-62F1-FD30-10B2374C7A2B}"/>
              </a:ext>
            </a:extLst>
          </p:cNvPr>
          <p:cNvCxnSpPr>
            <a:cxnSpLocks/>
            <a:stCxn id="31" idx="3"/>
          </p:cNvCxnSpPr>
          <p:nvPr/>
        </p:nvCxnSpPr>
        <p:spPr>
          <a:xfrm flipV="1">
            <a:off x="3491880" y="5084143"/>
            <a:ext cx="1046109" cy="269785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449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F8B88D-7DEC-32FC-11D6-C295B7AFF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Nagłówek">
            <a:extLst>
              <a:ext uri="{FF2B5EF4-FFF2-40B4-BE49-F238E27FC236}">
                <a16:creationId xmlns:a16="http://schemas.microsoft.com/office/drawing/2014/main" id="{AEEEC7C4-39F2-3B15-7396-4B90008E759A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t>Stan ekranu i zakres korutyn</a:t>
            </a:r>
          </a:p>
        </p:txBody>
      </p:sp>
      <p:pic>
        <p:nvPicPr>
          <p:cNvPr id="12" name="Obraz 11">
            <a:extLst>
              <a:ext uri="{FF2B5EF4-FFF2-40B4-BE49-F238E27FC236}">
                <a16:creationId xmlns:a16="http://schemas.microsoft.com/office/drawing/2014/main" id="{21A20BEB-3350-2A14-5BD3-C7A874C632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1880" y="836712"/>
            <a:ext cx="5545513" cy="6021288"/>
          </a:xfrm>
          <a:prstGeom prst="rect">
            <a:avLst/>
          </a:prstGeom>
        </p:spPr>
      </p:pic>
      <p:sp>
        <p:nvSpPr>
          <p:cNvPr id="13" name="Prostokąt: zaokrąglone rogi 12">
            <a:extLst>
              <a:ext uri="{FF2B5EF4-FFF2-40B4-BE49-F238E27FC236}">
                <a16:creationId xmlns:a16="http://schemas.microsoft.com/office/drawing/2014/main" id="{F1578BA1-928C-A001-EE64-67FB4B897B14}"/>
              </a:ext>
            </a:extLst>
          </p:cNvPr>
          <p:cNvSpPr/>
          <p:nvPr/>
        </p:nvSpPr>
        <p:spPr>
          <a:xfrm>
            <a:off x="0" y="681083"/>
            <a:ext cx="3468372" cy="613963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C3C02471-A5DA-2599-0BBB-B372819DFFFE}"/>
              </a:ext>
            </a:extLst>
          </p:cNvPr>
          <p:cNvSpPr txBox="1"/>
          <p:nvPr/>
        </p:nvSpPr>
        <p:spPr>
          <a:xfrm>
            <a:off x="90716" y="685736"/>
            <a:ext cx="32869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Tworzy listę, która przechowuje logi z operacji</a:t>
            </a:r>
          </a:p>
        </p:txBody>
      </p:sp>
      <p:cxnSp>
        <p:nvCxnSpPr>
          <p:cNvPr id="16" name="Łącznik prosty ze strzałką 15">
            <a:extLst>
              <a:ext uri="{FF2B5EF4-FFF2-40B4-BE49-F238E27FC236}">
                <a16:creationId xmlns:a16="http://schemas.microsoft.com/office/drawing/2014/main" id="{1C7B6C04-FE70-60D6-3C58-FD5E332082DD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3468372" y="988065"/>
            <a:ext cx="311540" cy="136679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Prostokąt: zaokrąglone rogi 16">
            <a:extLst>
              <a:ext uri="{FF2B5EF4-FFF2-40B4-BE49-F238E27FC236}">
                <a16:creationId xmlns:a16="http://schemas.microsoft.com/office/drawing/2014/main" id="{917B3326-D7DF-288B-5D87-4EC7D7D0F8CF}"/>
              </a:ext>
            </a:extLst>
          </p:cNvPr>
          <p:cNvSpPr/>
          <p:nvPr/>
        </p:nvSpPr>
        <p:spPr>
          <a:xfrm>
            <a:off x="0" y="1480507"/>
            <a:ext cx="3468372" cy="835650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" name="pole tekstowe 17">
            <a:extLst>
              <a:ext uri="{FF2B5EF4-FFF2-40B4-BE49-F238E27FC236}">
                <a16:creationId xmlns:a16="http://schemas.microsoft.com/office/drawing/2014/main" id="{B6EFE06B-A1EE-D00D-6F07-95FD5F32E922}"/>
              </a:ext>
            </a:extLst>
          </p:cNvPr>
          <p:cNvSpPr txBox="1"/>
          <p:nvPr/>
        </p:nvSpPr>
        <p:spPr>
          <a:xfrm>
            <a:off x="90716" y="1485160"/>
            <a:ext cx="32869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Tworzy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bezpieczny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zakres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,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powiązany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z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cyklem życia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tego komponentu.</a:t>
            </a:r>
          </a:p>
        </p:txBody>
      </p:sp>
      <p:cxnSp>
        <p:nvCxnSpPr>
          <p:cNvPr id="19" name="Łącznik prosty ze strzałką 18">
            <a:extLst>
              <a:ext uri="{FF2B5EF4-FFF2-40B4-BE49-F238E27FC236}">
                <a16:creationId xmlns:a16="http://schemas.microsoft.com/office/drawing/2014/main" id="{F7FB4EF5-D347-5B21-2778-9F6F7A075814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3468372" y="1295046"/>
            <a:ext cx="335048" cy="603286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Prostokąt: zaokrąglone rogi 19">
            <a:extLst>
              <a:ext uri="{FF2B5EF4-FFF2-40B4-BE49-F238E27FC236}">
                <a16:creationId xmlns:a16="http://schemas.microsoft.com/office/drawing/2014/main" id="{A9BA8AE1-018D-904F-35DA-BEF848B7759B}"/>
              </a:ext>
            </a:extLst>
          </p:cNvPr>
          <p:cNvSpPr/>
          <p:nvPr/>
        </p:nvSpPr>
        <p:spPr>
          <a:xfrm>
            <a:off x="467543" y="2542127"/>
            <a:ext cx="2996377" cy="343207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" name="pole tekstowe 20">
            <a:extLst>
              <a:ext uri="{FF2B5EF4-FFF2-40B4-BE49-F238E27FC236}">
                <a16:creationId xmlns:a16="http://schemas.microsoft.com/office/drawing/2014/main" id="{B6879CD5-D2D4-7ADD-0334-ACCB9C8C4F16}"/>
              </a:ext>
            </a:extLst>
          </p:cNvPr>
          <p:cNvSpPr txBox="1"/>
          <p:nvPr/>
        </p:nvSpPr>
        <p:spPr>
          <a:xfrm>
            <a:off x="539551" y="2546780"/>
            <a:ext cx="28336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Uruchamia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główną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korutynę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</a:t>
            </a:r>
          </a:p>
        </p:txBody>
      </p:sp>
      <p:cxnSp>
        <p:nvCxnSpPr>
          <p:cNvPr id="22" name="Łącznik prosty ze strzałką 21">
            <a:extLst>
              <a:ext uri="{FF2B5EF4-FFF2-40B4-BE49-F238E27FC236}">
                <a16:creationId xmlns:a16="http://schemas.microsoft.com/office/drawing/2014/main" id="{A3599143-5DC3-375F-250E-FD2B33ED41AA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3463920" y="2492896"/>
            <a:ext cx="820048" cy="220835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Prostokąt: zaokrąglone rogi 22">
            <a:extLst>
              <a:ext uri="{FF2B5EF4-FFF2-40B4-BE49-F238E27FC236}">
                <a16:creationId xmlns:a16="http://schemas.microsoft.com/office/drawing/2014/main" id="{9AF2D6FC-D1A5-0DEB-C9A9-AA2BDB32BB18}"/>
              </a:ext>
            </a:extLst>
          </p:cNvPr>
          <p:cNvSpPr/>
          <p:nvPr/>
        </p:nvSpPr>
        <p:spPr>
          <a:xfrm>
            <a:off x="57519" y="3195658"/>
            <a:ext cx="3468372" cy="1174258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" name="pole tekstowe 23">
            <a:extLst>
              <a:ext uri="{FF2B5EF4-FFF2-40B4-BE49-F238E27FC236}">
                <a16:creationId xmlns:a16="http://schemas.microsoft.com/office/drawing/2014/main" id="{8A6C002C-451F-E79C-0BD2-1BD251A9B060}"/>
              </a:ext>
            </a:extLst>
          </p:cNvPr>
          <p:cNvSpPr txBox="1"/>
          <p:nvPr/>
        </p:nvSpPr>
        <p:spPr>
          <a:xfrm>
            <a:off x="129527" y="3200310"/>
            <a:ext cx="3419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Uruchamiane są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współbieżne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 Obie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startują niemal w tym samym momencie i działają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współbieżnie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</a:t>
            </a:r>
          </a:p>
        </p:txBody>
      </p:sp>
      <p:cxnSp>
        <p:nvCxnSpPr>
          <p:cNvPr id="25" name="Łącznik prosty ze strzałką 24">
            <a:extLst>
              <a:ext uri="{FF2B5EF4-FFF2-40B4-BE49-F238E27FC236}">
                <a16:creationId xmlns:a16="http://schemas.microsoft.com/office/drawing/2014/main" id="{C7FA315D-DDDD-F587-D31E-5EF4085EEF3E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3525891" y="3007425"/>
            <a:ext cx="1046109" cy="775362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Łącznik prosty ze strzałką 25">
            <a:extLst>
              <a:ext uri="{FF2B5EF4-FFF2-40B4-BE49-F238E27FC236}">
                <a16:creationId xmlns:a16="http://schemas.microsoft.com/office/drawing/2014/main" id="{4BEB4B19-9096-4892-9A43-C83D6A8A36B0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3525891" y="3780521"/>
            <a:ext cx="1046109" cy="2266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Prostokąt: zaokrąglone rogi 34">
            <a:extLst>
              <a:ext uri="{FF2B5EF4-FFF2-40B4-BE49-F238E27FC236}">
                <a16:creationId xmlns:a16="http://schemas.microsoft.com/office/drawing/2014/main" id="{357B5B60-CB22-8619-D6F4-E10278D23BD3}"/>
              </a:ext>
            </a:extLst>
          </p:cNvPr>
          <p:cNvSpPr/>
          <p:nvPr/>
        </p:nvSpPr>
        <p:spPr>
          <a:xfrm>
            <a:off x="23508" y="4686568"/>
            <a:ext cx="3468372" cy="1334719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6" name="pole tekstowe 35">
            <a:extLst>
              <a:ext uri="{FF2B5EF4-FFF2-40B4-BE49-F238E27FC236}">
                <a16:creationId xmlns:a16="http://schemas.microsoft.com/office/drawing/2014/main" id="{DF86AB14-E1F5-B88C-1BCA-FBFAC690FBC9}"/>
              </a:ext>
            </a:extLst>
          </p:cNvPr>
          <p:cNvSpPr txBox="1"/>
          <p:nvPr/>
        </p:nvSpPr>
        <p:spPr>
          <a:xfrm>
            <a:off x="95516" y="4691221"/>
            <a:ext cx="341987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Aby wykonać akcję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po zakończeniu wszystkich zadań-dzieci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, musimy na nie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jawnie poczekać.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Służy do tego funkcja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join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().</a:t>
            </a:r>
          </a:p>
        </p:txBody>
      </p:sp>
      <p:cxnSp>
        <p:nvCxnSpPr>
          <p:cNvPr id="37" name="Łącznik prosty ze strzałką 36">
            <a:extLst>
              <a:ext uri="{FF2B5EF4-FFF2-40B4-BE49-F238E27FC236}">
                <a16:creationId xmlns:a16="http://schemas.microsoft.com/office/drawing/2014/main" id="{F1310318-B20D-1CF9-81B9-2E879DAF67C3}"/>
              </a:ext>
            </a:extLst>
          </p:cNvPr>
          <p:cNvCxnSpPr>
            <a:cxnSpLocks/>
            <a:stCxn id="35" idx="3"/>
          </p:cNvCxnSpPr>
          <p:nvPr/>
        </p:nvCxnSpPr>
        <p:spPr>
          <a:xfrm flipV="1">
            <a:off x="3491880" y="4851843"/>
            <a:ext cx="1046109" cy="502085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Łącznik prosty ze strzałką 37">
            <a:extLst>
              <a:ext uri="{FF2B5EF4-FFF2-40B4-BE49-F238E27FC236}">
                <a16:creationId xmlns:a16="http://schemas.microsoft.com/office/drawing/2014/main" id="{C495FC1D-BCB3-648D-AE0F-A11C55C77E5B}"/>
              </a:ext>
            </a:extLst>
          </p:cNvPr>
          <p:cNvCxnSpPr>
            <a:cxnSpLocks/>
            <a:stCxn id="35" idx="3"/>
          </p:cNvCxnSpPr>
          <p:nvPr/>
        </p:nvCxnSpPr>
        <p:spPr>
          <a:xfrm flipV="1">
            <a:off x="3491880" y="5084143"/>
            <a:ext cx="1046109" cy="269785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Prostokąt: zaokrąglone rogi 38">
            <a:extLst>
              <a:ext uri="{FF2B5EF4-FFF2-40B4-BE49-F238E27FC236}">
                <a16:creationId xmlns:a16="http://schemas.microsoft.com/office/drawing/2014/main" id="{C79B28AD-F0FC-EEFF-1611-0DAE54AD9B95}"/>
              </a:ext>
            </a:extLst>
          </p:cNvPr>
          <p:cNvSpPr/>
          <p:nvPr/>
        </p:nvSpPr>
        <p:spPr>
          <a:xfrm>
            <a:off x="137732" y="6102766"/>
            <a:ext cx="7530612" cy="755233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0" name="pole tekstowe 39">
            <a:extLst>
              <a:ext uri="{FF2B5EF4-FFF2-40B4-BE49-F238E27FC236}">
                <a16:creationId xmlns:a16="http://schemas.microsoft.com/office/drawing/2014/main" id="{95EEB303-80AA-28FC-89E3-E582C05BA942}"/>
              </a:ext>
            </a:extLst>
          </p:cNvPr>
          <p:cNvSpPr txBox="1"/>
          <p:nvPr/>
        </p:nvSpPr>
        <p:spPr>
          <a:xfrm>
            <a:off x="160513" y="6096140"/>
            <a:ext cx="777686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b="1" dirty="0" err="1">
                <a:latin typeface="Verbatim"/>
              </a:rPr>
              <a:t>launch</a:t>
            </a:r>
            <a:r>
              <a:rPr lang="pl-PL" sz="1400" dirty="0"/>
              <a:t> zwraca obiekt typu </a:t>
            </a:r>
            <a:r>
              <a:rPr lang="pl-PL" sz="1400" b="1" dirty="0">
                <a:latin typeface="Verbatim"/>
              </a:rPr>
              <a:t>Job</a:t>
            </a:r>
            <a:r>
              <a:rPr lang="pl-PL" sz="1400" dirty="0"/>
              <a:t>, który </a:t>
            </a:r>
            <a:r>
              <a:rPr lang="pl-PL" sz="1400" b="1" dirty="0"/>
              <a:t>reprezentuje cykl życia </a:t>
            </a:r>
            <a:r>
              <a:rPr lang="pl-PL" sz="1400" dirty="0" err="1"/>
              <a:t>korutyny</a:t>
            </a:r>
            <a:r>
              <a:rPr lang="pl-PL" sz="1400" dirty="0"/>
              <a:t>. </a:t>
            </a:r>
          </a:p>
          <a:p>
            <a:r>
              <a:rPr lang="pl-PL" sz="1400" b="1" dirty="0" err="1">
                <a:latin typeface="Verbatim"/>
              </a:rPr>
              <a:t>job.join</a:t>
            </a:r>
            <a:r>
              <a:rPr lang="pl-PL" sz="1400" b="1" dirty="0">
                <a:latin typeface="Verbatim"/>
              </a:rPr>
              <a:t>() </a:t>
            </a:r>
            <a:r>
              <a:rPr lang="pl-PL" sz="1400" dirty="0"/>
              <a:t>to funkcja </a:t>
            </a:r>
            <a:r>
              <a:rPr lang="pl-PL" sz="1400" b="1" dirty="0" err="1">
                <a:latin typeface="Verbatim"/>
              </a:rPr>
              <a:t>suspend</a:t>
            </a:r>
            <a:r>
              <a:rPr lang="pl-PL" sz="1400" dirty="0"/>
              <a:t>, która </a:t>
            </a:r>
            <a:r>
              <a:rPr lang="pl-PL" sz="1400" b="1" dirty="0"/>
              <a:t>zawiesza </a:t>
            </a:r>
            <a:r>
              <a:rPr lang="pl-PL" sz="1400" b="1" dirty="0" err="1"/>
              <a:t>korutynę</a:t>
            </a:r>
            <a:r>
              <a:rPr lang="pl-PL" sz="1400" dirty="0"/>
              <a:t>, w której została wywołana (w tym przypadku rodzica), do czasu, aż </a:t>
            </a:r>
            <a:r>
              <a:rPr lang="pl-PL" sz="1400" b="1" dirty="0" err="1">
                <a:latin typeface="Verbatim"/>
              </a:rPr>
              <a:t>job</a:t>
            </a:r>
            <a:r>
              <a:rPr lang="pl-PL" sz="1400" dirty="0"/>
              <a:t> się zakończy.</a:t>
            </a:r>
          </a:p>
        </p:txBody>
      </p:sp>
    </p:spTree>
    <p:extLst>
      <p:ext uri="{BB962C8B-B14F-4D97-AF65-F5344CB8AC3E}">
        <p14:creationId xmlns:p14="http://schemas.microsoft.com/office/powerpoint/2010/main" val="17426751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Nagłówek">
            <a:extLst>
              <a:ext uri="{FF2B5EF4-FFF2-40B4-BE49-F238E27FC236}">
                <a16:creationId xmlns:a16="http://schemas.microsoft.com/office/drawing/2014/main" id="{6B35E5F5-D2DB-4B8E-8E25-570472EC0F22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t>Rodzic uruchamia dwoje dzieci</a:t>
            </a:r>
          </a:p>
        </p:txBody>
      </p:sp>
      <p:sp>
        <p:nvSpPr>
          <p:cNvPr id="2" name="Tekst_17">
            <a:extLst>
              <a:ext uri="{FF2B5EF4-FFF2-40B4-BE49-F238E27FC236}">
                <a16:creationId xmlns:a16="http://schemas.microsoft.com/office/drawing/2014/main" id="{C53737E6-F255-407B-BEF8-C3D8CD15E245}"/>
              </a:ext>
            </a:extLst>
          </p:cNvPr>
          <p:cNvSpPr>
            <a:spLocks noGrp="1"/>
          </p:cNvSpPr>
          <p:nvPr/>
        </p:nvSpPr>
        <p:spPr>
          <a:xfrm>
            <a:off x="1257300" y="1000125"/>
            <a:ext cx="76009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Kod należy do obsługi kliknięcia przycisku.</a:t>
            </a:r>
          </a:p>
        </p:txBody>
      </p:sp>
      <p:sp>
        <p:nvSpPr>
          <p:cNvPr id="3" name="Numer slajdu">
            <a:extLst>
              <a:ext uri="{FF2B5EF4-FFF2-40B4-BE49-F238E27FC236}">
                <a16:creationId xmlns:a16="http://schemas.microsoft.com/office/drawing/2014/main" id="{7B251317-EAA6-4240-A47C-3295F2E17CBF}"/>
              </a:ext>
            </a:extLst>
          </p:cNvPr>
          <p:cNvSpPr>
            <a:spLocks noGrp="1"/>
          </p:cNvSpPr>
          <p:nvPr/>
        </p:nvSpPr>
        <p:spPr>
          <a:xfrm>
            <a:off x="8496300" y="6534150"/>
            <a:ext cx="38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pPr>
            <a:r>
              <a:t>7</a:t>
            </a:r>
          </a:p>
        </p:txBody>
      </p:sp>
      <p:sp>
        <p:nvSpPr>
          <p:cNvPr id="4" name="Kod_1">
            <a:extLst>
              <a:ext uri="{FF2B5EF4-FFF2-40B4-BE49-F238E27FC236}">
                <a16:creationId xmlns:a16="http://schemas.microsoft.com/office/drawing/2014/main" id="{C0CD793F-E283-4D1F-B1C4-F750F4B5C0CE}"/>
              </a:ext>
            </a:extLst>
          </p:cNvPr>
          <p:cNvSpPr>
            <a:spLocks noGrp="1"/>
          </p:cNvSpPr>
          <p:nvPr/>
        </p:nvSpPr>
        <p:spPr>
          <a:xfrm>
            <a:off x="1257300" y="175260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scope.launch {</a:t>
            </a:r>
          </a:p>
        </p:txBody>
      </p:sp>
      <p:sp>
        <p:nvSpPr>
          <p:cNvPr id="5" name="Kod_2">
            <a:extLst>
              <a:ext uri="{FF2B5EF4-FFF2-40B4-BE49-F238E27FC236}">
                <a16:creationId xmlns:a16="http://schemas.microsoft.com/office/drawing/2014/main" id="{41D87209-88EE-46DC-9F79-E6C0360C71F0}"/>
              </a:ext>
            </a:extLst>
          </p:cNvPr>
          <p:cNvSpPr>
            <a:spLocks noGrp="1"/>
          </p:cNvSpPr>
          <p:nvPr/>
        </p:nvSpPr>
        <p:spPr>
          <a:xfrm>
            <a:off x="1257300" y="202882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log(</a:t>
            </a:r>
            <a:r>
              <a:rPr>
                <a:solidFill>
                  <a:srgbClr val="167529"/>
                </a:solidFill>
              </a:rPr>
              <a:t>"Zaczynamy przygotowanie"</a:t>
            </a:r>
            <a:r>
              <a:rPr>
                <a:solidFill>
                  <a:srgbClr val="161616"/>
                </a:solidFill>
              </a:rPr>
              <a:t>)</a:t>
            </a:r>
          </a:p>
        </p:txBody>
      </p:sp>
      <p:sp>
        <p:nvSpPr>
          <p:cNvPr id="6" name="Kod_3">
            <a:extLst>
              <a:ext uri="{FF2B5EF4-FFF2-40B4-BE49-F238E27FC236}">
                <a16:creationId xmlns:a16="http://schemas.microsoft.com/office/drawing/2014/main" id="{3CC60263-4937-4E30-8F21-D563347E25BD}"/>
              </a:ext>
            </a:extLst>
          </p:cNvPr>
          <p:cNvSpPr>
            <a:spLocks noGrp="1"/>
          </p:cNvSpPr>
          <p:nvPr/>
        </p:nvSpPr>
        <p:spPr>
          <a:xfrm>
            <a:off x="1257300" y="230505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</a:t>
            </a:r>
            <a:r>
              <a:rPr>
                <a:solidFill>
                  <a:srgbClr val="0039B4"/>
                </a:solidFill>
              </a:rPr>
              <a:t>val</a:t>
            </a:r>
            <a:r>
              <a:rPr>
                <a:solidFill>
                  <a:srgbClr val="161616"/>
                </a:solidFill>
              </a:rPr>
              <a:t> meat = launch {</a:t>
            </a:r>
          </a:p>
        </p:txBody>
      </p:sp>
      <p:sp>
        <p:nvSpPr>
          <p:cNvPr id="7" name="Kod_4">
            <a:extLst>
              <a:ext uri="{FF2B5EF4-FFF2-40B4-BE49-F238E27FC236}">
                <a16:creationId xmlns:a16="http://schemas.microsoft.com/office/drawing/2014/main" id="{39AE7182-42EC-47F8-8FD1-EE2E844158F2}"/>
              </a:ext>
            </a:extLst>
          </p:cNvPr>
          <p:cNvSpPr>
            <a:spLocks noGrp="1"/>
          </p:cNvSpPr>
          <p:nvPr/>
        </p:nvSpPr>
        <p:spPr>
          <a:xfrm>
            <a:off x="1257300" y="258127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    delay(</a:t>
            </a:r>
            <a:r>
              <a:rPr>
                <a:solidFill>
                  <a:srgbClr val="194BC4"/>
                </a:solidFill>
              </a:rPr>
              <a:t>2000</a:t>
            </a:r>
            <a:r>
              <a:rPr>
                <a:solidFill>
                  <a:srgbClr val="161616"/>
                </a:solidFill>
              </a:rPr>
              <a:t>)</a:t>
            </a:r>
          </a:p>
        </p:txBody>
      </p:sp>
      <p:sp>
        <p:nvSpPr>
          <p:cNvPr id="8" name="Kod_5">
            <a:extLst>
              <a:ext uri="{FF2B5EF4-FFF2-40B4-BE49-F238E27FC236}">
                <a16:creationId xmlns:a16="http://schemas.microsoft.com/office/drawing/2014/main" id="{5FACA7A5-34E6-4BAD-BA2C-A34643D08FF3}"/>
              </a:ext>
            </a:extLst>
          </p:cNvPr>
          <p:cNvSpPr>
            <a:spLocks noGrp="1"/>
          </p:cNvSpPr>
          <p:nvPr/>
        </p:nvSpPr>
        <p:spPr>
          <a:xfrm>
            <a:off x="1257300" y="285750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    log(</a:t>
            </a:r>
            <a:r>
              <a:rPr>
                <a:solidFill>
                  <a:srgbClr val="167529"/>
                </a:solidFill>
              </a:rPr>
              <a:t>"Mięso gotowe"</a:t>
            </a:r>
            <a:r>
              <a:rPr>
                <a:solidFill>
                  <a:srgbClr val="161616"/>
                </a:solidFill>
              </a:rPr>
              <a:t>)</a:t>
            </a:r>
          </a:p>
        </p:txBody>
      </p:sp>
      <p:sp>
        <p:nvSpPr>
          <p:cNvPr id="9" name="Kod_6">
            <a:extLst>
              <a:ext uri="{FF2B5EF4-FFF2-40B4-BE49-F238E27FC236}">
                <a16:creationId xmlns:a16="http://schemas.microsoft.com/office/drawing/2014/main" id="{2C9BB394-DEF2-4FA4-8EC4-69C0153CECA6}"/>
              </a:ext>
            </a:extLst>
          </p:cNvPr>
          <p:cNvSpPr>
            <a:spLocks noGrp="1"/>
          </p:cNvSpPr>
          <p:nvPr/>
        </p:nvSpPr>
        <p:spPr>
          <a:xfrm>
            <a:off x="1257300" y="313372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}</a:t>
            </a:r>
          </a:p>
        </p:txBody>
      </p:sp>
      <p:sp>
        <p:nvSpPr>
          <p:cNvPr id="10" name="Kod_7">
            <a:extLst>
              <a:ext uri="{FF2B5EF4-FFF2-40B4-BE49-F238E27FC236}">
                <a16:creationId xmlns:a16="http://schemas.microsoft.com/office/drawing/2014/main" id="{045853B2-CA6E-427A-BD56-179B72FBD3E1}"/>
              </a:ext>
            </a:extLst>
          </p:cNvPr>
          <p:cNvSpPr>
            <a:spLocks noGrp="1"/>
          </p:cNvSpPr>
          <p:nvPr/>
        </p:nvSpPr>
        <p:spPr>
          <a:xfrm>
            <a:off x="1257300" y="340995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</a:t>
            </a:r>
            <a:r>
              <a:rPr>
                <a:solidFill>
                  <a:srgbClr val="0039B4"/>
                </a:solidFill>
              </a:rPr>
              <a:t>val</a:t>
            </a:r>
            <a:r>
              <a:rPr>
                <a:solidFill>
                  <a:srgbClr val="161616"/>
                </a:solidFill>
              </a:rPr>
              <a:t> vegetables = launch {</a:t>
            </a:r>
          </a:p>
        </p:txBody>
      </p:sp>
      <p:sp>
        <p:nvSpPr>
          <p:cNvPr id="11" name="Kod_8">
            <a:extLst>
              <a:ext uri="{FF2B5EF4-FFF2-40B4-BE49-F238E27FC236}">
                <a16:creationId xmlns:a16="http://schemas.microsoft.com/office/drawing/2014/main" id="{FDEA1877-0154-41B6-869D-53A58FECFF2E}"/>
              </a:ext>
            </a:extLst>
          </p:cNvPr>
          <p:cNvSpPr>
            <a:spLocks noGrp="1"/>
          </p:cNvSpPr>
          <p:nvPr/>
        </p:nvSpPr>
        <p:spPr>
          <a:xfrm>
            <a:off x="1257300" y="368617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    delay(</a:t>
            </a:r>
            <a:r>
              <a:rPr>
                <a:solidFill>
                  <a:srgbClr val="194BC4"/>
                </a:solidFill>
              </a:rPr>
              <a:t>3000</a:t>
            </a:r>
            <a:r>
              <a:rPr>
                <a:solidFill>
                  <a:srgbClr val="161616"/>
                </a:solidFill>
              </a:rPr>
              <a:t>)</a:t>
            </a:r>
          </a:p>
        </p:txBody>
      </p:sp>
      <p:sp>
        <p:nvSpPr>
          <p:cNvPr id="12" name="Kod_9">
            <a:extLst>
              <a:ext uri="{FF2B5EF4-FFF2-40B4-BE49-F238E27FC236}">
                <a16:creationId xmlns:a16="http://schemas.microsoft.com/office/drawing/2014/main" id="{1A783A14-B7C7-49DA-988B-94CF8EFEAD62}"/>
              </a:ext>
            </a:extLst>
          </p:cNvPr>
          <p:cNvSpPr>
            <a:spLocks noGrp="1"/>
          </p:cNvSpPr>
          <p:nvPr/>
        </p:nvSpPr>
        <p:spPr>
          <a:xfrm>
            <a:off x="1257300" y="396240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    log(</a:t>
            </a:r>
            <a:r>
              <a:rPr>
                <a:solidFill>
                  <a:srgbClr val="167529"/>
                </a:solidFill>
              </a:rPr>
              <a:t>"Warzywa gotowe"</a:t>
            </a:r>
            <a:r>
              <a:rPr>
                <a:solidFill>
                  <a:srgbClr val="161616"/>
                </a:solidFill>
              </a:rPr>
              <a:t>)</a:t>
            </a:r>
          </a:p>
        </p:txBody>
      </p:sp>
      <p:sp>
        <p:nvSpPr>
          <p:cNvPr id="13" name="Kod_10">
            <a:extLst>
              <a:ext uri="{FF2B5EF4-FFF2-40B4-BE49-F238E27FC236}">
                <a16:creationId xmlns:a16="http://schemas.microsoft.com/office/drawing/2014/main" id="{D2EC014E-DA63-46EE-959B-19E230B10656}"/>
              </a:ext>
            </a:extLst>
          </p:cNvPr>
          <p:cNvSpPr>
            <a:spLocks noGrp="1"/>
          </p:cNvSpPr>
          <p:nvPr/>
        </p:nvSpPr>
        <p:spPr>
          <a:xfrm>
            <a:off x="1257300" y="423862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}</a:t>
            </a:r>
          </a:p>
        </p:txBody>
      </p:sp>
      <p:sp>
        <p:nvSpPr>
          <p:cNvPr id="14" name="Kod_11">
            <a:extLst>
              <a:ext uri="{FF2B5EF4-FFF2-40B4-BE49-F238E27FC236}">
                <a16:creationId xmlns:a16="http://schemas.microsoft.com/office/drawing/2014/main" id="{18DDF1C2-DBC0-4F18-8143-771EBAE2A1F3}"/>
              </a:ext>
            </a:extLst>
          </p:cNvPr>
          <p:cNvSpPr>
            <a:spLocks noGrp="1"/>
          </p:cNvSpPr>
          <p:nvPr/>
        </p:nvSpPr>
        <p:spPr>
          <a:xfrm>
            <a:off x="1257300" y="451485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log(</a:t>
            </a:r>
            <a:r>
              <a:rPr>
                <a:solidFill>
                  <a:srgbClr val="167529"/>
                </a:solidFill>
              </a:rPr>
              <a:t>"Zadania uruchomione"</a:t>
            </a:r>
            <a:r>
              <a:rPr>
                <a:solidFill>
                  <a:srgbClr val="161616"/>
                </a:solidFill>
              </a:rPr>
              <a:t>)</a:t>
            </a:r>
          </a:p>
        </p:txBody>
      </p:sp>
      <p:sp>
        <p:nvSpPr>
          <p:cNvPr id="15" name="Kod_12">
            <a:extLst>
              <a:ext uri="{FF2B5EF4-FFF2-40B4-BE49-F238E27FC236}">
                <a16:creationId xmlns:a16="http://schemas.microsoft.com/office/drawing/2014/main" id="{43D663AA-AF50-4A39-BC78-79A57B0D721C}"/>
              </a:ext>
            </a:extLst>
          </p:cNvPr>
          <p:cNvSpPr>
            <a:spLocks noGrp="1"/>
          </p:cNvSpPr>
          <p:nvPr/>
        </p:nvSpPr>
        <p:spPr>
          <a:xfrm>
            <a:off x="1257300" y="479107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}</a:t>
            </a:r>
          </a:p>
        </p:txBody>
      </p:sp>
      <p:sp>
        <p:nvSpPr>
          <p:cNvPr id="16" name="Tekst_18">
            <a:extLst>
              <a:ext uri="{FF2B5EF4-FFF2-40B4-BE49-F238E27FC236}">
                <a16:creationId xmlns:a16="http://schemas.microsoft.com/office/drawing/2014/main" id="{5E3DF0EA-770E-4C94-9958-7ADAACF27232}"/>
              </a:ext>
            </a:extLst>
          </p:cNvPr>
          <p:cNvSpPr>
            <a:spLocks noGrp="1"/>
          </p:cNvSpPr>
          <p:nvPr/>
        </p:nvSpPr>
        <p:spPr>
          <a:xfrm>
            <a:off x="1257300" y="6076950"/>
            <a:ext cx="76009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Oba launch są wywołane przed oczekiwaniem na zakończenie.</a:t>
            </a:r>
          </a:p>
        </p:txBody>
      </p:sp>
    </p:spTree>
    <p:extLst>
      <p:ext uri="{BB962C8B-B14F-4D97-AF65-F5344CB8AC3E}">
        <p14:creationId xmlns:p14="http://schemas.microsoft.com/office/powerpoint/2010/main" val="431459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Nagłówek">
            <a:extLst>
              <a:ext uri="{FF2B5EF4-FFF2-40B4-BE49-F238E27FC236}">
                <a16:creationId xmlns:a16="http://schemas.microsoft.com/office/drawing/2014/main" id="{FD535F8F-B089-4CE2-8D73-FC8412B82262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t>Oczekiwanie przez join()</a:t>
            </a:r>
          </a:p>
        </p:txBody>
      </p:sp>
      <p:sp>
        <p:nvSpPr>
          <p:cNvPr id="2" name="Tekst_19">
            <a:extLst>
              <a:ext uri="{FF2B5EF4-FFF2-40B4-BE49-F238E27FC236}">
                <a16:creationId xmlns:a16="http://schemas.microsoft.com/office/drawing/2014/main" id="{ACA53BEA-A968-4C19-AD83-6CA4E32D57E7}"/>
              </a:ext>
            </a:extLst>
          </p:cNvPr>
          <p:cNvSpPr>
            <a:spLocks noGrp="1"/>
          </p:cNvSpPr>
          <p:nvPr/>
        </p:nvSpPr>
        <p:spPr>
          <a:xfrm>
            <a:off x="1257300" y="1000125"/>
            <a:ext cx="76009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join() ustala, kiedy wykona się dalszy kod rodzica.</a:t>
            </a:r>
          </a:p>
        </p:txBody>
      </p:sp>
      <p:sp>
        <p:nvSpPr>
          <p:cNvPr id="3" name="Numer slajdu">
            <a:extLst>
              <a:ext uri="{FF2B5EF4-FFF2-40B4-BE49-F238E27FC236}">
                <a16:creationId xmlns:a16="http://schemas.microsoft.com/office/drawing/2014/main" id="{0B4F39D7-D94E-46DA-BA39-43D261889962}"/>
              </a:ext>
            </a:extLst>
          </p:cNvPr>
          <p:cNvSpPr>
            <a:spLocks noGrp="1"/>
          </p:cNvSpPr>
          <p:nvPr/>
        </p:nvSpPr>
        <p:spPr>
          <a:xfrm>
            <a:off x="8496300" y="6534150"/>
            <a:ext cx="38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pPr>
            <a:r>
              <a:t>8</a:t>
            </a:r>
          </a:p>
        </p:txBody>
      </p:sp>
      <p:sp>
        <p:nvSpPr>
          <p:cNvPr id="4" name="Kod_1">
            <a:extLst>
              <a:ext uri="{FF2B5EF4-FFF2-40B4-BE49-F238E27FC236}">
                <a16:creationId xmlns:a16="http://schemas.microsoft.com/office/drawing/2014/main" id="{5C7172A9-FC6B-432F-98EA-9E685DC16F5F}"/>
              </a:ext>
            </a:extLst>
          </p:cNvPr>
          <p:cNvSpPr>
            <a:spLocks noGrp="1"/>
          </p:cNvSpPr>
          <p:nvPr/>
        </p:nvSpPr>
        <p:spPr>
          <a:xfrm>
            <a:off x="1257300" y="175260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scope.launch {</a:t>
            </a:r>
          </a:p>
        </p:txBody>
      </p:sp>
      <p:sp>
        <p:nvSpPr>
          <p:cNvPr id="5" name="Kod_2">
            <a:extLst>
              <a:ext uri="{FF2B5EF4-FFF2-40B4-BE49-F238E27FC236}">
                <a16:creationId xmlns:a16="http://schemas.microsoft.com/office/drawing/2014/main" id="{13001B8C-1DB4-429C-8648-F9B9D479C40A}"/>
              </a:ext>
            </a:extLst>
          </p:cNvPr>
          <p:cNvSpPr>
            <a:spLocks noGrp="1"/>
          </p:cNvSpPr>
          <p:nvPr/>
        </p:nvSpPr>
        <p:spPr>
          <a:xfrm>
            <a:off x="1257300" y="202882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</a:t>
            </a:r>
            <a:r>
              <a:rPr>
                <a:solidFill>
                  <a:srgbClr val="0039B4"/>
                </a:solidFill>
              </a:rPr>
              <a:t>val</a:t>
            </a:r>
            <a:r>
              <a:rPr>
                <a:solidFill>
                  <a:srgbClr val="161616"/>
                </a:solidFill>
              </a:rPr>
              <a:t> meat = launch {</a:t>
            </a:r>
          </a:p>
        </p:txBody>
      </p:sp>
      <p:sp>
        <p:nvSpPr>
          <p:cNvPr id="6" name="Kod_3">
            <a:extLst>
              <a:ext uri="{FF2B5EF4-FFF2-40B4-BE49-F238E27FC236}">
                <a16:creationId xmlns:a16="http://schemas.microsoft.com/office/drawing/2014/main" id="{D351023C-B474-4BD0-B62D-F0D9422B628A}"/>
              </a:ext>
            </a:extLst>
          </p:cNvPr>
          <p:cNvSpPr>
            <a:spLocks noGrp="1"/>
          </p:cNvSpPr>
          <p:nvPr/>
        </p:nvSpPr>
        <p:spPr>
          <a:xfrm>
            <a:off x="1257300" y="230505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    delay(</a:t>
            </a:r>
            <a:r>
              <a:rPr>
                <a:solidFill>
                  <a:srgbClr val="194BC4"/>
                </a:solidFill>
              </a:rPr>
              <a:t>2000</a:t>
            </a:r>
            <a:r>
              <a:rPr>
                <a:solidFill>
                  <a:srgbClr val="161616"/>
                </a:solidFill>
              </a:rPr>
              <a:t>)</a:t>
            </a:r>
          </a:p>
        </p:txBody>
      </p:sp>
      <p:sp>
        <p:nvSpPr>
          <p:cNvPr id="7" name="Kod_4">
            <a:extLst>
              <a:ext uri="{FF2B5EF4-FFF2-40B4-BE49-F238E27FC236}">
                <a16:creationId xmlns:a16="http://schemas.microsoft.com/office/drawing/2014/main" id="{506A89AD-1E06-4831-83D1-C8763869CD3D}"/>
              </a:ext>
            </a:extLst>
          </p:cNvPr>
          <p:cNvSpPr>
            <a:spLocks noGrp="1"/>
          </p:cNvSpPr>
          <p:nvPr/>
        </p:nvSpPr>
        <p:spPr>
          <a:xfrm>
            <a:off x="1257300" y="258127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    log(</a:t>
            </a:r>
            <a:r>
              <a:rPr>
                <a:solidFill>
                  <a:srgbClr val="167529"/>
                </a:solidFill>
              </a:rPr>
              <a:t>"Mięso gotowe"</a:t>
            </a:r>
            <a:r>
              <a:rPr>
                <a:solidFill>
                  <a:srgbClr val="161616"/>
                </a:solidFill>
              </a:rPr>
              <a:t>)</a:t>
            </a:r>
          </a:p>
        </p:txBody>
      </p:sp>
      <p:sp>
        <p:nvSpPr>
          <p:cNvPr id="8" name="Kod_5">
            <a:extLst>
              <a:ext uri="{FF2B5EF4-FFF2-40B4-BE49-F238E27FC236}">
                <a16:creationId xmlns:a16="http://schemas.microsoft.com/office/drawing/2014/main" id="{2FF29C8E-E226-4344-9254-B2E9A6FA9611}"/>
              </a:ext>
            </a:extLst>
          </p:cNvPr>
          <p:cNvSpPr>
            <a:spLocks noGrp="1"/>
          </p:cNvSpPr>
          <p:nvPr/>
        </p:nvSpPr>
        <p:spPr>
          <a:xfrm>
            <a:off x="1257300" y="285750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}</a:t>
            </a:r>
          </a:p>
        </p:txBody>
      </p:sp>
      <p:sp>
        <p:nvSpPr>
          <p:cNvPr id="9" name="Kod_6">
            <a:extLst>
              <a:ext uri="{FF2B5EF4-FFF2-40B4-BE49-F238E27FC236}">
                <a16:creationId xmlns:a16="http://schemas.microsoft.com/office/drawing/2014/main" id="{3CB96E71-FAD6-40D5-99B9-47ECC42AE1BA}"/>
              </a:ext>
            </a:extLst>
          </p:cNvPr>
          <p:cNvSpPr>
            <a:spLocks noGrp="1"/>
          </p:cNvSpPr>
          <p:nvPr/>
        </p:nvSpPr>
        <p:spPr>
          <a:xfrm>
            <a:off x="1257300" y="313372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</a:t>
            </a:r>
            <a:r>
              <a:rPr>
                <a:solidFill>
                  <a:srgbClr val="0039B4"/>
                </a:solidFill>
              </a:rPr>
              <a:t>val</a:t>
            </a:r>
            <a:r>
              <a:rPr>
                <a:solidFill>
                  <a:srgbClr val="161616"/>
                </a:solidFill>
              </a:rPr>
              <a:t> vegetables = launch {</a:t>
            </a:r>
          </a:p>
        </p:txBody>
      </p:sp>
      <p:sp>
        <p:nvSpPr>
          <p:cNvPr id="10" name="Kod_7">
            <a:extLst>
              <a:ext uri="{FF2B5EF4-FFF2-40B4-BE49-F238E27FC236}">
                <a16:creationId xmlns:a16="http://schemas.microsoft.com/office/drawing/2014/main" id="{8DC177B0-EFD8-4113-AFD3-3A9282047006}"/>
              </a:ext>
            </a:extLst>
          </p:cNvPr>
          <p:cNvSpPr>
            <a:spLocks noGrp="1"/>
          </p:cNvSpPr>
          <p:nvPr/>
        </p:nvSpPr>
        <p:spPr>
          <a:xfrm>
            <a:off x="1257300" y="340995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    delay(</a:t>
            </a:r>
            <a:r>
              <a:rPr>
                <a:solidFill>
                  <a:srgbClr val="194BC4"/>
                </a:solidFill>
              </a:rPr>
              <a:t>3000</a:t>
            </a:r>
            <a:r>
              <a:rPr>
                <a:solidFill>
                  <a:srgbClr val="161616"/>
                </a:solidFill>
              </a:rPr>
              <a:t>)</a:t>
            </a:r>
          </a:p>
        </p:txBody>
      </p:sp>
      <p:sp>
        <p:nvSpPr>
          <p:cNvPr id="11" name="Kod_8">
            <a:extLst>
              <a:ext uri="{FF2B5EF4-FFF2-40B4-BE49-F238E27FC236}">
                <a16:creationId xmlns:a16="http://schemas.microsoft.com/office/drawing/2014/main" id="{68E48149-4477-48BA-95F3-B50665ED29F5}"/>
              </a:ext>
            </a:extLst>
          </p:cNvPr>
          <p:cNvSpPr>
            <a:spLocks noGrp="1"/>
          </p:cNvSpPr>
          <p:nvPr/>
        </p:nvSpPr>
        <p:spPr>
          <a:xfrm>
            <a:off x="1257300" y="368617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    log(</a:t>
            </a:r>
            <a:r>
              <a:rPr>
                <a:solidFill>
                  <a:srgbClr val="167529"/>
                </a:solidFill>
              </a:rPr>
              <a:t>"Warzywa gotowe"</a:t>
            </a:r>
            <a:r>
              <a:rPr>
                <a:solidFill>
                  <a:srgbClr val="161616"/>
                </a:solidFill>
              </a:rPr>
              <a:t>)</a:t>
            </a:r>
          </a:p>
        </p:txBody>
      </p:sp>
      <p:sp>
        <p:nvSpPr>
          <p:cNvPr id="12" name="Kod_9">
            <a:extLst>
              <a:ext uri="{FF2B5EF4-FFF2-40B4-BE49-F238E27FC236}">
                <a16:creationId xmlns:a16="http://schemas.microsoft.com/office/drawing/2014/main" id="{E87CC760-AAA0-4B1E-A2EF-2004FC051920}"/>
              </a:ext>
            </a:extLst>
          </p:cNvPr>
          <p:cNvSpPr>
            <a:spLocks noGrp="1"/>
          </p:cNvSpPr>
          <p:nvPr/>
        </p:nvSpPr>
        <p:spPr>
          <a:xfrm>
            <a:off x="1257300" y="396240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}</a:t>
            </a:r>
          </a:p>
        </p:txBody>
      </p:sp>
      <p:sp>
        <p:nvSpPr>
          <p:cNvPr id="13" name="Kod_10">
            <a:extLst>
              <a:ext uri="{FF2B5EF4-FFF2-40B4-BE49-F238E27FC236}">
                <a16:creationId xmlns:a16="http://schemas.microsoft.com/office/drawing/2014/main" id="{AADD329F-34CF-4734-84D2-11C5A5862CDD}"/>
              </a:ext>
            </a:extLst>
          </p:cNvPr>
          <p:cNvSpPr>
            <a:spLocks noGrp="1"/>
          </p:cNvSpPr>
          <p:nvPr/>
        </p:nvSpPr>
        <p:spPr>
          <a:xfrm>
            <a:off x="1257300" y="4238625"/>
            <a:ext cx="7600950" cy="276225"/>
          </a:xfrm>
          <a:prstGeom prst="rect">
            <a:avLst/>
          </a:prstGeom>
          <a:solidFill>
            <a:srgbClr val="E6F3FA"/>
          </a:solidFill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vegetables.join()</a:t>
            </a:r>
          </a:p>
        </p:txBody>
      </p:sp>
      <p:sp>
        <p:nvSpPr>
          <p:cNvPr id="14" name="Kod_11">
            <a:extLst>
              <a:ext uri="{FF2B5EF4-FFF2-40B4-BE49-F238E27FC236}">
                <a16:creationId xmlns:a16="http://schemas.microsoft.com/office/drawing/2014/main" id="{6C497E66-2E33-4B73-BC32-754CB2C73940}"/>
              </a:ext>
            </a:extLst>
          </p:cNvPr>
          <p:cNvSpPr>
            <a:spLocks noGrp="1"/>
          </p:cNvSpPr>
          <p:nvPr/>
        </p:nvSpPr>
        <p:spPr>
          <a:xfrm>
            <a:off x="1257300" y="4514850"/>
            <a:ext cx="7600950" cy="276225"/>
          </a:xfrm>
          <a:prstGeom prst="rect">
            <a:avLst/>
          </a:prstGeom>
          <a:solidFill>
            <a:srgbClr val="E6F3FA"/>
          </a:solidFill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meat.join()</a:t>
            </a:r>
          </a:p>
        </p:txBody>
      </p:sp>
      <p:sp>
        <p:nvSpPr>
          <p:cNvPr id="15" name="Kod_12">
            <a:extLst>
              <a:ext uri="{FF2B5EF4-FFF2-40B4-BE49-F238E27FC236}">
                <a16:creationId xmlns:a16="http://schemas.microsoft.com/office/drawing/2014/main" id="{85D5C050-6E04-4095-8B28-A2A82079C3F1}"/>
              </a:ext>
            </a:extLst>
          </p:cNvPr>
          <p:cNvSpPr>
            <a:spLocks noGrp="1"/>
          </p:cNvSpPr>
          <p:nvPr/>
        </p:nvSpPr>
        <p:spPr>
          <a:xfrm>
            <a:off x="1257300" y="4791075"/>
            <a:ext cx="7600950" cy="276225"/>
          </a:xfrm>
          <a:prstGeom prst="rect">
            <a:avLst/>
          </a:prstGeom>
          <a:solidFill>
            <a:srgbClr val="E6F3FA"/>
          </a:solidFill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log(</a:t>
            </a:r>
            <a:r>
              <a:rPr>
                <a:solidFill>
                  <a:srgbClr val="167529"/>
                </a:solidFill>
              </a:rPr>
              <a:t>"Można podawać posiłek"</a:t>
            </a:r>
            <a:r>
              <a:rPr>
                <a:solidFill>
                  <a:srgbClr val="161616"/>
                </a:solidFill>
              </a:rPr>
              <a:t>)</a:t>
            </a:r>
          </a:p>
        </p:txBody>
      </p:sp>
      <p:sp>
        <p:nvSpPr>
          <p:cNvPr id="16" name="Kod_13">
            <a:extLst>
              <a:ext uri="{FF2B5EF4-FFF2-40B4-BE49-F238E27FC236}">
                <a16:creationId xmlns:a16="http://schemas.microsoft.com/office/drawing/2014/main" id="{03CE2DB9-FF41-4EAC-BFB0-9C59ED90D2F3}"/>
              </a:ext>
            </a:extLst>
          </p:cNvPr>
          <p:cNvSpPr>
            <a:spLocks noGrp="1"/>
          </p:cNvSpPr>
          <p:nvPr/>
        </p:nvSpPr>
        <p:spPr>
          <a:xfrm>
            <a:off x="1257300" y="506730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}</a:t>
            </a:r>
          </a:p>
        </p:txBody>
      </p:sp>
      <p:sp>
        <p:nvSpPr>
          <p:cNvPr id="17" name="Tekst_20">
            <a:extLst>
              <a:ext uri="{FF2B5EF4-FFF2-40B4-BE49-F238E27FC236}">
                <a16:creationId xmlns:a16="http://schemas.microsoft.com/office/drawing/2014/main" id="{9456A46A-EE74-44F3-8144-EADB1AC097F6}"/>
              </a:ext>
            </a:extLst>
          </p:cNvPr>
          <p:cNvSpPr>
            <a:spLocks noGrp="1"/>
          </p:cNvSpPr>
          <p:nvPr/>
        </p:nvSpPr>
        <p:spPr>
          <a:xfrm>
            <a:off x="1257300" y="6076950"/>
            <a:ext cx="76009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Dwa join() po kolei nie zmieniają uruchomionych zadań w sekwencyjne.</a:t>
            </a:r>
          </a:p>
        </p:txBody>
      </p:sp>
    </p:spTree>
    <p:extLst>
      <p:ext uri="{BB962C8B-B14F-4D97-AF65-F5344CB8AC3E}">
        <p14:creationId xmlns:p14="http://schemas.microsoft.com/office/powerpoint/2010/main" val="4314592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Nagłówek">
            <a:extLst>
              <a:ext uri="{FF2B5EF4-FFF2-40B4-BE49-F238E27FC236}">
                <a16:creationId xmlns:a16="http://schemas.microsoft.com/office/drawing/2014/main" id="{3CE702F8-C444-4514-88E2-8EA8ABEE69EC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t>Rodzic bez jawnego join()</a:t>
            </a:r>
          </a:p>
        </p:txBody>
      </p:sp>
      <p:sp>
        <p:nvSpPr>
          <p:cNvPr id="2" name="Tekst_21">
            <a:extLst>
              <a:ext uri="{FF2B5EF4-FFF2-40B4-BE49-F238E27FC236}">
                <a16:creationId xmlns:a16="http://schemas.microsoft.com/office/drawing/2014/main" id="{244EA64F-D21F-4266-B16D-0AC8FDA57DE9}"/>
              </a:ext>
            </a:extLst>
          </p:cNvPr>
          <p:cNvSpPr>
            <a:spLocks noGrp="1"/>
          </p:cNvSpPr>
          <p:nvPr/>
        </p:nvSpPr>
        <p:spPr>
          <a:xfrm>
            <a:off x="1257300" y="1000125"/>
            <a:ext cx="76009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Zakończenie bloku kodu i zakończenie Job to różne momenty.</a:t>
            </a:r>
          </a:p>
        </p:txBody>
      </p:sp>
      <p:sp>
        <p:nvSpPr>
          <p:cNvPr id="3" name="Numer slajdu">
            <a:extLst>
              <a:ext uri="{FF2B5EF4-FFF2-40B4-BE49-F238E27FC236}">
                <a16:creationId xmlns:a16="http://schemas.microsoft.com/office/drawing/2014/main" id="{CAB8802E-F4D2-41AC-82C4-AA44AC165739}"/>
              </a:ext>
            </a:extLst>
          </p:cNvPr>
          <p:cNvSpPr>
            <a:spLocks noGrp="1"/>
          </p:cNvSpPr>
          <p:nvPr/>
        </p:nvSpPr>
        <p:spPr>
          <a:xfrm>
            <a:off x="8496300" y="6534150"/>
            <a:ext cx="38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pPr>
            <a:r>
              <a:t>9</a:t>
            </a:r>
          </a:p>
        </p:txBody>
      </p:sp>
      <p:sp>
        <p:nvSpPr>
          <p:cNvPr id="4" name="Kod_1">
            <a:extLst>
              <a:ext uri="{FF2B5EF4-FFF2-40B4-BE49-F238E27FC236}">
                <a16:creationId xmlns:a16="http://schemas.microsoft.com/office/drawing/2014/main" id="{C780F1C0-ACD3-40E9-8854-82EF3C79C093}"/>
              </a:ext>
            </a:extLst>
          </p:cNvPr>
          <p:cNvSpPr>
            <a:spLocks noGrp="1"/>
          </p:cNvSpPr>
          <p:nvPr/>
        </p:nvSpPr>
        <p:spPr>
          <a:xfrm>
            <a:off x="1257300" y="175260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9B4"/>
                </a:solidFill>
              </a:rPr>
              <a:t>val</a:t>
            </a:r>
            <a:r>
              <a:rPr>
                <a:solidFill>
                  <a:srgbClr val="161616"/>
                </a:solidFill>
              </a:rPr>
              <a:t> parent = scope.launch {</a:t>
            </a:r>
          </a:p>
        </p:txBody>
      </p:sp>
      <p:sp>
        <p:nvSpPr>
          <p:cNvPr id="5" name="Kod_2">
            <a:extLst>
              <a:ext uri="{FF2B5EF4-FFF2-40B4-BE49-F238E27FC236}">
                <a16:creationId xmlns:a16="http://schemas.microsoft.com/office/drawing/2014/main" id="{E7418110-1774-448B-9FE1-262460ED8460}"/>
              </a:ext>
            </a:extLst>
          </p:cNvPr>
          <p:cNvSpPr>
            <a:spLocks noGrp="1"/>
          </p:cNvSpPr>
          <p:nvPr/>
        </p:nvSpPr>
        <p:spPr>
          <a:xfrm>
            <a:off x="1257300" y="202882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launch { delay(</a:t>
            </a:r>
            <a:r>
              <a:rPr>
                <a:solidFill>
                  <a:srgbClr val="194BC4"/>
                </a:solidFill>
              </a:rPr>
              <a:t>2000</a:t>
            </a:r>
            <a:r>
              <a:rPr>
                <a:solidFill>
                  <a:srgbClr val="161616"/>
                </a:solidFill>
              </a:rPr>
              <a:t>); log(</a:t>
            </a:r>
            <a:r>
              <a:rPr>
                <a:solidFill>
                  <a:srgbClr val="167529"/>
                </a:solidFill>
              </a:rPr>
              <a:t>"Mięso gotowe"</a:t>
            </a:r>
            <a:r>
              <a:rPr>
                <a:solidFill>
                  <a:srgbClr val="161616"/>
                </a:solidFill>
              </a:rPr>
              <a:t>) }</a:t>
            </a:r>
          </a:p>
        </p:txBody>
      </p:sp>
      <p:sp>
        <p:nvSpPr>
          <p:cNvPr id="6" name="Kod_3">
            <a:extLst>
              <a:ext uri="{FF2B5EF4-FFF2-40B4-BE49-F238E27FC236}">
                <a16:creationId xmlns:a16="http://schemas.microsoft.com/office/drawing/2014/main" id="{74057C2F-032F-4EF5-8658-481ABAC18180}"/>
              </a:ext>
            </a:extLst>
          </p:cNvPr>
          <p:cNvSpPr>
            <a:spLocks noGrp="1"/>
          </p:cNvSpPr>
          <p:nvPr/>
        </p:nvSpPr>
        <p:spPr>
          <a:xfrm>
            <a:off x="1257300" y="230505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launch { delay(</a:t>
            </a:r>
            <a:r>
              <a:rPr>
                <a:solidFill>
                  <a:srgbClr val="194BC4"/>
                </a:solidFill>
              </a:rPr>
              <a:t>3000</a:t>
            </a:r>
            <a:r>
              <a:rPr>
                <a:solidFill>
                  <a:srgbClr val="161616"/>
                </a:solidFill>
              </a:rPr>
              <a:t>); log(</a:t>
            </a:r>
            <a:r>
              <a:rPr>
                <a:solidFill>
                  <a:srgbClr val="167529"/>
                </a:solidFill>
              </a:rPr>
              <a:t>"Warzywa gotowe"</a:t>
            </a:r>
            <a:r>
              <a:rPr>
                <a:solidFill>
                  <a:srgbClr val="161616"/>
                </a:solidFill>
              </a:rPr>
              <a:t>) }</a:t>
            </a:r>
          </a:p>
        </p:txBody>
      </p:sp>
      <p:sp>
        <p:nvSpPr>
          <p:cNvPr id="7" name="Kod_4">
            <a:extLst>
              <a:ext uri="{FF2B5EF4-FFF2-40B4-BE49-F238E27FC236}">
                <a16:creationId xmlns:a16="http://schemas.microsoft.com/office/drawing/2014/main" id="{8FA19B92-BB62-4504-B31B-A6F0B4D0DC21}"/>
              </a:ext>
            </a:extLst>
          </p:cNvPr>
          <p:cNvSpPr>
            <a:spLocks noGrp="1"/>
          </p:cNvSpPr>
          <p:nvPr/>
        </p:nvSpPr>
        <p:spPr>
          <a:xfrm>
            <a:off x="1257300" y="258127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log(</a:t>
            </a:r>
            <a:r>
              <a:rPr>
                <a:solidFill>
                  <a:srgbClr val="167529"/>
                </a:solidFill>
              </a:rPr>
              <a:t>"Koniec bloku rodzica"</a:t>
            </a:r>
            <a:r>
              <a:rPr>
                <a:solidFill>
                  <a:srgbClr val="161616"/>
                </a:solidFill>
              </a:rPr>
              <a:t>)</a:t>
            </a:r>
          </a:p>
        </p:txBody>
      </p:sp>
      <p:sp>
        <p:nvSpPr>
          <p:cNvPr id="8" name="Kod_5">
            <a:extLst>
              <a:ext uri="{FF2B5EF4-FFF2-40B4-BE49-F238E27FC236}">
                <a16:creationId xmlns:a16="http://schemas.microsoft.com/office/drawing/2014/main" id="{F18C3830-58C9-488C-BBC4-FD89FCD79058}"/>
              </a:ext>
            </a:extLst>
          </p:cNvPr>
          <p:cNvSpPr>
            <a:spLocks noGrp="1"/>
          </p:cNvSpPr>
          <p:nvPr/>
        </p:nvSpPr>
        <p:spPr>
          <a:xfrm>
            <a:off x="1257300" y="285750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}</a:t>
            </a:r>
          </a:p>
        </p:txBody>
      </p:sp>
      <p:sp>
        <p:nvSpPr>
          <p:cNvPr id="9" name="Tekst_22">
            <a:extLst>
              <a:ext uri="{FF2B5EF4-FFF2-40B4-BE49-F238E27FC236}">
                <a16:creationId xmlns:a16="http://schemas.microsoft.com/office/drawing/2014/main" id="{81519F59-B91D-46CC-A3BF-FA5823C5A523}"/>
              </a:ext>
            </a:extLst>
          </p:cNvPr>
          <p:cNvSpPr>
            <a:spLocks noGrp="1"/>
          </p:cNvSpPr>
          <p:nvPr/>
        </p:nvSpPr>
        <p:spPr>
          <a:xfrm>
            <a:off x="1257300" y="3429000"/>
            <a:ext cx="76009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Komunikat</a:t>
            </a:r>
          </a:p>
        </p:txBody>
      </p:sp>
      <p:sp>
        <p:nvSpPr>
          <p:cNvPr id="10" name="Tekst_23">
            <a:extLst>
              <a:ext uri="{FF2B5EF4-FFF2-40B4-BE49-F238E27FC236}">
                <a16:creationId xmlns:a16="http://schemas.microsoft.com/office/drawing/2014/main" id="{F9A8AAF8-D8B0-4FB9-B2B2-272A9E83BAC0}"/>
              </a:ext>
            </a:extLst>
          </p:cNvPr>
          <p:cNvSpPr>
            <a:spLocks noGrp="1"/>
          </p:cNvSpPr>
          <p:nvPr/>
        </p:nvSpPr>
        <p:spPr>
          <a:xfrm>
            <a:off x="1257300" y="3714750"/>
            <a:ext cx="76009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Może pojawić się przed komunikatami dzieci.</a:t>
            </a:r>
          </a:p>
        </p:txBody>
      </p:sp>
      <p:sp>
        <p:nvSpPr>
          <p:cNvPr id="11" name="Tekst_24">
            <a:extLst>
              <a:ext uri="{FF2B5EF4-FFF2-40B4-BE49-F238E27FC236}">
                <a16:creationId xmlns:a16="http://schemas.microsoft.com/office/drawing/2014/main" id="{0712941F-2F59-4DBC-8BF5-C46C8A5E95CE}"/>
              </a:ext>
            </a:extLst>
          </p:cNvPr>
          <p:cNvSpPr>
            <a:spLocks noGrp="1"/>
          </p:cNvSpPr>
          <p:nvPr/>
        </p:nvSpPr>
        <p:spPr>
          <a:xfrm>
            <a:off x="1257300" y="4248150"/>
            <a:ext cx="76009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Zakończenie Job</a:t>
            </a:r>
          </a:p>
        </p:txBody>
      </p:sp>
      <p:sp>
        <p:nvSpPr>
          <p:cNvPr id="12" name="Tekst_25">
            <a:extLst>
              <a:ext uri="{FF2B5EF4-FFF2-40B4-BE49-F238E27FC236}">
                <a16:creationId xmlns:a16="http://schemas.microsoft.com/office/drawing/2014/main" id="{5DA5DA72-E09F-4F00-937B-9635376FF452}"/>
              </a:ext>
            </a:extLst>
          </p:cNvPr>
          <p:cNvSpPr>
            <a:spLocks noGrp="1"/>
          </p:cNvSpPr>
          <p:nvPr/>
        </p:nvSpPr>
        <p:spPr>
          <a:xfrm>
            <a:off x="1257300" y="4533900"/>
            <a:ext cx="76009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Rodzic nadal czeka na zakończenie swoich dzieci.</a:t>
            </a:r>
          </a:p>
        </p:txBody>
      </p:sp>
    </p:spTree>
    <p:extLst>
      <p:ext uri="{BB962C8B-B14F-4D97-AF65-F5344CB8AC3E}">
        <p14:creationId xmlns:p14="http://schemas.microsoft.com/office/powerpoint/2010/main" val="4314592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Nagłówek">
            <a:extLst>
              <a:ext uri="{FF2B5EF4-FFF2-40B4-BE49-F238E27FC236}">
                <a16:creationId xmlns:a16="http://schemas.microsoft.com/office/drawing/2014/main" id="{CCFDF59B-CDFD-4D35-A417-B9513101F6A8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t>CoroutineScope i coroutineScope</a:t>
            </a:r>
          </a:p>
        </p:txBody>
      </p:sp>
      <p:sp>
        <p:nvSpPr>
          <p:cNvPr id="2" name="Tekst_27">
            <a:extLst>
              <a:ext uri="{FF2B5EF4-FFF2-40B4-BE49-F238E27FC236}">
                <a16:creationId xmlns:a16="http://schemas.microsoft.com/office/drawing/2014/main" id="{08E7C363-F6BA-449A-A6B5-56C844B6482E}"/>
              </a:ext>
            </a:extLst>
          </p:cNvPr>
          <p:cNvSpPr>
            <a:spLocks noGrp="1"/>
          </p:cNvSpPr>
          <p:nvPr/>
        </p:nvSpPr>
        <p:spPr>
          <a:xfrm>
            <a:off x="1257300" y="1000125"/>
            <a:ext cx="76009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coroutineScope { ... } grupuje podzadania jednej funkcji suspend.</a:t>
            </a:r>
          </a:p>
        </p:txBody>
      </p:sp>
      <p:sp>
        <p:nvSpPr>
          <p:cNvPr id="3" name="Numer slajdu">
            <a:extLst>
              <a:ext uri="{FF2B5EF4-FFF2-40B4-BE49-F238E27FC236}">
                <a16:creationId xmlns:a16="http://schemas.microsoft.com/office/drawing/2014/main" id="{4F75C6A3-85B1-47F5-8590-4347E9CB6062}"/>
              </a:ext>
            </a:extLst>
          </p:cNvPr>
          <p:cNvSpPr>
            <a:spLocks noGrp="1"/>
          </p:cNvSpPr>
          <p:nvPr/>
        </p:nvSpPr>
        <p:spPr>
          <a:xfrm>
            <a:off x="8496300" y="6534150"/>
            <a:ext cx="38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  <p:sp>
        <p:nvSpPr>
          <p:cNvPr id="4" name="Kod_1">
            <a:extLst>
              <a:ext uri="{FF2B5EF4-FFF2-40B4-BE49-F238E27FC236}">
                <a16:creationId xmlns:a16="http://schemas.microsoft.com/office/drawing/2014/main" id="{73F505AF-C26A-40B5-994A-EABB478F8816}"/>
              </a:ext>
            </a:extLst>
          </p:cNvPr>
          <p:cNvSpPr>
            <a:spLocks noGrp="1"/>
          </p:cNvSpPr>
          <p:nvPr/>
        </p:nvSpPr>
        <p:spPr>
          <a:xfrm>
            <a:off x="1257300" y="175260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9B4"/>
                </a:solidFill>
              </a:rPr>
              <a:t>suspend</a:t>
            </a:r>
            <a:r>
              <a:rPr>
                <a:solidFill>
                  <a:srgbClr val="161616"/>
                </a:solidFill>
              </a:rPr>
              <a:t> </a:t>
            </a:r>
            <a:r>
              <a:rPr>
                <a:solidFill>
                  <a:srgbClr val="0039B4"/>
                </a:solidFill>
              </a:rPr>
              <a:t>fun</a:t>
            </a:r>
            <a:r>
              <a:rPr>
                <a:solidFill>
                  <a:srgbClr val="161616"/>
                </a:solidFill>
              </a:rPr>
              <a:t> prepareMeal(log: (</a:t>
            </a:r>
            <a:r>
              <a:rPr>
                <a:solidFill>
                  <a:srgbClr val="80521C"/>
                </a:solidFill>
              </a:rPr>
              <a:t>String</a:t>
            </a:r>
            <a:r>
              <a:rPr>
                <a:solidFill>
                  <a:srgbClr val="161616"/>
                </a:solidFill>
              </a:rPr>
              <a:t>) -&gt; </a:t>
            </a:r>
            <a:r>
              <a:rPr>
                <a:solidFill>
                  <a:srgbClr val="80521C"/>
                </a:solidFill>
              </a:rPr>
              <a:t>Unit</a:t>
            </a:r>
            <a:r>
              <a:rPr>
                <a:solidFill>
                  <a:srgbClr val="161616"/>
                </a:solidFill>
              </a:rPr>
              <a:t>) {</a:t>
            </a:r>
          </a:p>
        </p:txBody>
      </p:sp>
      <p:sp>
        <p:nvSpPr>
          <p:cNvPr id="5" name="Kod_2">
            <a:extLst>
              <a:ext uri="{FF2B5EF4-FFF2-40B4-BE49-F238E27FC236}">
                <a16:creationId xmlns:a16="http://schemas.microsoft.com/office/drawing/2014/main" id="{32002425-5E74-4704-AAB4-7C861A1AA8D2}"/>
              </a:ext>
            </a:extLst>
          </p:cNvPr>
          <p:cNvSpPr>
            <a:spLocks noGrp="1"/>
          </p:cNvSpPr>
          <p:nvPr/>
        </p:nvSpPr>
        <p:spPr>
          <a:xfrm>
            <a:off x="1257300" y="202882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coroutineScope {</a:t>
            </a:r>
          </a:p>
        </p:txBody>
      </p:sp>
      <p:sp>
        <p:nvSpPr>
          <p:cNvPr id="6" name="Kod_3">
            <a:extLst>
              <a:ext uri="{FF2B5EF4-FFF2-40B4-BE49-F238E27FC236}">
                <a16:creationId xmlns:a16="http://schemas.microsoft.com/office/drawing/2014/main" id="{519DC5B3-82B5-439E-9695-E72C1C029253}"/>
              </a:ext>
            </a:extLst>
          </p:cNvPr>
          <p:cNvSpPr>
            <a:spLocks noGrp="1"/>
          </p:cNvSpPr>
          <p:nvPr/>
        </p:nvSpPr>
        <p:spPr>
          <a:xfrm>
            <a:off x="1257300" y="230505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    launch { delay(</a:t>
            </a:r>
            <a:r>
              <a:rPr>
                <a:solidFill>
                  <a:srgbClr val="194BC4"/>
                </a:solidFill>
              </a:rPr>
              <a:t>2000</a:t>
            </a:r>
            <a:r>
              <a:rPr>
                <a:solidFill>
                  <a:srgbClr val="161616"/>
                </a:solidFill>
              </a:rPr>
              <a:t>); log(</a:t>
            </a:r>
            <a:r>
              <a:rPr>
                <a:solidFill>
                  <a:srgbClr val="167529"/>
                </a:solidFill>
              </a:rPr>
              <a:t>"Mięso gotowe"</a:t>
            </a:r>
            <a:r>
              <a:rPr>
                <a:solidFill>
                  <a:srgbClr val="161616"/>
                </a:solidFill>
              </a:rPr>
              <a:t>) }</a:t>
            </a:r>
          </a:p>
        </p:txBody>
      </p:sp>
      <p:sp>
        <p:nvSpPr>
          <p:cNvPr id="7" name="Kod_4">
            <a:extLst>
              <a:ext uri="{FF2B5EF4-FFF2-40B4-BE49-F238E27FC236}">
                <a16:creationId xmlns:a16="http://schemas.microsoft.com/office/drawing/2014/main" id="{065CE097-388D-4953-84DE-1C7A200CF4BD}"/>
              </a:ext>
            </a:extLst>
          </p:cNvPr>
          <p:cNvSpPr>
            <a:spLocks noGrp="1"/>
          </p:cNvSpPr>
          <p:nvPr/>
        </p:nvSpPr>
        <p:spPr>
          <a:xfrm>
            <a:off x="1257300" y="258127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    launch { delay(</a:t>
            </a:r>
            <a:r>
              <a:rPr>
                <a:solidFill>
                  <a:srgbClr val="194BC4"/>
                </a:solidFill>
              </a:rPr>
              <a:t>3000</a:t>
            </a:r>
            <a:r>
              <a:rPr>
                <a:solidFill>
                  <a:srgbClr val="161616"/>
                </a:solidFill>
              </a:rPr>
              <a:t>); log(</a:t>
            </a:r>
            <a:r>
              <a:rPr>
                <a:solidFill>
                  <a:srgbClr val="167529"/>
                </a:solidFill>
              </a:rPr>
              <a:t>"Warzywa gotowe"</a:t>
            </a:r>
            <a:r>
              <a:rPr>
                <a:solidFill>
                  <a:srgbClr val="161616"/>
                </a:solidFill>
              </a:rPr>
              <a:t>) }</a:t>
            </a:r>
          </a:p>
        </p:txBody>
      </p:sp>
      <p:sp>
        <p:nvSpPr>
          <p:cNvPr id="8" name="Kod_5">
            <a:extLst>
              <a:ext uri="{FF2B5EF4-FFF2-40B4-BE49-F238E27FC236}">
                <a16:creationId xmlns:a16="http://schemas.microsoft.com/office/drawing/2014/main" id="{E6C39894-469B-4CD0-81AA-1B22187F508E}"/>
              </a:ext>
            </a:extLst>
          </p:cNvPr>
          <p:cNvSpPr>
            <a:spLocks noGrp="1"/>
          </p:cNvSpPr>
          <p:nvPr/>
        </p:nvSpPr>
        <p:spPr>
          <a:xfrm>
            <a:off x="1257300" y="285750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}</a:t>
            </a:r>
          </a:p>
        </p:txBody>
      </p:sp>
      <p:sp>
        <p:nvSpPr>
          <p:cNvPr id="9" name="Kod_6">
            <a:extLst>
              <a:ext uri="{FF2B5EF4-FFF2-40B4-BE49-F238E27FC236}">
                <a16:creationId xmlns:a16="http://schemas.microsoft.com/office/drawing/2014/main" id="{26FB3E53-E3E6-406E-B1D9-BE8E75E434D6}"/>
              </a:ext>
            </a:extLst>
          </p:cNvPr>
          <p:cNvSpPr>
            <a:spLocks noGrp="1"/>
          </p:cNvSpPr>
          <p:nvPr/>
        </p:nvSpPr>
        <p:spPr>
          <a:xfrm>
            <a:off x="1257300" y="313372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log(</a:t>
            </a:r>
            <a:r>
              <a:rPr>
                <a:solidFill>
                  <a:srgbClr val="167529"/>
                </a:solidFill>
              </a:rPr>
              <a:t>"Można podawać posiłek"</a:t>
            </a:r>
            <a:r>
              <a:rPr>
                <a:solidFill>
                  <a:srgbClr val="161616"/>
                </a:solidFill>
              </a:rPr>
              <a:t>)</a:t>
            </a:r>
          </a:p>
        </p:txBody>
      </p:sp>
      <p:sp>
        <p:nvSpPr>
          <p:cNvPr id="10" name="Kod_7">
            <a:extLst>
              <a:ext uri="{FF2B5EF4-FFF2-40B4-BE49-F238E27FC236}">
                <a16:creationId xmlns:a16="http://schemas.microsoft.com/office/drawing/2014/main" id="{E7D09B3C-358B-4B7D-9A3B-AC077AA8BCC5}"/>
              </a:ext>
            </a:extLst>
          </p:cNvPr>
          <p:cNvSpPr>
            <a:spLocks noGrp="1"/>
          </p:cNvSpPr>
          <p:nvPr/>
        </p:nvSpPr>
        <p:spPr>
          <a:xfrm>
            <a:off x="1257300" y="340995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}</a:t>
            </a:r>
          </a:p>
        </p:txBody>
      </p:sp>
      <p:sp>
        <p:nvSpPr>
          <p:cNvPr id="11" name="Tekst_28">
            <a:extLst>
              <a:ext uri="{FF2B5EF4-FFF2-40B4-BE49-F238E27FC236}">
                <a16:creationId xmlns:a16="http://schemas.microsoft.com/office/drawing/2014/main" id="{7E0AF4DF-2BCA-4C14-A5F1-61CEB3D521ED}"/>
              </a:ext>
            </a:extLst>
          </p:cNvPr>
          <p:cNvSpPr>
            <a:spLocks noGrp="1"/>
          </p:cNvSpPr>
          <p:nvPr/>
        </p:nvSpPr>
        <p:spPr>
          <a:xfrm>
            <a:off x="1257300" y="3895725"/>
            <a:ext cx="76009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CoroutineScope</a:t>
            </a:r>
          </a:p>
        </p:txBody>
      </p:sp>
      <p:sp>
        <p:nvSpPr>
          <p:cNvPr id="12" name="Tekst_29">
            <a:extLst>
              <a:ext uri="{FF2B5EF4-FFF2-40B4-BE49-F238E27FC236}">
                <a16:creationId xmlns:a16="http://schemas.microsoft.com/office/drawing/2014/main" id="{600C82A4-FD9C-4B77-9912-9A99554905BB}"/>
              </a:ext>
            </a:extLst>
          </p:cNvPr>
          <p:cNvSpPr>
            <a:spLocks noGrp="1"/>
          </p:cNvSpPr>
          <p:nvPr/>
        </p:nvSpPr>
        <p:spPr>
          <a:xfrm>
            <a:off x="1257300" y="4181475"/>
            <a:ext cx="76009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Typ zakresu dostępnego np. w scope.launch.</a:t>
            </a:r>
          </a:p>
        </p:txBody>
      </p:sp>
      <p:sp>
        <p:nvSpPr>
          <p:cNvPr id="13" name="Tekst_30">
            <a:extLst>
              <a:ext uri="{FF2B5EF4-FFF2-40B4-BE49-F238E27FC236}">
                <a16:creationId xmlns:a16="http://schemas.microsoft.com/office/drawing/2014/main" id="{756C9CE5-8A04-4FAA-864E-FD1554885DB3}"/>
              </a:ext>
            </a:extLst>
          </p:cNvPr>
          <p:cNvSpPr>
            <a:spLocks noGrp="1"/>
          </p:cNvSpPr>
          <p:nvPr/>
        </p:nvSpPr>
        <p:spPr>
          <a:xfrm>
            <a:off x="1257300" y="4714875"/>
            <a:ext cx="76009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coroutineScope { ... }</a:t>
            </a:r>
          </a:p>
        </p:txBody>
      </p:sp>
      <p:sp>
        <p:nvSpPr>
          <p:cNvPr id="14" name="Tekst_31">
            <a:extLst>
              <a:ext uri="{FF2B5EF4-FFF2-40B4-BE49-F238E27FC236}">
                <a16:creationId xmlns:a16="http://schemas.microsoft.com/office/drawing/2014/main" id="{EECDC558-89E4-4D7C-A802-55E49DD75C23}"/>
              </a:ext>
            </a:extLst>
          </p:cNvPr>
          <p:cNvSpPr>
            <a:spLocks noGrp="1"/>
          </p:cNvSpPr>
          <p:nvPr/>
        </p:nvSpPr>
        <p:spPr>
          <a:xfrm>
            <a:off x="1257300" y="5000625"/>
            <a:ext cx="76009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Czeka na cały blok i jego dzieci, następnie zwraca wynik.</a:t>
            </a:r>
          </a:p>
        </p:txBody>
      </p:sp>
      <p:sp>
        <p:nvSpPr>
          <p:cNvPr id="15" name="Tekst_32">
            <a:extLst>
              <a:ext uri="{FF2B5EF4-FFF2-40B4-BE49-F238E27FC236}">
                <a16:creationId xmlns:a16="http://schemas.microsoft.com/office/drawing/2014/main" id="{B4EEF232-45FF-4C18-8C97-81F9BE298E6E}"/>
              </a:ext>
            </a:extLst>
          </p:cNvPr>
          <p:cNvSpPr>
            <a:spLocks noGrp="1"/>
          </p:cNvSpPr>
          <p:nvPr/>
        </p:nvSpPr>
        <p:spPr>
          <a:xfrm>
            <a:off x="1257300" y="6076950"/>
            <a:ext cx="76009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Po poprawnym zakończeniu coroutineScope oba składniki są gotowe.</a:t>
            </a:r>
          </a:p>
        </p:txBody>
      </p:sp>
    </p:spTree>
    <p:extLst>
      <p:ext uri="{BB962C8B-B14F-4D97-AF65-F5344CB8AC3E}">
        <p14:creationId xmlns:p14="http://schemas.microsoft.com/office/powerpoint/2010/main" val="431459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Nagłówek">
            <a:extLst>
              <a:ext uri="{FF2B5EF4-FFF2-40B4-BE49-F238E27FC236}">
                <a16:creationId xmlns:a16="http://schemas.microsoft.com/office/drawing/2014/main" id="{89F02CB9-E608-41F7-A075-2B6499980FAC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t>Anulowanie całej operacji</a:t>
            </a:r>
          </a:p>
        </p:txBody>
      </p:sp>
      <p:sp>
        <p:nvSpPr>
          <p:cNvPr id="2" name="Tekst_33">
            <a:extLst>
              <a:ext uri="{FF2B5EF4-FFF2-40B4-BE49-F238E27FC236}">
                <a16:creationId xmlns:a16="http://schemas.microsoft.com/office/drawing/2014/main" id="{C1AB883C-3EF4-40B3-8191-CD78F1B43E70}"/>
              </a:ext>
            </a:extLst>
          </p:cNvPr>
          <p:cNvSpPr>
            <a:spLocks noGrp="1"/>
          </p:cNvSpPr>
          <p:nvPr/>
        </p:nvSpPr>
        <p:spPr>
          <a:xfrm>
            <a:off x="1257300" y="1000125"/>
            <a:ext cx="76009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Stan isCooking steruje interfejsem, a Job pozwala anulować zadanie.</a:t>
            </a:r>
          </a:p>
        </p:txBody>
      </p:sp>
      <p:sp>
        <p:nvSpPr>
          <p:cNvPr id="3" name="Numer slajdu">
            <a:extLst>
              <a:ext uri="{FF2B5EF4-FFF2-40B4-BE49-F238E27FC236}">
                <a16:creationId xmlns:a16="http://schemas.microsoft.com/office/drawing/2014/main" id="{04566369-DBB3-4351-BF18-7CAD29FE644E}"/>
              </a:ext>
            </a:extLst>
          </p:cNvPr>
          <p:cNvSpPr>
            <a:spLocks noGrp="1"/>
          </p:cNvSpPr>
          <p:nvPr/>
        </p:nvSpPr>
        <p:spPr>
          <a:xfrm>
            <a:off x="8496300" y="6534150"/>
            <a:ext cx="38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pPr>
            <a:r>
              <a:t>11</a:t>
            </a:r>
          </a:p>
        </p:txBody>
      </p:sp>
      <p:sp>
        <p:nvSpPr>
          <p:cNvPr id="4" name="Kod_1">
            <a:extLst>
              <a:ext uri="{FF2B5EF4-FFF2-40B4-BE49-F238E27FC236}">
                <a16:creationId xmlns:a16="http://schemas.microsoft.com/office/drawing/2014/main" id="{24809695-E54C-4047-8D15-76A649AB8089}"/>
              </a:ext>
            </a:extLst>
          </p:cNvPr>
          <p:cNvSpPr>
            <a:spLocks noGrp="1"/>
          </p:cNvSpPr>
          <p:nvPr/>
        </p:nvSpPr>
        <p:spPr>
          <a:xfrm>
            <a:off x="1257300" y="1752600"/>
            <a:ext cx="7600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9B4"/>
                </a:solidFill>
              </a:rPr>
              <a:t>var</a:t>
            </a:r>
            <a:r>
              <a:rPr>
                <a:solidFill>
                  <a:srgbClr val="161616"/>
                </a:solidFill>
              </a:rPr>
              <a:t> cookingJob </a:t>
            </a:r>
            <a:r>
              <a:rPr>
                <a:solidFill>
                  <a:srgbClr val="0039B4"/>
                </a:solidFill>
              </a:rPr>
              <a:t>by</a:t>
            </a:r>
            <a:r>
              <a:rPr>
                <a:solidFill>
                  <a:srgbClr val="161616"/>
                </a:solidFill>
              </a:rPr>
              <a:t> remember { mutableStateOf&lt;</a:t>
            </a:r>
            <a:r>
              <a:rPr>
                <a:solidFill>
                  <a:srgbClr val="80521C"/>
                </a:solidFill>
              </a:rPr>
              <a:t>Job</a:t>
            </a:r>
            <a:r>
              <a:rPr>
                <a:solidFill>
                  <a:srgbClr val="161616"/>
                </a:solidFill>
              </a:rPr>
              <a:t>?&gt;(</a:t>
            </a:r>
            <a:r>
              <a:rPr>
                <a:solidFill>
                  <a:srgbClr val="0039B4"/>
                </a:solidFill>
              </a:rPr>
              <a:t>null</a:t>
            </a:r>
            <a:r>
              <a:rPr>
                <a:solidFill>
                  <a:srgbClr val="161616"/>
                </a:solidFill>
              </a:rPr>
              <a:t>) }</a:t>
            </a:r>
          </a:p>
        </p:txBody>
      </p:sp>
      <p:sp>
        <p:nvSpPr>
          <p:cNvPr id="5" name="Kod_2">
            <a:extLst>
              <a:ext uri="{FF2B5EF4-FFF2-40B4-BE49-F238E27FC236}">
                <a16:creationId xmlns:a16="http://schemas.microsoft.com/office/drawing/2014/main" id="{6B0DAA74-D1A4-428E-AE0B-206BC805CCAF}"/>
              </a:ext>
            </a:extLst>
          </p:cNvPr>
          <p:cNvSpPr>
            <a:spLocks noGrp="1"/>
          </p:cNvSpPr>
          <p:nvPr/>
        </p:nvSpPr>
        <p:spPr>
          <a:xfrm>
            <a:off x="1257300" y="2009775"/>
            <a:ext cx="7600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9B4"/>
                </a:solidFill>
              </a:rPr>
              <a:t>var</a:t>
            </a:r>
            <a:r>
              <a:rPr>
                <a:solidFill>
                  <a:srgbClr val="161616"/>
                </a:solidFill>
              </a:rPr>
              <a:t> isCooking </a:t>
            </a:r>
            <a:r>
              <a:rPr>
                <a:solidFill>
                  <a:srgbClr val="0039B4"/>
                </a:solidFill>
              </a:rPr>
              <a:t>by</a:t>
            </a:r>
            <a:r>
              <a:rPr>
                <a:solidFill>
                  <a:srgbClr val="161616"/>
                </a:solidFill>
              </a:rPr>
              <a:t> remember { mutableStateOf(</a:t>
            </a:r>
            <a:r>
              <a:rPr>
                <a:solidFill>
                  <a:srgbClr val="0039B4"/>
                </a:solidFill>
              </a:rPr>
              <a:t>false</a:t>
            </a:r>
            <a:r>
              <a:rPr>
                <a:solidFill>
                  <a:srgbClr val="161616"/>
                </a:solidFill>
              </a:rPr>
              <a:t>) }</a:t>
            </a:r>
          </a:p>
        </p:txBody>
      </p:sp>
      <p:sp>
        <p:nvSpPr>
          <p:cNvPr id="6" name="Kod_3">
            <a:extLst>
              <a:ext uri="{FF2B5EF4-FFF2-40B4-BE49-F238E27FC236}">
                <a16:creationId xmlns:a16="http://schemas.microsoft.com/office/drawing/2014/main" id="{AB5C086D-4AA5-4922-89FB-89D7378AA820}"/>
              </a:ext>
            </a:extLst>
          </p:cNvPr>
          <p:cNvSpPr>
            <a:spLocks noGrp="1"/>
          </p:cNvSpPr>
          <p:nvPr/>
        </p:nvSpPr>
        <p:spPr>
          <a:xfrm>
            <a:off x="1257300" y="2266950"/>
            <a:ext cx="7600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</a:t>
            </a:r>
          </a:p>
        </p:txBody>
      </p:sp>
      <p:sp>
        <p:nvSpPr>
          <p:cNvPr id="7" name="Kod_4">
            <a:extLst>
              <a:ext uri="{FF2B5EF4-FFF2-40B4-BE49-F238E27FC236}">
                <a16:creationId xmlns:a16="http://schemas.microsoft.com/office/drawing/2014/main" id="{4FC8C470-1D0B-4C60-B922-5B7D903730E2}"/>
              </a:ext>
            </a:extLst>
          </p:cNvPr>
          <p:cNvSpPr>
            <a:spLocks noGrp="1"/>
          </p:cNvSpPr>
          <p:nvPr/>
        </p:nvSpPr>
        <p:spPr>
          <a:xfrm>
            <a:off x="1257300" y="2524125"/>
            <a:ext cx="7600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B7278"/>
                </a:solidFill>
              </a:rPr>
              <a:t>// Kliknięcie „Rozpocznij” (gdy !isCooking):</a:t>
            </a:r>
          </a:p>
        </p:txBody>
      </p:sp>
      <p:sp>
        <p:nvSpPr>
          <p:cNvPr id="8" name="Kod_5">
            <a:extLst>
              <a:ext uri="{FF2B5EF4-FFF2-40B4-BE49-F238E27FC236}">
                <a16:creationId xmlns:a16="http://schemas.microsoft.com/office/drawing/2014/main" id="{DB80D487-7198-4D8B-AD8A-D597956550F9}"/>
              </a:ext>
            </a:extLst>
          </p:cNvPr>
          <p:cNvSpPr>
            <a:spLocks noGrp="1"/>
          </p:cNvSpPr>
          <p:nvPr/>
        </p:nvSpPr>
        <p:spPr>
          <a:xfrm>
            <a:off x="1257300" y="2781300"/>
            <a:ext cx="7600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isCooking = </a:t>
            </a:r>
            <a:r>
              <a:rPr>
                <a:solidFill>
                  <a:srgbClr val="0039B4"/>
                </a:solidFill>
              </a:rPr>
              <a:t>true</a:t>
            </a:r>
          </a:p>
        </p:txBody>
      </p:sp>
      <p:sp>
        <p:nvSpPr>
          <p:cNvPr id="9" name="Kod_6">
            <a:extLst>
              <a:ext uri="{FF2B5EF4-FFF2-40B4-BE49-F238E27FC236}">
                <a16:creationId xmlns:a16="http://schemas.microsoft.com/office/drawing/2014/main" id="{E30EE81D-E4AF-41A0-A903-153BB18F4BF0}"/>
              </a:ext>
            </a:extLst>
          </p:cNvPr>
          <p:cNvSpPr>
            <a:spLocks noGrp="1"/>
          </p:cNvSpPr>
          <p:nvPr/>
        </p:nvSpPr>
        <p:spPr>
          <a:xfrm>
            <a:off x="1257300" y="3038475"/>
            <a:ext cx="7600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cookingJob = scope.launch {</a:t>
            </a:r>
          </a:p>
        </p:txBody>
      </p:sp>
      <p:sp>
        <p:nvSpPr>
          <p:cNvPr id="10" name="Kod_7">
            <a:extLst>
              <a:ext uri="{FF2B5EF4-FFF2-40B4-BE49-F238E27FC236}">
                <a16:creationId xmlns:a16="http://schemas.microsoft.com/office/drawing/2014/main" id="{25AD4E5D-46D7-4A13-9904-603ED65CD947}"/>
              </a:ext>
            </a:extLst>
          </p:cNvPr>
          <p:cNvSpPr>
            <a:spLocks noGrp="1"/>
          </p:cNvSpPr>
          <p:nvPr/>
        </p:nvSpPr>
        <p:spPr>
          <a:xfrm>
            <a:off x="1257300" y="3295650"/>
            <a:ext cx="7600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</a:t>
            </a:r>
            <a:r>
              <a:rPr>
                <a:solidFill>
                  <a:srgbClr val="0039B4"/>
                </a:solidFill>
              </a:rPr>
              <a:t>try</a:t>
            </a:r>
            <a:r>
              <a:rPr>
                <a:solidFill>
                  <a:srgbClr val="161616"/>
                </a:solidFill>
              </a:rPr>
              <a:t> {</a:t>
            </a:r>
          </a:p>
        </p:txBody>
      </p:sp>
      <p:sp>
        <p:nvSpPr>
          <p:cNvPr id="11" name="Kod_8">
            <a:extLst>
              <a:ext uri="{FF2B5EF4-FFF2-40B4-BE49-F238E27FC236}">
                <a16:creationId xmlns:a16="http://schemas.microsoft.com/office/drawing/2014/main" id="{9422E35E-C4FF-40C0-BB66-EB436C65B9B9}"/>
              </a:ext>
            </a:extLst>
          </p:cNvPr>
          <p:cNvSpPr>
            <a:spLocks noGrp="1"/>
          </p:cNvSpPr>
          <p:nvPr/>
        </p:nvSpPr>
        <p:spPr>
          <a:xfrm>
            <a:off x="1257300" y="3552825"/>
            <a:ext cx="7600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    prepareMeal(log)</a:t>
            </a:r>
          </a:p>
        </p:txBody>
      </p:sp>
      <p:sp>
        <p:nvSpPr>
          <p:cNvPr id="12" name="Kod_9">
            <a:extLst>
              <a:ext uri="{FF2B5EF4-FFF2-40B4-BE49-F238E27FC236}">
                <a16:creationId xmlns:a16="http://schemas.microsoft.com/office/drawing/2014/main" id="{FC0FF58A-2C5B-4404-B5AC-D8A6168AB525}"/>
              </a:ext>
            </a:extLst>
          </p:cNvPr>
          <p:cNvSpPr>
            <a:spLocks noGrp="1"/>
          </p:cNvSpPr>
          <p:nvPr/>
        </p:nvSpPr>
        <p:spPr>
          <a:xfrm>
            <a:off x="1257300" y="3810000"/>
            <a:ext cx="7600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} </a:t>
            </a:r>
            <a:r>
              <a:rPr>
                <a:solidFill>
                  <a:srgbClr val="0039B4"/>
                </a:solidFill>
              </a:rPr>
              <a:t>finally</a:t>
            </a:r>
            <a:r>
              <a:rPr>
                <a:solidFill>
                  <a:srgbClr val="161616"/>
                </a:solidFill>
              </a:rPr>
              <a:t> {</a:t>
            </a:r>
          </a:p>
        </p:txBody>
      </p:sp>
      <p:sp>
        <p:nvSpPr>
          <p:cNvPr id="13" name="Kod_10">
            <a:extLst>
              <a:ext uri="{FF2B5EF4-FFF2-40B4-BE49-F238E27FC236}">
                <a16:creationId xmlns:a16="http://schemas.microsoft.com/office/drawing/2014/main" id="{3B4D11A1-CC81-4D82-A662-D651357D9BA5}"/>
              </a:ext>
            </a:extLst>
          </p:cNvPr>
          <p:cNvSpPr>
            <a:spLocks noGrp="1"/>
          </p:cNvSpPr>
          <p:nvPr/>
        </p:nvSpPr>
        <p:spPr>
          <a:xfrm>
            <a:off x="1257300" y="4067175"/>
            <a:ext cx="7600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    isCooking = </a:t>
            </a:r>
            <a:r>
              <a:rPr>
                <a:solidFill>
                  <a:srgbClr val="0039B4"/>
                </a:solidFill>
              </a:rPr>
              <a:t>false</a:t>
            </a:r>
          </a:p>
        </p:txBody>
      </p:sp>
      <p:sp>
        <p:nvSpPr>
          <p:cNvPr id="14" name="Kod_11">
            <a:extLst>
              <a:ext uri="{FF2B5EF4-FFF2-40B4-BE49-F238E27FC236}">
                <a16:creationId xmlns:a16="http://schemas.microsoft.com/office/drawing/2014/main" id="{49E22449-BDF1-4858-ACD8-366C2FD28D19}"/>
              </a:ext>
            </a:extLst>
          </p:cNvPr>
          <p:cNvSpPr>
            <a:spLocks noGrp="1"/>
          </p:cNvSpPr>
          <p:nvPr/>
        </p:nvSpPr>
        <p:spPr>
          <a:xfrm>
            <a:off x="1257300" y="4324350"/>
            <a:ext cx="7600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}</a:t>
            </a:r>
          </a:p>
        </p:txBody>
      </p:sp>
      <p:sp>
        <p:nvSpPr>
          <p:cNvPr id="15" name="Kod_12">
            <a:extLst>
              <a:ext uri="{FF2B5EF4-FFF2-40B4-BE49-F238E27FC236}">
                <a16:creationId xmlns:a16="http://schemas.microsoft.com/office/drawing/2014/main" id="{4D2FAD3F-369C-490B-905E-F6FCEF5DA880}"/>
              </a:ext>
            </a:extLst>
          </p:cNvPr>
          <p:cNvSpPr>
            <a:spLocks noGrp="1"/>
          </p:cNvSpPr>
          <p:nvPr/>
        </p:nvSpPr>
        <p:spPr>
          <a:xfrm>
            <a:off x="1257300" y="4581525"/>
            <a:ext cx="7600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}</a:t>
            </a:r>
          </a:p>
        </p:txBody>
      </p:sp>
      <p:sp>
        <p:nvSpPr>
          <p:cNvPr id="16" name="Kod_13">
            <a:extLst>
              <a:ext uri="{FF2B5EF4-FFF2-40B4-BE49-F238E27FC236}">
                <a16:creationId xmlns:a16="http://schemas.microsoft.com/office/drawing/2014/main" id="{12F1B752-8EE0-4529-B925-4EB8AE779478}"/>
              </a:ext>
            </a:extLst>
          </p:cNvPr>
          <p:cNvSpPr>
            <a:spLocks noGrp="1"/>
          </p:cNvSpPr>
          <p:nvPr/>
        </p:nvSpPr>
        <p:spPr>
          <a:xfrm>
            <a:off x="1257300" y="4838700"/>
            <a:ext cx="7600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B7278"/>
                </a:solidFill>
              </a:rPr>
              <a:t>// Kliknięcie „Anuluj”:</a:t>
            </a:r>
          </a:p>
        </p:txBody>
      </p:sp>
      <p:sp>
        <p:nvSpPr>
          <p:cNvPr id="17" name="Kod_14">
            <a:extLst>
              <a:ext uri="{FF2B5EF4-FFF2-40B4-BE49-F238E27FC236}">
                <a16:creationId xmlns:a16="http://schemas.microsoft.com/office/drawing/2014/main" id="{AC7CC7F3-DC26-4585-B736-0406F213B9AE}"/>
              </a:ext>
            </a:extLst>
          </p:cNvPr>
          <p:cNvSpPr>
            <a:spLocks noGrp="1"/>
          </p:cNvSpPr>
          <p:nvPr/>
        </p:nvSpPr>
        <p:spPr>
          <a:xfrm>
            <a:off x="1257300" y="5095875"/>
            <a:ext cx="7600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cookingJob?.cancel()</a:t>
            </a:r>
          </a:p>
        </p:txBody>
      </p:sp>
      <p:sp>
        <p:nvSpPr>
          <p:cNvPr id="18" name="Tekst_34">
            <a:extLst>
              <a:ext uri="{FF2B5EF4-FFF2-40B4-BE49-F238E27FC236}">
                <a16:creationId xmlns:a16="http://schemas.microsoft.com/office/drawing/2014/main" id="{AC4C7047-7D24-4591-9735-B14BABF4E719}"/>
              </a:ext>
            </a:extLst>
          </p:cNvPr>
          <p:cNvSpPr>
            <a:spLocks noGrp="1"/>
          </p:cNvSpPr>
          <p:nvPr/>
        </p:nvSpPr>
        <p:spPr>
          <a:xfrm>
            <a:off x="1257300" y="6076950"/>
            <a:ext cx="76009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Anulowanie rodzica obejmuje obie korutyny przygotowujące składniki.</a:t>
            </a:r>
          </a:p>
        </p:txBody>
      </p:sp>
    </p:spTree>
    <p:extLst>
      <p:ext uri="{BB962C8B-B14F-4D97-AF65-F5344CB8AC3E}">
        <p14:creationId xmlns:p14="http://schemas.microsoft.com/office/powerpoint/2010/main" val="4314592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Nagłówek">
            <a:extLst>
              <a:ext uri="{FF2B5EF4-FFF2-40B4-BE49-F238E27FC236}">
                <a16:creationId xmlns:a16="http://schemas.microsoft.com/office/drawing/2014/main" id="{052C99DE-29CE-435D-9CAD-A54801E45E17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t>Anulowanie jest kooperatywne</a:t>
            </a:r>
          </a:p>
        </p:txBody>
      </p:sp>
      <p:sp>
        <p:nvSpPr>
          <p:cNvPr id="2" name="Tekst_35">
            <a:extLst>
              <a:ext uri="{FF2B5EF4-FFF2-40B4-BE49-F238E27FC236}">
                <a16:creationId xmlns:a16="http://schemas.microsoft.com/office/drawing/2014/main" id="{F000BDB4-1564-4ED3-9E23-C69D83F983EB}"/>
              </a:ext>
            </a:extLst>
          </p:cNvPr>
          <p:cNvSpPr>
            <a:spLocks noGrp="1"/>
          </p:cNvSpPr>
          <p:nvPr/>
        </p:nvSpPr>
        <p:spPr>
          <a:xfrm>
            <a:off x="1257300" y="1000125"/>
            <a:ext cx="76009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delay() reaguje na anulowanie. Sekcja finally wykonuje sprzątanie.</a:t>
            </a:r>
          </a:p>
        </p:txBody>
      </p:sp>
      <p:sp>
        <p:nvSpPr>
          <p:cNvPr id="3" name="Numer slajdu">
            <a:extLst>
              <a:ext uri="{FF2B5EF4-FFF2-40B4-BE49-F238E27FC236}">
                <a16:creationId xmlns:a16="http://schemas.microsoft.com/office/drawing/2014/main" id="{23A657EB-EC31-4765-82E9-6CA189F10D0F}"/>
              </a:ext>
            </a:extLst>
          </p:cNvPr>
          <p:cNvSpPr>
            <a:spLocks noGrp="1"/>
          </p:cNvSpPr>
          <p:nvPr/>
        </p:nvSpPr>
        <p:spPr>
          <a:xfrm>
            <a:off x="8496300" y="6534150"/>
            <a:ext cx="38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pPr>
            <a:r>
              <a:t>12</a:t>
            </a:r>
          </a:p>
        </p:txBody>
      </p:sp>
      <p:sp>
        <p:nvSpPr>
          <p:cNvPr id="4" name="Kod_1">
            <a:extLst>
              <a:ext uri="{FF2B5EF4-FFF2-40B4-BE49-F238E27FC236}">
                <a16:creationId xmlns:a16="http://schemas.microsoft.com/office/drawing/2014/main" id="{44B214D3-FB1F-4CDA-9EA2-0660FFC678F7}"/>
              </a:ext>
            </a:extLst>
          </p:cNvPr>
          <p:cNvSpPr>
            <a:spLocks noGrp="1"/>
          </p:cNvSpPr>
          <p:nvPr/>
        </p:nvSpPr>
        <p:spPr>
          <a:xfrm>
            <a:off x="1257300" y="175260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launch {</a:t>
            </a:r>
          </a:p>
        </p:txBody>
      </p:sp>
      <p:sp>
        <p:nvSpPr>
          <p:cNvPr id="5" name="Kod_2">
            <a:extLst>
              <a:ext uri="{FF2B5EF4-FFF2-40B4-BE49-F238E27FC236}">
                <a16:creationId xmlns:a16="http://schemas.microsoft.com/office/drawing/2014/main" id="{91ACC3DA-E30F-4B3E-B4B9-A0B55D93D8EE}"/>
              </a:ext>
            </a:extLst>
          </p:cNvPr>
          <p:cNvSpPr>
            <a:spLocks noGrp="1"/>
          </p:cNvSpPr>
          <p:nvPr/>
        </p:nvSpPr>
        <p:spPr>
          <a:xfrm>
            <a:off x="1257300" y="202882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</a:t>
            </a:r>
            <a:r>
              <a:rPr>
                <a:solidFill>
                  <a:srgbClr val="0039B4"/>
                </a:solidFill>
              </a:rPr>
              <a:t>try</a:t>
            </a:r>
            <a:r>
              <a:rPr>
                <a:solidFill>
                  <a:srgbClr val="161616"/>
                </a:solidFill>
              </a:rPr>
              <a:t> {</a:t>
            </a:r>
          </a:p>
        </p:txBody>
      </p:sp>
      <p:sp>
        <p:nvSpPr>
          <p:cNvPr id="6" name="Kod_3">
            <a:extLst>
              <a:ext uri="{FF2B5EF4-FFF2-40B4-BE49-F238E27FC236}">
                <a16:creationId xmlns:a16="http://schemas.microsoft.com/office/drawing/2014/main" id="{2472A469-B698-47B8-95C9-626A7C5C0E01}"/>
              </a:ext>
            </a:extLst>
          </p:cNvPr>
          <p:cNvSpPr>
            <a:spLocks noGrp="1"/>
          </p:cNvSpPr>
          <p:nvPr/>
        </p:nvSpPr>
        <p:spPr>
          <a:xfrm>
            <a:off x="1257300" y="230505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    delay(</a:t>
            </a:r>
            <a:r>
              <a:rPr>
                <a:solidFill>
                  <a:srgbClr val="194BC4"/>
                </a:solidFill>
              </a:rPr>
              <a:t>3000</a:t>
            </a:r>
            <a:r>
              <a:rPr>
                <a:solidFill>
                  <a:srgbClr val="161616"/>
                </a:solidFill>
              </a:rPr>
              <a:t>)</a:t>
            </a:r>
          </a:p>
        </p:txBody>
      </p:sp>
      <p:sp>
        <p:nvSpPr>
          <p:cNvPr id="7" name="Kod_4">
            <a:extLst>
              <a:ext uri="{FF2B5EF4-FFF2-40B4-BE49-F238E27FC236}">
                <a16:creationId xmlns:a16="http://schemas.microsoft.com/office/drawing/2014/main" id="{DB3BEA55-F5D7-48DC-BB84-981F2C5EA5CF}"/>
              </a:ext>
            </a:extLst>
          </p:cNvPr>
          <p:cNvSpPr>
            <a:spLocks noGrp="1"/>
          </p:cNvSpPr>
          <p:nvPr/>
        </p:nvSpPr>
        <p:spPr>
          <a:xfrm>
            <a:off x="1257300" y="258127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    log(</a:t>
            </a:r>
            <a:r>
              <a:rPr>
                <a:solidFill>
                  <a:srgbClr val="167529"/>
                </a:solidFill>
              </a:rPr>
              <a:t>"Składnik gotowy"</a:t>
            </a:r>
            <a:r>
              <a:rPr>
                <a:solidFill>
                  <a:srgbClr val="161616"/>
                </a:solidFill>
              </a:rPr>
              <a:t>)</a:t>
            </a:r>
          </a:p>
        </p:txBody>
      </p:sp>
      <p:sp>
        <p:nvSpPr>
          <p:cNvPr id="8" name="Kod_5">
            <a:extLst>
              <a:ext uri="{FF2B5EF4-FFF2-40B4-BE49-F238E27FC236}">
                <a16:creationId xmlns:a16="http://schemas.microsoft.com/office/drawing/2014/main" id="{627E2B5F-E6CA-45D3-9610-DB1303D12864}"/>
              </a:ext>
            </a:extLst>
          </p:cNvPr>
          <p:cNvSpPr>
            <a:spLocks noGrp="1"/>
          </p:cNvSpPr>
          <p:nvPr/>
        </p:nvSpPr>
        <p:spPr>
          <a:xfrm>
            <a:off x="1257300" y="285750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} </a:t>
            </a:r>
            <a:r>
              <a:rPr>
                <a:solidFill>
                  <a:srgbClr val="0039B4"/>
                </a:solidFill>
              </a:rPr>
              <a:t>finally</a:t>
            </a:r>
            <a:r>
              <a:rPr>
                <a:solidFill>
                  <a:srgbClr val="161616"/>
                </a:solidFill>
              </a:rPr>
              <a:t> {</a:t>
            </a:r>
          </a:p>
        </p:txBody>
      </p:sp>
      <p:sp>
        <p:nvSpPr>
          <p:cNvPr id="9" name="Kod_6">
            <a:extLst>
              <a:ext uri="{FF2B5EF4-FFF2-40B4-BE49-F238E27FC236}">
                <a16:creationId xmlns:a16="http://schemas.microsoft.com/office/drawing/2014/main" id="{1D48A77C-293C-49CB-9797-75A57D84AA01}"/>
              </a:ext>
            </a:extLst>
          </p:cNvPr>
          <p:cNvSpPr>
            <a:spLocks noGrp="1"/>
          </p:cNvSpPr>
          <p:nvPr/>
        </p:nvSpPr>
        <p:spPr>
          <a:xfrm>
            <a:off x="1257300" y="313372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    log(</a:t>
            </a:r>
            <a:r>
              <a:rPr>
                <a:solidFill>
                  <a:srgbClr val="167529"/>
                </a:solidFill>
              </a:rPr>
              <a:t>"Koniec pracy nad składnikiem"</a:t>
            </a:r>
            <a:r>
              <a:rPr>
                <a:solidFill>
                  <a:srgbClr val="161616"/>
                </a:solidFill>
              </a:rPr>
              <a:t>)</a:t>
            </a:r>
          </a:p>
        </p:txBody>
      </p:sp>
      <p:sp>
        <p:nvSpPr>
          <p:cNvPr id="10" name="Kod_7">
            <a:extLst>
              <a:ext uri="{FF2B5EF4-FFF2-40B4-BE49-F238E27FC236}">
                <a16:creationId xmlns:a16="http://schemas.microsoft.com/office/drawing/2014/main" id="{BCA62D92-8D25-4864-9501-918F048AD619}"/>
              </a:ext>
            </a:extLst>
          </p:cNvPr>
          <p:cNvSpPr>
            <a:spLocks noGrp="1"/>
          </p:cNvSpPr>
          <p:nvPr/>
        </p:nvSpPr>
        <p:spPr>
          <a:xfrm>
            <a:off x="1257300" y="340995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}</a:t>
            </a:r>
          </a:p>
        </p:txBody>
      </p:sp>
      <p:sp>
        <p:nvSpPr>
          <p:cNvPr id="11" name="Kod_8">
            <a:extLst>
              <a:ext uri="{FF2B5EF4-FFF2-40B4-BE49-F238E27FC236}">
                <a16:creationId xmlns:a16="http://schemas.microsoft.com/office/drawing/2014/main" id="{C4E99410-6FA0-4FCC-846C-02A621BDC8EA}"/>
              </a:ext>
            </a:extLst>
          </p:cNvPr>
          <p:cNvSpPr>
            <a:spLocks noGrp="1"/>
          </p:cNvSpPr>
          <p:nvPr/>
        </p:nvSpPr>
        <p:spPr>
          <a:xfrm>
            <a:off x="1257300" y="368617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}</a:t>
            </a:r>
          </a:p>
        </p:txBody>
      </p:sp>
      <p:sp>
        <p:nvSpPr>
          <p:cNvPr id="12" name="Tekst_36">
            <a:extLst>
              <a:ext uri="{FF2B5EF4-FFF2-40B4-BE49-F238E27FC236}">
                <a16:creationId xmlns:a16="http://schemas.microsoft.com/office/drawing/2014/main" id="{E62127F1-873D-47E4-99C2-64A0D7C4A06C}"/>
              </a:ext>
            </a:extLst>
          </p:cNvPr>
          <p:cNvSpPr>
            <a:spLocks noGrp="1"/>
          </p:cNvSpPr>
          <p:nvPr/>
        </p:nvSpPr>
        <p:spPr>
          <a:xfrm>
            <a:off x="1257300" y="4171950"/>
            <a:ext cx="76009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Po anulowaniu podczas delay()</a:t>
            </a:r>
          </a:p>
        </p:txBody>
      </p:sp>
      <p:sp>
        <p:nvSpPr>
          <p:cNvPr id="13" name="Tekst_37">
            <a:extLst>
              <a:ext uri="{FF2B5EF4-FFF2-40B4-BE49-F238E27FC236}">
                <a16:creationId xmlns:a16="http://schemas.microsoft.com/office/drawing/2014/main" id="{1DBC11EC-D3E2-40E5-A573-4AFAA1DE52A5}"/>
              </a:ext>
            </a:extLst>
          </p:cNvPr>
          <p:cNvSpPr>
            <a:spLocks noGrp="1"/>
          </p:cNvSpPr>
          <p:nvPr/>
        </p:nvSpPr>
        <p:spPr>
          <a:xfrm>
            <a:off x="1257300" y="4457700"/>
            <a:ext cx="76009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Komunikat „Składnik gotowy” nie zostanie wyświetlony.</a:t>
            </a:r>
          </a:p>
        </p:txBody>
      </p:sp>
      <p:sp>
        <p:nvSpPr>
          <p:cNvPr id="14" name="Tekst_38">
            <a:extLst>
              <a:ext uri="{FF2B5EF4-FFF2-40B4-BE49-F238E27FC236}">
                <a16:creationId xmlns:a16="http://schemas.microsoft.com/office/drawing/2014/main" id="{FB489AA7-9131-439F-BF9B-C93DB94741A3}"/>
              </a:ext>
            </a:extLst>
          </p:cNvPr>
          <p:cNvSpPr>
            <a:spLocks noGrp="1"/>
          </p:cNvSpPr>
          <p:nvPr/>
        </p:nvSpPr>
        <p:spPr>
          <a:xfrm>
            <a:off x="1257300" y="4991100"/>
            <a:ext cx="76009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Długie obliczenia</a:t>
            </a:r>
          </a:p>
        </p:txBody>
      </p:sp>
      <p:sp>
        <p:nvSpPr>
          <p:cNvPr id="15" name="Tekst_39">
            <a:extLst>
              <a:ext uri="{FF2B5EF4-FFF2-40B4-BE49-F238E27FC236}">
                <a16:creationId xmlns:a16="http://schemas.microsoft.com/office/drawing/2014/main" id="{D53F2C70-744B-43AD-8ABB-6544A5C1DD0E}"/>
              </a:ext>
            </a:extLst>
          </p:cNvPr>
          <p:cNvSpPr>
            <a:spLocks noGrp="1"/>
          </p:cNvSpPr>
          <p:nvPr/>
        </p:nvSpPr>
        <p:spPr>
          <a:xfrm>
            <a:off x="1257300" y="5276850"/>
            <a:ext cx="76009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Pętla powinna sprawdzać anulowanie, np. przez ensureActive().</a:t>
            </a:r>
          </a:p>
        </p:txBody>
      </p:sp>
      <p:sp>
        <p:nvSpPr>
          <p:cNvPr id="16" name="Tekst_40">
            <a:extLst>
              <a:ext uri="{FF2B5EF4-FFF2-40B4-BE49-F238E27FC236}">
                <a16:creationId xmlns:a16="http://schemas.microsoft.com/office/drawing/2014/main" id="{030540E4-0A5A-4BFE-B726-6F5F464FAF09}"/>
              </a:ext>
            </a:extLst>
          </p:cNvPr>
          <p:cNvSpPr>
            <a:spLocks noGrp="1"/>
          </p:cNvSpPr>
          <p:nvPr/>
        </p:nvSpPr>
        <p:spPr>
          <a:xfrm>
            <a:off x="1257300" y="6076950"/>
            <a:ext cx="76009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Przechwycone CancellationException należy przekazać dalej.</a:t>
            </a:r>
          </a:p>
        </p:txBody>
      </p:sp>
    </p:spTree>
    <p:extLst>
      <p:ext uri="{BB962C8B-B14F-4D97-AF65-F5344CB8AC3E}">
        <p14:creationId xmlns:p14="http://schemas.microsoft.com/office/powerpoint/2010/main" val="4314592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Nagłówek">
            <a:extLst>
              <a:ext uri="{FF2B5EF4-FFF2-40B4-BE49-F238E27FC236}">
                <a16:creationId xmlns:a16="http://schemas.microsoft.com/office/drawing/2014/main" id="{14CD1D66-F756-4EA0-A6A1-4C675531AACD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rPr lang="pl-PL" dirty="0"/>
              <a:t>Asynchroniczność</a:t>
            </a:r>
            <a:endParaRPr dirty="0"/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E170CE15-08BB-5349-4759-8A24DA852654}"/>
              </a:ext>
            </a:extLst>
          </p:cNvPr>
          <p:cNvSpPr txBox="1"/>
          <p:nvPr/>
        </p:nvSpPr>
        <p:spPr>
          <a:xfrm>
            <a:off x="1033753" y="796886"/>
            <a:ext cx="78488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/>
              <a:t>W poprzednich przykładach włączaliśmy </a:t>
            </a:r>
            <a:r>
              <a:rPr lang="pl-PL" sz="1600" dirty="0" err="1"/>
              <a:t>korutyny</a:t>
            </a:r>
            <a:r>
              <a:rPr lang="pl-PL" sz="1600" dirty="0"/>
              <a:t> za pomocą </a:t>
            </a:r>
            <a:r>
              <a:rPr lang="pl-PL" sz="1600" b="1" dirty="0" err="1">
                <a:latin typeface="Verbatim"/>
              </a:rPr>
              <a:t>launch</a:t>
            </a:r>
            <a:r>
              <a:rPr lang="pl-PL" sz="1600" dirty="0"/>
              <a:t>. W tym przykładzie zobaczymy w jaki sposób odebrać </a:t>
            </a:r>
            <a:r>
              <a:rPr lang="pl-PL" sz="1600" b="1" dirty="0"/>
              <a:t>wynik działania asynchronicznego (</a:t>
            </a:r>
            <a:r>
              <a:rPr lang="pl-PL" sz="1600" b="1" dirty="0" err="1">
                <a:latin typeface="Verbatim"/>
              </a:rPr>
              <a:t>async</a:t>
            </a:r>
            <a:r>
              <a:rPr lang="pl-PL" sz="1600" b="1" dirty="0"/>
              <a:t>)</a:t>
            </a:r>
            <a:r>
              <a:rPr lang="pl-PL" sz="1600" dirty="0"/>
              <a:t>.</a:t>
            </a:r>
          </a:p>
        </p:txBody>
      </p:sp>
      <p:pic>
        <p:nvPicPr>
          <p:cNvPr id="15" name="bandicam 2025-07-29 16-09-24-028">
            <a:hlinkClick r:id="" action="ppaction://media"/>
            <a:extLst>
              <a:ext uri="{FF2B5EF4-FFF2-40B4-BE49-F238E27FC236}">
                <a16:creationId xmlns:a16="http://schemas.microsoft.com/office/drawing/2014/main" id="{5D1A5706-1DA5-2D74-3E7D-FE7F4F2E315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3903617" y="1845817"/>
            <a:ext cx="2109144" cy="4745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459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00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Nagłówek">
            <a:extLst>
              <a:ext uri="{FF2B5EF4-FFF2-40B4-BE49-F238E27FC236}">
                <a16:creationId xmlns:a16="http://schemas.microsoft.com/office/drawing/2014/main" id="{14CD1D66-F756-4EA0-A6A1-4C675531AACD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rPr lang="pl-PL" dirty="0"/>
              <a:t>Asynchroniczność</a:t>
            </a:r>
            <a:endParaRPr dirty="0"/>
          </a:p>
        </p:txBody>
      </p:sp>
      <p:pic>
        <p:nvPicPr>
          <p:cNvPr id="2" name="Obraz 1">
            <a:extLst>
              <a:ext uri="{FF2B5EF4-FFF2-40B4-BE49-F238E27FC236}">
                <a16:creationId xmlns:a16="http://schemas.microsoft.com/office/drawing/2014/main" id="{DE6AF52E-CD74-6895-C56B-5CAFBD34E6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0568" y="836712"/>
            <a:ext cx="4610186" cy="6021288"/>
          </a:xfrm>
          <a:prstGeom prst="rect">
            <a:avLst/>
          </a:prstGeom>
        </p:spPr>
      </p:pic>
      <p:sp>
        <p:nvSpPr>
          <p:cNvPr id="3" name="Prostokąt: zaokrąglone rogi 2">
            <a:extLst>
              <a:ext uri="{FF2B5EF4-FFF2-40B4-BE49-F238E27FC236}">
                <a16:creationId xmlns:a16="http://schemas.microsoft.com/office/drawing/2014/main" id="{32E15D36-DAD0-0479-0DB3-0E65690257E4}"/>
              </a:ext>
            </a:extLst>
          </p:cNvPr>
          <p:cNvSpPr/>
          <p:nvPr/>
        </p:nvSpPr>
        <p:spPr>
          <a:xfrm>
            <a:off x="239590" y="980729"/>
            <a:ext cx="4116386" cy="1008111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8A288095-4698-CC79-D356-E1CC6F854C15}"/>
              </a:ext>
            </a:extLst>
          </p:cNvPr>
          <p:cNvSpPr txBox="1"/>
          <p:nvPr/>
        </p:nvSpPr>
        <p:spPr>
          <a:xfrm>
            <a:off x="249846" y="946175"/>
            <a:ext cx="411638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Funkcja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suspend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delay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(3000) zawiesza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korutynę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na 3 sekundy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bez blokowania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wątku UI, a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następnie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zwraca wynik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w postaci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String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</a:t>
            </a:r>
          </a:p>
        </p:txBody>
      </p:sp>
      <p:cxnSp>
        <p:nvCxnSpPr>
          <p:cNvPr id="5" name="Łącznik prosty ze strzałką 4">
            <a:extLst>
              <a:ext uri="{FF2B5EF4-FFF2-40B4-BE49-F238E27FC236}">
                <a16:creationId xmlns:a16="http://schemas.microsoft.com/office/drawing/2014/main" id="{29294B9F-A757-F5EE-44EE-062601047D36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4355976" y="1484785"/>
            <a:ext cx="504056" cy="432047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5A5CFA19-B9B8-C3D2-182F-2DD030D260AE}"/>
              </a:ext>
            </a:extLst>
          </p:cNvPr>
          <p:cNvSpPr/>
          <p:nvPr/>
        </p:nvSpPr>
        <p:spPr>
          <a:xfrm>
            <a:off x="7236296" y="2420888"/>
            <a:ext cx="1738768" cy="499562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cxnSp>
        <p:nvCxnSpPr>
          <p:cNvPr id="7" name="Łącznik prosty ze strzałką 6">
            <a:extLst>
              <a:ext uri="{FF2B5EF4-FFF2-40B4-BE49-F238E27FC236}">
                <a16:creationId xmlns:a16="http://schemas.microsoft.com/office/drawing/2014/main" id="{0AC8590D-BA2B-84E4-2565-65A41819BBC6}"/>
              </a:ext>
            </a:extLst>
          </p:cNvPr>
          <p:cNvCxnSpPr>
            <a:cxnSpLocks/>
          </p:cNvCxnSpPr>
          <p:nvPr/>
        </p:nvCxnSpPr>
        <p:spPr>
          <a:xfrm flipH="1" flipV="1">
            <a:off x="5508104" y="2420888"/>
            <a:ext cx="1728192" cy="227124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ole tekstowe 7">
            <a:extLst>
              <a:ext uri="{FF2B5EF4-FFF2-40B4-BE49-F238E27FC236}">
                <a16:creationId xmlns:a16="http://schemas.microsoft.com/office/drawing/2014/main" id="{4A76145D-7A91-766F-8E28-882A5735E0BF}"/>
              </a:ext>
            </a:extLst>
          </p:cNvPr>
          <p:cNvSpPr txBox="1"/>
          <p:nvPr/>
        </p:nvSpPr>
        <p:spPr>
          <a:xfrm>
            <a:off x="7308304" y="2480581"/>
            <a:ext cx="158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Zwraca wynik</a:t>
            </a:r>
          </a:p>
        </p:txBody>
      </p:sp>
    </p:spTree>
    <p:extLst>
      <p:ext uri="{BB962C8B-B14F-4D97-AF65-F5344CB8AC3E}">
        <p14:creationId xmlns:p14="http://schemas.microsoft.com/office/powerpoint/2010/main" val="30752372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F3AAD6-5494-5E13-60A1-DFFC41979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Nagłówek">
            <a:extLst>
              <a:ext uri="{FF2B5EF4-FFF2-40B4-BE49-F238E27FC236}">
                <a16:creationId xmlns:a16="http://schemas.microsoft.com/office/drawing/2014/main" id="{502C8490-8A5E-682E-7B11-AE84DF4445C8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rPr lang="pl-PL" dirty="0"/>
              <a:t>Asynchroniczność</a:t>
            </a:r>
            <a:endParaRPr dirty="0"/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46C354C6-AC63-18CD-2607-0C63EB7AFD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0568" y="836712"/>
            <a:ext cx="4610186" cy="6021288"/>
          </a:xfrm>
          <a:prstGeom prst="rect">
            <a:avLst/>
          </a:prstGeom>
        </p:spPr>
      </p:pic>
      <p:sp>
        <p:nvSpPr>
          <p:cNvPr id="11" name="Prostokąt: zaokrąglone rogi 10">
            <a:extLst>
              <a:ext uri="{FF2B5EF4-FFF2-40B4-BE49-F238E27FC236}">
                <a16:creationId xmlns:a16="http://schemas.microsoft.com/office/drawing/2014/main" id="{51908DAC-3805-F414-9833-D6A9014325D0}"/>
              </a:ext>
            </a:extLst>
          </p:cNvPr>
          <p:cNvSpPr/>
          <p:nvPr/>
        </p:nvSpPr>
        <p:spPr>
          <a:xfrm>
            <a:off x="239590" y="980729"/>
            <a:ext cx="4116386" cy="1008111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034BC84A-FD0B-8C23-E1D5-473B357E92E9}"/>
              </a:ext>
            </a:extLst>
          </p:cNvPr>
          <p:cNvSpPr txBox="1"/>
          <p:nvPr/>
        </p:nvSpPr>
        <p:spPr>
          <a:xfrm>
            <a:off x="249846" y="946175"/>
            <a:ext cx="411638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Funkcja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suspend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delay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(3000) zawiesza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korutynę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na 3 sekundy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bez blokowania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wątku UI, a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następnie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zwraca wynik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w postaci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String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</a:t>
            </a:r>
          </a:p>
        </p:txBody>
      </p:sp>
      <p:cxnSp>
        <p:nvCxnSpPr>
          <p:cNvPr id="14" name="Łącznik prosty ze strzałką 13">
            <a:extLst>
              <a:ext uri="{FF2B5EF4-FFF2-40B4-BE49-F238E27FC236}">
                <a16:creationId xmlns:a16="http://schemas.microsoft.com/office/drawing/2014/main" id="{BF0A6F8B-F904-65F4-2186-57CA586E9AB6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4355976" y="1484785"/>
            <a:ext cx="504056" cy="432047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Prostokąt: zaokrąglone rogi 14">
            <a:extLst>
              <a:ext uri="{FF2B5EF4-FFF2-40B4-BE49-F238E27FC236}">
                <a16:creationId xmlns:a16="http://schemas.microsoft.com/office/drawing/2014/main" id="{DB0401AA-97DA-F0B0-276F-B77AA1B74A1D}"/>
              </a:ext>
            </a:extLst>
          </p:cNvPr>
          <p:cNvSpPr/>
          <p:nvPr/>
        </p:nvSpPr>
        <p:spPr>
          <a:xfrm>
            <a:off x="7236296" y="2420888"/>
            <a:ext cx="1738768" cy="499562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cxnSp>
        <p:nvCxnSpPr>
          <p:cNvPr id="16" name="Łącznik prosty ze strzałką 15">
            <a:extLst>
              <a:ext uri="{FF2B5EF4-FFF2-40B4-BE49-F238E27FC236}">
                <a16:creationId xmlns:a16="http://schemas.microsoft.com/office/drawing/2014/main" id="{0BD43ED5-1A1D-8DDB-CA5A-A842F89F7C4D}"/>
              </a:ext>
            </a:extLst>
          </p:cNvPr>
          <p:cNvCxnSpPr>
            <a:cxnSpLocks/>
          </p:cNvCxnSpPr>
          <p:nvPr/>
        </p:nvCxnSpPr>
        <p:spPr>
          <a:xfrm flipH="1" flipV="1">
            <a:off x="5508104" y="2420888"/>
            <a:ext cx="1728192" cy="227124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pole tekstowe 16">
            <a:extLst>
              <a:ext uri="{FF2B5EF4-FFF2-40B4-BE49-F238E27FC236}">
                <a16:creationId xmlns:a16="http://schemas.microsoft.com/office/drawing/2014/main" id="{AF14FB39-17CE-5E9C-704D-618C8405B57B}"/>
              </a:ext>
            </a:extLst>
          </p:cNvPr>
          <p:cNvSpPr txBox="1"/>
          <p:nvPr/>
        </p:nvSpPr>
        <p:spPr>
          <a:xfrm>
            <a:off x="7308304" y="2480581"/>
            <a:ext cx="158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Zwraca wynik</a:t>
            </a:r>
          </a:p>
        </p:txBody>
      </p:sp>
      <p:cxnSp>
        <p:nvCxnSpPr>
          <p:cNvPr id="18" name="Łącznik prosty ze strzałką 17">
            <a:extLst>
              <a:ext uri="{FF2B5EF4-FFF2-40B4-BE49-F238E27FC236}">
                <a16:creationId xmlns:a16="http://schemas.microsoft.com/office/drawing/2014/main" id="{5035626E-E152-D8FA-1B7C-56C93D449A4C}"/>
              </a:ext>
            </a:extLst>
          </p:cNvPr>
          <p:cNvCxnSpPr>
            <a:cxnSpLocks/>
            <a:stCxn id="20" idx="3"/>
          </p:cNvCxnSpPr>
          <p:nvPr/>
        </p:nvCxnSpPr>
        <p:spPr>
          <a:xfrm>
            <a:off x="4201257" y="2226721"/>
            <a:ext cx="1224263" cy="2354407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rostokąt: zaokrąglone rogi 18">
            <a:extLst>
              <a:ext uri="{FF2B5EF4-FFF2-40B4-BE49-F238E27FC236}">
                <a16:creationId xmlns:a16="http://schemas.microsoft.com/office/drawing/2014/main" id="{B9111A8F-B23C-2B65-2016-81B1A7CFFE81}"/>
              </a:ext>
            </a:extLst>
          </p:cNvPr>
          <p:cNvSpPr/>
          <p:nvPr/>
        </p:nvSpPr>
        <p:spPr>
          <a:xfrm>
            <a:off x="1295084" y="2040673"/>
            <a:ext cx="2858914" cy="338554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" name="pole tekstowe 19">
            <a:extLst>
              <a:ext uri="{FF2B5EF4-FFF2-40B4-BE49-F238E27FC236}">
                <a16:creationId xmlns:a16="http://schemas.microsoft.com/office/drawing/2014/main" id="{FC92B539-A382-21E2-8FA7-A6FCD428E482}"/>
              </a:ext>
            </a:extLst>
          </p:cNvPr>
          <p:cNvSpPr txBox="1"/>
          <p:nvPr/>
        </p:nvSpPr>
        <p:spPr>
          <a:xfrm>
            <a:off x="1342343" y="2057444"/>
            <a:ext cx="2858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Uruchamia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główną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korutynę</a:t>
            </a:r>
            <a:endParaRPr lang="pl-PL" sz="1600" dirty="0">
              <a:solidFill>
                <a:schemeClr val="accent4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63390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5C5229-220E-70F8-3B5A-5198E9750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Nagłówek">
            <a:extLst>
              <a:ext uri="{FF2B5EF4-FFF2-40B4-BE49-F238E27FC236}">
                <a16:creationId xmlns:a16="http://schemas.microsoft.com/office/drawing/2014/main" id="{FD128E07-FAB2-83E3-06A7-2871EA78DC74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rPr lang="pl-PL" dirty="0"/>
              <a:t>Asynchroniczność</a:t>
            </a:r>
            <a:endParaRPr dirty="0"/>
          </a:p>
        </p:txBody>
      </p:sp>
      <p:pic>
        <p:nvPicPr>
          <p:cNvPr id="2" name="Obraz 1">
            <a:extLst>
              <a:ext uri="{FF2B5EF4-FFF2-40B4-BE49-F238E27FC236}">
                <a16:creationId xmlns:a16="http://schemas.microsoft.com/office/drawing/2014/main" id="{BEFBCA6E-EA06-03CB-B3AB-B378046DE1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0568" y="836712"/>
            <a:ext cx="4610186" cy="6021288"/>
          </a:xfrm>
          <a:prstGeom prst="rect">
            <a:avLst/>
          </a:prstGeom>
        </p:spPr>
      </p:pic>
      <p:sp>
        <p:nvSpPr>
          <p:cNvPr id="3" name="Prostokąt: zaokrąglone rogi 2">
            <a:extLst>
              <a:ext uri="{FF2B5EF4-FFF2-40B4-BE49-F238E27FC236}">
                <a16:creationId xmlns:a16="http://schemas.microsoft.com/office/drawing/2014/main" id="{336FDE52-90ED-5FF2-3AB5-CB59DD30F2F6}"/>
              </a:ext>
            </a:extLst>
          </p:cNvPr>
          <p:cNvSpPr/>
          <p:nvPr/>
        </p:nvSpPr>
        <p:spPr>
          <a:xfrm>
            <a:off x="239590" y="980729"/>
            <a:ext cx="4116386" cy="1008111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DAEC6ED6-85A7-8FD9-88D0-7048A9B630DC}"/>
              </a:ext>
            </a:extLst>
          </p:cNvPr>
          <p:cNvSpPr txBox="1"/>
          <p:nvPr/>
        </p:nvSpPr>
        <p:spPr>
          <a:xfrm>
            <a:off x="249846" y="946175"/>
            <a:ext cx="411638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Funkcja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suspend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delay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(3000) zawiesza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korutynę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na 3 sekundy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bez blokowania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wątku UI, a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następnie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zwraca wynik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w postaci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String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</a:t>
            </a:r>
          </a:p>
        </p:txBody>
      </p:sp>
      <p:cxnSp>
        <p:nvCxnSpPr>
          <p:cNvPr id="5" name="Łącznik prosty ze strzałką 4">
            <a:extLst>
              <a:ext uri="{FF2B5EF4-FFF2-40B4-BE49-F238E27FC236}">
                <a16:creationId xmlns:a16="http://schemas.microsoft.com/office/drawing/2014/main" id="{9B8094A1-719A-39A9-23EE-7D8CA2F02FAD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4355976" y="1484785"/>
            <a:ext cx="504056" cy="432047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A1ACB309-2F5D-9B9E-B86D-18EF147A1EE5}"/>
              </a:ext>
            </a:extLst>
          </p:cNvPr>
          <p:cNvSpPr/>
          <p:nvPr/>
        </p:nvSpPr>
        <p:spPr>
          <a:xfrm>
            <a:off x="7236296" y="2420888"/>
            <a:ext cx="1738768" cy="499562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cxnSp>
        <p:nvCxnSpPr>
          <p:cNvPr id="7" name="Łącznik prosty ze strzałką 6">
            <a:extLst>
              <a:ext uri="{FF2B5EF4-FFF2-40B4-BE49-F238E27FC236}">
                <a16:creationId xmlns:a16="http://schemas.microsoft.com/office/drawing/2014/main" id="{11CB4677-18E4-35AD-892F-D08E56BF4F66}"/>
              </a:ext>
            </a:extLst>
          </p:cNvPr>
          <p:cNvCxnSpPr>
            <a:cxnSpLocks/>
          </p:cNvCxnSpPr>
          <p:nvPr/>
        </p:nvCxnSpPr>
        <p:spPr>
          <a:xfrm flipH="1" flipV="1">
            <a:off x="5508104" y="2420888"/>
            <a:ext cx="1728192" cy="227124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ole tekstowe 7">
            <a:extLst>
              <a:ext uri="{FF2B5EF4-FFF2-40B4-BE49-F238E27FC236}">
                <a16:creationId xmlns:a16="http://schemas.microsoft.com/office/drawing/2014/main" id="{768010E0-0DD6-D5AD-2F83-0D61B25057F0}"/>
              </a:ext>
            </a:extLst>
          </p:cNvPr>
          <p:cNvSpPr txBox="1"/>
          <p:nvPr/>
        </p:nvSpPr>
        <p:spPr>
          <a:xfrm>
            <a:off x="7308304" y="2480581"/>
            <a:ext cx="158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Zwraca wynik</a:t>
            </a:r>
          </a:p>
        </p:txBody>
      </p: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535DB09D-3F73-00FA-05CE-19B44B8F2B6E}"/>
              </a:ext>
            </a:extLst>
          </p:cNvPr>
          <p:cNvCxnSpPr>
            <a:cxnSpLocks/>
            <a:stCxn id="23" idx="3"/>
          </p:cNvCxnSpPr>
          <p:nvPr/>
        </p:nvCxnSpPr>
        <p:spPr>
          <a:xfrm>
            <a:off x="4201257" y="2226721"/>
            <a:ext cx="1224263" cy="2354407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rostokąt: zaokrąglone rogi 21">
            <a:extLst>
              <a:ext uri="{FF2B5EF4-FFF2-40B4-BE49-F238E27FC236}">
                <a16:creationId xmlns:a16="http://schemas.microsoft.com/office/drawing/2014/main" id="{0282AB72-5455-F965-1E89-B6234633C988}"/>
              </a:ext>
            </a:extLst>
          </p:cNvPr>
          <p:cNvSpPr/>
          <p:nvPr/>
        </p:nvSpPr>
        <p:spPr>
          <a:xfrm>
            <a:off x="1295084" y="2040673"/>
            <a:ext cx="2858914" cy="338554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B371D07D-0801-50CB-1843-219808FD847D}"/>
              </a:ext>
            </a:extLst>
          </p:cNvPr>
          <p:cNvSpPr txBox="1"/>
          <p:nvPr/>
        </p:nvSpPr>
        <p:spPr>
          <a:xfrm>
            <a:off x="1342343" y="2057444"/>
            <a:ext cx="2858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Uruchamia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główną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korutynę</a:t>
            </a:r>
            <a:endParaRPr lang="pl-PL" sz="1600" dirty="0">
              <a:solidFill>
                <a:schemeClr val="accent4">
                  <a:lumMod val="50000"/>
                </a:schemeClr>
              </a:solidFill>
            </a:endParaRPr>
          </a:p>
        </p:txBody>
      </p:sp>
      <p:cxnSp>
        <p:nvCxnSpPr>
          <p:cNvPr id="24" name="Łącznik prosty ze strzałką 23">
            <a:extLst>
              <a:ext uri="{FF2B5EF4-FFF2-40B4-BE49-F238E27FC236}">
                <a16:creationId xmlns:a16="http://schemas.microsoft.com/office/drawing/2014/main" id="{A61BA692-9C41-3339-EE94-D0A321DF2697}"/>
              </a:ext>
            </a:extLst>
          </p:cNvPr>
          <p:cNvCxnSpPr>
            <a:cxnSpLocks/>
          </p:cNvCxnSpPr>
          <p:nvPr/>
        </p:nvCxnSpPr>
        <p:spPr>
          <a:xfrm>
            <a:off x="4355976" y="3607569"/>
            <a:ext cx="1368152" cy="1181548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Prostokąt: zaokrąglone rogi 26">
            <a:extLst>
              <a:ext uri="{FF2B5EF4-FFF2-40B4-BE49-F238E27FC236}">
                <a16:creationId xmlns:a16="http://schemas.microsoft.com/office/drawing/2014/main" id="{423DAAAC-4D79-D8E6-8309-11A67606C4C4}"/>
              </a:ext>
            </a:extLst>
          </p:cNvPr>
          <p:cNvSpPr/>
          <p:nvPr/>
        </p:nvSpPr>
        <p:spPr>
          <a:xfrm>
            <a:off x="190226" y="2461335"/>
            <a:ext cx="4191222" cy="1322999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" name="pole tekstowe 24">
            <a:extLst>
              <a:ext uri="{FF2B5EF4-FFF2-40B4-BE49-F238E27FC236}">
                <a16:creationId xmlns:a16="http://schemas.microsoft.com/office/drawing/2014/main" id="{9403D108-05E2-DDA0-5F8E-74514A9F1BE0}"/>
              </a:ext>
            </a:extLst>
          </p:cNvPr>
          <p:cNvSpPr txBox="1"/>
          <p:nvPr/>
        </p:nvSpPr>
        <p:spPr>
          <a:xfrm>
            <a:off x="200758" y="2422861"/>
            <a:ext cx="412979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Wewnątrz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głównej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,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async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uruchamia nowe, zagnieżdżone zadanie w tle w celu wywołania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generatePassword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()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 Zamiast wyniku,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async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natychmiast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zwraca obiekt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Deferred.</a:t>
            </a:r>
          </a:p>
        </p:txBody>
      </p:sp>
    </p:spTree>
    <p:extLst>
      <p:ext uri="{BB962C8B-B14F-4D97-AF65-F5344CB8AC3E}">
        <p14:creationId xmlns:p14="http://schemas.microsoft.com/office/powerpoint/2010/main" val="29279896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F2D411-E195-110C-5589-42B31982D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braz 8">
            <a:extLst>
              <a:ext uri="{FF2B5EF4-FFF2-40B4-BE49-F238E27FC236}">
                <a16:creationId xmlns:a16="http://schemas.microsoft.com/office/drawing/2014/main" id="{06746127-36EB-F42E-838B-8670CA9424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0568" y="836712"/>
            <a:ext cx="4610186" cy="6021288"/>
          </a:xfrm>
          <a:prstGeom prst="rect">
            <a:avLst/>
          </a:prstGeom>
        </p:spPr>
      </p:pic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C873B087-B04E-6BD8-C75C-244DC1D7599E}"/>
              </a:ext>
            </a:extLst>
          </p:cNvPr>
          <p:cNvSpPr/>
          <p:nvPr/>
        </p:nvSpPr>
        <p:spPr>
          <a:xfrm>
            <a:off x="172929" y="2443852"/>
            <a:ext cx="4191222" cy="1322999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733AD17F-8B21-9132-43D2-5BEE2A66ADA2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Asynchroniczność</a:t>
            </a:r>
          </a:p>
        </p:txBody>
      </p:sp>
      <p:sp>
        <p:nvSpPr>
          <p:cNvPr id="13" name="Prostokąt: zaokrąglone rogi 12">
            <a:extLst>
              <a:ext uri="{FF2B5EF4-FFF2-40B4-BE49-F238E27FC236}">
                <a16:creationId xmlns:a16="http://schemas.microsoft.com/office/drawing/2014/main" id="{48CB4FD4-3F8D-6B1C-8BA5-A6429F0C02EB}"/>
              </a:ext>
            </a:extLst>
          </p:cNvPr>
          <p:cNvSpPr/>
          <p:nvPr/>
        </p:nvSpPr>
        <p:spPr>
          <a:xfrm>
            <a:off x="239590" y="980729"/>
            <a:ext cx="4116386" cy="1008111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CF6CACFE-7209-D934-ECE7-65D14194DBC8}"/>
              </a:ext>
            </a:extLst>
          </p:cNvPr>
          <p:cNvSpPr txBox="1"/>
          <p:nvPr/>
        </p:nvSpPr>
        <p:spPr>
          <a:xfrm>
            <a:off x="249846" y="946175"/>
            <a:ext cx="411638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Funkcja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suspend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delay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(3000) zawiesza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korutynę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na 3 sekundy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bez blokowania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wątku UI, a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następnie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zwraca wynik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w postaci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String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</a:t>
            </a:r>
          </a:p>
        </p:txBody>
      </p:sp>
      <p:cxnSp>
        <p:nvCxnSpPr>
          <p:cNvPr id="15" name="Łącznik prosty ze strzałką 14">
            <a:extLst>
              <a:ext uri="{FF2B5EF4-FFF2-40B4-BE49-F238E27FC236}">
                <a16:creationId xmlns:a16="http://schemas.microsoft.com/office/drawing/2014/main" id="{915B2C22-4A3B-F30F-6F80-1334909A5A80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4355976" y="1484785"/>
            <a:ext cx="504056" cy="432047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rostokąt: zaokrąglone rogi 15">
            <a:extLst>
              <a:ext uri="{FF2B5EF4-FFF2-40B4-BE49-F238E27FC236}">
                <a16:creationId xmlns:a16="http://schemas.microsoft.com/office/drawing/2014/main" id="{C13A7691-75A3-D215-C081-3F035E6C5B7F}"/>
              </a:ext>
            </a:extLst>
          </p:cNvPr>
          <p:cNvSpPr/>
          <p:nvPr/>
        </p:nvSpPr>
        <p:spPr>
          <a:xfrm>
            <a:off x="7236296" y="2420888"/>
            <a:ext cx="1738768" cy="499562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cxnSp>
        <p:nvCxnSpPr>
          <p:cNvPr id="17" name="Łącznik prosty ze strzałką 16">
            <a:extLst>
              <a:ext uri="{FF2B5EF4-FFF2-40B4-BE49-F238E27FC236}">
                <a16:creationId xmlns:a16="http://schemas.microsoft.com/office/drawing/2014/main" id="{18F4A771-D9F0-7163-5715-476552F89D4A}"/>
              </a:ext>
            </a:extLst>
          </p:cNvPr>
          <p:cNvCxnSpPr>
            <a:cxnSpLocks/>
          </p:cNvCxnSpPr>
          <p:nvPr/>
        </p:nvCxnSpPr>
        <p:spPr>
          <a:xfrm flipH="1" flipV="1">
            <a:off x="5508104" y="2420888"/>
            <a:ext cx="1728192" cy="227124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ole tekstowe 17">
            <a:extLst>
              <a:ext uri="{FF2B5EF4-FFF2-40B4-BE49-F238E27FC236}">
                <a16:creationId xmlns:a16="http://schemas.microsoft.com/office/drawing/2014/main" id="{11EE188A-D5C2-676A-FA96-8CEB9F5AD5E0}"/>
              </a:ext>
            </a:extLst>
          </p:cNvPr>
          <p:cNvSpPr txBox="1"/>
          <p:nvPr/>
        </p:nvSpPr>
        <p:spPr>
          <a:xfrm>
            <a:off x="7308304" y="2480581"/>
            <a:ext cx="158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Zwraca wynik</a:t>
            </a:r>
          </a:p>
        </p:txBody>
      </p:sp>
      <p:cxnSp>
        <p:nvCxnSpPr>
          <p:cNvPr id="19" name="Łącznik prosty ze strzałką 18">
            <a:extLst>
              <a:ext uri="{FF2B5EF4-FFF2-40B4-BE49-F238E27FC236}">
                <a16:creationId xmlns:a16="http://schemas.microsoft.com/office/drawing/2014/main" id="{72DC6B7D-8022-2844-80F7-58966692B0B4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4201257" y="2226721"/>
            <a:ext cx="1224263" cy="2354407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Prostokąt: zaokrąglone rogi 19">
            <a:extLst>
              <a:ext uri="{FF2B5EF4-FFF2-40B4-BE49-F238E27FC236}">
                <a16:creationId xmlns:a16="http://schemas.microsoft.com/office/drawing/2014/main" id="{F62A21E7-4876-C618-E1DB-99F854EE5498}"/>
              </a:ext>
            </a:extLst>
          </p:cNvPr>
          <p:cNvSpPr/>
          <p:nvPr/>
        </p:nvSpPr>
        <p:spPr>
          <a:xfrm>
            <a:off x="1295084" y="2040673"/>
            <a:ext cx="2858914" cy="338554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" name="pole tekstowe 25">
            <a:extLst>
              <a:ext uri="{FF2B5EF4-FFF2-40B4-BE49-F238E27FC236}">
                <a16:creationId xmlns:a16="http://schemas.microsoft.com/office/drawing/2014/main" id="{60917311-9679-1698-317D-12D65499B6B8}"/>
              </a:ext>
            </a:extLst>
          </p:cNvPr>
          <p:cNvSpPr txBox="1"/>
          <p:nvPr/>
        </p:nvSpPr>
        <p:spPr>
          <a:xfrm>
            <a:off x="1342343" y="2057444"/>
            <a:ext cx="2858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Uruchamia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główną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korutynę</a:t>
            </a:r>
            <a:endParaRPr lang="pl-PL" sz="1600" dirty="0">
              <a:solidFill>
                <a:schemeClr val="accent4">
                  <a:lumMod val="50000"/>
                </a:schemeClr>
              </a:solidFill>
            </a:endParaRPr>
          </a:p>
        </p:txBody>
      </p:sp>
      <p:cxnSp>
        <p:nvCxnSpPr>
          <p:cNvPr id="28" name="Łącznik prosty ze strzałką 27">
            <a:extLst>
              <a:ext uri="{FF2B5EF4-FFF2-40B4-BE49-F238E27FC236}">
                <a16:creationId xmlns:a16="http://schemas.microsoft.com/office/drawing/2014/main" id="{CCEE3AC6-75A8-4647-0E04-F0772AB48E07}"/>
              </a:ext>
            </a:extLst>
          </p:cNvPr>
          <p:cNvCxnSpPr>
            <a:cxnSpLocks/>
          </p:cNvCxnSpPr>
          <p:nvPr/>
        </p:nvCxnSpPr>
        <p:spPr>
          <a:xfrm>
            <a:off x="4355976" y="3607569"/>
            <a:ext cx="1368152" cy="1181548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ole tekstowe 28">
            <a:extLst>
              <a:ext uri="{FF2B5EF4-FFF2-40B4-BE49-F238E27FC236}">
                <a16:creationId xmlns:a16="http://schemas.microsoft.com/office/drawing/2014/main" id="{ECB30CF2-5405-C0F8-06EB-D7D92CF0E16B}"/>
              </a:ext>
            </a:extLst>
          </p:cNvPr>
          <p:cNvSpPr txBox="1"/>
          <p:nvPr/>
        </p:nvSpPr>
        <p:spPr>
          <a:xfrm>
            <a:off x="200758" y="2422861"/>
            <a:ext cx="412979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Wewnątrz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głównej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,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async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uruchamia nowe, zagnieżdżone zadanie w tle w celu wywołania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generatePassword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()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 Zamiast wyniku,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async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natychmiast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zwraca obiekt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Deferred.</a:t>
            </a:r>
          </a:p>
        </p:txBody>
      </p:sp>
      <p:sp>
        <p:nvSpPr>
          <p:cNvPr id="30" name="Prostokąt: zaokrąglone rogi 29">
            <a:extLst>
              <a:ext uri="{FF2B5EF4-FFF2-40B4-BE49-F238E27FC236}">
                <a16:creationId xmlns:a16="http://schemas.microsoft.com/office/drawing/2014/main" id="{4BA2BA38-225C-1ECA-5EE9-0C0446A93BF4}"/>
              </a:ext>
            </a:extLst>
          </p:cNvPr>
          <p:cNvSpPr/>
          <p:nvPr/>
        </p:nvSpPr>
        <p:spPr>
          <a:xfrm>
            <a:off x="212428" y="3842091"/>
            <a:ext cx="4191222" cy="1322999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" name="pole tekstowe 30">
            <a:extLst>
              <a:ext uri="{FF2B5EF4-FFF2-40B4-BE49-F238E27FC236}">
                <a16:creationId xmlns:a16="http://schemas.microsoft.com/office/drawing/2014/main" id="{8FC3ABB3-D10B-9243-5CF6-C6EB9B9FF835}"/>
              </a:ext>
            </a:extLst>
          </p:cNvPr>
          <p:cNvSpPr txBox="1"/>
          <p:nvPr/>
        </p:nvSpPr>
        <p:spPr>
          <a:xfrm>
            <a:off x="298194" y="3838400"/>
            <a:ext cx="412979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Deferred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jest to obiekt, który otrzymujesz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natychmiast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po wywołaniu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async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, zanim jeszcze właściwe obliczenia się zakończą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.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Podobnie jak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  <a:cs typeface="Arial" panose="020B0604020202020204" pitchFamily="34" charset="0"/>
              </a:rPr>
              <a:t>Job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  <a:cs typeface="Arial" panose="020B0604020202020204" pitchFamily="34" charset="0"/>
              </a:rPr>
              <a:t>Deferred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również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reprezentuje cykl życia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zadania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.</a:t>
            </a:r>
          </a:p>
        </p:txBody>
      </p:sp>
      <p:cxnSp>
        <p:nvCxnSpPr>
          <p:cNvPr id="32" name="Łącznik prosty ze strzałką 31">
            <a:extLst>
              <a:ext uri="{FF2B5EF4-FFF2-40B4-BE49-F238E27FC236}">
                <a16:creationId xmlns:a16="http://schemas.microsoft.com/office/drawing/2014/main" id="{38D00A39-2748-07E8-F8A7-376C9613C739}"/>
              </a:ext>
            </a:extLst>
          </p:cNvPr>
          <p:cNvCxnSpPr>
            <a:cxnSpLocks/>
          </p:cNvCxnSpPr>
          <p:nvPr/>
        </p:nvCxnSpPr>
        <p:spPr>
          <a:xfrm flipV="1">
            <a:off x="4450909" y="4841508"/>
            <a:ext cx="2929403" cy="49509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36096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8689A3-0717-6826-1ACE-E47923DBD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az 1">
            <a:extLst>
              <a:ext uri="{FF2B5EF4-FFF2-40B4-BE49-F238E27FC236}">
                <a16:creationId xmlns:a16="http://schemas.microsoft.com/office/drawing/2014/main" id="{937361DC-3C1C-29D2-9DB0-393622788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0568" y="836712"/>
            <a:ext cx="4610186" cy="6021288"/>
          </a:xfrm>
          <a:prstGeom prst="rect">
            <a:avLst/>
          </a:prstGeom>
        </p:spPr>
      </p:pic>
      <p:sp>
        <p:nvSpPr>
          <p:cNvPr id="3" name="Prostokąt: zaokrąglone rogi 2">
            <a:extLst>
              <a:ext uri="{FF2B5EF4-FFF2-40B4-BE49-F238E27FC236}">
                <a16:creationId xmlns:a16="http://schemas.microsoft.com/office/drawing/2014/main" id="{E156DDC3-1555-57A6-E1AA-11DF6E2CAB79}"/>
              </a:ext>
            </a:extLst>
          </p:cNvPr>
          <p:cNvSpPr/>
          <p:nvPr/>
        </p:nvSpPr>
        <p:spPr>
          <a:xfrm>
            <a:off x="46104" y="5293475"/>
            <a:ext cx="4767284" cy="1535900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" name="Prostokąt: zaokrąglone rogi 3">
            <a:extLst>
              <a:ext uri="{FF2B5EF4-FFF2-40B4-BE49-F238E27FC236}">
                <a16:creationId xmlns:a16="http://schemas.microsoft.com/office/drawing/2014/main" id="{EDEC221A-C5F1-50ED-031C-5213F2DDC43E}"/>
              </a:ext>
            </a:extLst>
          </p:cNvPr>
          <p:cNvSpPr/>
          <p:nvPr/>
        </p:nvSpPr>
        <p:spPr>
          <a:xfrm>
            <a:off x="172929" y="2443852"/>
            <a:ext cx="4191222" cy="1322999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78A65438-8728-D739-AEE7-EDDBABBB8547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Asynchroniczność</a:t>
            </a:r>
          </a:p>
        </p:txBody>
      </p:sp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22438915-F01A-85F5-26DA-6EF6EB22E319}"/>
              </a:ext>
            </a:extLst>
          </p:cNvPr>
          <p:cNvSpPr/>
          <p:nvPr/>
        </p:nvSpPr>
        <p:spPr>
          <a:xfrm>
            <a:off x="239590" y="980729"/>
            <a:ext cx="4116386" cy="1008111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82A1758A-CCF1-72C5-4B7A-7D9AFF5B1C9D}"/>
              </a:ext>
            </a:extLst>
          </p:cNvPr>
          <p:cNvSpPr txBox="1"/>
          <p:nvPr/>
        </p:nvSpPr>
        <p:spPr>
          <a:xfrm>
            <a:off x="249846" y="946175"/>
            <a:ext cx="411638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Funkcja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suspend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delay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(3000) zawiesza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korutynę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na 3 sekundy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bez blokowania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wątku UI, a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następnie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zwraca wynik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w postaci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String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</a:t>
            </a:r>
          </a:p>
        </p:txBody>
      </p:sp>
      <p:cxnSp>
        <p:nvCxnSpPr>
          <p:cNvPr id="8" name="Łącznik prosty ze strzałką 7">
            <a:extLst>
              <a:ext uri="{FF2B5EF4-FFF2-40B4-BE49-F238E27FC236}">
                <a16:creationId xmlns:a16="http://schemas.microsoft.com/office/drawing/2014/main" id="{BB36B86F-0C4D-12E1-4E18-960A92361ABD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4355976" y="1484785"/>
            <a:ext cx="504056" cy="432047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rostokąt: zaokrąglone rogi 11">
            <a:extLst>
              <a:ext uri="{FF2B5EF4-FFF2-40B4-BE49-F238E27FC236}">
                <a16:creationId xmlns:a16="http://schemas.microsoft.com/office/drawing/2014/main" id="{BECB7E62-FE6D-D28E-D976-0B816C11C7FD}"/>
              </a:ext>
            </a:extLst>
          </p:cNvPr>
          <p:cNvSpPr/>
          <p:nvPr/>
        </p:nvSpPr>
        <p:spPr>
          <a:xfrm>
            <a:off x="7236296" y="2420888"/>
            <a:ext cx="1738768" cy="499562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39A94EC3-4195-2B99-5304-8FD6D862DE3E}"/>
              </a:ext>
            </a:extLst>
          </p:cNvPr>
          <p:cNvCxnSpPr>
            <a:cxnSpLocks/>
          </p:cNvCxnSpPr>
          <p:nvPr/>
        </p:nvCxnSpPr>
        <p:spPr>
          <a:xfrm flipH="1" flipV="1">
            <a:off x="5508104" y="2420888"/>
            <a:ext cx="1728192" cy="227124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ole tekstowe 21">
            <a:extLst>
              <a:ext uri="{FF2B5EF4-FFF2-40B4-BE49-F238E27FC236}">
                <a16:creationId xmlns:a16="http://schemas.microsoft.com/office/drawing/2014/main" id="{38C1325F-4C49-965F-FC54-EAC877074C0D}"/>
              </a:ext>
            </a:extLst>
          </p:cNvPr>
          <p:cNvSpPr txBox="1"/>
          <p:nvPr/>
        </p:nvSpPr>
        <p:spPr>
          <a:xfrm>
            <a:off x="7308304" y="2480581"/>
            <a:ext cx="158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Zwraca wynik</a:t>
            </a:r>
          </a:p>
        </p:txBody>
      </p:sp>
      <p:cxnSp>
        <p:nvCxnSpPr>
          <p:cNvPr id="23" name="Łącznik prosty ze strzałką 22">
            <a:extLst>
              <a:ext uri="{FF2B5EF4-FFF2-40B4-BE49-F238E27FC236}">
                <a16:creationId xmlns:a16="http://schemas.microsoft.com/office/drawing/2014/main" id="{79055D2C-3FCA-9D36-2DC7-BD87B23B7938}"/>
              </a:ext>
            </a:extLst>
          </p:cNvPr>
          <p:cNvCxnSpPr>
            <a:cxnSpLocks/>
            <a:stCxn id="25" idx="3"/>
          </p:cNvCxnSpPr>
          <p:nvPr/>
        </p:nvCxnSpPr>
        <p:spPr>
          <a:xfrm>
            <a:off x="4201257" y="2226721"/>
            <a:ext cx="1224263" cy="2354407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stokąt: zaokrąglone rogi 23">
            <a:extLst>
              <a:ext uri="{FF2B5EF4-FFF2-40B4-BE49-F238E27FC236}">
                <a16:creationId xmlns:a16="http://schemas.microsoft.com/office/drawing/2014/main" id="{9B9E1F5F-E9FD-1FAB-E111-05D619E6C9FC}"/>
              </a:ext>
            </a:extLst>
          </p:cNvPr>
          <p:cNvSpPr/>
          <p:nvPr/>
        </p:nvSpPr>
        <p:spPr>
          <a:xfrm>
            <a:off x="1295084" y="2040673"/>
            <a:ext cx="2858914" cy="338554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" name="pole tekstowe 24">
            <a:extLst>
              <a:ext uri="{FF2B5EF4-FFF2-40B4-BE49-F238E27FC236}">
                <a16:creationId xmlns:a16="http://schemas.microsoft.com/office/drawing/2014/main" id="{0441A896-746F-E4AB-3A67-AB591E5E1E1D}"/>
              </a:ext>
            </a:extLst>
          </p:cNvPr>
          <p:cNvSpPr txBox="1"/>
          <p:nvPr/>
        </p:nvSpPr>
        <p:spPr>
          <a:xfrm>
            <a:off x="1342343" y="2057444"/>
            <a:ext cx="2858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Uruchamia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główną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korutynę</a:t>
            </a:r>
            <a:endParaRPr lang="pl-PL" sz="1600" dirty="0">
              <a:solidFill>
                <a:schemeClr val="accent4">
                  <a:lumMod val="50000"/>
                </a:schemeClr>
              </a:solidFill>
            </a:endParaRPr>
          </a:p>
        </p:txBody>
      </p:sp>
      <p:cxnSp>
        <p:nvCxnSpPr>
          <p:cNvPr id="27" name="Łącznik prosty ze strzałką 26">
            <a:extLst>
              <a:ext uri="{FF2B5EF4-FFF2-40B4-BE49-F238E27FC236}">
                <a16:creationId xmlns:a16="http://schemas.microsoft.com/office/drawing/2014/main" id="{49FF2787-8F22-5F49-CC98-87F105B369BD}"/>
              </a:ext>
            </a:extLst>
          </p:cNvPr>
          <p:cNvCxnSpPr>
            <a:cxnSpLocks/>
          </p:cNvCxnSpPr>
          <p:nvPr/>
        </p:nvCxnSpPr>
        <p:spPr>
          <a:xfrm>
            <a:off x="4355976" y="3607569"/>
            <a:ext cx="1368152" cy="1181548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pole tekstowe 32">
            <a:extLst>
              <a:ext uri="{FF2B5EF4-FFF2-40B4-BE49-F238E27FC236}">
                <a16:creationId xmlns:a16="http://schemas.microsoft.com/office/drawing/2014/main" id="{F1192649-4366-8B02-B7E0-140F1AE2A2CF}"/>
              </a:ext>
            </a:extLst>
          </p:cNvPr>
          <p:cNvSpPr txBox="1"/>
          <p:nvPr/>
        </p:nvSpPr>
        <p:spPr>
          <a:xfrm>
            <a:off x="200758" y="2422861"/>
            <a:ext cx="412979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Wewnątrz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głównej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</a:rPr>
              <a:t>korutyny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,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async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uruchamia nowe, zagnieżdżone zadanie w tle w celu wywołania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generatePassword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()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. Zamiast wyniku,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async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natychmiast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zwraca obiekt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Deferred.</a:t>
            </a:r>
          </a:p>
        </p:txBody>
      </p:sp>
      <p:sp>
        <p:nvSpPr>
          <p:cNvPr id="34" name="Prostokąt: zaokrąglone rogi 33">
            <a:extLst>
              <a:ext uri="{FF2B5EF4-FFF2-40B4-BE49-F238E27FC236}">
                <a16:creationId xmlns:a16="http://schemas.microsoft.com/office/drawing/2014/main" id="{2A36CECC-EB40-6BBB-2760-7D68DEC0CA7E}"/>
              </a:ext>
            </a:extLst>
          </p:cNvPr>
          <p:cNvSpPr/>
          <p:nvPr/>
        </p:nvSpPr>
        <p:spPr>
          <a:xfrm>
            <a:off x="212428" y="3842091"/>
            <a:ext cx="4191222" cy="1322999"/>
          </a:xfrm>
          <a:prstGeom prst="roundRect">
            <a:avLst>
              <a:gd name="adj" fmla="val 5695"/>
            </a:avLst>
          </a:prstGeom>
          <a:solidFill>
            <a:schemeClr val="bg1"/>
          </a:solidFill>
          <a:ln w="635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5" name="pole tekstowe 34">
            <a:extLst>
              <a:ext uri="{FF2B5EF4-FFF2-40B4-BE49-F238E27FC236}">
                <a16:creationId xmlns:a16="http://schemas.microsoft.com/office/drawing/2014/main" id="{ED73E290-3261-46AE-0C65-683796F8163C}"/>
              </a:ext>
            </a:extLst>
          </p:cNvPr>
          <p:cNvSpPr txBox="1"/>
          <p:nvPr/>
        </p:nvSpPr>
        <p:spPr>
          <a:xfrm>
            <a:off x="298194" y="3838400"/>
            <a:ext cx="412979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Deferred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jest to obiekt, który otrzymujesz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natychmiast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</a:rPr>
              <a:t>po wywołaniu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</a:rPr>
              <a:t>async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</a:rPr>
              <a:t>, zanim jeszcze właściwe obliczenia się zakończą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.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Podobnie jak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  <a:cs typeface="Arial" panose="020B0604020202020204" pitchFamily="34" charset="0"/>
              </a:rPr>
              <a:t>Job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  <a:cs typeface="Arial" panose="020B0604020202020204" pitchFamily="34" charset="0"/>
              </a:rPr>
              <a:t>Deferred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również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reprezentuje cykl życia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zadania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</a:rPr>
              <a:t>.</a:t>
            </a:r>
          </a:p>
        </p:txBody>
      </p:sp>
      <p:sp>
        <p:nvSpPr>
          <p:cNvPr id="36" name="pole tekstowe 35">
            <a:extLst>
              <a:ext uri="{FF2B5EF4-FFF2-40B4-BE49-F238E27FC236}">
                <a16:creationId xmlns:a16="http://schemas.microsoft.com/office/drawing/2014/main" id="{2A503E10-972E-FA16-28B3-384DB33189ED}"/>
              </a:ext>
            </a:extLst>
          </p:cNvPr>
          <p:cNvSpPr txBox="1"/>
          <p:nvPr/>
        </p:nvSpPr>
        <p:spPr>
          <a:xfrm>
            <a:off x="58873" y="5296726"/>
            <a:ext cx="476728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Korutyna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  <a:cs typeface="Arial" panose="020B0604020202020204" pitchFamily="34" charset="0"/>
              </a:rPr>
              <a:t>launch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zawiesza się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 tym miejscu, czekając na zakończenie zadania. Gdy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  <a:cs typeface="Arial" panose="020B0604020202020204" pitchFamily="34" charset="0"/>
              </a:rPr>
              <a:t>async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zakończy pracę i dostarczy wynik, </a:t>
            </a:r>
            <a:r>
              <a:rPr lang="pl-PL" sz="1600" dirty="0" err="1">
                <a:solidFill>
                  <a:schemeClr val="accent4">
                    <a:lumMod val="50000"/>
                  </a:schemeClr>
                </a:solidFill>
                <a:latin typeface="Verbatim"/>
                <a:cs typeface="Arial" panose="020B0604020202020204" pitchFamily="34" charset="0"/>
              </a:rPr>
              <a:t>await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Verbatim"/>
                <a:cs typeface="Arial" panose="020B0604020202020204" pitchFamily="34" charset="0"/>
              </a:rPr>
              <a:t>()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"odpakowuje" 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 i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przypisuje do zmiennej stanu 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password</a:t>
            </a:r>
            <a:r>
              <a:rPr lang="pl-PL" sz="16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co powoduje finalną 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aktualizację UI (</a:t>
            </a:r>
            <a:r>
              <a:rPr lang="pl-PL" sz="1600" b="1" dirty="0" err="1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rekompozycję</a:t>
            </a:r>
            <a:r>
              <a:rPr lang="pl-PL" sz="1600" b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</p:txBody>
      </p:sp>
      <p:cxnSp>
        <p:nvCxnSpPr>
          <p:cNvPr id="37" name="Łącznik prosty ze strzałką 36">
            <a:extLst>
              <a:ext uri="{FF2B5EF4-FFF2-40B4-BE49-F238E27FC236}">
                <a16:creationId xmlns:a16="http://schemas.microsoft.com/office/drawing/2014/main" id="{04844C61-C62B-7EAD-BBA0-D2202AF6EFCA}"/>
              </a:ext>
            </a:extLst>
          </p:cNvPr>
          <p:cNvCxnSpPr>
            <a:cxnSpLocks/>
          </p:cNvCxnSpPr>
          <p:nvPr/>
        </p:nvCxnSpPr>
        <p:spPr>
          <a:xfrm flipV="1">
            <a:off x="4450909" y="4841508"/>
            <a:ext cx="2929403" cy="49509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Łącznik prosty ze strzałką 37">
            <a:extLst>
              <a:ext uri="{FF2B5EF4-FFF2-40B4-BE49-F238E27FC236}">
                <a16:creationId xmlns:a16="http://schemas.microsoft.com/office/drawing/2014/main" id="{F9AFD86D-53E7-A9AE-DCDA-FC78BB180F5F}"/>
              </a:ext>
            </a:extLst>
          </p:cNvPr>
          <p:cNvCxnSpPr>
            <a:cxnSpLocks/>
          </p:cNvCxnSpPr>
          <p:nvPr/>
        </p:nvCxnSpPr>
        <p:spPr>
          <a:xfrm flipV="1">
            <a:off x="4797237" y="5264850"/>
            <a:ext cx="2929403" cy="721880"/>
          </a:xfrm>
          <a:prstGeom prst="straightConnector1">
            <a:avLst/>
          </a:prstGeom>
          <a:ln w="63500" cap="rnd"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325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Nagłówek">
            <a:extLst>
              <a:ext uri="{FF2B5EF4-FFF2-40B4-BE49-F238E27FC236}">
                <a16:creationId xmlns:a16="http://schemas.microsoft.com/office/drawing/2014/main" id="{14CD1D66-F756-4EA0-A6A1-4C675531AACD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t>Przykład: profil użytkownika</a:t>
            </a:r>
          </a:p>
        </p:txBody>
      </p:sp>
      <p:sp>
        <p:nvSpPr>
          <p:cNvPr id="2" name="Tekst_41">
            <a:extLst>
              <a:ext uri="{FF2B5EF4-FFF2-40B4-BE49-F238E27FC236}">
                <a16:creationId xmlns:a16="http://schemas.microsoft.com/office/drawing/2014/main" id="{3582EA4D-5373-4362-A1AC-30207913E141}"/>
              </a:ext>
            </a:extLst>
          </p:cNvPr>
          <p:cNvSpPr>
            <a:spLocks noGrp="1"/>
          </p:cNvSpPr>
          <p:nvPr/>
        </p:nvSpPr>
        <p:spPr>
          <a:xfrm>
            <a:off x="1257300" y="1000125"/>
            <a:ext cx="76009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Ekran potrzebuje dwóch niezależnych informacji.</a:t>
            </a:r>
          </a:p>
        </p:txBody>
      </p:sp>
      <p:sp>
        <p:nvSpPr>
          <p:cNvPr id="3" name="Numer slajdu">
            <a:extLst>
              <a:ext uri="{FF2B5EF4-FFF2-40B4-BE49-F238E27FC236}">
                <a16:creationId xmlns:a16="http://schemas.microsoft.com/office/drawing/2014/main" id="{A9DCCFB6-3A6A-42B7-8DF1-BD0597634C1C}"/>
              </a:ext>
            </a:extLst>
          </p:cNvPr>
          <p:cNvSpPr>
            <a:spLocks noGrp="1"/>
          </p:cNvSpPr>
          <p:nvPr/>
        </p:nvSpPr>
        <p:spPr>
          <a:xfrm>
            <a:off x="8496300" y="6534150"/>
            <a:ext cx="38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pPr>
            <a:r>
              <a:t>13</a:t>
            </a:r>
          </a:p>
        </p:txBody>
      </p:sp>
      <p:sp>
        <p:nvSpPr>
          <p:cNvPr id="5" name="Tekst_42">
            <a:extLst>
              <a:ext uri="{FF2B5EF4-FFF2-40B4-BE49-F238E27FC236}">
                <a16:creationId xmlns:a16="http://schemas.microsoft.com/office/drawing/2014/main" id="{47D4DF25-07B0-4D92-A486-71059E1365FA}"/>
              </a:ext>
            </a:extLst>
          </p:cNvPr>
          <p:cNvSpPr>
            <a:spLocks noGrp="1"/>
          </p:cNvSpPr>
          <p:nvPr/>
        </p:nvSpPr>
        <p:spPr>
          <a:xfrm>
            <a:off x="4000500" y="2066925"/>
            <a:ext cx="4714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Nazwa użytkownika</a:t>
            </a:r>
          </a:p>
        </p:txBody>
      </p:sp>
      <p:sp>
        <p:nvSpPr>
          <p:cNvPr id="6" name="Tekst_43">
            <a:extLst>
              <a:ext uri="{FF2B5EF4-FFF2-40B4-BE49-F238E27FC236}">
                <a16:creationId xmlns:a16="http://schemas.microsoft.com/office/drawing/2014/main" id="{FD79E441-BBD6-4617-B3C2-E11EB193C35B}"/>
              </a:ext>
            </a:extLst>
          </p:cNvPr>
          <p:cNvSpPr>
            <a:spLocks noGrp="1"/>
          </p:cNvSpPr>
          <p:nvPr/>
        </p:nvSpPr>
        <p:spPr>
          <a:xfrm>
            <a:off x="4000500" y="2352675"/>
            <a:ext cx="471487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dirty="0" err="1"/>
              <a:t>Symulowane</a:t>
            </a:r>
            <a:r>
              <a:rPr dirty="0"/>
              <a:t> </a:t>
            </a:r>
            <a:r>
              <a:rPr dirty="0" err="1"/>
              <a:t>pobieranie</a:t>
            </a:r>
            <a:r>
              <a:rPr dirty="0"/>
              <a:t> </a:t>
            </a:r>
            <a:r>
              <a:rPr dirty="0" err="1"/>
              <a:t>trwa</a:t>
            </a:r>
            <a:r>
              <a:rPr dirty="0"/>
              <a:t> 2 s.</a:t>
            </a:r>
          </a:p>
        </p:txBody>
      </p:sp>
      <p:sp>
        <p:nvSpPr>
          <p:cNvPr id="7" name="Tekst_44">
            <a:extLst>
              <a:ext uri="{FF2B5EF4-FFF2-40B4-BE49-F238E27FC236}">
                <a16:creationId xmlns:a16="http://schemas.microsoft.com/office/drawing/2014/main" id="{2A2F6460-CB0C-4C98-8FBA-6B88828F858B}"/>
              </a:ext>
            </a:extLst>
          </p:cNvPr>
          <p:cNvSpPr>
            <a:spLocks noGrp="1"/>
          </p:cNvSpPr>
          <p:nvPr/>
        </p:nvSpPr>
        <p:spPr>
          <a:xfrm>
            <a:off x="4000500" y="3190875"/>
            <a:ext cx="4714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Ostatnia aktywność</a:t>
            </a:r>
          </a:p>
        </p:txBody>
      </p:sp>
      <p:sp>
        <p:nvSpPr>
          <p:cNvPr id="8" name="Tekst_45">
            <a:extLst>
              <a:ext uri="{FF2B5EF4-FFF2-40B4-BE49-F238E27FC236}">
                <a16:creationId xmlns:a16="http://schemas.microsoft.com/office/drawing/2014/main" id="{F492B01E-6FA0-4D74-8037-9BDE9821C0B8}"/>
              </a:ext>
            </a:extLst>
          </p:cNvPr>
          <p:cNvSpPr>
            <a:spLocks noGrp="1"/>
          </p:cNvSpPr>
          <p:nvPr/>
        </p:nvSpPr>
        <p:spPr>
          <a:xfrm>
            <a:off x="4000500" y="3476625"/>
            <a:ext cx="471487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Symulowane pobieranie trwa 3 s.</a:t>
            </a:r>
          </a:p>
        </p:txBody>
      </p:sp>
      <p:sp>
        <p:nvSpPr>
          <p:cNvPr id="9" name="Tekst_46">
            <a:extLst>
              <a:ext uri="{FF2B5EF4-FFF2-40B4-BE49-F238E27FC236}">
                <a16:creationId xmlns:a16="http://schemas.microsoft.com/office/drawing/2014/main" id="{D629009A-5831-412D-AF3F-C1706A11A26B}"/>
              </a:ext>
            </a:extLst>
          </p:cNvPr>
          <p:cNvSpPr>
            <a:spLocks noGrp="1"/>
          </p:cNvSpPr>
          <p:nvPr/>
        </p:nvSpPr>
        <p:spPr>
          <a:xfrm>
            <a:off x="4000500" y="4314825"/>
            <a:ext cx="4714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Wspólny wynik</a:t>
            </a:r>
          </a:p>
        </p:txBody>
      </p:sp>
      <p:sp>
        <p:nvSpPr>
          <p:cNvPr id="10" name="Tekst_47">
            <a:extLst>
              <a:ext uri="{FF2B5EF4-FFF2-40B4-BE49-F238E27FC236}">
                <a16:creationId xmlns:a16="http://schemas.microsoft.com/office/drawing/2014/main" id="{45B702D5-DCD4-48DC-AA01-6D993708089F}"/>
              </a:ext>
            </a:extLst>
          </p:cNvPr>
          <p:cNvSpPr>
            <a:spLocks noGrp="1"/>
          </p:cNvSpPr>
          <p:nvPr/>
        </p:nvSpPr>
        <p:spPr>
          <a:xfrm>
            <a:off x="4000500" y="4600575"/>
            <a:ext cx="471487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Pokazujemy komplet danych i zmierzony czas.</a:t>
            </a:r>
          </a:p>
        </p:txBody>
      </p:sp>
      <p:sp>
        <p:nvSpPr>
          <p:cNvPr id="11" name="Tekst_48">
            <a:extLst>
              <a:ext uri="{FF2B5EF4-FFF2-40B4-BE49-F238E27FC236}">
                <a16:creationId xmlns:a16="http://schemas.microsoft.com/office/drawing/2014/main" id="{FE8A1EE6-DA8B-4BB3-8FDF-7192D9C27EA3}"/>
              </a:ext>
            </a:extLst>
          </p:cNvPr>
          <p:cNvSpPr>
            <a:spLocks noGrp="1"/>
          </p:cNvSpPr>
          <p:nvPr/>
        </p:nvSpPr>
        <p:spPr>
          <a:xfrm>
            <a:off x="1257300" y="6267450"/>
            <a:ext cx="76009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rPr dirty="0" err="1"/>
              <a:t>Najpierw</a:t>
            </a:r>
            <a:r>
              <a:rPr dirty="0"/>
              <a:t> </a:t>
            </a:r>
            <a:r>
              <a:rPr dirty="0" err="1"/>
              <a:t>porównamy</a:t>
            </a:r>
            <a:r>
              <a:rPr dirty="0"/>
              <a:t> </a:t>
            </a:r>
            <a:r>
              <a:rPr dirty="0" err="1"/>
              <a:t>wywołania</a:t>
            </a:r>
            <a:r>
              <a:rPr dirty="0"/>
              <a:t> </a:t>
            </a:r>
            <a:r>
              <a:rPr dirty="0" err="1"/>
              <a:t>sekwencyjne</a:t>
            </a:r>
            <a:r>
              <a:rPr dirty="0"/>
              <a:t> z </a:t>
            </a:r>
            <a:r>
              <a:rPr dirty="0" err="1"/>
              <a:t>dwoma</a:t>
            </a:r>
            <a:r>
              <a:rPr dirty="0"/>
              <a:t> async.</a:t>
            </a:r>
          </a:p>
        </p:txBody>
      </p:sp>
      <p:pic>
        <p:nvPicPr>
          <p:cNvPr id="13" name="bandicam 2025-07-29 16-46-50-192">
            <a:hlinkClick r:id="" action="ppaction://media"/>
            <a:extLst>
              <a:ext uri="{FF2B5EF4-FFF2-40B4-BE49-F238E27FC236}">
                <a16:creationId xmlns:a16="http://schemas.microsoft.com/office/drawing/2014/main" id="{7B179A9D-B8BB-1CCB-D4A6-A9D94B717AE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537861" y="1309687"/>
            <a:ext cx="2117865" cy="4765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326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633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Nagłówek">
            <a:extLst>
              <a:ext uri="{FF2B5EF4-FFF2-40B4-BE49-F238E27FC236}">
                <a16:creationId xmlns:a16="http://schemas.microsoft.com/office/drawing/2014/main" id="{0C184F0E-D7E2-4749-A9A4-FC8947D02F15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t>Funkcje zwracające dane</a:t>
            </a:r>
          </a:p>
        </p:txBody>
      </p:sp>
      <p:sp>
        <p:nvSpPr>
          <p:cNvPr id="2" name="Tekst_49">
            <a:extLst>
              <a:ext uri="{FF2B5EF4-FFF2-40B4-BE49-F238E27FC236}">
                <a16:creationId xmlns:a16="http://schemas.microsoft.com/office/drawing/2014/main" id="{B1CF29B6-539D-4866-AE2B-F93C51F0EEF0}"/>
              </a:ext>
            </a:extLst>
          </p:cNvPr>
          <p:cNvSpPr>
            <a:spLocks noGrp="1"/>
          </p:cNvSpPr>
          <p:nvPr/>
        </p:nvSpPr>
        <p:spPr>
          <a:xfrm>
            <a:off x="1257300" y="1000125"/>
            <a:ext cx="76009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delay() symuluje oczekiwanie na dane. Funkcje zwracają zwykłe wartości.</a:t>
            </a:r>
          </a:p>
        </p:txBody>
      </p:sp>
      <p:sp>
        <p:nvSpPr>
          <p:cNvPr id="3" name="Numer slajdu">
            <a:extLst>
              <a:ext uri="{FF2B5EF4-FFF2-40B4-BE49-F238E27FC236}">
                <a16:creationId xmlns:a16="http://schemas.microsoft.com/office/drawing/2014/main" id="{199B2B14-E561-4702-BBA3-2251CF57902B}"/>
              </a:ext>
            </a:extLst>
          </p:cNvPr>
          <p:cNvSpPr>
            <a:spLocks noGrp="1"/>
          </p:cNvSpPr>
          <p:nvPr/>
        </p:nvSpPr>
        <p:spPr>
          <a:xfrm>
            <a:off x="8496300" y="6534150"/>
            <a:ext cx="38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pPr>
            <a:r>
              <a:t>14</a:t>
            </a:r>
          </a:p>
        </p:txBody>
      </p:sp>
      <p:sp>
        <p:nvSpPr>
          <p:cNvPr id="4" name="Kod_1">
            <a:extLst>
              <a:ext uri="{FF2B5EF4-FFF2-40B4-BE49-F238E27FC236}">
                <a16:creationId xmlns:a16="http://schemas.microsoft.com/office/drawing/2014/main" id="{75971424-1789-42AA-85B9-C52B6D0CA58B}"/>
              </a:ext>
            </a:extLst>
          </p:cNvPr>
          <p:cNvSpPr>
            <a:spLocks noGrp="1"/>
          </p:cNvSpPr>
          <p:nvPr/>
        </p:nvSpPr>
        <p:spPr>
          <a:xfrm>
            <a:off x="1257300" y="1752600"/>
            <a:ext cx="76009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9B4"/>
                </a:solidFill>
              </a:rPr>
              <a:t>data</a:t>
            </a:r>
            <a:r>
              <a:rPr>
                <a:solidFill>
                  <a:srgbClr val="161616"/>
                </a:solidFill>
              </a:rPr>
              <a:t> </a:t>
            </a:r>
            <a:r>
              <a:rPr>
                <a:solidFill>
                  <a:srgbClr val="0039B4"/>
                </a:solidFill>
              </a:rPr>
              <a:t>class</a:t>
            </a:r>
            <a:r>
              <a:rPr>
                <a:solidFill>
                  <a:srgbClr val="161616"/>
                </a:solidFill>
              </a:rPr>
              <a:t> </a:t>
            </a:r>
            <a:r>
              <a:rPr>
                <a:solidFill>
                  <a:srgbClr val="80521C"/>
                </a:solidFill>
              </a:rPr>
              <a:t>Profile</a:t>
            </a:r>
            <a:r>
              <a:rPr>
                <a:solidFill>
                  <a:srgbClr val="161616"/>
                </a:solidFill>
              </a:rPr>
              <a:t>(</a:t>
            </a:r>
            <a:r>
              <a:rPr>
                <a:solidFill>
                  <a:srgbClr val="0039B4"/>
                </a:solidFill>
              </a:rPr>
              <a:t>val</a:t>
            </a:r>
            <a:r>
              <a:rPr>
                <a:solidFill>
                  <a:srgbClr val="161616"/>
                </a:solidFill>
              </a:rPr>
              <a:t> name: </a:t>
            </a:r>
            <a:r>
              <a:rPr>
                <a:solidFill>
                  <a:srgbClr val="80521C"/>
                </a:solidFill>
              </a:rPr>
              <a:t>String</a:t>
            </a:r>
            <a:r>
              <a:rPr>
                <a:solidFill>
                  <a:srgbClr val="161616"/>
                </a:solidFill>
              </a:rPr>
              <a:t>, </a:t>
            </a:r>
            <a:r>
              <a:rPr>
                <a:solidFill>
                  <a:srgbClr val="0039B4"/>
                </a:solidFill>
              </a:rPr>
              <a:t>val</a:t>
            </a:r>
            <a:r>
              <a:rPr>
                <a:solidFill>
                  <a:srgbClr val="161616"/>
                </a:solidFill>
              </a:rPr>
              <a:t> activity: </a:t>
            </a:r>
            <a:r>
              <a:rPr>
                <a:solidFill>
                  <a:srgbClr val="80521C"/>
                </a:solidFill>
              </a:rPr>
              <a:t>String</a:t>
            </a:r>
            <a:r>
              <a:rPr>
                <a:solidFill>
                  <a:srgbClr val="161616"/>
                </a:solidFill>
              </a:rPr>
              <a:t>)</a:t>
            </a:r>
          </a:p>
        </p:txBody>
      </p:sp>
      <p:sp>
        <p:nvSpPr>
          <p:cNvPr id="5" name="Kod_2">
            <a:extLst>
              <a:ext uri="{FF2B5EF4-FFF2-40B4-BE49-F238E27FC236}">
                <a16:creationId xmlns:a16="http://schemas.microsoft.com/office/drawing/2014/main" id="{0D158D9F-884F-4761-B511-019E36915E9E}"/>
              </a:ext>
            </a:extLst>
          </p:cNvPr>
          <p:cNvSpPr>
            <a:spLocks noGrp="1"/>
          </p:cNvSpPr>
          <p:nvPr/>
        </p:nvSpPr>
        <p:spPr>
          <a:xfrm>
            <a:off x="1257300" y="2019300"/>
            <a:ext cx="76009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</a:t>
            </a:r>
          </a:p>
        </p:txBody>
      </p:sp>
      <p:sp>
        <p:nvSpPr>
          <p:cNvPr id="6" name="Kod_3">
            <a:extLst>
              <a:ext uri="{FF2B5EF4-FFF2-40B4-BE49-F238E27FC236}">
                <a16:creationId xmlns:a16="http://schemas.microsoft.com/office/drawing/2014/main" id="{822F06AD-AA99-493C-BBC5-CFDCEB9266E7}"/>
              </a:ext>
            </a:extLst>
          </p:cNvPr>
          <p:cNvSpPr>
            <a:spLocks noGrp="1"/>
          </p:cNvSpPr>
          <p:nvPr/>
        </p:nvSpPr>
        <p:spPr>
          <a:xfrm>
            <a:off x="1257300" y="2286000"/>
            <a:ext cx="76009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9B4"/>
                </a:solidFill>
              </a:rPr>
              <a:t>suspend</a:t>
            </a:r>
            <a:r>
              <a:rPr>
                <a:solidFill>
                  <a:srgbClr val="161616"/>
                </a:solidFill>
              </a:rPr>
              <a:t> </a:t>
            </a:r>
            <a:r>
              <a:rPr>
                <a:solidFill>
                  <a:srgbClr val="0039B4"/>
                </a:solidFill>
              </a:rPr>
              <a:t>fun</a:t>
            </a:r>
            <a:r>
              <a:rPr>
                <a:solidFill>
                  <a:srgbClr val="161616"/>
                </a:solidFill>
              </a:rPr>
              <a:t> fetchUserName(): </a:t>
            </a:r>
            <a:r>
              <a:rPr>
                <a:solidFill>
                  <a:srgbClr val="80521C"/>
                </a:solidFill>
              </a:rPr>
              <a:t>String</a:t>
            </a:r>
            <a:r>
              <a:rPr>
                <a:solidFill>
                  <a:srgbClr val="161616"/>
                </a:solidFill>
              </a:rPr>
              <a:t> {</a:t>
            </a:r>
          </a:p>
        </p:txBody>
      </p:sp>
      <p:sp>
        <p:nvSpPr>
          <p:cNvPr id="7" name="Kod_4">
            <a:extLst>
              <a:ext uri="{FF2B5EF4-FFF2-40B4-BE49-F238E27FC236}">
                <a16:creationId xmlns:a16="http://schemas.microsoft.com/office/drawing/2014/main" id="{F32BA627-A2EB-4472-B777-D811121DBE2C}"/>
              </a:ext>
            </a:extLst>
          </p:cNvPr>
          <p:cNvSpPr>
            <a:spLocks noGrp="1"/>
          </p:cNvSpPr>
          <p:nvPr/>
        </p:nvSpPr>
        <p:spPr>
          <a:xfrm>
            <a:off x="1257300" y="2552700"/>
            <a:ext cx="76009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delay(</a:t>
            </a:r>
            <a:r>
              <a:rPr>
                <a:solidFill>
                  <a:srgbClr val="194BC4"/>
                </a:solidFill>
              </a:rPr>
              <a:t>2000</a:t>
            </a:r>
            <a:r>
              <a:rPr>
                <a:solidFill>
                  <a:srgbClr val="161616"/>
                </a:solidFill>
              </a:rPr>
              <a:t>)</a:t>
            </a:r>
          </a:p>
        </p:txBody>
      </p:sp>
      <p:sp>
        <p:nvSpPr>
          <p:cNvPr id="8" name="Kod_5">
            <a:extLst>
              <a:ext uri="{FF2B5EF4-FFF2-40B4-BE49-F238E27FC236}">
                <a16:creationId xmlns:a16="http://schemas.microsoft.com/office/drawing/2014/main" id="{0891FA21-AC54-4DD9-B59B-7C30404ED371}"/>
              </a:ext>
            </a:extLst>
          </p:cNvPr>
          <p:cNvSpPr>
            <a:spLocks noGrp="1"/>
          </p:cNvSpPr>
          <p:nvPr/>
        </p:nvSpPr>
        <p:spPr>
          <a:xfrm>
            <a:off x="1257300" y="2819400"/>
            <a:ext cx="76009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</a:t>
            </a:r>
            <a:r>
              <a:rPr>
                <a:solidFill>
                  <a:srgbClr val="0039B4"/>
                </a:solidFill>
              </a:rPr>
              <a:t>return</a:t>
            </a:r>
            <a:r>
              <a:rPr>
                <a:solidFill>
                  <a:srgbClr val="161616"/>
                </a:solidFill>
              </a:rPr>
              <a:t> </a:t>
            </a:r>
            <a:r>
              <a:rPr>
                <a:solidFill>
                  <a:srgbClr val="167529"/>
                </a:solidFill>
              </a:rPr>
              <a:t>"Ada"</a:t>
            </a:r>
          </a:p>
        </p:txBody>
      </p:sp>
      <p:sp>
        <p:nvSpPr>
          <p:cNvPr id="9" name="Kod_6">
            <a:extLst>
              <a:ext uri="{FF2B5EF4-FFF2-40B4-BE49-F238E27FC236}">
                <a16:creationId xmlns:a16="http://schemas.microsoft.com/office/drawing/2014/main" id="{7C0B534F-3E95-4E5E-ADEC-44BB7DD07F4D}"/>
              </a:ext>
            </a:extLst>
          </p:cNvPr>
          <p:cNvSpPr>
            <a:spLocks noGrp="1"/>
          </p:cNvSpPr>
          <p:nvPr/>
        </p:nvSpPr>
        <p:spPr>
          <a:xfrm>
            <a:off x="1257300" y="3086100"/>
            <a:ext cx="76009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}</a:t>
            </a:r>
          </a:p>
        </p:txBody>
      </p:sp>
      <p:sp>
        <p:nvSpPr>
          <p:cNvPr id="10" name="Kod_7">
            <a:extLst>
              <a:ext uri="{FF2B5EF4-FFF2-40B4-BE49-F238E27FC236}">
                <a16:creationId xmlns:a16="http://schemas.microsoft.com/office/drawing/2014/main" id="{0C00FD8C-044D-4D51-8052-19F6F5F2351F}"/>
              </a:ext>
            </a:extLst>
          </p:cNvPr>
          <p:cNvSpPr>
            <a:spLocks noGrp="1"/>
          </p:cNvSpPr>
          <p:nvPr/>
        </p:nvSpPr>
        <p:spPr>
          <a:xfrm>
            <a:off x="1257300" y="3352800"/>
            <a:ext cx="76009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</a:t>
            </a:r>
          </a:p>
        </p:txBody>
      </p:sp>
      <p:sp>
        <p:nvSpPr>
          <p:cNvPr id="11" name="Kod_8">
            <a:extLst>
              <a:ext uri="{FF2B5EF4-FFF2-40B4-BE49-F238E27FC236}">
                <a16:creationId xmlns:a16="http://schemas.microsoft.com/office/drawing/2014/main" id="{56A3EE52-4537-454B-B59F-7FA6F027AC4F}"/>
              </a:ext>
            </a:extLst>
          </p:cNvPr>
          <p:cNvSpPr>
            <a:spLocks noGrp="1"/>
          </p:cNvSpPr>
          <p:nvPr/>
        </p:nvSpPr>
        <p:spPr>
          <a:xfrm>
            <a:off x="1257300" y="3619500"/>
            <a:ext cx="76009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9B4"/>
                </a:solidFill>
              </a:rPr>
              <a:t>suspend</a:t>
            </a:r>
            <a:r>
              <a:rPr>
                <a:solidFill>
                  <a:srgbClr val="161616"/>
                </a:solidFill>
              </a:rPr>
              <a:t> </a:t>
            </a:r>
            <a:r>
              <a:rPr>
                <a:solidFill>
                  <a:srgbClr val="0039B4"/>
                </a:solidFill>
              </a:rPr>
              <a:t>fun</a:t>
            </a:r>
            <a:r>
              <a:rPr>
                <a:solidFill>
                  <a:srgbClr val="161616"/>
                </a:solidFill>
              </a:rPr>
              <a:t> fetchUserActivity(): </a:t>
            </a:r>
            <a:r>
              <a:rPr>
                <a:solidFill>
                  <a:srgbClr val="80521C"/>
                </a:solidFill>
              </a:rPr>
              <a:t>String</a:t>
            </a:r>
            <a:r>
              <a:rPr>
                <a:solidFill>
                  <a:srgbClr val="161616"/>
                </a:solidFill>
              </a:rPr>
              <a:t> {</a:t>
            </a:r>
          </a:p>
        </p:txBody>
      </p:sp>
      <p:sp>
        <p:nvSpPr>
          <p:cNvPr id="12" name="Kod_9">
            <a:extLst>
              <a:ext uri="{FF2B5EF4-FFF2-40B4-BE49-F238E27FC236}">
                <a16:creationId xmlns:a16="http://schemas.microsoft.com/office/drawing/2014/main" id="{977610B3-5EBD-49E4-B8BB-A8C9FBD70D0D}"/>
              </a:ext>
            </a:extLst>
          </p:cNvPr>
          <p:cNvSpPr>
            <a:spLocks noGrp="1"/>
          </p:cNvSpPr>
          <p:nvPr/>
        </p:nvSpPr>
        <p:spPr>
          <a:xfrm>
            <a:off x="1257300" y="3886200"/>
            <a:ext cx="76009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delay(</a:t>
            </a:r>
            <a:r>
              <a:rPr>
                <a:solidFill>
                  <a:srgbClr val="194BC4"/>
                </a:solidFill>
              </a:rPr>
              <a:t>3000</a:t>
            </a:r>
            <a:r>
              <a:rPr>
                <a:solidFill>
                  <a:srgbClr val="161616"/>
                </a:solidFill>
              </a:rPr>
              <a:t>)</a:t>
            </a:r>
          </a:p>
        </p:txBody>
      </p:sp>
      <p:sp>
        <p:nvSpPr>
          <p:cNvPr id="13" name="Kod_10">
            <a:extLst>
              <a:ext uri="{FF2B5EF4-FFF2-40B4-BE49-F238E27FC236}">
                <a16:creationId xmlns:a16="http://schemas.microsoft.com/office/drawing/2014/main" id="{1B7065A9-84C5-48ED-9749-6765727898A3}"/>
              </a:ext>
            </a:extLst>
          </p:cNvPr>
          <p:cNvSpPr>
            <a:spLocks noGrp="1"/>
          </p:cNvSpPr>
          <p:nvPr/>
        </p:nvSpPr>
        <p:spPr>
          <a:xfrm>
            <a:off x="1257300" y="4152900"/>
            <a:ext cx="76009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</a:t>
            </a:r>
            <a:r>
              <a:rPr>
                <a:solidFill>
                  <a:srgbClr val="0039B4"/>
                </a:solidFill>
              </a:rPr>
              <a:t>return</a:t>
            </a:r>
            <a:r>
              <a:rPr>
                <a:solidFill>
                  <a:srgbClr val="161616"/>
                </a:solidFill>
              </a:rPr>
              <a:t> </a:t>
            </a:r>
            <a:r>
              <a:rPr>
                <a:solidFill>
                  <a:srgbClr val="167529"/>
                </a:solidFill>
              </a:rPr>
              <a:t>"Dodała post"</a:t>
            </a:r>
          </a:p>
        </p:txBody>
      </p:sp>
      <p:sp>
        <p:nvSpPr>
          <p:cNvPr id="14" name="Kod_11">
            <a:extLst>
              <a:ext uri="{FF2B5EF4-FFF2-40B4-BE49-F238E27FC236}">
                <a16:creationId xmlns:a16="http://schemas.microsoft.com/office/drawing/2014/main" id="{9E11A0A0-5602-49EA-89D0-AC0B556D5FDB}"/>
              </a:ext>
            </a:extLst>
          </p:cNvPr>
          <p:cNvSpPr>
            <a:spLocks noGrp="1"/>
          </p:cNvSpPr>
          <p:nvPr/>
        </p:nvSpPr>
        <p:spPr>
          <a:xfrm>
            <a:off x="1257300" y="4419600"/>
            <a:ext cx="76009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314592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Nagłówek">
            <a:extLst>
              <a:ext uri="{FF2B5EF4-FFF2-40B4-BE49-F238E27FC236}">
                <a16:creationId xmlns:a16="http://schemas.microsoft.com/office/drawing/2014/main" id="{F33E9ACB-0AE8-46FF-A95F-38ED33724FD4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t>Dane pobierane sekwencyjnie</a:t>
            </a:r>
          </a:p>
        </p:txBody>
      </p:sp>
      <p:sp>
        <p:nvSpPr>
          <p:cNvPr id="2" name="Tekst_51">
            <a:extLst>
              <a:ext uri="{FF2B5EF4-FFF2-40B4-BE49-F238E27FC236}">
                <a16:creationId xmlns:a16="http://schemas.microsoft.com/office/drawing/2014/main" id="{FE44DDD3-B6BF-4FF2-81DF-8E8FCB96D143}"/>
              </a:ext>
            </a:extLst>
          </p:cNvPr>
          <p:cNvSpPr>
            <a:spLocks noGrp="1"/>
          </p:cNvSpPr>
          <p:nvPr/>
        </p:nvSpPr>
        <p:spPr>
          <a:xfrm>
            <a:off x="1257300" y="1000125"/>
            <a:ext cx="76009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Kolejne wywołanie zaczyna się dopiero po zakończeniu poprzedniego.</a:t>
            </a:r>
          </a:p>
        </p:txBody>
      </p:sp>
      <p:sp>
        <p:nvSpPr>
          <p:cNvPr id="3" name="Numer slajdu">
            <a:extLst>
              <a:ext uri="{FF2B5EF4-FFF2-40B4-BE49-F238E27FC236}">
                <a16:creationId xmlns:a16="http://schemas.microsoft.com/office/drawing/2014/main" id="{EAABB4DC-F320-45F1-9639-FCB14CD07514}"/>
              </a:ext>
            </a:extLst>
          </p:cNvPr>
          <p:cNvSpPr>
            <a:spLocks noGrp="1"/>
          </p:cNvSpPr>
          <p:nvPr/>
        </p:nvSpPr>
        <p:spPr>
          <a:xfrm>
            <a:off x="8496300" y="6534150"/>
            <a:ext cx="38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pPr>
            <a:r>
              <a:t>15</a:t>
            </a:r>
          </a:p>
        </p:txBody>
      </p:sp>
      <p:sp>
        <p:nvSpPr>
          <p:cNvPr id="4" name="Kod_1">
            <a:extLst>
              <a:ext uri="{FF2B5EF4-FFF2-40B4-BE49-F238E27FC236}">
                <a16:creationId xmlns:a16="http://schemas.microsoft.com/office/drawing/2014/main" id="{476C36FE-E210-41F6-9195-9B3841E9D250}"/>
              </a:ext>
            </a:extLst>
          </p:cNvPr>
          <p:cNvSpPr>
            <a:spLocks noGrp="1"/>
          </p:cNvSpPr>
          <p:nvPr/>
        </p:nvSpPr>
        <p:spPr>
          <a:xfrm>
            <a:off x="1257300" y="175260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9B4"/>
                </a:solidFill>
              </a:rPr>
              <a:t>suspend</a:t>
            </a:r>
            <a:r>
              <a:rPr>
                <a:solidFill>
                  <a:srgbClr val="161616"/>
                </a:solidFill>
              </a:rPr>
              <a:t> </a:t>
            </a:r>
            <a:r>
              <a:rPr>
                <a:solidFill>
                  <a:srgbClr val="0039B4"/>
                </a:solidFill>
              </a:rPr>
              <a:t>fun</a:t>
            </a:r>
            <a:r>
              <a:rPr>
                <a:solidFill>
                  <a:srgbClr val="161616"/>
                </a:solidFill>
              </a:rPr>
              <a:t> loadProfileSequential(): </a:t>
            </a:r>
            <a:r>
              <a:rPr>
                <a:solidFill>
                  <a:srgbClr val="80521C"/>
                </a:solidFill>
              </a:rPr>
              <a:t>Profile</a:t>
            </a:r>
            <a:r>
              <a:rPr>
                <a:solidFill>
                  <a:srgbClr val="161616"/>
                </a:solidFill>
              </a:rPr>
              <a:t> {</a:t>
            </a:r>
          </a:p>
        </p:txBody>
      </p:sp>
      <p:sp>
        <p:nvSpPr>
          <p:cNvPr id="5" name="Kod_2">
            <a:extLst>
              <a:ext uri="{FF2B5EF4-FFF2-40B4-BE49-F238E27FC236}">
                <a16:creationId xmlns:a16="http://schemas.microsoft.com/office/drawing/2014/main" id="{138B4E3C-CDA8-4A42-A308-CC8B34B021EC}"/>
              </a:ext>
            </a:extLst>
          </p:cNvPr>
          <p:cNvSpPr>
            <a:spLocks noGrp="1"/>
          </p:cNvSpPr>
          <p:nvPr/>
        </p:nvSpPr>
        <p:spPr>
          <a:xfrm>
            <a:off x="1257300" y="202882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</a:t>
            </a:r>
            <a:r>
              <a:rPr>
                <a:solidFill>
                  <a:srgbClr val="0039B4"/>
                </a:solidFill>
              </a:rPr>
              <a:t>val</a:t>
            </a:r>
            <a:r>
              <a:rPr>
                <a:solidFill>
                  <a:srgbClr val="161616"/>
                </a:solidFill>
              </a:rPr>
              <a:t> name = fetchUserName()</a:t>
            </a:r>
          </a:p>
        </p:txBody>
      </p:sp>
      <p:sp>
        <p:nvSpPr>
          <p:cNvPr id="6" name="Kod_3">
            <a:extLst>
              <a:ext uri="{FF2B5EF4-FFF2-40B4-BE49-F238E27FC236}">
                <a16:creationId xmlns:a16="http://schemas.microsoft.com/office/drawing/2014/main" id="{D3F32F02-970B-4FCC-B625-6F4AFFC4A578}"/>
              </a:ext>
            </a:extLst>
          </p:cNvPr>
          <p:cNvSpPr>
            <a:spLocks noGrp="1"/>
          </p:cNvSpPr>
          <p:nvPr/>
        </p:nvSpPr>
        <p:spPr>
          <a:xfrm>
            <a:off x="1257300" y="230505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</a:t>
            </a:r>
            <a:r>
              <a:rPr>
                <a:solidFill>
                  <a:srgbClr val="0039B4"/>
                </a:solidFill>
              </a:rPr>
              <a:t>val</a:t>
            </a:r>
            <a:r>
              <a:rPr>
                <a:solidFill>
                  <a:srgbClr val="161616"/>
                </a:solidFill>
              </a:rPr>
              <a:t> activity = fetchUserActivity()</a:t>
            </a:r>
          </a:p>
        </p:txBody>
      </p:sp>
      <p:sp>
        <p:nvSpPr>
          <p:cNvPr id="7" name="Kod_4">
            <a:extLst>
              <a:ext uri="{FF2B5EF4-FFF2-40B4-BE49-F238E27FC236}">
                <a16:creationId xmlns:a16="http://schemas.microsoft.com/office/drawing/2014/main" id="{76D7693C-32B6-44EF-A4C4-062E1381F616}"/>
              </a:ext>
            </a:extLst>
          </p:cNvPr>
          <p:cNvSpPr>
            <a:spLocks noGrp="1"/>
          </p:cNvSpPr>
          <p:nvPr/>
        </p:nvSpPr>
        <p:spPr>
          <a:xfrm>
            <a:off x="1257300" y="258127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</a:t>
            </a:r>
            <a:r>
              <a:rPr>
                <a:solidFill>
                  <a:srgbClr val="0039B4"/>
                </a:solidFill>
              </a:rPr>
              <a:t>return</a:t>
            </a:r>
            <a:r>
              <a:rPr>
                <a:solidFill>
                  <a:srgbClr val="161616"/>
                </a:solidFill>
              </a:rPr>
              <a:t> </a:t>
            </a:r>
            <a:r>
              <a:rPr>
                <a:solidFill>
                  <a:srgbClr val="80521C"/>
                </a:solidFill>
              </a:rPr>
              <a:t>Profile</a:t>
            </a:r>
            <a:r>
              <a:rPr>
                <a:solidFill>
                  <a:srgbClr val="161616"/>
                </a:solidFill>
              </a:rPr>
              <a:t>(name, activity)</a:t>
            </a:r>
          </a:p>
        </p:txBody>
      </p:sp>
      <p:sp>
        <p:nvSpPr>
          <p:cNvPr id="8" name="Kod_5">
            <a:extLst>
              <a:ext uri="{FF2B5EF4-FFF2-40B4-BE49-F238E27FC236}">
                <a16:creationId xmlns:a16="http://schemas.microsoft.com/office/drawing/2014/main" id="{1302CD23-CDBC-4C96-9E52-36B789256005}"/>
              </a:ext>
            </a:extLst>
          </p:cNvPr>
          <p:cNvSpPr>
            <a:spLocks noGrp="1"/>
          </p:cNvSpPr>
          <p:nvPr/>
        </p:nvSpPr>
        <p:spPr>
          <a:xfrm>
            <a:off x="1257300" y="285750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}</a:t>
            </a:r>
          </a:p>
        </p:txBody>
      </p:sp>
      <p:sp>
        <p:nvSpPr>
          <p:cNvPr id="9" name="Tekst_52">
            <a:extLst>
              <a:ext uri="{FF2B5EF4-FFF2-40B4-BE49-F238E27FC236}">
                <a16:creationId xmlns:a16="http://schemas.microsoft.com/office/drawing/2014/main" id="{C2061578-78E2-4D2A-8215-32BA1DCF7B5D}"/>
              </a:ext>
            </a:extLst>
          </p:cNvPr>
          <p:cNvSpPr>
            <a:spLocks noGrp="1"/>
          </p:cNvSpPr>
          <p:nvPr/>
        </p:nvSpPr>
        <p:spPr>
          <a:xfrm>
            <a:off x="1257300" y="3429000"/>
            <a:ext cx="76009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Pierwszy wynik</a:t>
            </a:r>
          </a:p>
        </p:txBody>
      </p:sp>
      <p:sp>
        <p:nvSpPr>
          <p:cNvPr id="10" name="Tekst_53">
            <a:extLst>
              <a:ext uri="{FF2B5EF4-FFF2-40B4-BE49-F238E27FC236}">
                <a16:creationId xmlns:a16="http://schemas.microsoft.com/office/drawing/2014/main" id="{92D42531-0C96-4680-BD92-9CA3B9ED23DA}"/>
              </a:ext>
            </a:extLst>
          </p:cNvPr>
          <p:cNvSpPr>
            <a:spLocks noGrp="1"/>
          </p:cNvSpPr>
          <p:nvPr/>
        </p:nvSpPr>
        <p:spPr>
          <a:xfrm>
            <a:off x="1257300" y="3714750"/>
            <a:ext cx="76009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Nazwa użytkownika jest dostępna po około 2 s.</a:t>
            </a:r>
          </a:p>
        </p:txBody>
      </p:sp>
      <p:sp>
        <p:nvSpPr>
          <p:cNvPr id="11" name="Tekst_54">
            <a:extLst>
              <a:ext uri="{FF2B5EF4-FFF2-40B4-BE49-F238E27FC236}">
                <a16:creationId xmlns:a16="http://schemas.microsoft.com/office/drawing/2014/main" id="{B487D018-0A87-4E5D-96C5-1C0615CA7D48}"/>
              </a:ext>
            </a:extLst>
          </p:cNvPr>
          <p:cNvSpPr>
            <a:spLocks noGrp="1"/>
          </p:cNvSpPr>
          <p:nvPr/>
        </p:nvSpPr>
        <p:spPr>
          <a:xfrm>
            <a:off x="1257300" y="4248150"/>
            <a:ext cx="76009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Kompletny profil</a:t>
            </a:r>
          </a:p>
        </p:txBody>
      </p:sp>
      <p:sp>
        <p:nvSpPr>
          <p:cNvPr id="12" name="Tekst_55">
            <a:extLst>
              <a:ext uri="{FF2B5EF4-FFF2-40B4-BE49-F238E27FC236}">
                <a16:creationId xmlns:a16="http://schemas.microsoft.com/office/drawing/2014/main" id="{C2BD81E3-2E9E-4894-91CB-A5E4B6AA3061}"/>
              </a:ext>
            </a:extLst>
          </p:cNvPr>
          <p:cNvSpPr>
            <a:spLocks noGrp="1"/>
          </p:cNvSpPr>
          <p:nvPr/>
        </p:nvSpPr>
        <p:spPr>
          <a:xfrm>
            <a:off x="1257300" y="4533900"/>
            <a:ext cx="76009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Aktywność wymaga następnych około 3 s.</a:t>
            </a:r>
          </a:p>
        </p:txBody>
      </p:sp>
      <p:sp>
        <p:nvSpPr>
          <p:cNvPr id="13" name="Tekst_56">
            <a:extLst>
              <a:ext uri="{FF2B5EF4-FFF2-40B4-BE49-F238E27FC236}">
                <a16:creationId xmlns:a16="http://schemas.microsoft.com/office/drawing/2014/main" id="{E72F24F5-11D2-4802-8282-606E655E0462}"/>
              </a:ext>
            </a:extLst>
          </p:cNvPr>
          <p:cNvSpPr>
            <a:spLocks noGrp="1"/>
          </p:cNvSpPr>
          <p:nvPr/>
        </p:nvSpPr>
        <p:spPr>
          <a:xfrm>
            <a:off x="1257300" y="6076950"/>
            <a:ext cx="76009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rPr dirty="0" err="1"/>
              <a:t>Łącznie</a:t>
            </a:r>
            <a:r>
              <a:rPr dirty="0"/>
              <a:t> </a:t>
            </a:r>
            <a:r>
              <a:rPr dirty="0" err="1"/>
              <a:t>około</a:t>
            </a:r>
            <a:r>
              <a:rPr dirty="0"/>
              <a:t> 5 s. </a:t>
            </a:r>
            <a:r>
              <a:rPr dirty="0" err="1"/>
              <a:t>Interfejs</a:t>
            </a:r>
            <a:r>
              <a:rPr dirty="0"/>
              <a:t> </a:t>
            </a:r>
            <a:r>
              <a:rPr dirty="0" err="1"/>
              <a:t>może</a:t>
            </a:r>
            <a:r>
              <a:rPr dirty="0"/>
              <a:t> </a:t>
            </a:r>
            <a:r>
              <a:rPr dirty="0" err="1"/>
              <a:t>nadal</a:t>
            </a:r>
            <a:r>
              <a:rPr dirty="0"/>
              <a:t> </a:t>
            </a:r>
            <a:r>
              <a:rPr dirty="0" err="1"/>
              <a:t>reagować</a:t>
            </a:r>
            <a:r>
              <a:rPr dirty="0"/>
              <a:t> </a:t>
            </a:r>
            <a:r>
              <a:rPr dirty="0" err="1"/>
              <a:t>dzięki</a:t>
            </a:r>
            <a:r>
              <a:rPr dirty="0"/>
              <a:t> delay().</a:t>
            </a:r>
          </a:p>
        </p:txBody>
      </p:sp>
    </p:spTree>
    <p:extLst>
      <p:ext uri="{BB962C8B-B14F-4D97-AF65-F5344CB8AC3E}">
        <p14:creationId xmlns:p14="http://schemas.microsoft.com/office/powerpoint/2010/main" val="4314592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Nagłówek">
            <a:extLst>
              <a:ext uri="{FF2B5EF4-FFF2-40B4-BE49-F238E27FC236}">
                <a16:creationId xmlns:a16="http://schemas.microsoft.com/office/drawing/2014/main" id="{CCA77F9F-1710-41C0-AB04-E41E6800557C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t>async rozpoczyna podzadanie</a:t>
            </a:r>
          </a:p>
        </p:txBody>
      </p:sp>
      <p:sp>
        <p:nvSpPr>
          <p:cNvPr id="2" name="Tekst_57">
            <a:extLst>
              <a:ext uri="{FF2B5EF4-FFF2-40B4-BE49-F238E27FC236}">
                <a16:creationId xmlns:a16="http://schemas.microsoft.com/office/drawing/2014/main" id="{A57BD9F7-A5B4-471D-BC3B-AC40D97F0FE2}"/>
              </a:ext>
            </a:extLst>
          </p:cNvPr>
          <p:cNvSpPr>
            <a:spLocks noGrp="1"/>
          </p:cNvSpPr>
          <p:nvPr/>
        </p:nvSpPr>
        <p:spPr>
          <a:xfrm>
            <a:off x="1257300" y="1000125"/>
            <a:ext cx="76009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Najpierw uruchamiamy obie operacje, a dopiero potem odbieramy wyniki.</a:t>
            </a:r>
          </a:p>
        </p:txBody>
      </p:sp>
      <p:sp>
        <p:nvSpPr>
          <p:cNvPr id="3" name="Numer slajdu">
            <a:extLst>
              <a:ext uri="{FF2B5EF4-FFF2-40B4-BE49-F238E27FC236}">
                <a16:creationId xmlns:a16="http://schemas.microsoft.com/office/drawing/2014/main" id="{A0590DB1-5BAC-4C92-BD5B-E02174647BAA}"/>
              </a:ext>
            </a:extLst>
          </p:cNvPr>
          <p:cNvSpPr>
            <a:spLocks noGrp="1"/>
          </p:cNvSpPr>
          <p:nvPr/>
        </p:nvSpPr>
        <p:spPr>
          <a:xfrm>
            <a:off x="8496300" y="6534150"/>
            <a:ext cx="38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pPr>
            <a:r>
              <a:t>16</a:t>
            </a:r>
          </a:p>
        </p:txBody>
      </p:sp>
      <p:sp>
        <p:nvSpPr>
          <p:cNvPr id="4" name="Kod_1">
            <a:extLst>
              <a:ext uri="{FF2B5EF4-FFF2-40B4-BE49-F238E27FC236}">
                <a16:creationId xmlns:a16="http://schemas.microsoft.com/office/drawing/2014/main" id="{FD3C8661-CABE-43E9-80E3-BFC96EC88ED0}"/>
              </a:ext>
            </a:extLst>
          </p:cNvPr>
          <p:cNvSpPr>
            <a:spLocks noGrp="1"/>
          </p:cNvSpPr>
          <p:nvPr/>
        </p:nvSpPr>
        <p:spPr>
          <a:xfrm>
            <a:off x="1257300" y="175260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9B4"/>
                </a:solidFill>
              </a:rPr>
              <a:t>suspend</a:t>
            </a:r>
            <a:r>
              <a:rPr>
                <a:solidFill>
                  <a:srgbClr val="161616"/>
                </a:solidFill>
              </a:rPr>
              <a:t> </a:t>
            </a:r>
            <a:r>
              <a:rPr>
                <a:solidFill>
                  <a:srgbClr val="0039B4"/>
                </a:solidFill>
              </a:rPr>
              <a:t>fun</a:t>
            </a:r>
            <a:r>
              <a:rPr>
                <a:solidFill>
                  <a:srgbClr val="161616"/>
                </a:solidFill>
              </a:rPr>
              <a:t> loadProfile(): </a:t>
            </a:r>
            <a:r>
              <a:rPr>
                <a:solidFill>
                  <a:srgbClr val="80521C"/>
                </a:solidFill>
              </a:rPr>
              <a:t>Profile</a:t>
            </a:r>
            <a:r>
              <a:rPr>
                <a:solidFill>
                  <a:srgbClr val="161616"/>
                </a:solidFill>
              </a:rPr>
              <a:t> = coroutineScope {</a:t>
            </a:r>
          </a:p>
        </p:txBody>
      </p:sp>
      <p:sp>
        <p:nvSpPr>
          <p:cNvPr id="5" name="Kod_2">
            <a:extLst>
              <a:ext uri="{FF2B5EF4-FFF2-40B4-BE49-F238E27FC236}">
                <a16:creationId xmlns:a16="http://schemas.microsoft.com/office/drawing/2014/main" id="{B2F000B5-7090-425F-9263-F08DB3F59B43}"/>
              </a:ext>
            </a:extLst>
          </p:cNvPr>
          <p:cNvSpPr>
            <a:spLocks noGrp="1"/>
          </p:cNvSpPr>
          <p:nvPr/>
        </p:nvSpPr>
        <p:spPr>
          <a:xfrm>
            <a:off x="1257300" y="2028825"/>
            <a:ext cx="7600950" cy="276225"/>
          </a:xfrm>
          <a:prstGeom prst="rect">
            <a:avLst/>
          </a:prstGeom>
          <a:solidFill>
            <a:srgbClr val="E6F3FA"/>
          </a:solidFill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</a:t>
            </a:r>
            <a:r>
              <a:rPr>
                <a:solidFill>
                  <a:srgbClr val="0039B4"/>
                </a:solidFill>
              </a:rPr>
              <a:t>val</a:t>
            </a:r>
            <a:r>
              <a:rPr>
                <a:solidFill>
                  <a:srgbClr val="161616"/>
                </a:solidFill>
              </a:rPr>
              <a:t> nameTask = async { fetchUserName() }</a:t>
            </a:r>
          </a:p>
        </p:txBody>
      </p:sp>
      <p:sp>
        <p:nvSpPr>
          <p:cNvPr id="6" name="Kod_3">
            <a:extLst>
              <a:ext uri="{FF2B5EF4-FFF2-40B4-BE49-F238E27FC236}">
                <a16:creationId xmlns:a16="http://schemas.microsoft.com/office/drawing/2014/main" id="{91F9E1F1-10D6-41CA-9012-9E4308A3D36E}"/>
              </a:ext>
            </a:extLst>
          </p:cNvPr>
          <p:cNvSpPr>
            <a:spLocks noGrp="1"/>
          </p:cNvSpPr>
          <p:nvPr/>
        </p:nvSpPr>
        <p:spPr>
          <a:xfrm>
            <a:off x="1257300" y="2305050"/>
            <a:ext cx="7600950" cy="276225"/>
          </a:xfrm>
          <a:prstGeom prst="rect">
            <a:avLst/>
          </a:prstGeom>
          <a:solidFill>
            <a:srgbClr val="E6F3FA"/>
          </a:solidFill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</a:t>
            </a:r>
            <a:r>
              <a:rPr>
                <a:solidFill>
                  <a:srgbClr val="0039B4"/>
                </a:solidFill>
              </a:rPr>
              <a:t>val</a:t>
            </a:r>
            <a:r>
              <a:rPr>
                <a:solidFill>
                  <a:srgbClr val="161616"/>
                </a:solidFill>
              </a:rPr>
              <a:t> activityTask = async { fetchUserActivity() }</a:t>
            </a:r>
          </a:p>
        </p:txBody>
      </p:sp>
      <p:sp>
        <p:nvSpPr>
          <p:cNvPr id="7" name="Kod_4">
            <a:extLst>
              <a:ext uri="{FF2B5EF4-FFF2-40B4-BE49-F238E27FC236}">
                <a16:creationId xmlns:a16="http://schemas.microsoft.com/office/drawing/2014/main" id="{5E3CFB11-19B3-407E-BA7C-87A3537683FC}"/>
              </a:ext>
            </a:extLst>
          </p:cNvPr>
          <p:cNvSpPr>
            <a:spLocks noGrp="1"/>
          </p:cNvSpPr>
          <p:nvPr/>
        </p:nvSpPr>
        <p:spPr>
          <a:xfrm>
            <a:off x="1257300" y="258127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</a:t>
            </a:r>
          </a:p>
        </p:txBody>
      </p:sp>
      <p:sp>
        <p:nvSpPr>
          <p:cNvPr id="8" name="Kod_5">
            <a:extLst>
              <a:ext uri="{FF2B5EF4-FFF2-40B4-BE49-F238E27FC236}">
                <a16:creationId xmlns:a16="http://schemas.microsoft.com/office/drawing/2014/main" id="{337D38BA-A613-4D94-910B-D95F61906DFB}"/>
              </a:ext>
            </a:extLst>
          </p:cNvPr>
          <p:cNvSpPr>
            <a:spLocks noGrp="1"/>
          </p:cNvSpPr>
          <p:nvPr/>
        </p:nvSpPr>
        <p:spPr>
          <a:xfrm>
            <a:off x="1257300" y="285750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</a:t>
            </a:r>
            <a:r>
              <a:rPr>
                <a:solidFill>
                  <a:srgbClr val="80521C"/>
                </a:solidFill>
              </a:rPr>
              <a:t>Profile</a:t>
            </a:r>
            <a:r>
              <a:rPr>
                <a:solidFill>
                  <a:srgbClr val="161616"/>
                </a:solidFill>
              </a:rPr>
              <a:t>(nameTask.await(), activityTask.await())</a:t>
            </a:r>
          </a:p>
        </p:txBody>
      </p:sp>
      <p:sp>
        <p:nvSpPr>
          <p:cNvPr id="9" name="Kod_6">
            <a:extLst>
              <a:ext uri="{FF2B5EF4-FFF2-40B4-BE49-F238E27FC236}">
                <a16:creationId xmlns:a16="http://schemas.microsoft.com/office/drawing/2014/main" id="{A1C9963E-B332-491A-BCB8-58D42BE332D6}"/>
              </a:ext>
            </a:extLst>
          </p:cNvPr>
          <p:cNvSpPr>
            <a:spLocks noGrp="1"/>
          </p:cNvSpPr>
          <p:nvPr/>
        </p:nvSpPr>
        <p:spPr>
          <a:xfrm>
            <a:off x="1257300" y="313372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}</a:t>
            </a:r>
          </a:p>
        </p:txBody>
      </p:sp>
      <p:sp>
        <p:nvSpPr>
          <p:cNvPr id="10" name="Tekst_58">
            <a:extLst>
              <a:ext uri="{FF2B5EF4-FFF2-40B4-BE49-F238E27FC236}">
                <a16:creationId xmlns:a16="http://schemas.microsoft.com/office/drawing/2014/main" id="{E638FD6B-E9DF-46B5-8140-2EF584892609}"/>
              </a:ext>
            </a:extLst>
          </p:cNvPr>
          <p:cNvSpPr>
            <a:spLocks noGrp="1"/>
          </p:cNvSpPr>
          <p:nvPr/>
        </p:nvSpPr>
        <p:spPr>
          <a:xfrm>
            <a:off x="1257300" y="3619500"/>
            <a:ext cx="76009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Wartość nameTask</a:t>
            </a:r>
          </a:p>
        </p:txBody>
      </p:sp>
      <p:sp>
        <p:nvSpPr>
          <p:cNvPr id="11" name="Tekst_59">
            <a:extLst>
              <a:ext uri="{FF2B5EF4-FFF2-40B4-BE49-F238E27FC236}">
                <a16:creationId xmlns:a16="http://schemas.microsoft.com/office/drawing/2014/main" id="{E2CE2A08-8BEF-40AB-8B73-148C8D55F0FF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76009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Deferred&lt;String&gt;: uchwyt do zadania i przyszłego wyniku.</a:t>
            </a:r>
          </a:p>
        </p:txBody>
      </p:sp>
      <p:sp>
        <p:nvSpPr>
          <p:cNvPr id="12" name="Tekst_60">
            <a:extLst>
              <a:ext uri="{FF2B5EF4-FFF2-40B4-BE49-F238E27FC236}">
                <a16:creationId xmlns:a16="http://schemas.microsoft.com/office/drawing/2014/main" id="{428C0352-8812-4E27-8EA5-474615D1A217}"/>
              </a:ext>
            </a:extLst>
          </p:cNvPr>
          <p:cNvSpPr>
            <a:spLocks noGrp="1"/>
          </p:cNvSpPr>
          <p:nvPr/>
        </p:nvSpPr>
        <p:spPr>
          <a:xfrm>
            <a:off x="1257300" y="4438650"/>
            <a:ext cx="76009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Kontekst wykonania</a:t>
            </a:r>
          </a:p>
        </p:txBody>
      </p:sp>
      <p:sp>
        <p:nvSpPr>
          <p:cNvPr id="13" name="Tekst_61">
            <a:extLst>
              <a:ext uri="{FF2B5EF4-FFF2-40B4-BE49-F238E27FC236}">
                <a16:creationId xmlns:a16="http://schemas.microsoft.com/office/drawing/2014/main" id="{A823298A-5FCD-4794-B970-0FCE383BD09B}"/>
              </a:ext>
            </a:extLst>
          </p:cNvPr>
          <p:cNvSpPr>
            <a:spLocks noGrp="1"/>
          </p:cNvSpPr>
          <p:nvPr/>
        </p:nvSpPr>
        <p:spPr>
          <a:xfrm>
            <a:off x="1257300" y="4724400"/>
            <a:ext cx="76009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async domyślnie korzysta z kontekstu otaczającego zakresu.</a:t>
            </a:r>
          </a:p>
        </p:txBody>
      </p:sp>
      <p:sp>
        <p:nvSpPr>
          <p:cNvPr id="14" name="Tekst_62">
            <a:extLst>
              <a:ext uri="{FF2B5EF4-FFF2-40B4-BE49-F238E27FC236}">
                <a16:creationId xmlns:a16="http://schemas.microsoft.com/office/drawing/2014/main" id="{FCFEE770-6D4A-45A1-AF9D-0F67169A8E88}"/>
              </a:ext>
            </a:extLst>
          </p:cNvPr>
          <p:cNvSpPr>
            <a:spLocks noGrp="1"/>
          </p:cNvSpPr>
          <p:nvPr/>
        </p:nvSpPr>
        <p:spPr>
          <a:xfrm>
            <a:off x="1257300" y="6076950"/>
            <a:ext cx="76009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rPr dirty="0"/>
              <a:t>async </a:t>
            </a:r>
            <a:r>
              <a:rPr dirty="0" err="1"/>
              <a:t>tworzy</a:t>
            </a:r>
            <a:r>
              <a:rPr dirty="0"/>
              <a:t> </a:t>
            </a:r>
            <a:r>
              <a:rPr dirty="0" err="1"/>
              <a:t>korutynę</a:t>
            </a:r>
            <a:r>
              <a:rPr dirty="0"/>
              <a:t> </a:t>
            </a:r>
            <a:r>
              <a:rPr dirty="0" err="1"/>
              <a:t>potomną</a:t>
            </a:r>
            <a:r>
              <a:rPr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314592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Nagłówek">
            <a:extLst>
              <a:ext uri="{FF2B5EF4-FFF2-40B4-BE49-F238E27FC236}">
                <a16:creationId xmlns:a16="http://schemas.microsoft.com/office/drawing/2014/main" id="{37F5575B-2757-4188-BA18-B23F96351631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t>await() odbiera wynik</a:t>
            </a:r>
          </a:p>
        </p:txBody>
      </p:sp>
      <p:sp>
        <p:nvSpPr>
          <p:cNvPr id="2" name="Tekst_63">
            <a:extLst>
              <a:ext uri="{FF2B5EF4-FFF2-40B4-BE49-F238E27FC236}">
                <a16:creationId xmlns:a16="http://schemas.microsoft.com/office/drawing/2014/main" id="{E08D2C30-B03E-418C-87CE-7ECFD09C5A03}"/>
              </a:ext>
            </a:extLst>
          </p:cNvPr>
          <p:cNvSpPr>
            <a:spLocks noGrp="1"/>
          </p:cNvSpPr>
          <p:nvPr/>
        </p:nvSpPr>
        <p:spPr>
          <a:xfrm>
            <a:off x="1257300" y="1000125"/>
            <a:ext cx="76009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await() zawiesza wywołującą korutynę, jeżeli wynik nie jest jeszcze gotowy.</a:t>
            </a:r>
          </a:p>
        </p:txBody>
      </p:sp>
      <p:sp>
        <p:nvSpPr>
          <p:cNvPr id="3" name="Numer slajdu">
            <a:extLst>
              <a:ext uri="{FF2B5EF4-FFF2-40B4-BE49-F238E27FC236}">
                <a16:creationId xmlns:a16="http://schemas.microsoft.com/office/drawing/2014/main" id="{9E6DB4B6-364B-4A18-B2E8-7C5FB56E7003}"/>
              </a:ext>
            </a:extLst>
          </p:cNvPr>
          <p:cNvSpPr>
            <a:spLocks noGrp="1"/>
          </p:cNvSpPr>
          <p:nvPr/>
        </p:nvSpPr>
        <p:spPr>
          <a:xfrm>
            <a:off x="8496300" y="6534150"/>
            <a:ext cx="38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pPr>
            <a:r>
              <a:t>17</a:t>
            </a:r>
          </a:p>
        </p:txBody>
      </p:sp>
      <p:sp>
        <p:nvSpPr>
          <p:cNvPr id="4" name="Kod_1">
            <a:extLst>
              <a:ext uri="{FF2B5EF4-FFF2-40B4-BE49-F238E27FC236}">
                <a16:creationId xmlns:a16="http://schemas.microsoft.com/office/drawing/2014/main" id="{94CB5F29-990A-4EBD-8876-16D4772AABB3}"/>
              </a:ext>
            </a:extLst>
          </p:cNvPr>
          <p:cNvSpPr>
            <a:spLocks noGrp="1"/>
          </p:cNvSpPr>
          <p:nvPr/>
        </p:nvSpPr>
        <p:spPr>
          <a:xfrm>
            <a:off x="1257300" y="175260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9B4"/>
                </a:solidFill>
              </a:rPr>
              <a:t>suspend</a:t>
            </a:r>
            <a:r>
              <a:rPr>
                <a:solidFill>
                  <a:srgbClr val="161616"/>
                </a:solidFill>
              </a:rPr>
              <a:t> </a:t>
            </a:r>
            <a:r>
              <a:rPr>
                <a:solidFill>
                  <a:srgbClr val="0039B4"/>
                </a:solidFill>
              </a:rPr>
              <a:t>fun</a:t>
            </a:r>
            <a:r>
              <a:rPr>
                <a:solidFill>
                  <a:srgbClr val="161616"/>
                </a:solidFill>
              </a:rPr>
              <a:t> loadProfile(): </a:t>
            </a:r>
            <a:r>
              <a:rPr>
                <a:solidFill>
                  <a:srgbClr val="80521C"/>
                </a:solidFill>
              </a:rPr>
              <a:t>Profile</a:t>
            </a:r>
            <a:r>
              <a:rPr>
                <a:solidFill>
                  <a:srgbClr val="161616"/>
                </a:solidFill>
              </a:rPr>
              <a:t> = coroutineScope {</a:t>
            </a:r>
          </a:p>
        </p:txBody>
      </p:sp>
      <p:sp>
        <p:nvSpPr>
          <p:cNvPr id="5" name="Kod_2">
            <a:extLst>
              <a:ext uri="{FF2B5EF4-FFF2-40B4-BE49-F238E27FC236}">
                <a16:creationId xmlns:a16="http://schemas.microsoft.com/office/drawing/2014/main" id="{E1256521-CBAF-4C76-913F-6266BFCAD54B}"/>
              </a:ext>
            </a:extLst>
          </p:cNvPr>
          <p:cNvSpPr>
            <a:spLocks noGrp="1"/>
          </p:cNvSpPr>
          <p:nvPr/>
        </p:nvSpPr>
        <p:spPr>
          <a:xfrm>
            <a:off x="1257300" y="202882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</a:t>
            </a:r>
            <a:r>
              <a:rPr>
                <a:solidFill>
                  <a:srgbClr val="0039B4"/>
                </a:solidFill>
              </a:rPr>
              <a:t>val</a:t>
            </a:r>
            <a:r>
              <a:rPr>
                <a:solidFill>
                  <a:srgbClr val="161616"/>
                </a:solidFill>
              </a:rPr>
              <a:t> nameTask = async { fetchUserName() }</a:t>
            </a:r>
          </a:p>
        </p:txBody>
      </p:sp>
      <p:sp>
        <p:nvSpPr>
          <p:cNvPr id="6" name="Kod_3">
            <a:extLst>
              <a:ext uri="{FF2B5EF4-FFF2-40B4-BE49-F238E27FC236}">
                <a16:creationId xmlns:a16="http://schemas.microsoft.com/office/drawing/2014/main" id="{7636AB28-C9AA-4EC3-8B24-5CA98EA139BC}"/>
              </a:ext>
            </a:extLst>
          </p:cNvPr>
          <p:cNvSpPr>
            <a:spLocks noGrp="1"/>
          </p:cNvSpPr>
          <p:nvPr/>
        </p:nvSpPr>
        <p:spPr>
          <a:xfrm>
            <a:off x="1257300" y="230505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</a:t>
            </a:r>
            <a:r>
              <a:rPr>
                <a:solidFill>
                  <a:srgbClr val="0039B4"/>
                </a:solidFill>
              </a:rPr>
              <a:t>val</a:t>
            </a:r>
            <a:r>
              <a:rPr>
                <a:solidFill>
                  <a:srgbClr val="161616"/>
                </a:solidFill>
              </a:rPr>
              <a:t> activityTask = async { fetchUserActivity() }</a:t>
            </a:r>
          </a:p>
        </p:txBody>
      </p:sp>
      <p:sp>
        <p:nvSpPr>
          <p:cNvPr id="7" name="Kod_4">
            <a:extLst>
              <a:ext uri="{FF2B5EF4-FFF2-40B4-BE49-F238E27FC236}">
                <a16:creationId xmlns:a16="http://schemas.microsoft.com/office/drawing/2014/main" id="{AE18C52E-7AEB-41D3-9615-0E74D4AA2415}"/>
              </a:ext>
            </a:extLst>
          </p:cNvPr>
          <p:cNvSpPr>
            <a:spLocks noGrp="1"/>
          </p:cNvSpPr>
          <p:nvPr/>
        </p:nvSpPr>
        <p:spPr>
          <a:xfrm>
            <a:off x="1257300" y="258127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</a:t>
            </a:r>
          </a:p>
        </p:txBody>
      </p:sp>
      <p:sp>
        <p:nvSpPr>
          <p:cNvPr id="8" name="Kod_5">
            <a:extLst>
              <a:ext uri="{FF2B5EF4-FFF2-40B4-BE49-F238E27FC236}">
                <a16:creationId xmlns:a16="http://schemas.microsoft.com/office/drawing/2014/main" id="{343DA26E-B7BB-4829-9A5F-AB7EAEEADE26}"/>
              </a:ext>
            </a:extLst>
          </p:cNvPr>
          <p:cNvSpPr>
            <a:spLocks noGrp="1"/>
          </p:cNvSpPr>
          <p:nvPr/>
        </p:nvSpPr>
        <p:spPr>
          <a:xfrm>
            <a:off x="1257300" y="2857500"/>
            <a:ext cx="7600950" cy="276225"/>
          </a:xfrm>
          <a:prstGeom prst="rect">
            <a:avLst/>
          </a:prstGeom>
          <a:solidFill>
            <a:srgbClr val="E6F3FA"/>
          </a:solidFill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</a:t>
            </a:r>
            <a:r>
              <a:rPr>
                <a:solidFill>
                  <a:srgbClr val="0039B4"/>
                </a:solidFill>
              </a:rPr>
              <a:t>val</a:t>
            </a:r>
            <a:r>
              <a:rPr>
                <a:solidFill>
                  <a:srgbClr val="161616"/>
                </a:solidFill>
              </a:rPr>
              <a:t> name = nameTask.await()</a:t>
            </a:r>
          </a:p>
        </p:txBody>
      </p:sp>
      <p:sp>
        <p:nvSpPr>
          <p:cNvPr id="9" name="Kod_6">
            <a:extLst>
              <a:ext uri="{FF2B5EF4-FFF2-40B4-BE49-F238E27FC236}">
                <a16:creationId xmlns:a16="http://schemas.microsoft.com/office/drawing/2014/main" id="{4CAF9CF4-04E0-4ED9-B202-29753C2B0FF1}"/>
              </a:ext>
            </a:extLst>
          </p:cNvPr>
          <p:cNvSpPr>
            <a:spLocks noGrp="1"/>
          </p:cNvSpPr>
          <p:nvPr/>
        </p:nvSpPr>
        <p:spPr>
          <a:xfrm>
            <a:off x="1257300" y="3133725"/>
            <a:ext cx="7600950" cy="276225"/>
          </a:xfrm>
          <a:prstGeom prst="rect">
            <a:avLst/>
          </a:prstGeom>
          <a:solidFill>
            <a:srgbClr val="E6F3FA"/>
          </a:solidFill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</a:t>
            </a:r>
            <a:r>
              <a:rPr>
                <a:solidFill>
                  <a:srgbClr val="0039B4"/>
                </a:solidFill>
              </a:rPr>
              <a:t>val</a:t>
            </a:r>
            <a:r>
              <a:rPr>
                <a:solidFill>
                  <a:srgbClr val="161616"/>
                </a:solidFill>
              </a:rPr>
              <a:t> activity = activityTask.await()</a:t>
            </a:r>
          </a:p>
        </p:txBody>
      </p:sp>
      <p:sp>
        <p:nvSpPr>
          <p:cNvPr id="10" name="Kod_7">
            <a:extLst>
              <a:ext uri="{FF2B5EF4-FFF2-40B4-BE49-F238E27FC236}">
                <a16:creationId xmlns:a16="http://schemas.microsoft.com/office/drawing/2014/main" id="{0B0E559E-3011-463D-BF00-A2D38C828394}"/>
              </a:ext>
            </a:extLst>
          </p:cNvPr>
          <p:cNvSpPr>
            <a:spLocks noGrp="1"/>
          </p:cNvSpPr>
          <p:nvPr/>
        </p:nvSpPr>
        <p:spPr>
          <a:xfrm>
            <a:off x="1257300" y="3409950"/>
            <a:ext cx="7600950" cy="276225"/>
          </a:xfrm>
          <a:prstGeom prst="rect">
            <a:avLst/>
          </a:prstGeom>
          <a:solidFill>
            <a:srgbClr val="E6F3FA"/>
          </a:solidFill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</a:t>
            </a:r>
            <a:r>
              <a:rPr>
                <a:solidFill>
                  <a:srgbClr val="80521C"/>
                </a:solidFill>
              </a:rPr>
              <a:t>Profile</a:t>
            </a:r>
            <a:r>
              <a:rPr>
                <a:solidFill>
                  <a:srgbClr val="161616"/>
                </a:solidFill>
              </a:rPr>
              <a:t>(name, activity)</a:t>
            </a:r>
          </a:p>
        </p:txBody>
      </p:sp>
      <p:sp>
        <p:nvSpPr>
          <p:cNvPr id="11" name="Kod_8">
            <a:extLst>
              <a:ext uri="{FF2B5EF4-FFF2-40B4-BE49-F238E27FC236}">
                <a16:creationId xmlns:a16="http://schemas.microsoft.com/office/drawing/2014/main" id="{2DA59333-B309-4C87-8E72-A848A8581FDF}"/>
              </a:ext>
            </a:extLst>
          </p:cNvPr>
          <p:cNvSpPr>
            <a:spLocks noGrp="1"/>
          </p:cNvSpPr>
          <p:nvPr/>
        </p:nvSpPr>
        <p:spPr>
          <a:xfrm>
            <a:off x="1257300" y="368617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}</a:t>
            </a:r>
          </a:p>
        </p:txBody>
      </p:sp>
      <p:sp>
        <p:nvSpPr>
          <p:cNvPr id="12" name="Tekst_64">
            <a:extLst>
              <a:ext uri="{FF2B5EF4-FFF2-40B4-BE49-F238E27FC236}">
                <a16:creationId xmlns:a16="http://schemas.microsoft.com/office/drawing/2014/main" id="{0C4C61B6-70CC-4BAF-A74E-15B38C2EB9F7}"/>
              </a:ext>
            </a:extLst>
          </p:cNvPr>
          <p:cNvSpPr>
            <a:spLocks noGrp="1"/>
          </p:cNvSpPr>
          <p:nvPr/>
        </p:nvSpPr>
        <p:spPr>
          <a:xfrm>
            <a:off x="1257300" y="6076950"/>
            <a:ext cx="76009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Wynik jest dostępny po około 3 s. await() może też zgłosić wyjątek.</a:t>
            </a:r>
          </a:p>
        </p:txBody>
      </p:sp>
    </p:spTree>
    <p:extLst>
      <p:ext uri="{BB962C8B-B14F-4D97-AF65-F5344CB8AC3E}">
        <p14:creationId xmlns:p14="http://schemas.microsoft.com/office/powerpoint/2010/main" val="4314592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agłówek">
            <a:extLst>
              <a:ext uri="{FF2B5EF4-FFF2-40B4-BE49-F238E27FC236}">
                <a16:creationId xmlns:a16="http://schemas.microsoft.com/office/drawing/2014/main" id="{922FDBFE-5AD6-4C27-8376-CF6BDADCC018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t>launch, async, join i await</a:t>
            </a:r>
          </a:p>
        </p:txBody>
      </p:sp>
      <p:sp>
        <p:nvSpPr>
          <p:cNvPr id="2" name="Tekst_67">
            <a:extLst>
              <a:ext uri="{FF2B5EF4-FFF2-40B4-BE49-F238E27FC236}">
                <a16:creationId xmlns:a16="http://schemas.microsoft.com/office/drawing/2014/main" id="{4A997984-A659-4C6B-8CC2-35823B190D67}"/>
              </a:ext>
            </a:extLst>
          </p:cNvPr>
          <p:cNvSpPr>
            <a:spLocks noGrp="1"/>
          </p:cNvSpPr>
          <p:nvPr/>
        </p:nvSpPr>
        <p:spPr>
          <a:xfrm>
            <a:off x="1257300" y="1000125"/>
            <a:ext cx="76009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Każda z tych operacji ma inną rolę.</a:t>
            </a:r>
          </a:p>
        </p:txBody>
      </p:sp>
      <p:sp>
        <p:nvSpPr>
          <p:cNvPr id="3" name="Numer slajdu">
            <a:extLst>
              <a:ext uri="{FF2B5EF4-FFF2-40B4-BE49-F238E27FC236}">
                <a16:creationId xmlns:a16="http://schemas.microsoft.com/office/drawing/2014/main" id="{14AAF602-65E7-4E28-B470-103F4D1854AC}"/>
              </a:ext>
            </a:extLst>
          </p:cNvPr>
          <p:cNvSpPr>
            <a:spLocks noGrp="1"/>
          </p:cNvSpPr>
          <p:nvPr/>
        </p:nvSpPr>
        <p:spPr>
          <a:xfrm>
            <a:off x="8496300" y="6534150"/>
            <a:ext cx="38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pPr>
            <a:r>
              <a:t>19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F077AFE6-1E9A-4ACE-873C-9886EA534D63}"/>
              </a:ext>
            </a:extLst>
          </p:cNvPr>
          <p:cNvGraphicFramePr/>
          <p:nvPr/>
        </p:nvGraphicFramePr>
        <p:xfrm>
          <a:off x="1257300" y="1752600"/>
          <a:ext cx="7600950" cy="3714750"/>
        </p:xfrm>
        <a:graphic>
          <a:graphicData uri="http://schemas.openxmlformats.org/drawingml/2006/table">
            <a:tbl>
              <a:tblPr/>
              <a:tblGrid>
                <a:gridCol w="23277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77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45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Operacja</a:t>
                      </a:r>
                    </a:p>
                  </a:txBody>
                  <a:tcPr anchor="ctr">
                    <a:lnL w="19050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>
                      <a:solidFill>
                        <a:srgbClr val="FFFFFF"/>
                      </a:solidFill>
                      <a:prstDash val="soli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5AA8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 otrzymujemy?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>
                      <a:solidFill>
                        <a:srgbClr val="FFFFFF"/>
                      </a:solidFill>
                      <a:prstDash val="soli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5AA8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Oczekiwanie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>
                      <a:solidFill>
                        <a:srgbClr val="FFFFFF"/>
                      </a:solidFill>
                      <a:prstDash val="soli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5AA8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launch { ... }</a:t>
                      </a:r>
                    </a:p>
                  </a:txBody>
                  <a:tcPr anchor="ctr">
                    <a:lnL w="19050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E5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Job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E5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job.join()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E5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async { ... }</a:t>
                      </a:r>
                    </a:p>
                  </a:txBody>
                  <a:tcPr anchor="ctr">
                    <a:lnL w="19050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Deferred&lt;T&gt;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task.await()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job.join()</a:t>
                      </a:r>
                    </a:p>
                  </a:txBody>
                  <a:tcPr anchor="ctr">
                    <a:lnL w="19050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E5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Unit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E5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Czeka na zakończenie zadania.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E5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task.await()</a:t>
                      </a:r>
                    </a:p>
                  </a:txBody>
                  <a:tcPr anchor="ctr">
                    <a:lnL w="19050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T albo wyjątek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Odbiera wynik zadania.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kst_68">
            <a:extLst>
              <a:ext uri="{FF2B5EF4-FFF2-40B4-BE49-F238E27FC236}">
                <a16:creationId xmlns:a16="http://schemas.microsoft.com/office/drawing/2014/main" id="{0A91DEBF-99AC-4CFC-BC95-F2F309E9DB37}"/>
              </a:ext>
            </a:extLst>
          </p:cNvPr>
          <p:cNvSpPr>
            <a:spLocks noGrp="1"/>
          </p:cNvSpPr>
          <p:nvPr/>
        </p:nvSpPr>
        <p:spPr>
          <a:xfrm>
            <a:off x="1257300" y="6076950"/>
            <a:ext cx="76009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rPr dirty="0"/>
              <a:t>Deferred&lt;T&gt; jest </a:t>
            </a:r>
            <a:r>
              <a:rPr dirty="0" err="1"/>
              <a:t>także</a:t>
            </a:r>
            <a:r>
              <a:rPr dirty="0"/>
              <a:t> </a:t>
            </a:r>
            <a:r>
              <a:rPr lang="pl-PL" dirty="0"/>
              <a:t>typu </a:t>
            </a:r>
            <a:r>
              <a:rPr dirty="0"/>
              <a:t>Job: </a:t>
            </a:r>
            <a:r>
              <a:rPr dirty="0" err="1"/>
              <a:t>można</a:t>
            </a:r>
            <a:r>
              <a:rPr dirty="0"/>
              <a:t> </a:t>
            </a:r>
            <a:r>
              <a:rPr dirty="0" err="1"/>
              <a:t>sprawdzić</a:t>
            </a:r>
            <a:r>
              <a:rPr dirty="0"/>
              <a:t> </a:t>
            </a:r>
            <a:r>
              <a:rPr dirty="0" err="1"/>
              <a:t>jego</a:t>
            </a:r>
            <a:r>
              <a:rPr dirty="0"/>
              <a:t> stan </a:t>
            </a:r>
            <a:r>
              <a:rPr dirty="0" err="1"/>
              <a:t>i</a:t>
            </a:r>
            <a:r>
              <a:rPr dirty="0"/>
              <a:t> go </a:t>
            </a:r>
            <a:r>
              <a:rPr dirty="0" err="1"/>
              <a:t>anulować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314592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Nagłówek">
            <a:extLst>
              <a:ext uri="{FF2B5EF4-FFF2-40B4-BE49-F238E27FC236}">
                <a16:creationId xmlns:a16="http://schemas.microsoft.com/office/drawing/2014/main" id="{3D7ADDCF-6704-4854-A983-234698B1EC09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t>Jeden wynik z funkcji suspend</a:t>
            </a:r>
          </a:p>
        </p:txBody>
      </p:sp>
      <p:sp>
        <p:nvSpPr>
          <p:cNvPr id="2" name="Tekst_69">
            <a:extLst>
              <a:ext uri="{FF2B5EF4-FFF2-40B4-BE49-F238E27FC236}">
                <a16:creationId xmlns:a16="http://schemas.microsoft.com/office/drawing/2014/main" id="{CD89D24A-2927-4B37-AB2B-61D47F41485A}"/>
              </a:ext>
            </a:extLst>
          </p:cNvPr>
          <p:cNvSpPr>
            <a:spLocks noGrp="1"/>
          </p:cNvSpPr>
          <p:nvPr/>
        </p:nvSpPr>
        <p:spPr>
          <a:xfrm>
            <a:off x="1257300" y="1000125"/>
            <a:ext cx="76009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Dla jednej operacji wystarczy bezpośrednie wywołanie w korutynie.</a:t>
            </a:r>
          </a:p>
        </p:txBody>
      </p:sp>
      <p:sp>
        <p:nvSpPr>
          <p:cNvPr id="3" name="Numer slajdu">
            <a:extLst>
              <a:ext uri="{FF2B5EF4-FFF2-40B4-BE49-F238E27FC236}">
                <a16:creationId xmlns:a16="http://schemas.microsoft.com/office/drawing/2014/main" id="{D1B698EA-4559-450B-A65B-472C78EE42A9}"/>
              </a:ext>
            </a:extLst>
          </p:cNvPr>
          <p:cNvSpPr>
            <a:spLocks noGrp="1"/>
          </p:cNvSpPr>
          <p:nvPr/>
        </p:nvSpPr>
        <p:spPr>
          <a:xfrm>
            <a:off x="8496300" y="6534150"/>
            <a:ext cx="38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pPr>
            <a:r>
              <a:t>20</a:t>
            </a:r>
          </a:p>
        </p:txBody>
      </p:sp>
      <p:sp>
        <p:nvSpPr>
          <p:cNvPr id="4" name="Tekst_70">
            <a:extLst>
              <a:ext uri="{FF2B5EF4-FFF2-40B4-BE49-F238E27FC236}">
                <a16:creationId xmlns:a16="http://schemas.microsoft.com/office/drawing/2014/main" id="{D59F4810-31D3-4DCA-B113-C05E407805A6}"/>
              </a:ext>
            </a:extLst>
          </p:cNvPr>
          <p:cNvSpPr>
            <a:spLocks noGrp="1"/>
          </p:cNvSpPr>
          <p:nvPr/>
        </p:nvSpPr>
        <p:spPr>
          <a:xfrm>
            <a:off x="1257300" y="1743075"/>
            <a:ext cx="76009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Bezpośredni odbiór wyniku</a:t>
            </a:r>
          </a:p>
        </p:txBody>
      </p:sp>
      <p:sp>
        <p:nvSpPr>
          <p:cNvPr id="5" name="Kod_1">
            <a:extLst>
              <a:ext uri="{FF2B5EF4-FFF2-40B4-BE49-F238E27FC236}">
                <a16:creationId xmlns:a16="http://schemas.microsoft.com/office/drawing/2014/main" id="{36F98046-72DF-4946-8B16-1DEA02142650}"/>
              </a:ext>
            </a:extLst>
          </p:cNvPr>
          <p:cNvSpPr>
            <a:spLocks noGrp="1"/>
          </p:cNvSpPr>
          <p:nvPr/>
        </p:nvSpPr>
        <p:spPr>
          <a:xfrm>
            <a:off x="1257300" y="214312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scope.launch {</a:t>
            </a:r>
          </a:p>
        </p:txBody>
      </p:sp>
      <p:sp>
        <p:nvSpPr>
          <p:cNvPr id="6" name="Kod_2">
            <a:extLst>
              <a:ext uri="{FF2B5EF4-FFF2-40B4-BE49-F238E27FC236}">
                <a16:creationId xmlns:a16="http://schemas.microsoft.com/office/drawing/2014/main" id="{162653D9-A2B5-4E95-A6B5-68522AE3CE93}"/>
              </a:ext>
            </a:extLst>
          </p:cNvPr>
          <p:cNvSpPr>
            <a:spLocks noGrp="1"/>
          </p:cNvSpPr>
          <p:nvPr/>
        </p:nvSpPr>
        <p:spPr>
          <a:xfrm>
            <a:off x="1257300" y="241935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</a:t>
            </a:r>
            <a:r>
              <a:rPr>
                <a:solidFill>
                  <a:srgbClr val="0039B4"/>
                </a:solidFill>
              </a:rPr>
              <a:t>val</a:t>
            </a:r>
            <a:r>
              <a:rPr>
                <a:solidFill>
                  <a:srgbClr val="161616"/>
                </a:solidFill>
              </a:rPr>
              <a:t> name = fetchUserName()</a:t>
            </a:r>
          </a:p>
        </p:txBody>
      </p:sp>
      <p:sp>
        <p:nvSpPr>
          <p:cNvPr id="7" name="Kod_3">
            <a:extLst>
              <a:ext uri="{FF2B5EF4-FFF2-40B4-BE49-F238E27FC236}">
                <a16:creationId xmlns:a16="http://schemas.microsoft.com/office/drawing/2014/main" id="{CFB8CF2A-3D31-40CB-BAB7-75994E25D195}"/>
              </a:ext>
            </a:extLst>
          </p:cNvPr>
          <p:cNvSpPr>
            <a:spLocks noGrp="1"/>
          </p:cNvSpPr>
          <p:nvPr/>
        </p:nvSpPr>
        <p:spPr>
          <a:xfrm>
            <a:off x="1257300" y="269557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log(name)</a:t>
            </a:r>
          </a:p>
        </p:txBody>
      </p:sp>
      <p:sp>
        <p:nvSpPr>
          <p:cNvPr id="8" name="Kod_4">
            <a:extLst>
              <a:ext uri="{FF2B5EF4-FFF2-40B4-BE49-F238E27FC236}">
                <a16:creationId xmlns:a16="http://schemas.microsoft.com/office/drawing/2014/main" id="{4A5BBD9D-2798-4081-9823-E9CA1B1C6531}"/>
              </a:ext>
            </a:extLst>
          </p:cNvPr>
          <p:cNvSpPr>
            <a:spLocks noGrp="1"/>
          </p:cNvSpPr>
          <p:nvPr/>
        </p:nvSpPr>
        <p:spPr>
          <a:xfrm>
            <a:off x="1257300" y="297180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}</a:t>
            </a:r>
          </a:p>
        </p:txBody>
      </p:sp>
      <p:sp>
        <p:nvSpPr>
          <p:cNvPr id="9" name="Tekst_71">
            <a:extLst>
              <a:ext uri="{FF2B5EF4-FFF2-40B4-BE49-F238E27FC236}">
                <a16:creationId xmlns:a16="http://schemas.microsoft.com/office/drawing/2014/main" id="{D0153CCD-0176-4917-AE1E-9D89C67A7CC5}"/>
              </a:ext>
            </a:extLst>
          </p:cNvPr>
          <p:cNvSpPr>
            <a:spLocks noGrp="1"/>
          </p:cNvSpPr>
          <p:nvPr/>
        </p:nvSpPr>
        <p:spPr>
          <a:xfrm>
            <a:off x="1257300" y="3581400"/>
            <a:ext cx="76009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Dodatkowa korutyna bez korzyści w tym przykładzie</a:t>
            </a:r>
          </a:p>
        </p:txBody>
      </p:sp>
      <p:sp>
        <p:nvSpPr>
          <p:cNvPr id="10" name="Kod_1">
            <a:extLst>
              <a:ext uri="{FF2B5EF4-FFF2-40B4-BE49-F238E27FC236}">
                <a16:creationId xmlns:a16="http://schemas.microsoft.com/office/drawing/2014/main" id="{0A3A12F4-9F55-43D1-BA70-47AB40A2E20E}"/>
              </a:ext>
            </a:extLst>
          </p:cNvPr>
          <p:cNvSpPr>
            <a:spLocks noGrp="1"/>
          </p:cNvSpPr>
          <p:nvPr/>
        </p:nvSpPr>
        <p:spPr>
          <a:xfrm>
            <a:off x="1257300" y="398145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scope.launch {</a:t>
            </a:r>
          </a:p>
        </p:txBody>
      </p:sp>
      <p:sp>
        <p:nvSpPr>
          <p:cNvPr id="11" name="Kod_2">
            <a:extLst>
              <a:ext uri="{FF2B5EF4-FFF2-40B4-BE49-F238E27FC236}">
                <a16:creationId xmlns:a16="http://schemas.microsoft.com/office/drawing/2014/main" id="{9D1983DD-1A38-4F97-B870-8D5DF2CCB9A8}"/>
              </a:ext>
            </a:extLst>
          </p:cNvPr>
          <p:cNvSpPr>
            <a:spLocks noGrp="1"/>
          </p:cNvSpPr>
          <p:nvPr/>
        </p:nvSpPr>
        <p:spPr>
          <a:xfrm>
            <a:off x="1257300" y="425767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</a:t>
            </a:r>
            <a:r>
              <a:rPr>
                <a:solidFill>
                  <a:srgbClr val="0039B4"/>
                </a:solidFill>
              </a:rPr>
              <a:t>val</a:t>
            </a:r>
            <a:r>
              <a:rPr>
                <a:solidFill>
                  <a:srgbClr val="161616"/>
                </a:solidFill>
              </a:rPr>
              <a:t> task = async { fetchUserName() }</a:t>
            </a:r>
          </a:p>
        </p:txBody>
      </p:sp>
      <p:sp>
        <p:nvSpPr>
          <p:cNvPr id="12" name="Kod_3">
            <a:extLst>
              <a:ext uri="{FF2B5EF4-FFF2-40B4-BE49-F238E27FC236}">
                <a16:creationId xmlns:a16="http://schemas.microsoft.com/office/drawing/2014/main" id="{5440FE12-54D4-4FDB-8DEF-A321EFF112D6}"/>
              </a:ext>
            </a:extLst>
          </p:cNvPr>
          <p:cNvSpPr>
            <a:spLocks noGrp="1"/>
          </p:cNvSpPr>
          <p:nvPr/>
        </p:nvSpPr>
        <p:spPr>
          <a:xfrm>
            <a:off x="1257300" y="453390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log(task.await())</a:t>
            </a:r>
          </a:p>
        </p:txBody>
      </p:sp>
      <p:sp>
        <p:nvSpPr>
          <p:cNvPr id="13" name="Kod_4">
            <a:extLst>
              <a:ext uri="{FF2B5EF4-FFF2-40B4-BE49-F238E27FC236}">
                <a16:creationId xmlns:a16="http://schemas.microsoft.com/office/drawing/2014/main" id="{97AA3C8B-CD9D-4CE2-BA13-19D3575B4E44}"/>
              </a:ext>
            </a:extLst>
          </p:cNvPr>
          <p:cNvSpPr>
            <a:spLocks noGrp="1"/>
          </p:cNvSpPr>
          <p:nvPr/>
        </p:nvSpPr>
        <p:spPr>
          <a:xfrm>
            <a:off x="1257300" y="481012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314592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Nagłówek">
            <a:extLst>
              <a:ext uri="{FF2B5EF4-FFF2-40B4-BE49-F238E27FC236}">
                <a16:creationId xmlns:a16="http://schemas.microsoft.com/office/drawing/2014/main" id="{AAE0D9A5-969B-4F5C-9B28-6126B348824B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t>Błąd jednego z dzieci</a:t>
            </a:r>
          </a:p>
        </p:txBody>
      </p:sp>
      <p:sp>
        <p:nvSpPr>
          <p:cNvPr id="2" name="Tekst_77">
            <a:extLst>
              <a:ext uri="{FF2B5EF4-FFF2-40B4-BE49-F238E27FC236}">
                <a16:creationId xmlns:a16="http://schemas.microsoft.com/office/drawing/2014/main" id="{0BEB6CFD-8081-4DD2-AC60-1719DADDE1BC}"/>
              </a:ext>
            </a:extLst>
          </p:cNvPr>
          <p:cNvSpPr>
            <a:spLocks noGrp="1"/>
          </p:cNvSpPr>
          <p:nvPr/>
        </p:nvSpPr>
        <p:spPr>
          <a:xfrm>
            <a:off x="1257300" y="1000125"/>
            <a:ext cx="76009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W zwykłym coroutineScope niepowodzenie dziecka kończy wspólną operację.</a:t>
            </a:r>
          </a:p>
        </p:txBody>
      </p:sp>
      <p:sp>
        <p:nvSpPr>
          <p:cNvPr id="3" name="Numer slajdu">
            <a:extLst>
              <a:ext uri="{FF2B5EF4-FFF2-40B4-BE49-F238E27FC236}">
                <a16:creationId xmlns:a16="http://schemas.microsoft.com/office/drawing/2014/main" id="{986695D7-DA91-4948-B8CB-05054A81EA7F}"/>
              </a:ext>
            </a:extLst>
          </p:cNvPr>
          <p:cNvSpPr>
            <a:spLocks noGrp="1"/>
          </p:cNvSpPr>
          <p:nvPr/>
        </p:nvSpPr>
        <p:spPr>
          <a:xfrm>
            <a:off x="8496300" y="6534150"/>
            <a:ext cx="38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pPr>
            <a:r>
              <a:t>22</a:t>
            </a:r>
          </a:p>
        </p:txBody>
      </p:sp>
      <p:sp>
        <p:nvSpPr>
          <p:cNvPr id="4" name="Kod_1">
            <a:extLst>
              <a:ext uri="{FF2B5EF4-FFF2-40B4-BE49-F238E27FC236}">
                <a16:creationId xmlns:a16="http://schemas.microsoft.com/office/drawing/2014/main" id="{562F4C4D-E725-440C-8C6D-82B4A4D72D46}"/>
              </a:ext>
            </a:extLst>
          </p:cNvPr>
          <p:cNvSpPr>
            <a:spLocks noGrp="1"/>
          </p:cNvSpPr>
          <p:nvPr/>
        </p:nvSpPr>
        <p:spPr>
          <a:xfrm>
            <a:off x="1257300" y="175260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9B4"/>
                </a:solidFill>
              </a:rPr>
              <a:t>suspend</a:t>
            </a:r>
            <a:r>
              <a:rPr>
                <a:solidFill>
                  <a:srgbClr val="161616"/>
                </a:solidFill>
              </a:rPr>
              <a:t> </a:t>
            </a:r>
            <a:r>
              <a:rPr>
                <a:solidFill>
                  <a:srgbClr val="0039B4"/>
                </a:solidFill>
              </a:rPr>
              <a:t>fun</a:t>
            </a:r>
            <a:r>
              <a:rPr>
                <a:solidFill>
                  <a:srgbClr val="161616"/>
                </a:solidFill>
              </a:rPr>
              <a:t> loadWithFailure(): </a:t>
            </a:r>
            <a:r>
              <a:rPr>
                <a:solidFill>
                  <a:srgbClr val="80521C"/>
                </a:solidFill>
              </a:rPr>
              <a:t>Profile</a:t>
            </a:r>
            <a:r>
              <a:rPr>
                <a:solidFill>
                  <a:srgbClr val="161616"/>
                </a:solidFill>
              </a:rPr>
              <a:t> = coroutineScope {</a:t>
            </a:r>
          </a:p>
        </p:txBody>
      </p:sp>
      <p:sp>
        <p:nvSpPr>
          <p:cNvPr id="5" name="Kod_2">
            <a:extLst>
              <a:ext uri="{FF2B5EF4-FFF2-40B4-BE49-F238E27FC236}">
                <a16:creationId xmlns:a16="http://schemas.microsoft.com/office/drawing/2014/main" id="{7716EFFD-C615-4BF2-B3E0-B307F31343AF}"/>
              </a:ext>
            </a:extLst>
          </p:cNvPr>
          <p:cNvSpPr>
            <a:spLocks noGrp="1"/>
          </p:cNvSpPr>
          <p:nvPr/>
        </p:nvSpPr>
        <p:spPr>
          <a:xfrm>
            <a:off x="1257300" y="202882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</a:t>
            </a:r>
            <a:r>
              <a:rPr>
                <a:solidFill>
                  <a:srgbClr val="0039B4"/>
                </a:solidFill>
              </a:rPr>
              <a:t>val</a:t>
            </a:r>
            <a:r>
              <a:rPr>
                <a:solidFill>
                  <a:srgbClr val="161616"/>
                </a:solidFill>
              </a:rPr>
              <a:t> nameTask = async { fetchUserName() }</a:t>
            </a:r>
          </a:p>
        </p:txBody>
      </p:sp>
      <p:sp>
        <p:nvSpPr>
          <p:cNvPr id="6" name="Kod_3">
            <a:extLst>
              <a:ext uri="{FF2B5EF4-FFF2-40B4-BE49-F238E27FC236}">
                <a16:creationId xmlns:a16="http://schemas.microsoft.com/office/drawing/2014/main" id="{B6D72550-7AB7-4435-8AEC-241815E85C97}"/>
              </a:ext>
            </a:extLst>
          </p:cNvPr>
          <p:cNvSpPr>
            <a:spLocks noGrp="1"/>
          </p:cNvSpPr>
          <p:nvPr/>
        </p:nvSpPr>
        <p:spPr>
          <a:xfrm>
            <a:off x="1257300" y="230505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</a:t>
            </a:r>
            <a:r>
              <a:rPr>
                <a:solidFill>
                  <a:srgbClr val="0039B4"/>
                </a:solidFill>
              </a:rPr>
              <a:t>val</a:t>
            </a:r>
            <a:r>
              <a:rPr>
                <a:solidFill>
                  <a:srgbClr val="161616"/>
                </a:solidFill>
              </a:rPr>
              <a:t> activityTask = async&lt;</a:t>
            </a:r>
            <a:r>
              <a:rPr>
                <a:solidFill>
                  <a:srgbClr val="80521C"/>
                </a:solidFill>
              </a:rPr>
              <a:t>String</a:t>
            </a:r>
            <a:r>
              <a:rPr>
                <a:solidFill>
                  <a:srgbClr val="161616"/>
                </a:solidFill>
              </a:rPr>
              <a:t>&gt; {</a:t>
            </a:r>
          </a:p>
        </p:txBody>
      </p:sp>
      <p:sp>
        <p:nvSpPr>
          <p:cNvPr id="7" name="Kod_4">
            <a:extLst>
              <a:ext uri="{FF2B5EF4-FFF2-40B4-BE49-F238E27FC236}">
                <a16:creationId xmlns:a16="http://schemas.microsoft.com/office/drawing/2014/main" id="{4E6A4DEB-EEBC-4F1D-9C4A-B36ED7227119}"/>
              </a:ext>
            </a:extLst>
          </p:cNvPr>
          <p:cNvSpPr>
            <a:spLocks noGrp="1"/>
          </p:cNvSpPr>
          <p:nvPr/>
        </p:nvSpPr>
        <p:spPr>
          <a:xfrm>
            <a:off x="1257300" y="258127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    delay(</a:t>
            </a:r>
            <a:r>
              <a:rPr>
                <a:solidFill>
                  <a:srgbClr val="194BC4"/>
                </a:solidFill>
              </a:rPr>
              <a:t>1000</a:t>
            </a:r>
            <a:r>
              <a:rPr>
                <a:solidFill>
                  <a:srgbClr val="161616"/>
                </a:solidFill>
              </a:rPr>
              <a:t>)</a:t>
            </a:r>
          </a:p>
        </p:txBody>
      </p:sp>
      <p:sp>
        <p:nvSpPr>
          <p:cNvPr id="8" name="Kod_5">
            <a:extLst>
              <a:ext uri="{FF2B5EF4-FFF2-40B4-BE49-F238E27FC236}">
                <a16:creationId xmlns:a16="http://schemas.microsoft.com/office/drawing/2014/main" id="{C8CB16BF-49DC-4BFA-BABB-D0D1B86E25F2}"/>
              </a:ext>
            </a:extLst>
          </p:cNvPr>
          <p:cNvSpPr>
            <a:spLocks noGrp="1"/>
          </p:cNvSpPr>
          <p:nvPr/>
        </p:nvSpPr>
        <p:spPr>
          <a:xfrm>
            <a:off x="1257300" y="285750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    </a:t>
            </a:r>
            <a:r>
              <a:rPr>
                <a:solidFill>
                  <a:srgbClr val="0039B4"/>
                </a:solidFill>
              </a:rPr>
              <a:t>throw</a:t>
            </a:r>
            <a:r>
              <a:rPr>
                <a:solidFill>
                  <a:srgbClr val="161616"/>
                </a:solidFill>
              </a:rPr>
              <a:t> </a:t>
            </a:r>
            <a:r>
              <a:rPr>
                <a:solidFill>
                  <a:srgbClr val="80521C"/>
                </a:solidFill>
              </a:rPr>
              <a:t>IOException</a:t>
            </a:r>
            <a:r>
              <a:rPr>
                <a:solidFill>
                  <a:srgbClr val="161616"/>
                </a:solidFill>
              </a:rPr>
              <a:t>(</a:t>
            </a:r>
            <a:r>
              <a:rPr>
                <a:solidFill>
                  <a:srgbClr val="167529"/>
                </a:solidFill>
              </a:rPr>
              <a:t>"Brak połączenia"</a:t>
            </a:r>
            <a:r>
              <a:rPr>
                <a:solidFill>
                  <a:srgbClr val="161616"/>
                </a:solidFill>
              </a:rPr>
              <a:t>)</a:t>
            </a:r>
          </a:p>
        </p:txBody>
      </p:sp>
      <p:sp>
        <p:nvSpPr>
          <p:cNvPr id="9" name="Kod_6">
            <a:extLst>
              <a:ext uri="{FF2B5EF4-FFF2-40B4-BE49-F238E27FC236}">
                <a16:creationId xmlns:a16="http://schemas.microsoft.com/office/drawing/2014/main" id="{2EECEC91-D64F-47DD-9F25-32D62C81676C}"/>
              </a:ext>
            </a:extLst>
          </p:cNvPr>
          <p:cNvSpPr>
            <a:spLocks noGrp="1"/>
          </p:cNvSpPr>
          <p:nvPr/>
        </p:nvSpPr>
        <p:spPr>
          <a:xfrm>
            <a:off x="1257300" y="313372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}</a:t>
            </a:r>
          </a:p>
        </p:txBody>
      </p:sp>
      <p:sp>
        <p:nvSpPr>
          <p:cNvPr id="10" name="Kod_7">
            <a:extLst>
              <a:ext uri="{FF2B5EF4-FFF2-40B4-BE49-F238E27FC236}">
                <a16:creationId xmlns:a16="http://schemas.microsoft.com/office/drawing/2014/main" id="{07DAF924-16D6-4B81-8772-126679CE48BE}"/>
              </a:ext>
            </a:extLst>
          </p:cNvPr>
          <p:cNvSpPr>
            <a:spLocks noGrp="1"/>
          </p:cNvSpPr>
          <p:nvPr/>
        </p:nvSpPr>
        <p:spPr>
          <a:xfrm>
            <a:off x="1257300" y="340995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</a:t>
            </a:r>
            <a:r>
              <a:rPr>
                <a:solidFill>
                  <a:srgbClr val="80521C"/>
                </a:solidFill>
              </a:rPr>
              <a:t>Profile</a:t>
            </a:r>
            <a:r>
              <a:rPr>
                <a:solidFill>
                  <a:srgbClr val="161616"/>
                </a:solidFill>
              </a:rPr>
              <a:t>(nameTask.await(), activityTask.await())</a:t>
            </a:r>
          </a:p>
        </p:txBody>
      </p:sp>
      <p:sp>
        <p:nvSpPr>
          <p:cNvPr id="11" name="Kod_8">
            <a:extLst>
              <a:ext uri="{FF2B5EF4-FFF2-40B4-BE49-F238E27FC236}">
                <a16:creationId xmlns:a16="http://schemas.microsoft.com/office/drawing/2014/main" id="{48833C40-E3F4-4B78-8E79-AD60F4807B6C}"/>
              </a:ext>
            </a:extLst>
          </p:cNvPr>
          <p:cNvSpPr>
            <a:spLocks noGrp="1"/>
          </p:cNvSpPr>
          <p:nvPr/>
        </p:nvSpPr>
        <p:spPr>
          <a:xfrm>
            <a:off x="1257300" y="368617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}</a:t>
            </a:r>
          </a:p>
        </p:txBody>
      </p:sp>
      <p:sp>
        <p:nvSpPr>
          <p:cNvPr id="12" name="Tekst_78">
            <a:extLst>
              <a:ext uri="{FF2B5EF4-FFF2-40B4-BE49-F238E27FC236}">
                <a16:creationId xmlns:a16="http://schemas.microsoft.com/office/drawing/2014/main" id="{6CD0A31F-DDF5-44BB-9A65-407C57509048}"/>
              </a:ext>
            </a:extLst>
          </p:cNvPr>
          <p:cNvSpPr>
            <a:spLocks noGrp="1"/>
          </p:cNvSpPr>
          <p:nvPr/>
        </p:nvSpPr>
        <p:spPr>
          <a:xfrm>
            <a:off x="1257300" y="4171950"/>
            <a:ext cx="76009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Po około 1 s</a:t>
            </a:r>
          </a:p>
        </p:txBody>
      </p:sp>
      <p:sp>
        <p:nvSpPr>
          <p:cNvPr id="13" name="Tekst_79">
            <a:extLst>
              <a:ext uri="{FF2B5EF4-FFF2-40B4-BE49-F238E27FC236}">
                <a16:creationId xmlns:a16="http://schemas.microsoft.com/office/drawing/2014/main" id="{D88FC8AC-113D-4427-A505-DFCABE746494}"/>
              </a:ext>
            </a:extLst>
          </p:cNvPr>
          <p:cNvSpPr>
            <a:spLocks noGrp="1"/>
          </p:cNvSpPr>
          <p:nvPr/>
        </p:nvSpPr>
        <p:spPr>
          <a:xfrm>
            <a:off x="1257300" y="4457700"/>
            <a:ext cx="76009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activityTask zgłasza błąd. nameTask zostaje anulowane.</a:t>
            </a:r>
          </a:p>
        </p:txBody>
      </p:sp>
      <p:sp>
        <p:nvSpPr>
          <p:cNvPr id="14" name="Tekst_80">
            <a:extLst>
              <a:ext uri="{FF2B5EF4-FFF2-40B4-BE49-F238E27FC236}">
                <a16:creationId xmlns:a16="http://schemas.microsoft.com/office/drawing/2014/main" id="{D0D4EA30-19DC-4D7E-A8C3-68B2E2D1DCFF}"/>
              </a:ext>
            </a:extLst>
          </p:cNvPr>
          <p:cNvSpPr>
            <a:spLocks noGrp="1"/>
          </p:cNvSpPr>
          <p:nvPr/>
        </p:nvSpPr>
        <p:spPr>
          <a:xfrm>
            <a:off x="1257300" y="4991100"/>
            <a:ext cx="76009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Wywołujący</a:t>
            </a:r>
          </a:p>
        </p:txBody>
      </p:sp>
      <p:sp>
        <p:nvSpPr>
          <p:cNvPr id="15" name="Tekst_81">
            <a:extLst>
              <a:ext uri="{FF2B5EF4-FFF2-40B4-BE49-F238E27FC236}">
                <a16:creationId xmlns:a16="http://schemas.microsoft.com/office/drawing/2014/main" id="{D7998266-97EF-442A-8F2A-D9627140DA25}"/>
              </a:ext>
            </a:extLst>
          </p:cNvPr>
          <p:cNvSpPr>
            <a:spLocks noGrp="1"/>
          </p:cNvSpPr>
          <p:nvPr/>
        </p:nvSpPr>
        <p:spPr>
          <a:xfrm>
            <a:off x="1257300" y="5276850"/>
            <a:ext cx="76009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Otrzymuje wyjątek zamiast częściowego profilu.</a:t>
            </a:r>
          </a:p>
        </p:txBody>
      </p:sp>
    </p:spTree>
    <p:extLst>
      <p:ext uri="{BB962C8B-B14F-4D97-AF65-F5344CB8AC3E}">
        <p14:creationId xmlns:p14="http://schemas.microsoft.com/office/powerpoint/2010/main" val="4314592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Nagłówek">
            <a:extLst>
              <a:ext uri="{FF2B5EF4-FFF2-40B4-BE49-F238E27FC236}">
                <a16:creationId xmlns:a16="http://schemas.microsoft.com/office/drawing/2014/main" id="{ED2C1A7D-8537-47FE-B65B-EE4EF2950B4B}"/>
              </a:ext>
            </a:extLst>
          </p:cNvPr>
          <p:cNvSpPr>
            <a:spLocks noGrp="1"/>
          </p:cNvSpPr>
          <p:nvPr/>
        </p:nvSpPr>
        <p:spPr>
          <a:xfrm>
            <a:off x="1828800" y="190500"/>
            <a:ext cx="7086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defPPr>
          </a:lstStyle>
          <a:p>
            <a:pPr algn="ctr">
              <a:defRPr sz="2475" b="0">
                <a:solidFill>
                  <a:srgbClr val="FFFFFF"/>
                </a:solidFill>
                <a:latin typeface="Verdana"/>
                <a:ea typeface="Verdana"/>
                <a:cs typeface="Verdana"/>
              </a:defRPr>
            </a:pPr>
            <a:r>
              <a:t>Miejsce wykonywania kodu</a:t>
            </a:r>
          </a:p>
        </p:txBody>
      </p:sp>
      <p:sp>
        <p:nvSpPr>
          <p:cNvPr id="2" name="Tekst_97">
            <a:extLst>
              <a:ext uri="{FF2B5EF4-FFF2-40B4-BE49-F238E27FC236}">
                <a16:creationId xmlns:a16="http://schemas.microsoft.com/office/drawing/2014/main" id="{B6934A85-23F4-4D52-8D3B-797AF59D0F9D}"/>
              </a:ext>
            </a:extLst>
          </p:cNvPr>
          <p:cNvSpPr>
            <a:spLocks noGrp="1"/>
          </p:cNvSpPr>
          <p:nvPr/>
        </p:nvSpPr>
        <p:spPr>
          <a:xfrm>
            <a:off x="1257300" y="1000125"/>
            <a:ext cx="76009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Dispatcher wybieramy dla rodzaju wykonywanej pracy.</a:t>
            </a:r>
          </a:p>
        </p:txBody>
      </p:sp>
      <p:sp>
        <p:nvSpPr>
          <p:cNvPr id="3" name="Numer slajdu">
            <a:extLst>
              <a:ext uri="{FF2B5EF4-FFF2-40B4-BE49-F238E27FC236}">
                <a16:creationId xmlns:a16="http://schemas.microsoft.com/office/drawing/2014/main" id="{FCDB0C6B-A088-473A-AB73-708C762A2F92}"/>
              </a:ext>
            </a:extLst>
          </p:cNvPr>
          <p:cNvSpPr>
            <a:spLocks noGrp="1"/>
          </p:cNvSpPr>
          <p:nvPr/>
        </p:nvSpPr>
        <p:spPr>
          <a:xfrm>
            <a:off x="8496300" y="6534150"/>
            <a:ext cx="38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50" b="0">
                <a:solidFill>
                  <a:srgbClr val="48606F"/>
                </a:solidFill>
                <a:latin typeface="Arial"/>
                <a:ea typeface="Arial"/>
                <a:cs typeface="Arial"/>
              </a:defRPr>
            </a:pPr>
            <a:r>
              <a:t>28</a:t>
            </a:r>
          </a:p>
        </p:txBody>
      </p:sp>
      <p:sp>
        <p:nvSpPr>
          <p:cNvPr id="4" name="Kod_1">
            <a:extLst>
              <a:ext uri="{FF2B5EF4-FFF2-40B4-BE49-F238E27FC236}">
                <a16:creationId xmlns:a16="http://schemas.microsoft.com/office/drawing/2014/main" id="{3EC4204A-F4C8-429E-A4C5-D5BAC5A12B11}"/>
              </a:ext>
            </a:extLst>
          </p:cNvPr>
          <p:cNvSpPr>
            <a:spLocks noGrp="1"/>
          </p:cNvSpPr>
          <p:nvPr/>
        </p:nvSpPr>
        <p:spPr>
          <a:xfrm>
            <a:off x="1257300" y="175260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scope.launch {</a:t>
            </a:r>
          </a:p>
        </p:txBody>
      </p:sp>
      <p:sp>
        <p:nvSpPr>
          <p:cNvPr id="5" name="Kod_2">
            <a:extLst>
              <a:ext uri="{FF2B5EF4-FFF2-40B4-BE49-F238E27FC236}">
                <a16:creationId xmlns:a16="http://schemas.microsoft.com/office/drawing/2014/main" id="{4910872E-2B90-4780-9B3F-0F4F0C43B7B8}"/>
              </a:ext>
            </a:extLst>
          </p:cNvPr>
          <p:cNvSpPr>
            <a:spLocks noGrp="1"/>
          </p:cNvSpPr>
          <p:nvPr/>
        </p:nvSpPr>
        <p:spPr>
          <a:xfrm>
            <a:off x="1257300" y="202882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</a:t>
            </a:r>
            <a:r>
              <a:rPr>
                <a:solidFill>
                  <a:srgbClr val="0039B4"/>
                </a:solidFill>
              </a:rPr>
              <a:t>val</a:t>
            </a:r>
            <a:r>
              <a:rPr>
                <a:solidFill>
                  <a:srgbClr val="161616"/>
                </a:solidFill>
              </a:rPr>
              <a:t> sorted = withContext(</a:t>
            </a:r>
            <a:r>
              <a:rPr>
                <a:solidFill>
                  <a:srgbClr val="80521C"/>
                </a:solidFill>
              </a:rPr>
              <a:t>Dispatchers</a:t>
            </a:r>
            <a:r>
              <a:rPr>
                <a:solidFill>
                  <a:srgbClr val="161616"/>
                </a:solidFill>
              </a:rPr>
              <a:t>.Default) {</a:t>
            </a:r>
          </a:p>
        </p:txBody>
      </p:sp>
      <p:sp>
        <p:nvSpPr>
          <p:cNvPr id="6" name="Kod_3">
            <a:extLst>
              <a:ext uri="{FF2B5EF4-FFF2-40B4-BE49-F238E27FC236}">
                <a16:creationId xmlns:a16="http://schemas.microsoft.com/office/drawing/2014/main" id="{23402FE5-99CA-4D22-AA02-4195951443EF}"/>
              </a:ext>
            </a:extLst>
          </p:cNvPr>
          <p:cNvSpPr>
            <a:spLocks noGrp="1"/>
          </p:cNvSpPr>
          <p:nvPr/>
        </p:nvSpPr>
        <p:spPr>
          <a:xfrm>
            <a:off x="1257300" y="230505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    List(</a:t>
            </a:r>
            <a:r>
              <a:rPr>
                <a:solidFill>
                  <a:srgbClr val="194BC4"/>
                </a:solidFill>
              </a:rPr>
              <a:t>200_000</a:t>
            </a:r>
            <a:r>
              <a:rPr>
                <a:solidFill>
                  <a:srgbClr val="161616"/>
                </a:solidFill>
              </a:rPr>
              <a:t>) { index -&gt; </a:t>
            </a:r>
            <a:r>
              <a:rPr>
                <a:solidFill>
                  <a:srgbClr val="194BC4"/>
                </a:solidFill>
              </a:rPr>
              <a:t>200_000</a:t>
            </a:r>
            <a:r>
              <a:rPr>
                <a:solidFill>
                  <a:srgbClr val="161616"/>
                </a:solidFill>
              </a:rPr>
              <a:t> - index }</a:t>
            </a:r>
          </a:p>
        </p:txBody>
      </p:sp>
      <p:sp>
        <p:nvSpPr>
          <p:cNvPr id="7" name="Kod_4">
            <a:extLst>
              <a:ext uri="{FF2B5EF4-FFF2-40B4-BE49-F238E27FC236}">
                <a16:creationId xmlns:a16="http://schemas.microsoft.com/office/drawing/2014/main" id="{57169707-C629-4E38-981C-14704FEC21CD}"/>
              </a:ext>
            </a:extLst>
          </p:cNvPr>
          <p:cNvSpPr>
            <a:spLocks noGrp="1"/>
          </p:cNvSpPr>
          <p:nvPr/>
        </p:nvSpPr>
        <p:spPr>
          <a:xfrm>
            <a:off x="1257300" y="258127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        .sorted()</a:t>
            </a:r>
          </a:p>
        </p:txBody>
      </p:sp>
      <p:sp>
        <p:nvSpPr>
          <p:cNvPr id="8" name="Kod_5">
            <a:extLst>
              <a:ext uri="{FF2B5EF4-FFF2-40B4-BE49-F238E27FC236}">
                <a16:creationId xmlns:a16="http://schemas.microsoft.com/office/drawing/2014/main" id="{D5E1EE03-F3A6-4B46-964D-4F42B0263955}"/>
              </a:ext>
            </a:extLst>
          </p:cNvPr>
          <p:cNvSpPr>
            <a:spLocks noGrp="1"/>
          </p:cNvSpPr>
          <p:nvPr/>
        </p:nvSpPr>
        <p:spPr>
          <a:xfrm>
            <a:off x="1257300" y="285750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}</a:t>
            </a:r>
          </a:p>
        </p:txBody>
      </p:sp>
      <p:sp>
        <p:nvSpPr>
          <p:cNvPr id="9" name="Kod_6">
            <a:extLst>
              <a:ext uri="{FF2B5EF4-FFF2-40B4-BE49-F238E27FC236}">
                <a16:creationId xmlns:a16="http://schemas.microsoft.com/office/drawing/2014/main" id="{8EE1FAAB-C510-482F-8D77-E9BA8215DE16}"/>
              </a:ext>
            </a:extLst>
          </p:cNvPr>
          <p:cNvSpPr>
            <a:spLocks noGrp="1"/>
          </p:cNvSpPr>
          <p:nvPr/>
        </p:nvSpPr>
        <p:spPr>
          <a:xfrm>
            <a:off x="1257300" y="3133725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    log(</a:t>
            </a:r>
            <a:r>
              <a:rPr>
                <a:solidFill>
                  <a:srgbClr val="167529"/>
                </a:solidFill>
              </a:rPr>
              <a:t>"Posortowano ${sorted.size} liczb"</a:t>
            </a:r>
            <a:r>
              <a:rPr>
                <a:solidFill>
                  <a:srgbClr val="161616"/>
                </a:solidFill>
              </a:rPr>
              <a:t>)</a:t>
            </a:r>
          </a:p>
        </p:txBody>
      </p:sp>
      <p:sp>
        <p:nvSpPr>
          <p:cNvPr id="10" name="Kod_7">
            <a:extLst>
              <a:ext uri="{FF2B5EF4-FFF2-40B4-BE49-F238E27FC236}">
                <a16:creationId xmlns:a16="http://schemas.microsoft.com/office/drawing/2014/main" id="{E0C60C1C-172F-4547-AC95-BD07250B5435}"/>
              </a:ext>
            </a:extLst>
          </p:cNvPr>
          <p:cNvSpPr>
            <a:spLocks noGrp="1"/>
          </p:cNvSpPr>
          <p:nvPr/>
        </p:nvSpPr>
        <p:spPr>
          <a:xfrm>
            <a:off x="1257300" y="3409950"/>
            <a:ext cx="76009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6161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161616"/>
                </a:solidFill>
              </a:rPr>
              <a:t>}</a:t>
            </a:r>
          </a:p>
        </p:txBody>
      </p:sp>
      <p:sp>
        <p:nvSpPr>
          <p:cNvPr id="11" name="Tekst_98">
            <a:extLst>
              <a:ext uri="{FF2B5EF4-FFF2-40B4-BE49-F238E27FC236}">
                <a16:creationId xmlns:a16="http://schemas.microsoft.com/office/drawing/2014/main" id="{871DEE41-64AC-4C5C-9EA2-B6561A9FC35B}"/>
              </a:ext>
            </a:extLst>
          </p:cNvPr>
          <p:cNvSpPr>
            <a:spLocks noGrp="1"/>
          </p:cNvSpPr>
          <p:nvPr/>
        </p:nvSpPr>
        <p:spPr>
          <a:xfrm>
            <a:off x="1257300" y="3895725"/>
            <a:ext cx="76009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Dispatchers.Default</a:t>
            </a:r>
          </a:p>
        </p:txBody>
      </p:sp>
      <p:sp>
        <p:nvSpPr>
          <p:cNvPr id="12" name="Tekst_99">
            <a:extLst>
              <a:ext uri="{FF2B5EF4-FFF2-40B4-BE49-F238E27FC236}">
                <a16:creationId xmlns:a16="http://schemas.microsoft.com/office/drawing/2014/main" id="{EFD9386B-32A0-402B-9103-8902DC97D6F1}"/>
              </a:ext>
            </a:extLst>
          </p:cNvPr>
          <p:cNvSpPr>
            <a:spLocks noGrp="1"/>
          </p:cNvSpPr>
          <p:nvPr/>
        </p:nvSpPr>
        <p:spPr>
          <a:xfrm>
            <a:off x="1257300" y="4181475"/>
            <a:ext cx="76009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Obliczenia intensywnie wykorzystujące CPU.</a:t>
            </a:r>
          </a:p>
        </p:txBody>
      </p:sp>
      <p:sp>
        <p:nvSpPr>
          <p:cNvPr id="13" name="Tekst_100">
            <a:extLst>
              <a:ext uri="{FF2B5EF4-FFF2-40B4-BE49-F238E27FC236}">
                <a16:creationId xmlns:a16="http://schemas.microsoft.com/office/drawing/2014/main" id="{FDEA8DA1-C17A-4684-8DE6-8261CABB37E3}"/>
              </a:ext>
            </a:extLst>
          </p:cNvPr>
          <p:cNvSpPr>
            <a:spLocks noGrp="1"/>
          </p:cNvSpPr>
          <p:nvPr/>
        </p:nvSpPr>
        <p:spPr>
          <a:xfrm>
            <a:off x="1257300" y="4714875"/>
            <a:ext cx="76009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004785"/>
                </a:solidFill>
                <a:latin typeface="Arial"/>
                <a:ea typeface="Arial"/>
                <a:cs typeface="Arial"/>
              </a:defRPr>
            </a:pPr>
            <a:r>
              <a:t>Dispatchers.IO</a:t>
            </a:r>
          </a:p>
        </p:txBody>
      </p:sp>
      <p:sp>
        <p:nvSpPr>
          <p:cNvPr id="14" name="Tekst_101">
            <a:extLst>
              <a:ext uri="{FF2B5EF4-FFF2-40B4-BE49-F238E27FC236}">
                <a16:creationId xmlns:a16="http://schemas.microsoft.com/office/drawing/2014/main" id="{533C949F-B1AC-40D1-A394-121F32555265}"/>
              </a:ext>
            </a:extLst>
          </p:cNvPr>
          <p:cNvSpPr>
            <a:spLocks noGrp="1"/>
          </p:cNvSpPr>
          <p:nvPr/>
        </p:nvSpPr>
        <p:spPr>
          <a:xfrm>
            <a:off x="1257300" y="5000625"/>
            <a:ext cx="76009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t>Blokujące operacje wejścia–wyjścia.</a:t>
            </a:r>
          </a:p>
        </p:txBody>
      </p:sp>
    </p:spTree>
    <p:extLst>
      <p:ext uri="{BB962C8B-B14F-4D97-AF65-F5344CB8AC3E}">
        <p14:creationId xmlns:p14="http://schemas.microsoft.com/office/powerpoint/2010/main" val="431459260"/>
      </p:ext>
    </p:extLst>
  </p:cSld>
  <p:clrMapOvr>
    <a:masterClrMapping/>
  </p:clrMapOvr>
</p:sld>
</file>

<file path=ppt/theme/theme1.xml><?xml version="1.0" encoding="utf-8"?>
<a:theme xmlns:a="http://schemas.openxmlformats.org/drawingml/2006/main" name="uni.wroc_0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uni.wroc_0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2260</Words>
  <Application>Microsoft Office PowerPoint</Application>
  <DocSecurity>0</DocSecurity>
  <PresentationFormat>Pokaz na ekranie (4:3)</PresentationFormat>
  <Paragraphs>338</Paragraphs>
  <Slides>32</Slides>
  <Notes>32</Notes>
  <HiddenSlides>1</HiddenSlides>
  <MMClips>3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32</vt:i4>
      </vt:variant>
    </vt:vector>
  </HeadingPairs>
  <TitlesOfParts>
    <vt:vector size="38" baseType="lpstr">
      <vt:lpstr>Arial</vt:lpstr>
      <vt:lpstr>Calibri</vt:lpstr>
      <vt:lpstr>Courier New</vt:lpstr>
      <vt:lpstr>Verbatim</vt:lpstr>
      <vt:lpstr>Verdana</vt:lpstr>
      <vt:lpstr>uni.wroc_01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Rafał Lewandków</cp:lastModifiedBy>
  <cp:revision>13</cp:revision>
  <dcterms:created xsi:type="dcterms:W3CDTF">2026-10-15T14:11:03Z</dcterms:created>
  <dcterms:modified xsi:type="dcterms:W3CDTF">2026-10-22T11:36:23Z</dcterms:modified>
</cp:coreProperties>
</file>