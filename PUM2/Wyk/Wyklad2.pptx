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6" r:id="rId1"/>
  </p:sldMasterIdLst>
  <p:notesMasterIdLst>
    <p:notesMasterId r:id="rId31"/>
  </p:notesMasterIdLst>
  <p:handoutMasterIdLst>
    <p:handoutMasterId r:id="rId32"/>
  </p:handoutMasterIdLst>
  <p:sldIdLst>
    <p:sldId id="346" r:id="rId2"/>
    <p:sldId id="511" r:id="rId3"/>
    <p:sldId id="512" r:id="rId4"/>
    <p:sldId id="513" r:id="rId5"/>
    <p:sldId id="514" r:id="rId6"/>
    <p:sldId id="516" r:id="rId7"/>
    <p:sldId id="515" r:id="rId8"/>
    <p:sldId id="517" r:id="rId9"/>
    <p:sldId id="538" r:id="rId10"/>
    <p:sldId id="518" r:id="rId11"/>
    <p:sldId id="519" r:id="rId12"/>
    <p:sldId id="520" r:id="rId13"/>
    <p:sldId id="521" r:id="rId14"/>
    <p:sldId id="522" r:id="rId15"/>
    <p:sldId id="523" r:id="rId16"/>
    <p:sldId id="524" r:id="rId17"/>
    <p:sldId id="525" r:id="rId18"/>
    <p:sldId id="526" r:id="rId19"/>
    <p:sldId id="528" r:id="rId20"/>
    <p:sldId id="529" r:id="rId21"/>
    <p:sldId id="527" r:id="rId22"/>
    <p:sldId id="530" r:id="rId23"/>
    <p:sldId id="531" r:id="rId24"/>
    <p:sldId id="532" r:id="rId25"/>
    <p:sldId id="533" r:id="rId26"/>
    <p:sldId id="534" r:id="rId27"/>
    <p:sldId id="536" r:id="rId28"/>
    <p:sldId id="535" r:id="rId29"/>
    <p:sldId id="537" r:id="rId3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5pPr>
    <a:lvl6pPr marL="22860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6pPr>
    <a:lvl7pPr marL="27432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7pPr>
    <a:lvl8pPr marL="32004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8pPr>
    <a:lvl9pPr marL="36576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i Lew" initials="RL" lastIdx="1" clrIdx="0">
    <p:extLst>
      <p:ext uri="{19B8F6BF-5375-455C-9EA6-DF929625EA0E}">
        <p15:presenceInfo xmlns:p15="http://schemas.microsoft.com/office/powerpoint/2012/main" userId="218299075d94207c" providerId="Windows Live"/>
      </p:ext>
    </p:extLst>
  </p:cmAuthor>
  <p:cmAuthor id="2" name="Rafał Lewandków" initials="RL" lastIdx="4" clrIdx="1">
    <p:extLst>
      <p:ext uri="{19B8F6BF-5375-455C-9EA6-DF929625EA0E}">
        <p15:presenceInfo xmlns:p15="http://schemas.microsoft.com/office/powerpoint/2012/main" userId="Rafał Lewandkó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00FFFF"/>
    <a:srgbClr val="FF00FF"/>
    <a:srgbClr val="006600"/>
    <a:srgbClr val="BCE292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Styl pośredni 2 — Ak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 pośredni 2 — Ak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 pośredni 2 — Ak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 pośredni 2 — Ak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892" autoAdjust="0"/>
  </p:normalViewPr>
  <p:slideViewPr>
    <p:cSldViewPr>
      <p:cViewPr varScale="1">
        <p:scale>
          <a:sx n="45" d="100"/>
          <a:sy n="45" d="100"/>
        </p:scale>
        <p:origin x="717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859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3504E-0C99-2340-A5F6-DD6E1A87C372}" type="datetimeFigureOut">
              <a:rPr lang="pl-PL" smtClean="0"/>
              <a:t>8.11.2025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285F6-EDF4-6942-8E96-D0A50380D9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080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C933E-44E9-2D43-91B0-0D2BEEFA7EB9}" type="datetimeFigureOut">
              <a:rPr lang="pl-PL" smtClean="0"/>
              <a:t>8.11.2025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E77F9-1A7F-B148-A0AA-5828300D10B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93826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8192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98C3D-4038-846F-0492-42F488344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D14059-E358-F763-1EB7-42829C1ED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FBDE2-A396-0544-AECB-398B0B0E5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0DDB5-CD8A-8880-6D0D-CF7E9CF2B7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96294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98C3D-4038-846F-0492-42F488344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D14059-E358-F763-1EB7-42829C1ED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FBDE2-A396-0544-AECB-398B0B0E5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0DDB5-CD8A-8880-6D0D-CF7E9CF2B7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11507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EDAA9-5D15-E916-2A8F-40C261FFF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FEBDBE-C9E2-9D77-882F-74E043CB5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88CDE2-E128-2E98-A0DB-9715381FC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D95C7-9F53-1610-9423-70391FE76F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24059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9D916-CE3E-8FA1-6373-25337DD7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74E963-ADCF-5F51-937A-38ADF87C4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00FBD8-512D-FF33-14BF-0BC9E49D7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F1A06-5DD4-B7C3-EA3B-B4A7BE6B1E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81381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DAD1E-A1D6-F558-6384-CA4310535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17DF5-1B66-C6AB-F62B-ED8A9E580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A0A57-2B41-B36D-4324-298D78D60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BF0D5-AB68-C03F-1093-5873FED528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9727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AE9F5-ADB8-F603-3E3B-66C806B3B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4F3140-6AEA-2416-617C-3B8E2EE2B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25DE5B-AF74-3FB0-BFCE-309E8C7D1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709E0-B149-42B8-4216-7B99CFD4C1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70577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59532-CAC1-D599-38B2-B4241DA27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32AE6-1928-B2C9-4057-F39382D46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CD0CB0-5D5D-44ED-4E6A-5F4273517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3DCD9-89F4-CA50-E429-F1D6E67708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57206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59E5C-1BA0-9810-6B18-CA0517166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EB0408-8E30-0570-A229-DBE4ADB43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BA5BE-3BA4-4975-1F9C-F4D6E1E9E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260CD-1408-D712-99D8-1C6CA88B80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63704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2888B-688E-0549-D56B-155EA647E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D03EDB-160E-CE2D-FB48-7EC84AD70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D377B8-4886-62E5-814D-70DB5EF6C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644DE-817E-D3C1-B0FB-855D8F18F2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031842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0B1A4-D153-78BD-B998-52D71F10E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4697F4-64E8-B678-E2B9-A180A862C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B30798-E4FF-CA25-D289-F208F45F5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EE73A-287E-99FA-EC12-6E82A636DD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08828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7DA9D-0A90-5970-9D33-19C234A47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DDC95-227F-5A8F-348D-881AEE2B5C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D7C3F7-C40C-0E03-677F-EC8681ED6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2037C-5FBF-F4BC-AD10-4C8380CABC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889366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343C4-4038-4D89-9AE9-6E848BFEF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CA585-98D7-F767-9FC4-08D2C6C57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90CDD3-9E6A-A1C1-42A6-D21859BC0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8E028-3807-A0E4-7F10-34B55CD4E6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437286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991A9-9B07-3081-E422-768165820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93FEB-A5AF-2C94-D077-E5B3DA4C1E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00EEF-E620-0DC0-3A0B-6F6977386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7DE01-5882-5845-F0A2-90D175D89B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020573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2DA4F-26A8-6019-3A1F-3D1F5B68D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8E772-698F-369C-81B1-38E674CE19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E9B4E6-03EF-0BA5-A405-E158C9C0A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92352-6625-8BFB-A5ED-4E050BC008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848864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04AF6-5B5B-BF2B-CDA6-F897666D5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36740F-49CA-FE0F-4868-B9830D14D8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7D0D55-F130-C121-B407-230817A6A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DDB94-4519-8817-A221-035AAEA6EB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432946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AA0FE-95F5-ADAD-949A-0991EE1AD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96DD8-2269-3926-9AF0-283905394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CAEDEB-68FE-39C4-3F12-510AAFA34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C6EED-0389-50E9-75BA-10EE5DEB95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68758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6409-46B7-5EB5-856A-132D9CD75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B84165-7AE8-2972-0522-EFE48116F7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E9ED30-14F9-D96F-2A7B-888B71563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489E2-A0D5-711D-75AE-1E1282DDB4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15058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BE548-2EA0-3762-0B9B-BF354ED37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E3F9F-6AE0-F45C-0EA5-77C52FCBD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4933C-2D5C-3432-07EE-0B2B81FA3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9FD6E-9293-66ED-6A72-FBD85314EC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85966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53888-929A-AB68-D951-8F45C25E0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28C9EE-FB8C-6B19-3214-17A0243C1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360737-E5FF-A2CC-0BA4-7D67274B9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77F63-CE90-FAAC-BFD0-A63065EC48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2872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B5621-77B2-B92C-5B44-B6AB8E684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35D7E5-32FA-3970-4DAD-3EF48B417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1189A-9C93-9FE2-4980-C8F34B56E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6F6B8-0222-BF87-27A1-E8B1B2E4D1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629283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E9CC1-0729-736D-CA08-A15463FFE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286307-753A-BF52-C503-339E07061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A4808D-EA51-6A88-0DA1-F06D0A4BE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3339D-DCC9-0813-19FC-F1EFBA0C9C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719758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A7253-1EF3-3E46-B0DF-DE27FD497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C2531-26B8-F3F8-DCD0-F5B318AE5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47867-1FBE-56D4-4B74-2CBB7726F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6107D-41F9-FB3E-A98B-22370A5C7E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270919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50D8D-3C9F-80BC-F85F-C9AEBE76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80CCB-DA09-9507-ADF8-A1057826D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D48DD4-D26E-6901-D926-15C12EEB9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A1BC3-11ED-0F53-7278-C06CF0FAC0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833206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50D8D-3C9F-80BC-F85F-C9AEBE76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80CCB-DA09-9507-ADF8-A1057826D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D48DD4-D26E-6901-D926-15C12EEB9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A1BC3-11ED-0F53-7278-C06CF0FAC0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40159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6CBC5-1D0B-7DA6-3B03-3D96C82AF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E41B9E-A667-85EA-5026-E233FB495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BDF3D-3CE9-D022-94B5-2762BCFE4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B432C-84F1-1F45-2FEC-E25AD16C9A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964019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42A6D-B75A-AD06-8ABB-F18D04A4B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A2C19C-E526-BDB3-3634-E7B7EA4BB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74705F-0C0A-1033-992A-A6E473770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EF13E-D4D9-345A-70C2-6ECD3D2899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730112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8D548-4213-E6DF-99BB-D7090423C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8D497E-8F1F-32BB-E1EA-E0F12F360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F2E565-B7E9-B177-244E-AA626A4C4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73765-7BAF-F2A2-3C80-CC412E23DA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996928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36A5E-C917-6A44-3B2B-8F2A62923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3E3AE5-D56D-594F-44F6-4225095BB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58047D-522E-A413-7F24-F0D83611A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FF8E0-9AC5-CB0E-697E-A3C76DC837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2699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8.11.2025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FEF5-976C-4EA3-84A7-FBC3543521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8.11.2025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623-FECC-458E-8887-8971830FA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0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8.11.2025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418-961B-4A97-8A49-C7EB1AA505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8.11.2025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E437-C745-4797-8E12-AE887F9C6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6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8.11.2025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58DE-157A-47FB-B6FE-2BF3DBE0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1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8.11.2025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702-A4CE-4E37-AD1A-55778605B1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1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8.11.2025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245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8.11.2025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751C0-3663-4EFE-8A6A-10BE31BDC9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8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Przeciągnij obraz na symbol zastępczy lub kliknij ikonę, aby go dodać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8.11.2025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FEB7E-1F88-4AE7-AA89-93BE3C1A9C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1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8.11.2025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C5AF-A148-4762-92DF-376362746B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8.11.2025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EFBB-CA7F-4380-AF49-7EC026DA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9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17B01-0C30-B241-B19F-621BE4770608}" type="datetimeFigureOut">
              <a:rPr lang="pl-PL" smtClean="0"/>
              <a:t>8.11.2025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9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260648"/>
            <a:ext cx="4752274" cy="3988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512" y="1628800"/>
            <a:ext cx="842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PROGRAMOWANIE URZĄDZEŃ</a:t>
            </a:r>
          </a:p>
          <a:p>
            <a:pPr algn="ctr"/>
            <a:r>
              <a:rPr lang="pl-PL" sz="3200" b="1" dirty="0">
                <a:solidFill>
                  <a:schemeClr val="bg1"/>
                </a:solidFill>
              </a:rPr>
              <a:t>MOBILNYCH 2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B3CC2FAF-D489-4F42-90E1-D634E6FA5CAF}"/>
              </a:ext>
            </a:extLst>
          </p:cNvPr>
          <p:cNvSpPr txBox="1"/>
          <p:nvPr/>
        </p:nvSpPr>
        <p:spPr>
          <a:xfrm>
            <a:off x="179512" y="3861048"/>
            <a:ext cx="842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WYKŁAD 2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5201681-6767-4194-BF52-C2BE7C096DA3}"/>
              </a:ext>
            </a:extLst>
          </p:cNvPr>
          <p:cNvSpPr txBox="1"/>
          <p:nvPr/>
        </p:nvSpPr>
        <p:spPr>
          <a:xfrm>
            <a:off x="3131840" y="4437112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Wprowadzenie do Wielowątkowości: </a:t>
            </a:r>
            <a:r>
              <a:rPr lang="pl-PL" sz="1800" dirty="0" err="1">
                <a:solidFill>
                  <a:schemeClr val="bg1"/>
                </a:solidFill>
              </a:rPr>
              <a:t>Coroutines</a:t>
            </a:r>
            <a:endParaRPr lang="pl-PL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34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B0466A-ECC8-CD3A-5198-1AA1A3D27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AEBF88-1388-CEF7-33C7-7E939A9F903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Blokowanie Wątku Głównego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CA86A4B-5C2C-C735-1879-3E383D48C620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(i całe urządzenie)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pic>
        <p:nvPicPr>
          <p:cNvPr id="3" name="bandicam 2025-07-23 15-57-05-908">
            <a:hlinkClick r:id="" action="ppaction://media"/>
            <a:extLst>
              <a:ext uri="{FF2B5EF4-FFF2-40B4-BE49-F238E27FC236}">
                <a16:creationId xmlns:a16="http://schemas.microsoft.com/office/drawing/2014/main" id="{BFFAFDA6-7E5B-2BBE-A2F5-087ADCE1AAE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434548" y="1381661"/>
            <a:ext cx="2457260" cy="539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45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3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B0466A-ECC8-CD3A-5198-1AA1A3D27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AEBF88-1388-CEF7-33C7-7E939A9F903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Blokowanie Wątku Głównego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CA86A4B-5C2C-C735-1879-3E383D48C620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(i całe urządzenie)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pic>
        <p:nvPicPr>
          <p:cNvPr id="1026" name="Picture 2" descr="main_thread_queue">
            <a:extLst>
              <a:ext uri="{FF2B5EF4-FFF2-40B4-BE49-F238E27FC236}">
                <a16:creationId xmlns:a16="http://schemas.microsoft.com/office/drawing/2014/main" id="{6795B7AB-64A4-9BEA-493E-409D0F2A7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811213"/>
            <a:ext cx="9144000" cy="6046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5DB53CF3-C67F-C830-0AC5-C0F95FD44DEE}"/>
              </a:ext>
            </a:extLst>
          </p:cNvPr>
          <p:cNvSpPr txBox="1"/>
          <p:nvPr/>
        </p:nvSpPr>
        <p:spPr>
          <a:xfrm>
            <a:off x="1063168" y="6538555"/>
            <a:ext cx="50507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https://hvasconcelos.github.io/articles/Offloading-work-from-the-UI-Thread</a:t>
            </a:r>
          </a:p>
        </p:txBody>
      </p:sp>
    </p:spTree>
    <p:extLst>
      <p:ext uri="{BB962C8B-B14F-4D97-AF65-F5344CB8AC3E}">
        <p14:creationId xmlns:p14="http://schemas.microsoft.com/office/powerpoint/2010/main" val="216180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D195F0-D6F4-65AD-5620-CE52AD30D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13968B-4616-D569-88EF-E3FC15B4962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Blokowanie Wątku Głównego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9A4E5345-4E9F-3B8E-E417-3716D0D5C109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(i całe urządzenie)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27564C0-6625-7B6F-071E-11A9330B1451}"/>
              </a:ext>
            </a:extLst>
          </p:cNvPr>
          <p:cNvSpPr txBox="1"/>
          <p:nvPr/>
        </p:nvSpPr>
        <p:spPr>
          <a:xfrm>
            <a:off x="1063168" y="6538555"/>
            <a:ext cx="50507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https://hvasconcelos.github.io/articles/Offloading-work-from-the-UI-Thread</a:t>
            </a:r>
          </a:p>
        </p:txBody>
      </p:sp>
      <p:pic>
        <p:nvPicPr>
          <p:cNvPr id="2050" name="Picture 2" descr="main_thread_rendering">
            <a:extLst>
              <a:ext uri="{FF2B5EF4-FFF2-40B4-BE49-F238E27FC236}">
                <a16:creationId xmlns:a16="http://schemas.microsoft.com/office/drawing/2014/main" id="{7E4F7DD4-3F4B-063E-76B8-F684DA5A9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077072"/>
            <a:ext cx="8080832" cy="2355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daptive refresh rate | Android Open Source Project">
            <a:extLst>
              <a:ext uri="{FF2B5EF4-FFF2-40B4-BE49-F238E27FC236}">
                <a16:creationId xmlns:a16="http://schemas.microsoft.com/office/drawing/2014/main" id="{558A56E5-2446-389A-FD45-935D102F8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069" y="1800617"/>
            <a:ext cx="7740352" cy="1960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9895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A7946B-B97C-6C56-74B1-5D9744A36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D790FB-BB07-9416-5E47-9DBAB742472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Blokowanie Wątku Głównego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872EC64B-0B9E-E3F3-67D4-25D331717318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(i całe urządzenie)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B063E6A9-50EE-AC16-D4C8-CB22D2A4DD17}"/>
              </a:ext>
            </a:extLst>
          </p:cNvPr>
          <p:cNvSpPr txBox="1"/>
          <p:nvPr/>
        </p:nvSpPr>
        <p:spPr>
          <a:xfrm>
            <a:off x="1063168" y="6538555"/>
            <a:ext cx="50507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https://hvasconcelos.github.io/articles/Offloading-work-from-the-UI-Thread</a:t>
            </a:r>
          </a:p>
        </p:txBody>
      </p:sp>
      <p:pic>
        <p:nvPicPr>
          <p:cNvPr id="3074" name="Picture 2" descr="async_processing">
            <a:extLst>
              <a:ext uri="{FF2B5EF4-FFF2-40B4-BE49-F238E27FC236}">
                <a16:creationId xmlns:a16="http://schemas.microsoft.com/office/drawing/2014/main" id="{0A017CEF-DE23-2BE7-3029-D686E2447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753" y="1807023"/>
            <a:ext cx="8256845" cy="4033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3050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9FB633-5237-F222-ED98-9A39F050F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A40C27-280E-217A-B9F9-527DCF34CCC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Coroutines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EAC9525-078D-FE59-D9E8-8EA8C5BAB9CC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(i całe urządzenie)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41D55E05-3672-7AF8-1D83-1B8F73EA4FAD}"/>
              </a:ext>
            </a:extLst>
          </p:cNvPr>
          <p:cNvSpPr txBox="1"/>
          <p:nvPr/>
        </p:nvSpPr>
        <p:spPr>
          <a:xfrm>
            <a:off x="1202553" y="6426390"/>
            <a:ext cx="784887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medium.com%2F%40mkcode0323%2Fthread-vs-coroutines-choosing-the-right-concurrency-approach-in-kotlin-android-3a56368d9768</a:t>
            </a:r>
          </a:p>
        </p:txBody>
      </p:sp>
      <p:pic>
        <p:nvPicPr>
          <p:cNvPr id="4098" name="Picture 2" descr="Thread vs. Coroutines: Choosing the Right Concurrency Approach in Kotlin  Android | by KmDev | Medium">
            <a:extLst>
              <a:ext uri="{FF2B5EF4-FFF2-40B4-BE49-F238E27FC236}">
                <a16:creationId xmlns:a16="http://schemas.microsoft.com/office/drawing/2014/main" id="{3E2E4633-B907-DBB3-A1EA-D43617E7B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553" y="1700808"/>
            <a:ext cx="7888016" cy="4434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3690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731971-751A-0CD6-10A4-2097BE2A8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5C0875-089C-6641-E57D-6130474B72D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Coroutines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88DCF9E-70DC-5462-0B55-72D5A1DF8C95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(i całe urządzenie)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2B61534-BADA-F556-E180-06690BB98A06}"/>
              </a:ext>
            </a:extLst>
          </p:cNvPr>
          <p:cNvSpPr txBox="1"/>
          <p:nvPr/>
        </p:nvSpPr>
        <p:spPr>
          <a:xfrm>
            <a:off x="1202553" y="6426390"/>
            <a:ext cx="784887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medium.com%2F%40mkcode0323%2Fthread-vs-coroutines-choosing-the-right-concurrency-approach-in-kotlin-android-3a56368d9768</a:t>
            </a:r>
          </a:p>
        </p:txBody>
      </p:sp>
      <p:pic>
        <p:nvPicPr>
          <p:cNvPr id="4100" name="Picture 4" descr="Introduction to Thread Pools in Java | Baeldung">
            <a:extLst>
              <a:ext uri="{FF2B5EF4-FFF2-40B4-BE49-F238E27FC236}">
                <a16:creationId xmlns:a16="http://schemas.microsoft.com/office/drawing/2014/main" id="{99A61AEF-903A-86DA-101D-96967DCB9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201" y="1700808"/>
            <a:ext cx="8071800" cy="4509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6639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AC641-A552-A89E-99D9-65320732A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57A77D-C3AB-CEC5-7DEC-19F95AB7D82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Coroutines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054109C6-CCEC-9476-C606-E033E808B631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(i całe urządzenie)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4FDC393-1634-D7FB-E78F-3606B4C7F3FC}"/>
              </a:ext>
            </a:extLst>
          </p:cNvPr>
          <p:cNvSpPr txBox="1"/>
          <p:nvPr/>
        </p:nvSpPr>
        <p:spPr>
          <a:xfrm>
            <a:off x="1202553" y="6426390"/>
            <a:ext cx="78488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https://jenkov.com/tutorials/java-concurrency/thread-congestion.html</a:t>
            </a:r>
          </a:p>
        </p:txBody>
      </p:sp>
      <p:pic>
        <p:nvPicPr>
          <p:cNvPr id="5122" name="Picture 2" descr="Thread Congestion in Java">
            <a:extLst>
              <a:ext uri="{FF2B5EF4-FFF2-40B4-BE49-F238E27FC236}">
                <a16:creationId xmlns:a16="http://schemas.microsoft.com/office/drawing/2014/main" id="{303FAC17-9320-BCFC-B108-8CE8BF67F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462" y="2348880"/>
            <a:ext cx="7675804" cy="2927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3034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D47131-23D0-742B-ED70-DE7EAE0D6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EF147C-C8F1-5F36-5B4B-36A12FFF3C0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Coroutines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52F92874-0BFD-79E6-A302-C658051485C4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(i całe urządzenie)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DBE50FF4-9858-3B10-15B1-DCD33262EF95}"/>
              </a:ext>
            </a:extLst>
          </p:cNvPr>
          <p:cNvSpPr txBox="1"/>
          <p:nvPr/>
        </p:nvSpPr>
        <p:spPr>
          <a:xfrm>
            <a:off x="1202553" y="6426390"/>
            <a:ext cx="78488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http://www.igfasouza.com/blog/coroutines/</a:t>
            </a:r>
          </a:p>
        </p:txBody>
      </p:sp>
      <p:pic>
        <p:nvPicPr>
          <p:cNvPr id="2050" name="Picture 2" descr="Coroutines – Igfasouza.com">
            <a:extLst>
              <a:ext uri="{FF2B5EF4-FFF2-40B4-BE49-F238E27FC236}">
                <a16:creationId xmlns:a16="http://schemas.microsoft.com/office/drawing/2014/main" id="{25B16455-54E5-FF5D-70BA-E226E461A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844824"/>
            <a:ext cx="6662869" cy="3747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1410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0FC6CC-CE74-7D59-867A-3AB56563F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718CD2-06FA-26AB-55E9-07E505ED855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Coroutines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944DA472-78AB-CA32-B1E2-7C271F9C40C0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(i całe urządzenie)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676C066-218C-A520-133C-D878F927C964}"/>
              </a:ext>
            </a:extLst>
          </p:cNvPr>
          <p:cNvSpPr txBox="1"/>
          <p:nvPr/>
        </p:nvSpPr>
        <p:spPr>
          <a:xfrm>
            <a:off x="1202553" y="6426390"/>
            <a:ext cx="78488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https://blog.eiler.eu/posts/20210512</a:t>
            </a:r>
          </a:p>
        </p:txBody>
      </p:sp>
      <p:pic>
        <p:nvPicPr>
          <p:cNvPr id="6146" name="Picture 2" descr="C++20: Building a Thread-Pool With Coroutines :: Michael Eiler — sharing  bits about software and technology">
            <a:extLst>
              <a:ext uri="{FF2B5EF4-FFF2-40B4-BE49-F238E27FC236}">
                <a16:creationId xmlns:a16="http://schemas.microsoft.com/office/drawing/2014/main" id="{3272D6D2-BA45-3843-FF86-2503B5782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128" y="1854745"/>
            <a:ext cx="7452320" cy="4189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696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52EFCD-D005-07BF-9E0F-FB42696F3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F8BFEC-8340-580D-0D24-6F99C47490A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suspend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EB6555D6-B138-B91D-63E3-D2DBA346516F}"/>
              </a:ext>
            </a:extLst>
          </p:cNvPr>
          <p:cNvSpPr txBox="1"/>
          <p:nvPr/>
        </p:nvSpPr>
        <p:spPr>
          <a:xfrm>
            <a:off x="1033753" y="839614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W poprzednim przykładzie widzieliśmy, że </a:t>
            </a:r>
            <a:r>
              <a:rPr lang="pl-PL" sz="1600" dirty="0" err="1">
                <a:latin typeface="Verbatim"/>
              </a:rPr>
              <a:t>Thread.sleep</a:t>
            </a:r>
            <a:r>
              <a:rPr lang="pl-PL" sz="1600" dirty="0">
                <a:latin typeface="Verbatim"/>
              </a:rPr>
              <a:t>() </a:t>
            </a:r>
            <a:r>
              <a:rPr lang="pl-PL" sz="1600" b="1" dirty="0"/>
              <a:t>blokuje aplikację</a:t>
            </a:r>
            <a:r>
              <a:rPr lang="pl-PL" sz="1600" dirty="0"/>
              <a:t>. Rozwiązaniem jest użycie </a:t>
            </a:r>
            <a:r>
              <a:rPr lang="pl-PL" sz="1600" b="1" dirty="0"/>
              <a:t>mechanizmu</a:t>
            </a:r>
            <a:r>
              <a:rPr lang="pl-PL" sz="1600" dirty="0"/>
              <a:t>, który pozwala </a:t>
            </a:r>
            <a:r>
              <a:rPr lang="pl-PL" sz="1600" b="1" dirty="0"/>
              <a:t>'</a:t>
            </a:r>
            <a:r>
              <a:rPr lang="pl-PL" sz="1600" b="1" dirty="0" err="1"/>
              <a:t>zapauzować</a:t>
            </a:r>
            <a:r>
              <a:rPr lang="pl-PL" sz="1600" dirty="0"/>
              <a:t>' zadanie </a:t>
            </a:r>
            <a:r>
              <a:rPr lang="pl-PL" sz="1600" b="1" dirty="0"/>
              <a:t>bez͏͏͏ blokowania wątku</a:t>
            </a:r>
            <a:r>
              <a:rPr lang="pl-PL" sz="1600" dirty="0"/>
              <a:t>. Do tego służą funkcje oznaczone słowem kluczowym </a:t>
            </a:r>
            <a:r>
              <a:rPr lang="pl-PL" sz="1600" b="1" dirty="0" err="1">
                <a:latin typeface="Verbatim"/>
              </a:rPr>
              <a:t>suspend</a:t>
            </a:r>
            <a:r>
              <a:rPr lang="pl-PL" sz="1600" b="1" dirty="0">
                <a:latin typeface="Verbatim"/>
              </a:rPr>
              <a:t>.</a:t>
            </a:r>
          </a:p>
        </p:txBody>
      </p:sp>
      <p:pic>
        <p:nvPicPr>
          <p:cNvPr id="1026" name="Picture 2" descr="suspend function in Kotlin Coroutines">
            <a:extLst>
              <a:ext uri="{FF2B5EF4-FFF2-40B4-BE49-F238E27FC236}">
                <a16:creationId xmlns:a16="http://schemas.microsoft.com/office/drawing/2014/main" id="{F65CF78C-738F-0646-01AD-24255666E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420888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9F7302B8-CCF9-F3A7-E2D4-71C04275A882}"/>
              </a:ext>
            </a:extLst>
          </p:cNvPr>
          <p:cNvSpPr txBox="1"/>
          <p:nvPr/>
        </p:nvSpPr>
        <p:spPr>
          <a:xfrm>
            <a:off x="1033753" y="642578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https://outcomeschool.com/blog/suspend-function-in-kotlin-coroutines</a:t>
            </a:r>
          </a:p>
        </p:txBody>
      </p:sp>
    </p:spTree>
    <p:extLst>
      <p:ext uri="{BB962C8B-B14F-4D97-AF65-F5344CB8AC3E}">
        <p14:creationId xmlns:p14="http://schemas.microsoft.com/office/powerpoint/2010/main" val="1940178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266AF-26DC-DC69-B2C2-BA6138C5F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C4A8CA-0A7F-0D28-8D0F-82BB97AAB98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suspend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CCBBE75-5273-C5F7-7CDE-01FD87010277}"/>
              </a:ext>
            </a:extLst>
          </p:cNvPr>
          <p:cNvSpPr txBox="1"/>
          <p:nvPr/>
        </p:nvSpPr>
        <p:spPr>
          <a:xfrm>
            <a:off x="1033753" y="839614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W poprzednim przykładzie widzieliśmy, że </a:t>
            </a:r>
            <a:r>
              <a:rPr lang="pl-PL" sz="1600" dirty="0" err="1">
                <a:latin typeface="Verbatim"/>
              </a:rPr>
              <a:t>Thread.sleep</a:t>
            </a:r>
            <a:r>
              <a:rPr lang="pl-PL" sz="1600" dirty="0">
                <a:latin typeface="Verbatim"/>
              </a:rPr>
              <a:t>() </a:t>
            </a:r>
            <a:r>
              <a:rPr lang="pl-PL" sz="1600" b="1" dirty="0"/>
              <a:t>blokuje aplikację</a:t>
            </a:r>
            <a:r>
              <a:rPr lang="pl-PL" sz="1600" dirty="0"/>
              <a:t>. Rozwiązaniem jest użycie </a:t>
            </a:r>
            <a:r>
              <a:rPr lang="pl-PL" sz="1600" b="1" dirty="0"/>
              <a:t>mechanizmu</a:t>
            </a:r>
            <a:r>
              <a:rPr lang="pl-PL" sz="1600" dirty="0"/>
              <a:t>, który pozwala </a:t>
            </a:r>
            <a:r>
              <a:rPr lang="pl-PL" sz="1600" b="1" dirty="0"/>
              <a:t>'</a:t>
            </a:r>
            <a:r>
              <a:rPr lang="pl-PL" sz="1600" b="1" dirty="0" err="1"/>
              <a:t>zapauzować</a:t>
            </a:r>
            <a:r>
              <a:rPr lang="pl-PL" sz="1600" dirty="0"/>
              <a:t>' zadanie </a:t>
            </a:r>
            <a:r>
              <a:rPr lang="pl-PL" sz="1600" b="1" dirty="0"/>
              <a:t>bez͏͏͏ blokowania wątku</a:t>
            </a:r>
            <a:r>
              <a:rPr lang="pl-PL" sz="1600" dirty="0"/>
              <a:t>. Do tego służą funkcje oznaczone słowem kluczowym </a:t>
            </a:r>
            <a:r>
              <a:rPr lang="pl-PL" sz="1600" b="1" dirty="0" err="1">
                <a:latin typeface="Verbatim"/>
              </a:rPr>
              <a:t>suspend</a:t>
            </a:r>
            <a:r>
              <a:rPr lang="pl-PL" sz="1600" b="1" dirty="0">
                <a:latin typeface="Verbatim"/>
              </a:rPr>
              <a:t>.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39136D7D-5374-DC44-ABC8-88F23569C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64034"/>
              </p:ext>
            </p:extLst>
          </p:nvPr>
        </p:nvGraphicFramePr>
        <p:xfrm>
          <a:off x="1055545" y="2348880"/>
          <a:ext cx="7848872" cy="17526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301555">
                  <a:extLst>
                    <a:ext uri="{9D8B030D-6E8A-4147-A177-3AD203B41FA5}">
                      <a16:colId xmlns:a16="http://schemas.microsoft.com/office/drawing/2014/main" val="253088364"/>
                    </a:ext>
                  </a:extLst>
                </a:gridCol>
                <a:gridCol w="3547317">
                  <a:extLst>
                    <a:ext uri="{9D8B030D-6E8A-4147-A177-3AD203B41FA5}">
                      <a16:colId xmlns:a16="http://schemas.microsoft.com/office/drawing/2014/main" val="32730402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chemeClr val="tx1"/>
                          </a:solidFill>
                        </a:rPr>
                        <a:t>Thread.sleep(10000)</a:t>
                      </a:r>
                      <a:endParaRPr lang="pl-PL" b="1" dirty="0">
                        <a:solidFill>
                          <a:schemeClr val="tx1"/>
                        </a:solidFill>
                        <a:latin typeface="Verbatim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chemeClr val="tx1"/>
                          </a:solidFill>
                        </a:rPr>
                        <a:t>delay(10000)</a:t>
                      </a:r>
                      <a:endParaRPr lang="pl-PL" b="1" dirty="0">
                        <a:solidFill>
                          <a:schemeClr val="tx1"/>
                        </a:solidFill>
                        <a:latin typeface="Verbatim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982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Blokuje cały wątek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Zawiesza </a:t>
                      </a:r>
                      <a:r>
                        <a:rPr lang="pl-PL" b="1" dirty="0"/>
                        <a:t>tylko</a:t>
                      </a:r>
                      <a:r>
                        <a:rPr lang="pl-PL" dirty="0"/>
                        <a:t> korutynę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594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Nikt inny nie może używać wątku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Wątek jest zwalniany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49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Powoduje zamrożenie ui jeżeli użyte na wątku głównym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Ui pozostaje w pełni responsywne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9770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904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A139AA-F6B7-AAA8-AD4B-23E8349F8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EAAB92-5398-1BF2-10A6-7C4DC7FFDED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suspend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E1E6E16-C54B-EBA5-F774-4D6A1FD21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0032" y="2564904"/>
            <a:ext cx="7788236" cy="1512168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6DA78668-547E-CC2D-EC66-1AB364B82D72}"/>
              </a:ext>
            </a:extLst>
          </p:cNvPr>
          <p:cNvSpPr/>
          <p:nvPr/>
        </p:nvSpPr>
        <p:spPr>
          <a:xfrm>
            <a:off x="3812528" y="1196752"/>
            <a:ext cx="2959103" cy="62259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2CBDD5A0-8BDD-B16B-C883-0696461C01AE}"/>
              </a:ext>
            </a:extLst>
          </p:cNvPr>
          <p:cNvSpPr txBox="1"/>
          <p:nvPr/>
        </p:nvSpPr>
        <p:spPr>
          <a:xfrm>
            <a:off x="3635896" y="1196752"/>
            <a:ext cx="3312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Funkcja z możliwością zawieszenia wykonania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6B37F61A-3D87-8329-3D6D-16077A208072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1907704" y="1819351"/>
            <a:ext cx="3384376" cy="74555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40D074B4-E698-36FB-FAA8-BFDF3AF35A9F}"/>
              </a:ext>
            </a:extLst>
          </p:cNvPr>
          <p:cNvSpPr/>
          <p:nvPr/>
        </p:nvSpPr>
        <p:spPr>
          <a:xfrm>
            <a:off x="5468712" y="3467209"/>
            <a:ext cx="3135736" cy="62259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BF2CD1F2-FD6B-BE61-903A-4F25613019A8}"/>
              </a:ext>
            </a:extLst>
          </p:cNvPr>
          <p:cNvSpPr txBox="1"/>
          <p:nvPr/>
        </p:nvSpPr>
        <p:spPr>
          <a:xfrm>
            <a:off x="5364000" y="3467209"/>
            <a:ext cx="3312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suspend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fun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może być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wywołana wewnątrz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innej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suspend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fun</a:t>
            </a:r>
            <a:endParaRPr lang="pl-PL" sz="1600" dirty="0">
              <a:solidFill>
                <a:schemeClr val="accent4">
                  <a:lumMod val="50000"/>
                </a:schemeClr>
              </a:solidFill>
              <a:latin typeface="Verbatim"/>
            </a:endParaRP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4AFD817D-58A0-E17A-B7E5-E072D12392D5}"/>
              </a:ext>
            </a:extLst>
          </p:cNvPr>
          <p:cNvCxnSpPr>
            <a:cxnSpLocks/>
          </p:cNvCxnSpPr>
          <p:nvPr/>
        </p:nvCxnSpPr>
        <p:spPr>
          <a:xfrm flipH="1" flipV="1">
            <a:off x="3707904" y="3176972"/>
            <a:ext cx="3240360" cy="25202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414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37DAB-477A-8AF9-C9CF-F629B6D5A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F6DA20-0A35-258D-1EF5-09768E93697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suspend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6ABB21D4-1F66-2373-544A-A0A4D4D29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908720"/>
            <a:ext cx="7572171" cy="4735467"/>
          </a:xfrm>
          <a:prstGeom prst="rect">
            <a:avLst/>
          </a:prstGeom>
        </p:spPr>
      </p:pic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3EF5673E-D688-942E-10F5-625FCF0E540D}"/>
              </a:ext>
            </a:extLst>
          </p:cNvPr>
          <p:cNvSpPr/>
          <p:nvPr/>
        </p:nvSpPr>
        <p:spPr>
          <a:xfrm>
            <a:off x="2988188" y="5492241"/>
            <a:ext cx="5832648" cy="584775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5487370E-774D-1137-5278-2E49BE0EB500}"/>
              </a:ext>
            </a:extLst>
          </p:cNvPr>
          <p:cNvSpPr txBox="1"/>
          <p:nvPr/>
        </p:nvSpPr>
        <p:spPr>
          <a:xfrm>
            <a:off x="2987824" y="5492241"/>
            <a:ext cx="5832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Suspend function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'suspend fun </a:t>
            </a:r>
            <a:r>
              <a:rPr lang="en-US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fetchDataFromServer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(): String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' can only be called from a coroutine or another suspend function.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14759B7D-4836-13F0-C0EE-289336CC85B1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5580112" y="4941168"/>
            <a:ext cx="324400" cy="55107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820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7AEDF8-6D8D-88DA-545E-967F51C7B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34DE29-3884-3F4F-F950-95F42762868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suspend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7C52C8F-E8EB-FE47-8657-322D3A1E0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908720"/>
            <a:ext cx="7572171" cy="4735467"/>
          </a:xfrm>
          <a:prstGeom prst="rect">
            <a:avLst/>
          </a:prstGeom>
        </p:spPr>
      </p:pic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FB9B61BA-BAB2-6CD9-9220-7187AA1CBB9B}"/>
              </a:ext>
            </a:extLst>
          </p:cNvPr>
          <p:cNvSpPr/>
          <p:nvPr/>
        </p:nvSpPr>
        <p:spPr>
          <a:xfrm>
            <a:off x="2988188" y="5492241"/>
            <a:ext cx="5832648" cy="584775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68E7AA26-BCFE-21C2-19D8-BAACB0E0B80A}"/>
              </a:ext>
            </a:extLst>
          </p:cNvPr>
          <p:cNvSpPr txBox="1"/>
          <p:nvPr/>
        </p:nvSpPr>
        <p:spPr>
          <a:xfrm>
            <a:off x="2987824" y="5492241"/>
            <a:ext cx="5832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Suspend function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'suspend fun </a:t>
            </a:r>
            <a:r>
              <a:rPr lang="en-US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fetchDataFromServer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(): String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' can only be called from a coroutine or another suspend function.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D544E659-E458-00CA-9410-6AF39144B8AB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5580112" y="4941168"/>
            <a:ext cx="324400" cy="55107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ole tekstowe 4">
            <a:extLst>
              <a:ext uri="{FF2B5EF4-FFF2-40B4-BE49-F238E27FC236}">
                <a16:creationId xmlns:a16="http://schemas.microsoft.com/office/drawing/2014/main" id="{F11F5520-1F02-3CEB-0901-F46DB01DF3AC}"/>
              </a:ext>
            </a:extLst>
          </p:cNvPr>
          <p:cNvSpPr txBox="1"/>
          <p:nvPr/>
        </p:nvSpPr>
        <p:spPr>
          <a:xfrm>
            <a:off x="1043608" y="6072647"/>
            <a:ext cx="8100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Kotlin chroni nas przed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przypadkowym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wywołaniem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potencjalnie długiej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zawieszalnej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operacji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w miejscu, które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jest do tego przygotowane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Zwykły blok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onClick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wie, jak zarządzać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'pauzowaniem' i 'wznawianiem' funkcji.</a:t>
            </a:r>
          </a:p>
        </p:txBody>
      </p:sp>
    </p:spTree>
    <p:extLst>
      <p:ext uri="{BB962C8B-B14F-4D97-AF65-F5344CB8AC3E}">
        <p14:creationId xmlns:p14="http://schemas.microsoft.com/office/powerpoint/2010/main" val="240861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F518FD-A4D9-1F7C-22CB-66ED47A94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13AA5A-A2AA-CBAF-A645-42318E65ACF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8CF7176-1E35-64E4-D2F6-5281BE997B3A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Teraz musimy stworzyć odpowiednie </a:t>
            </a:r>
            <a:r>
              <a:rPr lang="pl-PL" sz="1600" b="1" dirty="0"/>
              <a:t>środowisko uruchomieniowe </a:t>
            </a:r>
            <a:r>
              <a:rPr lang="pl-PL" sz="1600" dirty="0"/>
              <a:t>dla funkcji </a:t>
            </a:r>
            <a:r>
              <a:rPr lang="pl-PL" sz="1600" b="1" dirty="0" err="1">
                <a:latin typeface="Verbatim"/>
              </a:rPr>
              <a:t>suspend</a:t>
            </a:r>
            <a:r>
              <a:rPr lang="pl-PL" sz="1600" dirty="0"/>
              <a:t>. Tym środowiskiem jest </a:t>
            </a:r>
            <a:r>
              <a:rPr lang="pl-PL" sz="1600" b="1" dirty="0">
                <a:latin typeface="Verbatim"/>
              </a:rPr>
              <a:t>CoroutineScope</a:t>
            </a:r>
            <a:r>
              <a:rPr lang="pl-PL" sz="1600" dirty="0"/>
              <a:t>, a narzędziem do startu – konstruktor </a:t>
            </a:r>
            <a:r>
              <a:rPr lang="pl-PL" sz="1600" b="1" dirty="0" err="1">
                <a:latin typeface="Verbatim"/>
              </a:rPr>
              <a:t>launch</a:t>
            </a:r>
            <a:r>
              <a:rPr lang="pl-PL" sz="1600" b="1" dirty="0">
                <a:latin typeface="Verbatim"/>
              </a:rPr>
              <a:t>.</a:t>
            </a:r>
          </a:p>
        </p:txBody>
      </p:sp>
      <p:pic>
        <p:nvPicPr>
          <p:cNvPr id="1026" name="Picture 2" descr="Kotlin Coroutines 101: Async Programming in Practice | by Eury Pérez Beltré  | ProAndroidDev">
            <a:extLst>
              <a:ext uri="{FF2B5EF4-FFF2-40B4-BE49-F238E27FC236}">
                <a16:creationId xmlns:a16="http://schemas.microsoft.com/office/drawing/2014/main" id="{F6FCBBA9-3280-508A-1A21-E0AAB6E19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704" y="1584387"/>
            <a:ext cx="7900341" cy="368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720C051C-4AD1-C0CA-02B6-F87C8AD63B5D}"/>
              </a:ext>
            </a:extLst>
          </p:cNvPr>
          <p:cNvSpPr txBox="1"/>
          <p:nvPr/>
        </p:nvSpPr>
        <p:spPr>
          <a:xfrm>
            <a:off x="1243659" y="4941168"/>
            <a:ext cx="79003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proandroiddev.com/kotlin-coroutines-101-async-programming-in-practice-062b359d502b?gi=a2df197e28b8</a:t>
            </a:r>
          </a:p>
        </p:txBody>
      </p:sp>
    </p:spTree>
    <p:extLst>
      <p:ext uri="{BB962C8B-B14F-4D97-AF65-F5344CB8AC3E}">
        <p14:creationId xmlns:p14="http://schemas.microsoft.com/office/powerpoint/2010/main" val="2224723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AFD2A-EA12-ECE0-480F-4EBECEAD2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182623-5EEF-AC03-220B-D060404C07E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4298399-9F7B-8B6D-DB63-C9DF81FC3EBD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Teraz musimy stworzyć odpowiednie </a:t>
            </a:r>
            <a:r>
              <a:rPr lang="pl-PL" sz="1600" b="1" dirty="0"/>
              <a:t>środowisko uruchomieniowe </a:t>
            </a:r>
            <a:r>
              <a:rPr lang="pl-PL" sz="1600" dirty="0"/>
              <a:t>dla funkcji </a:t>
            </a:r>
            <a:r>
              <a:rPr lang="pl-PL" sz="1600" b="1" dirty="0" err="1">
                <a:latin typeface="Verbatim"/>
              </a:rPr>
              <a:t>suspend</a:t>
            </a:r>
            <a:r>
              <a:rPr lang="pl-PL" sz="1600" dirty="0"/>
              <a:t>. Tym środowiskiem jest </a:t>
            </a:r>
            <a:r>
              <a:rPr lang="pl-PL" sz="1600" b="1" dirty="0">
                <a:latin typeface="Verbatim"/>
              </a:rPr>
              <a:t>CoroutineScope</a:t>
            </a:r>
            <a:r>
              <a:rPr lang="pl-PL" sz="1600" dirty="0"/>
              <a:t>, a narzędziem do startu – konstruktor </a:t>
            </a:r>
            <a:r>
              <a:rPr lang="pl-PL" sz="1600" b="1" dirty="0" err="1">
                <a:latin typeface="Verbatim"/>
              </a:rPr>
              <a:t>launch</a:t>
            </a:r>
            <a:r>
              <a:rPr lang="pl-PL" sz="1600" b="1" dirty="0">
                <a:latin typeface="Verbatim"/>
              </a:rPr>
              <a:t>.</a:t>
            </a:r>
          </a:p>
        </p:txBody>
      </p:sp>
      <p:pic>
        <p:nvPicPr>
          <p:cNvPr id="1026" name="Picture 2" descr="Kotlin Coroutines 101: Async Programming in Practice | by Eury Pérez Beltré  | ProAndroidDev">
            <a:extLst>
              <a:ext uri="{FF2B5EF4-FFF2-40B4-BE49-F238E27FC236}">
                <a16:creationId xmlns:a16="http://schemas.microsoft.com/office/drawing/2014/main" id="{B49787EE-5A72-0E49-6E23-CB99DBF00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704" y="1584387"/>
            <a:ext cx="7900341" cy="368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4E4A24BC-D187-C62D-B511-7137D94F3293}"/>
              </a:ext>
            </a:extLst>
          </p:cNvPr>
          <p:cNvSpPr txBox="1"/>
          <p:nvPr/>
        </p:nvSpPr>
        <p:spPr>
          <a:xfrm>
            <a:off x="1243659" y="4941168"/>
            <a:ext cx="79003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proandroiddev.com/kotlin-coroutines-101-async-programming-in-practice-062b359d502b?gi=a2df197e28b8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D965F7F7-1117-16C1-75CF-B712029E2915}"/>
              </a:ext>
            </a:extLst>
          </p:cNvPr>
          <p:cNvSpPr txBox="1"/>
          <p:nvPr/>
        </p:nvSpPr>
        <p:spPr>
          <a:xfrm>
            <a:off x="1033752" y="5517232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latin typeface="Verbatim"/>
              </a:rPr>
              <a:t>CoroutineScope</a:t>
            </a:r>
            <a:r>
              <a:rPr lang="pl-PL" sz="1600" dirty="0"/>
              <a:t> jest jak nadzorca na placu budowy. Kiedy kończy się dzień pracy (np. </a:t>
            </a:r>
            <a:r>
              <a:rPr lang="pl-PL" sz="1600" b="1" dirty="0"/>
              <a:t>zamykamy ekran</a:t>
            </a:r>
            <a:r>
              <a:rPr lang="pl-PL" sz="1600" dirty="0"/>
              <a:t>), nadzorca upewnia się, że </a:t>
            </a:r>
            <a:r>
              <a:rPr lang="pl-PL" sz="1600" b="1" dirty="0"/>
              <a:t>wszyscy robotnicy </a:t>
            </a:r>
            <a:r>
              <a:rPr lang="pl-PL" sz="1600" dirty="0"/>
              <a:t>(</a:t>
            </a:r>
            <a:r>
              <a:rPr lang="pl-PL" sz="1600" b="1" dirty="0" err="1"/>
              <a:t>korutyny</a:t>
            </a:r>
            <a:r>
              <a:rPr lang="pl-PL" sz="1600" dirty="0"/>
              <a:t>) poszli do domu. Nikt </a:t>
            </a:r>
            <a:r>
              <a:rPr lang="pl-PL" sz="1600" b="1" dirty="0"/>
              <a:t>nie zostaje </a:t>
            </a:r>
            <a:r>
              <a:rPr lang="pl-PL" sz="1600" dirty="0"/>
              <a:t>po godzinach i nie powoduje problemów (</a:t>
            </a:r>
            <a:r>
              <a:rPr lang="pl-PL" sz="1600" b="1" dirty="0"/>
              <a:t>wycieków pamięci</a:t>
            </a:r>
            <a:r>
              <a:rPr lang="pl-PL" sz="1600" dirty="0"/>
              <a:t>).</a:t>
            </a:r>
            <a:endParaRPr lang="pl-PL" sz="1600" b="1" dirty="0">
              <a:latin typeface="Verbatim"/>
            </a:endParaRPr>
          </a:p>
        </p:txBody>
      </p:sp>
    </p:spTree>
    <p:extLst>
      <p:ext uri="{BB962C8B-B14F-4D97-AF65-F5344CB8AC3E}">
        <p14:creationId xmlns:p14="http://schemas.microsoft.com/office/powerpoint/2010/main" val="340696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972F6-E17B-45B2-9AA8-876A18CAC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BCAADB-4AF8-B1FE-3660-5226D794E66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54272BD7-B4E0-B293-EED8-C72375CAEC8E}"/>
              </a:ext>
            </a:extLst>
          </p:cNvPr>
          <p:cNvSpPr txBox="1"/>
          <p:nvPr/>
        </p:nvSpPr>
        <p:spPr>
          <a:xfrm>
            <a:off x="1377913" y="3084938"/>
            <a:ext cx="79003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https://write.agrevolution.in/kotlin-coroutines-part-3-coroutine-context-bd5543389190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42BB7B1-B973-FA8F-8DF9-10BCFA623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908720"/>
            <a:ext cx="5607348" cy="230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B92E4D44-FEBB-A0BF-B7B9-FF32C91DEB55}"/>
              </a:ext>
            </a:extLst>
          </p:cNvPr>
          <p:cNvSpPr txBox="1"/>
          <p:nvPr/>
        </p:nvSpPr>
        <p:spPr>
          <a:xfrm>
            <a:off x="1033753" y="3410830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latin typeface="Verbatim"/>
              </a:rPr>
              <a:t>CoroutineContext</a:t>
            </a:r>
            <a:r>
              <a:rPr lang="pl-PL" sz="1600" dirty="0">
                <a:latin typeface="Verbatim"/>
              </a:rPr>
              <a:t>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zbiór zasad i konfiguracji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, które definiują, jak i gdzie dana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ma być wykonana. Określa on jej zachowanie, na przykład na którym wątku powinna działać i jak zarządzać jej cyklem życia. </a:t>
            </a:r>
          </a:p>
        </p:txBody>
      </p:sp>
    </p:spTree>
    <p:extLst>
      <p:ext uri="{BB962C8B-B14F-4D97-AF65-F5344CB8AC3E}">
        <p14:creationId xmlns:p14="http://schemas.microsoft.com/office/powerpoint/2010/main" val="3460492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09F69D-588D-B3A1-02AD-D18DDC4C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BCD9A5-C3C5-3F17-F71A-A2AECA5D8B0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D7FF6CAC-CE16-1B2D-8F4E-396E9C011631}"/>
              </a:ext>
            </a:extLst>
          </p:cNvPr>
          <p:cNvSpPr txBox="1"/>
          <p:nvPr/>
        </p:nvSpPr>
        <p:spPr>
          <a:xfrm>
            <a:off x="1377913" y="3084938"/>
            <a:ext cx="79003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https://write.agrevolution.in/kotlin-coroutines-part-3-coroutine-context-bd5543389190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424E733-BD0C-5AF9-BE93-57257BCD0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908720"/>
            <a:ext cx="5607348" cy="230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1E7EC36E-E0A5-E0DB-152E-DA2D3C63ECFE}"/>
              </a:ext>
            </a:extLst>
          </p:cNvPr>
          <p:cNvSpPr txBox="1"/>
          <p:nvPr/>
        </p:nvSpPr>
        <p:spPr>
          <a:xfrm>
            <a:off x="1033753" y="3410830"/>
            <a:ext cx="81102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latin typeface="Verbatim"/>
              </a:rPr>
              <a:t>CoroutineContext</a:t>
            </a:r>
            <a:r>
              <a:rPr lang="pl-PL" sz="1600" dirty="0">
                <a:latin typeface="Verbatim"/>
              </a:rPr>
              <a:t>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zbiór zasad i konfiguracji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, które definiują, jak i gdzie dana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ma być wykonana. Określa on jej zachowanie, na przykład na którym wątku powinna działać i jak zarządzać jej cyklem życia. </a:t>
            </a:r>
          </a:p>
          <a:p>
            <a:pPr algn="just"/>
            <a:endParaRPr lang="pl-PL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l-PL" sz="1600" b="1" dirty="0">
                <a:latin typeface="Verbatim"/>
                <a:cs typeface="Arial" panose="020B0604020202020204" pitchFamily="34" charset="0"/>
              </a:rPr>
              <a:t>CoroutineContext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jest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zestawem instrukcji, narzędzi i przydziałem do miejsca pracy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, który każdy pracownik otrzymuje.</a:t>
            </a:r>
          </a:p>
        </p:txBody>
      </p:sp>
    </p:spTree>
    <p:extLst>
      <p:ext uri="{BB962C8B-B14F-4D97-AF65-F5344CB8AC3E}">
        <p14:creationId xmlns:p14="http://schemas.microsoft.com/office/powerpoint/2010/main" val="2361475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C06DA8-839D-D355-0E32-DD597704F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89731-E08A-A5A8-F624-7CAD00976D2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ED42FBD2-466F-A381-3864-F360318B1AF8}"/>
              </a:ext>
            </a:extLst>
          </p:cNvPr>
          <p:cNvSpPr txBox="1"/>
          <p:nvPr/>
        </p:nvSpPr>
        <p:spPr>
          <a:xfrm>
            <a:off x="1377913" y="3084938"/>
            <a:ext cx="79003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https://write.agrevolution.in/kotlin-coroutines-part-3-coroutine-context-bd5543389190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48E0239-57B0-0250-7D3C-7C685965A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908720"/>
            <a:ext cx="5607348" cy="230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DED9F62C-E190-EB13-CB7A-34AD7199736C}"/>
              </a:ext>
            </a:extLst>
          </p:cNvPr>
          <p:cNvSpPr txBox="1"/>
          <p:nvPr/>
        </p:nvSpPr>
        <p:spPr>
          <a:xfrm>
            <a:off x="1033753" y="3410830"/>
            <a:ext cx="81102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latin typeface="Verbatim"/>
              </a:rPr>
              <a:t>CoroutineContext</a:t>
            </a:r>
            <a:r>
              <a:rPr lang="pl-PL" sz="1600" dirty="0">
                <a:latin typeface="Verbatim"/>
              </a:rPr>
              <a:t>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zbiór zasad i konfiguracji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, które definiują, jak i gdzie dana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ma być wykonana. Określa on jej zachowanie, na przykład na którym wątku powinna działać i jak zarządzać jej cyklem życia. </a:t>
            </a:r>
          </a:p>
          <a:p>
            <a:pPr algn="just"/>
            <a:endParaRPr lang="pl-PL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l-PL" sz="1600" b="1" dirty="0">
                <a:latin typeface="Verbatim"/>
                <a:cs typeface="Arial" panose="020B0604020202020204" pitchFamily="34" charset="0"/>
              </a:rPr>
              <a:t>CoroutineContext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jest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zestawem instrukcji, narzędzi i przydziałem do miejsca pracy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, który każdy pracownik otrzymuje.</a:t>
            </a:r>
          </a:p>
          <a:p>
            <a:pPr algn="just"/>
            <a:endParaRPr lang="pl-P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Każda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uruchomiona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w danym zakresie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l-PL" sz="1600" b="1" dirty="0" err="1">
                <a:latin typeface="Verbatim"/>
                <a:cs typeface="Arial" panose="020B0604020202020204" pitchFamily="34" charset="0"/>
              </a:rPr>
              <a:t>scope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dziedziczy jego kontekst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, czyli jego "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regulamin pracy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29937659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905B6C-313B-3D6D-E6BC-6C2F49091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F80914-070D-F5FE-9350-A1C8D3E036F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0C1AAC17-F67D-8ECB-4789-872BA437B655}"/>
              </a:ext>
            </a:extLst>
          </p:cNvPr>
          <p:cNvSpPr txBox="1"/>
          <p:nvPr/>
        </p:nvSpPr>
        <p:spPr>
          <a:xfrm>
            <a:off x="1377913" y="3084938"/>
            <a:ext cx="79003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https://write.agrevolution.in/kotlin-coroutines-part-3-coroutine-context-bd5543389190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4B63656-E127-0A73-9624-1723D9331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908720"/>
            <a:ext cx="5607348" cy="230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648F8310-5C30-A146-9885-58D652608CF8}"/>
              </a:ext>
            </a:extLst>
          </p:cNvPr>
          <p:cNvSpPr txBox="1"/>
          <p:nvPr/>
        </p:nvSpPr>
        <p:spPr>
          <a:xfrm>
            <a:off x="1033753" y="3410830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latin typeface="Verbatim"/>
                <a:cs typeface="Arial" panose="020B0604020202020204" pitchFamily="34" charset="0"/>
              </a:rPr>
              <a:t>Job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Reprezentuje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cykl życia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stan zadania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. To jej "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karta identyfikacyjna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". </a:t>
            </a:r>
            <a:r>
              <a:rPr lang="pl-PL" sz="1600" dirty="0">
                <a:latin typeface="Verbatim"/>
                <a:cs typeface="Arial" panose="020B0604020202020204" pitchFamily="34" charset="0"/>
              </a:rPr>
              <a:t>CoroutineScope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używa </a:t>
            </a:r>
            <a:r>
              <a:rPr lang="pl-PL" sz="1600" dirty="0">
                <a:latin typeface="Verbatim"/>
                <a:cs typeface="Arial" panose="020B0604020202020204" pitchFamily="34" charset="0"/>
              </a:rPr>
              <a:t>Job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do śledzenia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– anulowania, sprawdzania, czy jest aktywna itp.</a:t>
            </a:r>
          </a:p>
        </p:txBody>
      </p:sp>
    </p:spTree>
    <p:extLst>
      <p:ext uri="{BB962C8B-B14F-4D97-AF65-F5344CB8AC3E}">
        <p14:creationId xmlns:p14="http://schemas.microsoft.com/office/powerpoint/2010/main" val="3295333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23C51-127F-53FC-B6D9-D64F67061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298E87-9151-DB2A-2E0D-5D567E36647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0DA49EB6-C345-6FFD-1419-A4A9C6C66BEA}"/>
              </a:ext>
            </a:extLst>
          </p:cNvPr>
          <p:cNvSpPr txBox="1"/>
          <p:nvPr/>
        </p:nvSpPr>
        <p:spPr>
          <a:xfrm>
            <a:off x="1377913" y="3084938"/>
            <a:ext cx="79003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https://write.agrevolution.in/kotlin-coroutines-part-3-coroutine-context-bd5543389190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3EC4B13-C022-DC51-8C13-536EF367C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908720"/>
            <a:ext cx="5607348" cy="230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DE9BD372-4AE3-6626-A889-DF9AAD5BB2CC}"/>
              </a:ext>
            </a:extLst>
          </p:cNvPr>
          <p:cNvSpPr txBox="1"/>
          <p:nvPr/>
        </p:nvSpPr>
        <p:spPr>
          <a:xfrm>
            <a:off x="1033753" y="3410830"/>
            <a:ext cx="81102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latin typeface="Verbatim"/>
                <a:cs typeface="Arial" panose="020B0604020202020204" pitchFamily="34" charset="0"/>
              </a:rPr>
              <a:t>Job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Reprezentuje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cykl życia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stan zadania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. To jej "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karta identyfikacyjna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". </a:t>
            </a:r>
            <a:r>
              <a:rPr lang="pl-PL" sz="1600" dirty="0">
                <a:latin typeface="Verbatim"/>
                <a:cs typeface="Arial" panose="020B0604020202020204" pitchFamily="34" charset="0"/>
              </a:rPr>
              <a:t>CoroutineScope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używa </a:t>
            </a:r>
            <a:r>
              <a:rPr lang="pl-PL" sz="1600" dirty="0">
                <a:latin typeface="Verbatim"/>
                <a:cs typeface="Arial" panose="020B0604020202020204" pitchFamily="34" charset="0"/>
              </a:rPr>
              <a:t>Job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do śledzenia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– anulowania, sprawdzania, czy jest aktywna itp.</a:t>
            </a:r>
          </a:p>
          <a:p>
            <a:pPr algn="just"/>
            <a:endParaRPr lang="pl-PL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l-PL" sz="1600" b="1" dirty="0" err="1">
                <a:latin typeface="Verbatim"/>
                <a:cs typeface="Arial" panose="020B0604020202020204" pitchFamily="34" charset="0"/>
              </a:rPr>
              <a:t>CoroutineDispatcher</a:t>
            </a:r>
            <a:r>
              <a:rPr lang="pl-PL" sz="1600" b="1" dirty="0">
                <a:latin typeface="Verbatim"/>
                <a:cs typeface="Arial" panose="020B0604020202020204" pitchFamily="34" charset="0"/>
              </a:rPr>
              <a:t>: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Określa, na którym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wątku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(lub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puli wątków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ma wykonać swoją pracę. To jest jej "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przydział do miejsca pracy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". </a:t>
            </a:r>
          </a:p>
        </p:txBody>
      </p:sp>
    </p:spTree>
    <p:extLst>
      <p:ext uri="{BB962C8B-B14F-4D97-AF65-F5344CB8AC3E}">
        <p14:creationId xmlns:p14="http://schemas.microsoft.com/office/powerpoint/2010/main" val="817422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6D91CA-B3BC-C524-F56B-44AADE904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8AEF27-154A-9D47-DA3F-8DCCDDE7FFA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EB22E04-0440-02EB-5362-B3BC177FDA89}"/>
              </a:ext>
            </a:extLst>
          </p:cNvPr>
          <p:cNvSpPr txBox="1"/>
          <p:nvPr/>
        </p:nvSpPr>
        <p:spPr>
          <a:xfrm>
            <a:off x="1377913" y="3084938"/>
            <a:ext cx="79003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https://write.agrevolution.in/kotlin-coroutines-part-3-coroutine-context-bd5543389190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F05356C-421F-7112-FF92-313B08A0D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908720"/>
            <a:ext cx="5607348" cy="230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0BE40944-84FD-46CB-E82B-432A5831BA2E}"/>
              </a:ext>
            </a:extLst>
          </p:cNvPr>
          <p:cNvSpPr txBox="1"/>
          <p:nvPr/>
        </p:nvSpPr>
        <p:spPr>
          <a:xfrm>
            <a:off x="1033753" y="3410830"/>
            <a:ext cx="811024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latin typeface="Verbatim"/>
                <a:cs typeface="Arial" panose="020B0604020202020204" pitchFamily="34" charset="0"/>
              </a:rPr>
              <a:t>Job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Reprezentuje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cykl życia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stan zadania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. To jej "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karta identyfikacyjna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". </a:t>
            </a:r>
            <a:r>
              <a:rPr lang="pl-PL" sz="1600" dirty="0">
                <a:latin typeface="Verbatim"/>
                <a:cs typeface="Arial" panose="020B0604020202020204" pitchFamily="34" charset="0"/>
              </a:rPr>
              <a:t>CoroutineScope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używa </a:t>
            </a:r>
            <a:r>
              <a:rPr lang="pl-PL" sz="1600" dirty="0">
                <a:latin typeface="Verbatim"/>
                <a:cs typeface="Arial" panose="020B0604020202020204" pitchFamily="34" charset="0"/>
              </a:rPr>
              <a:t>Job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do śledzenia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– anulowania, sprawdzania, czy jest aktywna itp.</a:t>
            </a:r>
          </a:p>
          <a:p>
            <a:pPr algn="just"/>
            <a:endParaRPr lang="pl-PL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l-PL" sz="1600" b="1" dirty="0" err="1">
                <a:latin typeface="Verbatim"/>
                <a:cs typeface="Arial" panose="020B0604020202020204" pitchFamily="34" charset="0"/>
              </a:rPr>
              <a:t>CoroutineDispatcher</a:t>
            </a:r>
            <a:r>
              <a:rPr lang="pl-PL" sz="1600" b="1" dirty="0">
                <a:latin typeface="Verbatim"/>
                <a:cs typeface="Arial" panose="020B0604020202020204" pitchFamily="34" charset="0"/>
              </a:rPr>
              <a:t>: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Określa, na którym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wątku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(lub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puli wątków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ma wykonać swoją pracę. To jest jej "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przydział do miejsca pracy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". </a:t>
            </a:r>
          </a:p>
          <a:p>
            <a:pPr algn="just"/>
            <a:endParaRPr lang="pl-PL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b="1" dirty="0" err="1">
                <a:latin typeface="Verbatim"/>
                <a:cs typeface="Arial" panose="020B0604020202020204" pitchFamily="34" charset="0"/>
              </a:rPr>
              <a:t>Dispatchers.Main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Wątek główny Androida, jedyny, na którym można bezpiecznie modyfikować UI.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b="1" dirty="0">
                <a:latin typeface="Verbatim"/>
                <a:cs typeface="Arial" panose="020B0604020202020204" pitchFamily="34" charset="0"/>
              </a:rPr>
              <a:t>Dispatchers.IO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Pula wątków zoptymalizowana pod operacje wejścia-wyjścia (I/O), takie jak odczyt z sieci czy bazy danych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b="1" dirty="0" err="1">
                <a:latin typeface="Verbatim"/>
                <a:cs typeface="Arial" panose="020B0604020202020204" pitchFamily="34" charset="0"/>
              </a:rPr>
              <a:t>Dispatchers.Default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Pula wątków do zadań intensywnie obciążających procesor (CPU), np. sortowanie dużej listy.</a:t>
            </a:r>
          </a:p>
        </p:txBody>
      </p:sp>
    </p:spTree>
    <p:extLst>
      <p:ext uri="{BB962C8B-B14F-4D97-AF65-F5344CB8AC3E}">
        <p14:creationId xmlns:p14="http://schemas.microsoft.com/office/powerpoint/2010/main" val="39110578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9A6006-079D-2600-D44F-ECE59E631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25BABD-BE97-52C5-E71E-0D609883306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Asynchroniczność</a:t>
            </a:r>
          </a:p>
        </p:txBody>
      </p:sp>
      <p:pic>
        <p:nvPicPr>
          <p:cNvPr id="3" name="bandicam 2025-07-25 16-12-08-993">
            <a:hlinkClick r:id="" action="ppaction://media"/>
            <a:extLst>
              <a:ext uri="{FF2B5EF4-FFF2-40B4-BE49-F238E27FC236}">
                <a16:creationId xmlns:a16="http://schemas.microsoft.com/office/drawing/2014/main" id="{8A53E3D7-0420-98AB-B0EE-D70A69BEED0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491880" y="1124744"/>
            <a:ext cx="2567154" cy="563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401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5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9A6006-079D-2600-D44F-ECE59E631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25BABD-BE97-52C5-E71E-0D609883306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Asynchroniczność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2B18206-A9E6-752B-F310-34AE4E473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596" y="908720"/>
            <a:ext cx="7372404" cy="124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858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21263-E16E-9DEB-0862-714471196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4C4E85-392D-8BCE-C529-F5499B7CCC2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Asynchroniczność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189A52F9-5763-0369-DD56-DA8D9582B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908720"/>
            <a:ext cx="5243310" cy="5591703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5A925C6E-0958-597A-43BD-322C8C0681B4}"/>
              </a:ext>
            </a:extLst>
          </p:cNvPr>
          <p:cNvSpPr/>
          <p:nvPr/>
        </p:nvSpPr>
        <p:spPr>
          <a:xfrm>
            <a:off x="23508" y="958765"/>
            <a:ext cx="3828411" cy="2583734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51B32068-55C0-F9E4-1BFA-016BECF4B256}"/>
              </a:ext>
            </a:extLst>
          </p:cNvPr>
          <p:cNvSpPr txBox="1"/>
          <p:nvPr/>
        </p:nvSpPr>
        <p:spPr>
          <a:xfrm>
            <a:off x="60924" y="987953"/>
            <a:ext cx="37189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Używamy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rememberCoroutineScope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(),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aby uzyskać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zakres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powiązany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cyklem życia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naszego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komponentu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Funkcja jest </a:t>
            </a:r>
            <a:r>
              <a:rPr lang="pl-PL" sz="1600" b="1" i="1" dirty="0" err="1">
                <a:solidFill>
                  <a:schemeClr val="accent4">
                    <a:lumMod val="50000"/>
                  </a:schemeClr>
                </a:solidFill>
              </a:rPr>
              <a:t>Lifecycle-aware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–  automatycznie anuluje wszystkie uruchomione w nim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gdy ten komponent zniknie z ekranu. </a:t>
            </a:r>
          </a:p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Inaczej mówiąc, jest to mechanizm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automatycznego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sprzątania, który zapobiega wyciekom pamięci i błędom.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C777CE38-E8C7-9411-2A5B-3D17DAC8821A}"/>
              </a:ext>
            </a:extLst>
          </p:cNvPr>
          <p:cNvCxnSpPr>
            <a:cxnSpLocks/>
          </p:cNvCxnSpPr>
          <p:nvPr/>
        </p:nvCxnSpPr>
        <p:spPr>
          <a:xfrm>
            <a:off x="3851919" y="1484784"/>
            <a:ext cx="1080121" cy="2160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8575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A983C-8AB4-E7BC-6977-BDE05DB42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79E32E-C6D8-9AF5-F63B-5B388ED66A7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Asynchroniczność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8B9FCFB8-1256-3F8F-972A-0F06142B5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908720"/>
            <a:ext cx="5243310" cy="5591703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655A66AB-0472-EC1A-7D59-B3F0A9C71E1A}"/>
              </a:ext>
            </a:extLst>
          </p:cNvPr>
          <p:cNvSpPr/>
          <p:nvPr/>
        </p:nvSpPr>
        <p:spPr>
          <a:xfrm>
            <a:off x="23508" y="958765"/>
            <a:ext cx="3828411" cy="2583734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239808AE-43EC-31BA-423F-0778214E2490}"/>
              </a:ext>
            </a:extLst>
          </p:cNvPr>
          <p:cNvSpPr txBox="1"/>
          <p:nvPr/>
        </p:nvSpPr>
        <p:spPr>
          <a:xfrm>
            <a:off x="60924" y="987953"/>
            <a:ext cx="37189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Używamy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rememberCoroutineScope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(),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aby uzyskać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zakres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powiązany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cyklem życia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naszego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komponentu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Funkcja jest </a:t>
            </a:r>
            <a:r>
              <a:rPr lang="pl-PL" sz="1600" b="1" i="1" dirty="0" err="1">
                <a:solidFill>
                  <a:schemeClr val="accent4">
                    <a:lumMod val="50000"/>
                  </a:schemeClr>
                </a:solidFill>
              </a:rPr>
              <a:t>Lifecycle-aware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–  automatycznie anuluje wszystkie uruchomione w nim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gdy ten komponent zniknie z ekranu. </a:t>
            </a:r>
          </a:p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Inaczej mówiąc, jest to mechanizm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automatycznego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sprzątania, który zapobiega wyciekom pamięci i błędom.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605BB12F-EED9-C727-414A-89498C4D6534}"/>
              </a:ext>
            </a:extLst>
          </p:cNvPr>
          <p:cNvCxnSpPr>
            <a:cxnSpLocks/>
          </p:cNvCxnSpPr>
          <p:nvPr/>
        </p:nvCxnSpPr>
        <p:spPr>
          <a:xfrm>
            <a:off x="3851919" y="1484784"/>
            <a:ext cx="1080121" cy="2160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D58B1FE5-3A92-5369-E3A4-8F7DD5037DCE}"/>
              </a:ext>
            </a:extLst>
          </p:cNvPr>
          <p:cNvSpPr/>
          <p:nvPr/>
        </p:nvSpPr>
        <p:spPr>
          <a:xfrm>
            <a:off x="107504" y="3820181"/>
            <a:ext cx="3828411" cy="2680242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D87F546E-9CD0-A9C0-43C8-F8A0124124E5}"/>
              </a:ext>
            </a:extLst>
          </p:cNvPr>
          <p:cNvSpPr txBox="1"/>
          <p:nvPr/>
        </p:nvSpPr>
        <p:spPr>
          <a:xfrm>
            <a:off x="144920" y="3849369"/>
            <a:ext cx="37189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Następnie wywołujemy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launch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Jego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głównym celem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jest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inicjowanie operacji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od których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oczekujemy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bezpośredniego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zwrotu wyniku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Działa na zasadzie "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odpal i zapomnij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" (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fire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-and-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forget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). </a:t>
            </a:r>
          </a:p>
          <a:p>
            <a:pPr algn="just"/>
            <a:r>
              <a:rPr lang="pl-PL" sz="1600">
                <a:solidFill>
                  <a:schemeClr val="accent4">
                    <a:lumMod val="50000"/>
                  </a:schemeClr>
                </a:solidFill>
              </a:rPr>
              <a:t>Rozkazujemy nadzorcy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scope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 uruchomienie nowego pracownika (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coroutine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 i zleć mu wykonanie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bloku kodu.</a:t>
            </a:r>
          </a:p>
        </p:txBody>
      </p: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FE28EFA5-0A5C-FEAD-ECFF-140485BDB86C}"/>
              </a:ext>
            </a:extLst>
          </p:cNvPr>
          <p:cNvCxnSpPr>
            <a:cxnSpLocks/>
          </p:cNvCxnSpPr>
          <p:nvPr/>
        </p:nvCxnSpPr>
        <p:spPr>
          <a:xfrm>
            <a:off x="3935915" y="4346200"/>
            <a:ext cx="924117" cy="9091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9943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DF35F2-F13C-3E46-51B3-90821AD38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9F3915-37CF-8E0B-6965-DE1CF26CD87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Asynchroniczność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C23106C8-C57D-03D2-6566-1FEBBDCE6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908720"/>
            <a:ext cx="5243310" cy="5591703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5BAB89DE-C309-D879-04BE-2CAE5556DD8F}"/>
              </a:ext>
            </a:extLst>
          </p:cNvPr>
          <p:cNvSpPr/>
          <p:nvPr/>
        </p:nvSpPr>
        <p:spPr>
          <a:xfrm>
            <a:off x="23508" y="958765"/>
            <a:ext cx="3828411" cy="2583734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58A047AD-43C7-F909-D3B3-96C9E4B139BC}"/>
              </a:ext>
            </a:extLst>
          </p:cNvPr>
          <p:cNvSpPr txBox="1"/>
          <p:nvPr/>
        </p:nvSpPr>
        <p:spPr>
          <a:xfrm>
            <a:off x="60924" y="987953"/>
            <a:ext cx="37189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Używamy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rememberCoroutineScope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(),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aby uzyskać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zakres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powiązany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cyklem życia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naszego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komponentu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Funkcja jest </a:t>
            </a:r>
            <a:r>
              <a:rPr lang="pl-PL" sz="1600" b="1" i="1" dirty="0" err="1">
                <a:solidFill>
                  <a:schemeClr val="accent4">
                    <a:lumMod val="50000"/>
                  </a:schemeClr>
                </a:solidFill>
              </a:rPr>
              <a:t>Lifecycle-aware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–  automatycznie anuluje wszystkie uruchomione w nim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gdy ten komponent zniknie z ekranu. </a:t>
            </a:r>
          </a:p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Inaczej mówiąc, jest to mechanizm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automatycznego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sprzątania, który zapobiega wyciekom pamięci i błędom.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45FC75D9-81F2-80FF-6583-5D18A6ADD8FB}"/>
              </a:ext>
            </a:extLst>
          </p:cNvPr>
          <p:cNvCxnSpPr>
            <a:cxnSpLocks/>
          </p:cNvCxnSpPr>
          <p:nvPr/>
        </p:nvCxnSpPr>
        <p:spPr>
          <a:xfrm>
            <a:off x="3851919" y="1484784"/>
            <a:ext cx="1080121" cy="2160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5A239F9A-83CA-0944-0363-5E0259D90D6E}"/>
              </a:ext>
            </a:extLst>
          </p:cNvPr>
          <p:cNvSpPr/>
          <p:nvPr/>
        </p:nvSpPr>
        <p:spPr>
          <a:xfrm>
            <a:off x="107504" y="3820181"/>
            <a:ext cx="3828411" cy="2680242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884B4760-1FD0-949A-3157-6BE34517C847}"/>
              </a:ext>
            </a:extLst>
          </p:cNvPr>
          <p:cNvSpPr txBox="1"/>
          <p:nvPr/>
        </p:nvSpPr>
        <p:spPr>
          <a:xfrm>
            <a:off x="144920" y="3849369"/>
            <a:ext cx="37189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Następnie wywołujemy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launch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Jego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głównym celem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jest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inicjowanie operacji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od których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oczekujemy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bezpośredniego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zwrotu wyniku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Działa na zasadzie "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odpal i zapomnij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" (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fire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-and-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forget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). </a:t>
            </a:r>
          </a:p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Rozkazujemy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nadzorcuy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(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scope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 uruchomienie nowego pracownika (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coroutine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 i zleć mu wykonanie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bloku kodu.</a:t>
            </a:r>
          </a:p>
        </p:txBody>
      </p: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10DFA89C-D89C-F8B8-D20F-BC71E38DE495}"/>
              </a:ext>
            </a:extLst>
          </p:cNvPr>
          <p:cNvCxnSpPr>
            <a:cxnSpLocks/>
          </p:cNvCxnSpPr>
          <p:nvPr/>
        </p:nvCxnSpPr>
        <p:spPr>
          <a:xfrm>
            <a:off x="3935915" y="4346200"/>
            <a:ext cx="924117" cy="9091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57D7E250-10A5-82FE-FA4B-D40FB1A0BEA5}"/>
              </a:ext>
            </a:extLst>
          </p:cNvPr>
          <p:cNvSpPr/>
          <p:nvPr/>
        </p:nvSpPr>
        <p:spPr>
          <a:xfrm>
            <a:off x="5353005" y="5247670"/>
            <a:ext cx="3683491" cy="1252753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BF71F70C-6C52-22E2-67B5-941C8485B73A}"/>
              </a:ext>
            </a:extLst>
          </p:cNvPr>
          <p:cNvSpPr txBox="1"/>
          <p:nvPr/>
        </p:nvSpPr>
        <p:spPr>
          <a:xfrm>
            <a:off x="5425012" y="5348262"/>
            <a:ext cx="37189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Ponieważ jesteśmy już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wewnątrz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możemy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bez problemu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wywołać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naszą funkcję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suspend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Kompilator jest zadowolony.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C7B2F262-F01E-8A98-203E-1BAD9916015B}"/>
              </a:ext>
            </a:extLst>
          </p:cNvPr>
          <p:cNvCxnSpPr>
            <a:cxnSpLocks/>
          </p:cNvCxnSpPr>
          <p:nvPr/>
        </p:nvCxnSpPr>
        <p:spPr>
          <a:xfrm flipH="1" flipV="1">
            <a:off x="6948264" y="4725144"/>
            <a:ext cx="377380" cy="50271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2546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2A0D7B-1660-6499-F091-D32BB6785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2C382D-8E60-E99C-9C6A-3241AEB6E2D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Asynchroniczność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BB96A42C-FF09-DC85-391E-8F95BF5C0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908720"/>
            <a:ext cx="5243310" cy="5591703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A6E69383-266E-75F2-9746-4AAF2A0D9BC3}"/>
              </a:ext>
            </a:extLst>
          </p:cNvPr>
          <p:cNvSpPr/>
          <p:nvPr/>
        </p:nvSpPr>
        <p:spPr>
          <a:xfrm>
            <a:off x="23508" y="958765"/>
            <a:ext cx="3828411" cy="2583734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D6B4ED9-7E50-D910-E977-2F679C4AA6F1}"/>
              </a:ext>
            </a:extLst>
          </p:cNvPr>
          <p:cNvSpPr txBox="1"/>
          <p:nvPr/>
        </p:nvSpPr>
        <p:spPr>
          <a:xfrm>
            <a:off x="60924" y="987953"/>
            <a:ext cx="37189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Używamy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rememberCoroutineScope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(),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aby uzyskać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zakres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powiązany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cyklem życia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naszego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komponentu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Funkcja jest </a:t>
            </a:r>
            <a:r>
              <a:rPr lang="pl-PL" sz="1600" b="1" i="1" dirty="0" err="1">
                <a:solidFill>
                  <a:schemeClr val="accent4">
                    <a:lumMod val="50000"/>
                  </a:schemeClr>
                </a:solidFill>
              </a:rPr>
              <a:t>Lifecycle-aware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–  automatycznie anuluje wszystkie uruchomione w nim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gdy ten komponent zniknie z ekranu. </a:t>
            </a:r>
          </a:p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Inaczej mówiąc, jest to mechanizm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automatycznego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sprzątania, który zapobiega wyciekom pamięci i błędom.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679F0580-DF6D-610A-91CB-F1B652B1AEF9}"/>
              </a:ext>
            </a:extLst>
          </p:cNvPr>
          <p:cNvCxnSpPr>
            <a:cxnSpLocks/>
          </p:cNvCxnSpPr>
          <p:nvPr/>
        </p:nvCxnSpPr>
        <p:spPr>
          <a:xfrm>
            <a:off x="3851919" y="1484784"/>
            <a:ext cx="1080121" cy="2160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1F9DB1DA-1E1A-D73A-71E8-4697308EA0A0}"/>
              </a:ext>
            </a:extLst>
          </p:cNvPr>
          <p:cNvSpPr/>
          <p:nvPr/>
        </p:nvSpPr>
        <p:spPr>
          <a:xfrm>
            <a:off x="107504" y="3820181"/>
            <a:ext cx="3828411" cy="2680242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E569C682-E7BD-33EB-DB1F-2BD753106090}"/>
              </a:ext>
            </a:extLst>
          </p:cNvPr>
          <p:cNvSpPr txBox="1"/>
          <p:nvPr/>
        </p:nvSpPr>
        <p:spPr>
          <a:xfrm>
            <a:off x="144920" y="3849369"/>
            <a:ext cx="37189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Następnie wywołujemy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launch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Jego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głównym celem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jest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inicjowanie operacji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od których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oczekujemy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bezpośredniego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zwrotu wyniku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Działa na zasadzie "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odpal i zapomnij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" (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fire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-and-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forget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). </a:t>
            </a:r>
          </a:p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Rozkazujemy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nadzorcuy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(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scope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 uruchomienie nowego pracownika (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coroutine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 i zleć mu wykonanie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bloku kodu.</a:t>
            </a:r>
          </a:p>
        </p:txBody>
      </p: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576D5652-F2B2-AD48-4B25-40E741370047}"/>
              </a:ext>
            </a:extLst>
          </p:cNvPr>
          <p:cNvCxnSpPr>
            <a:cxnSpLocks/>
          </p:cNvCxnSpPr>
          <p:nvPr/>
        </p:nvCxnSpPr>
        <p:spPr>
          <a:xfrm>
            <a:off x="3935915" y="4346200"/>
            <a:ext cx="924117" cy="9091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51B0FEC3-A790-358B-D2CF-6C5D0C08B10D}"/>
              </a:ext>
            </a:extLst>
          </p:cNvPr>
          <p:cNvSpPr/>
          <p:nvPr/>
        </p:nvSpPr>
        <p:spPr>
          <a:xfrm>
            <a:off x="5353005" y="5247670"/>
            <a:ext cx="3683491" cy="1252753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DBF557CB-080F-311E-FF45-116C1D7594E5}"/>
              </a:ext>
            </a:extLst>
          </p:cNvPr>
          <p:cNvSpPr txBox="1"/>
          <p:nvPr/>
        </p:nvSpPr>
        <p:spPr>
          <a:xfrm>
            <a:off x="5425012" y="5348262"/>
            <a:ext cx="37189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Ponieważ jesteśmy już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wewnątrz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możemy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bez problemu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wywołać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naszą funkcję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suspend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Kompilator jest zadowolony.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61834788-A25A-5A8F-9AD7-1E251B185603}"/>
              </a:ext>
            </a:extLst>
          </p:cNvPr>
          <p:cNvCxnSpPr>
            <a:cxnSpLocks/>
          </p:cNvCxnSpPr>
          <p:nvPr/>
        </p:nvCxnSpPr>
        <p:spPr>
          <a:xfrm flipH="1" flipV="1">
            <a:off x="6948264" y="4725144"/>
            <a:ext cx="377380" cy="50271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534191AD-99F0-3DFA-3DCF-6A47F9F840E6}"/>
              </a:ext>
            </a:extLst>
          </p:cNvPr>
          <p:cNvSpPr/>
          <p:nvPr/>
        </p:nvSpPr>
        <p:spPr>
          <a:xfrm>
            <a:off x="5658303" y="2822483"/>
            <a:ext cx="3340777" cy="1252753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332F6705-DE68-C26C-5C9F-E92BEA90C9FB}"/>
              </a:ext>
            </a:extLst>
          </p:cNvPr>
          <p:cNvSpPr txBox="1"/>
          <p:nvPr/>
        </p:nvSpPr>
        <p:spPr>
          <a:xfrm>
            <a:off x="5736579" y="2890391"/>
            <a:ext cx="31621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launch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zadba o to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by ta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aktualizacja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odbyła się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bezpieczny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sposób na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wątku głównym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7" name="Łącznik prosty ze strzałką 26">
            <a:extLst>
              <a:ext uri="{FF2B5EF4-FFF2-40B4-BE49-F238E27FC236}">
                <a16:creationId xmlns:a16="http://schemas.microsoft.com/office/drawing/2014/main" id="{AA99FDEE-E451-05CA-D83E-F86C5E05F91B}"/>
              </a:ext>
            </a:extLst>
          </p:cNvPr>
          <p:cNvCxnSpPr>
            <a:cxnSpLocks/>
          </p:cNvCxnSpPr>
          <p:nvPr/>
        </p:nvCxnSpPr>
        <p:spPr>
          <a:xfrm flipH="1">
            <a:off x="5658303" y="4084916"/>
            <a:ext cx="983136" cy="26128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20208AFC-F496-C55A-0C31-E567FA1BE0C7}"/>
              </a:ext>
            </a:extLst>
          </p:cNvPr>
          <p:cNvCxnSpPr>
            <a:cxnSpLocks/>
          </p:cNvCxnSpPr>
          <p:nvPr/>
        </p:nvCxnSpPr>
        <p:spPr>
          <a:xfrm flipH="1">
            <a:off x="5933562" y="4109537"/>
            <a:ext cx="1140426" cy="84254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634764"/>
      </p:ext>
    </p:extLst>
  </p:cSld>
  <p:clrMapOvr>
    <a:masterClrMapping/>
  </p:clrMapOvr>
</p:sld>
</file>

<file path=ppt/theme/theme1.xml><?xml version="1.0" encoding="utf-8"?>
<a:theme xmlns:a="http://schemas.openxmlformats.org/drawingml/2006/main" name="uni.wroc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uni.wroc_01.potx</Template>
  <TotalTime>79883</TotalTime>
  <Pages>0</Pages>
  <Words>1521</Words>
  <Characters>0</Characters>
  <Application>Microsoft Office PowerPoint</Application>
  <PresentationFormat>Pokaz na ekranie (4:3)</PresentationFormat>
  <Lines>0</Lines>
  <Paragraphs>142</Paragraphs>
  <Slides>29</Slides>
  <Notes>29</Notes>
  <HiddenSlides>0</HiddenSlides>
  <MMClips>2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29</vt:i4>
      </vt:variant>
    </vt:vector>
  </HeadingPairs>
  <TitlesOfParts>
    <vt:vector size="35" baseType="lpstr">
      <vt:lpstr>Arial</vt:lpstr>
      <vt:lpstr>Calibri</vt:lpstr>
      <vt:lpstr>Courier New</vt:lpstr>
      <vt:lpstr>Verbatim</vt:lpstr>
      <vt:lpstr>Verdana</vt:lpstr>
      <vt:lpstr>uni.wroc_01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Podręcznik użytkownika  Systemu Identyfikacji Wizualnej   cz. I  dla pracowników naukowych i administracyjnych</dc:title>
  <dc:subject/>
  <dc:creator>tolek</dc:creator>
  <cp:keywords/>
  <dc:description/>
  <cp:lastModifiedBy>Rafał Lewandków</cp:lastModifiedBy>
  <cp:revision>1141</cp:revision>
  <dcterms:modified xsi:type="dcterms:W3CDTF">2025-11-08T15:54:04Z</dcterms:modified>
  <cp:category/>
</cp:coreProperties>
</file>