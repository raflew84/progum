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55"/>
  </p:notesMasterIdLst>
  <p:handoutMasterIdLst>
    <p:handoutMasterId r:id="rId56"/>
  </p:handoutMasterIdLst>
  <p:sldIdLst>
    <p:sldId id="346" r:id="rId2"/>
    <p:sldId id="503" r:id="rId3"/>
    <p:sldId id="504" r:id="rId4"/>
    <p:sldId id="505" r:id="rId5"/>
    <p:sldId id="506" r:id="rId6"/>
    <p:sldId id="546" r:id="rId7"/>
    <p:sldId id="547" r:id="rId8"/>
    <p:sldId id="548" r:id="rId9"/>
    <p:sldId id="507" r:id="rId10"/>
    <p:sldId id="549" r:id="rId11"/>
    <p:sldId id="508" r:id="rId12"/>
    <p:sldId id="550" r:id="rId13"/>
    <p:sldId id="551" r:id="rId14"/>
    <p:sldId id="509" r:id="rId15"/>
    <p:sldId id="510" r:id="rId16"/>
    <p:sldId id="552" r:id="rId17"/>
    <p:sldId id="511" r:id="rId18"/>
    <p:sldId id="512" r:id="rId19"/>
    <p:sldId id="513" r:id="rId20"/>
    <p:sldId id="514" r:id="rId21"/>
    <p:sldId id="515" r:id="rId22"/>
    <p:sldId id="516" r:id="rId23"/>
    <p:sldId id="517" r:id="rId24"/>
    <p:sldId id="518" r:id="rId25"/>
    <p:sldId id="519" r:id="rId26"/>
    <p:sldId id="520" r:id="rId27"/>
    <p:sldId id="521" r:id="rId28"/>
    <p:sldId id="522" r:id="rId29"/>
    <p:sldId id="555" r:id="rId30"/>
    <p:sldId id="523" r:id="rId31"/>
    <p:sldId id="524" r:id="rId32"/>
    <p:sldId id="525" r:id="rId33"/>
    <p:sldId id="526" r:id="rId34"/>
    <p:sldId id="553" r:id="rId35"/>
    <p:sldId id="554" r:id="rId36"/>
    <p:sldId id="527" r:id="rId37"/>
    <p:sldId id="528" r:id="rId38"/>
    <p:sldId id="529" r:id="rId39"/>
    <p:sldId id="530" r:id="rId40"/>
    <p:sldId id="531" r:id="rId41"/>
    <p:sldId id="532" r:id="rId42"/>
    <p:sldId id="533" r:id="rId43"/>
    <p:sldId id="534" r:id="rId44"/>
    <p:sldId id="535" r:id="rId45"/>
    <p:sldId id="536" r:id="rId46"/>
    <p:sldId id="542" r:id="rId47"/>
    <p:sldId id="537" r:id="rId48"/>
    <p:sldId id="540" r:id="rId49"/>
    <p:sldId id="541" r:id="rId50"/>
    <p:sldId id="538" r:id="rId51"/>
    <p:sldId id="543" r:id="rId52"/>
    <p:sldId id="544" r:id="rId53"/>
    <p:sldId id="545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5642B-8012-EBC1-BD0F-393482BD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9A516-FE4E-B958-FE27-3C1300BC0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46908-1A13-18A8-BDD3-97486B79B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53A47-71AC-A495-7848-CD5A47718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1536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513A-C193-4A35-70C3-C3B491C9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8C9FE-10E1-976A-3D5A-E6563C158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BFCA0-BB5F-E058-DBF4-993A0E20A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1D54B-732E-E680-25B0-8D923113D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6309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A18D-E638-1822-B40F-E4EFB73F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F4EE2-7394-8BEF-2D8D-4E864D8A5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3324D-FD1D-CA3F-3060-E04D2D8CC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CA8D2-34FE-0FC4-F5A4-27DBA5FEA9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0303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8E9A-7D81-E976-5E83-5E64DE45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E0BF0-6492-EB31-DAD0-246C167AF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EF8F9-E899-5AE3-82D0-9C2EFC780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2061B-6154-2572-2E14-43B2D3D4A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1301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31E6-9212-F342-21E5-39FD5224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38B9F-5E65-8262-6CAE-5A2B27696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AAECB-796D-3F73-AFE4-D140E34F4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F168C-0DC3-D8EE-AF38-B901D37292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6232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5BFE-5159-F3B8-768A-8C6849DE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C2980-8282-EE9A-C3AD-A13B54602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DA051-1999-F9AA-546C-98AE2B414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7AF38-6BAE-C345-C4E2-9DA05762C2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0630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B8EE-DE79-0B1C-5D83-902D2A0E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C9240-F741-478B-05DE-4EBE47E76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70B70-7292-C9CE-C51F-B72496A3F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5EE6C-E5E7-BC3C-70E0-73828DE19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42312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64E9F-61F1-3611-26FD-3D5D83DB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5F3A7-0D60-979B-C6C0-83A4B1A5E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21AB2-CA56-B389-A9C9-417364BDA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5FAA0-BC85-3C11-BCAB-94DA9F78B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9885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E2DE-1A15-6F12-F425-4B432735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63D58-0791-6085-0B6B-240CF85D2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E0254-6388-B0D8-90B7-40D2551FC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03986-FCE6-D79D-CA8F-8A7C429C5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0818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454D-FD06-25F9-00C0-A5FDC19E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86DDF-73DF-7640-2DD2-07C5542CC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A0BA9-2D6E-742B-CE3E-C684A0C47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BBA0E-7B8A-CF39-AAF3-D8D15A331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0526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34AB5-4AE2-5069-0741-51798732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9244B-20B8-9151-C7F6-DF70501A3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63C95-76B3-4BAD-BFFB-96D5B50D2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0C4B3-E2DA-8047-9F60-5AF5B23DF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8138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9F01-16A1-3B3C-3B49-05201EE7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74AA9-59D7-4EC4-953D-E20BCF9A7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DC21F-AE73-094E-6A42-4F75512B0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9A46F-F95E-EC28-695C-1D561ED8C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1463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BA73-D15A-654B-8237-6BB607B6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3AD1E-B04A-6064-E39E-9B0AC164B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F948B-B245-52F1-9BD7-E8918F5EE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1A400-3465-F715-6EA6-1031D0DDB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4105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2201-4368-4BF6-7C46-1670ED33C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43DFB-C0C3-E90C-A357-B72293D1A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1298F-E145-D79D-CEC9-3AD1CC85C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D01C-8394-5B4E-A462-21F332F20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89190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5D13-3014-9040-8393-89B95B42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89587-624B-FB98-A787-D040A30A0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1C33CE-C14A-E2EA-DD30-FB5C98BFC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37A2D-3811-8982-2696-11FF5DC5E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0101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4568E-A1E0-2B0D-8E1A-5796FA3B5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487EA-6462-ABAF-B18B-BC5E5C9CB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70ABC-BBE1-BD0F-8A8B-05C27EEB0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1B001-4619-EBF0-D958-04A3FA103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750289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CA66-507D-7232-8A24-7CD9D718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4716E-01A1-8BAE-33DD-89EE946C3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8131B-0A46-A6DC-F4A7-A4B680ABC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C7F85-3F73-D7A4-922B-6032C107C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76419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8811-5F5E-D86D-DDBF-5A689264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2E00D-CC93-71B2-C97D-7EE7DBC8B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C00AD-37F3-1171-F7CF-AF3772500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5FF2A-94F4-1249-47B1-F74D49D7B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9948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CEAC-7A93-6901-3A83-3A503D579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5B5F4-1BCC-ACA6-3D50-56584CFD3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42355-7776-6AF3-2B73-2C77CABA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1AF6D-F18B-1120-FABD-8E40962AE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5226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BD967-D659-5CF5-4FF7-6FC9174F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472DE-6B28-CF5F-C792-0E9E11605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F3FFD-7EAB-2E0E-4F1F-EA849EC47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B1AC2-3A7B-680B-E577-380961320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6197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64E4-3C21-57B4-6EC7-86AABF4F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0DFC2-2BCD-659D-62DE-B19D5EBCB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81A2A5-D598-5396-10B5-5E291469A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A89B-8206-D4ED-653A-99BE2BCF5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281893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4BCBA-5514-1AA6-C9D5-C8486C34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9CBF8-F692-0750-84FD-F2A27359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2B320E-CCE9-AF65-4796-B74CF25D9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A9DA-7F7B-0DA6-93B0-121A235A5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0637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3396-B9D6-0859-28B6-559E3136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B600A-EF87-1C86-C85B-CFDCEE028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719FA-C073-81BD-CAC9-365A9D3B1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C3F5D-3805-5B20-CA98-D28CCE00E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3805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4693-D067-1182-728D-E359D503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D8102-DC82-5D62-A0F9-F8987D9C2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16C85-8516-61D7-6830-8CBB5BC1B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606E8-851C-32DB-2F45-65362BC63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2227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1EEB9-9FE0-18F1-10FD-8E7F6681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003C4-3464-2F0D-C87C-FC46F2644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A8AA5-F081-32AB-BAB3-948B7455F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BB8DA-0D26-4108-F384-E4311DA3C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99539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4726B-B57F-04FE-B331-61A5C401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4F155-1FB2-DFBC-D888-83C52EF4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842B6-824D-D39C-305C-C3148E30E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7682D-7240-1DD0-7DA4-A033A8F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92227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DEAF-32A1-E308-0AE0-47CB7749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83100-3541-CE90-9B91-F9FD106AA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17F47-733B-30D8-158B-C09DDF40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E560F-E66A-7C82-0005-F827A4DCFA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06762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009D-C82C-533A-9A75-F6214169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F7777-600E-E9DF-78C3-7F0E68477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E5366-C9FC-7A2E-D309-76B3CAD84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49637-281F-E415-7CB5-804C4652A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3456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C0DD-7D09-4EC1-5570-07BA2846C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02FAC-2995-D2FE-4665-119954C42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D02E8-12F2-4D3D-0305-21C54D900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35D4E-25B6-4D98-1D93-F402ACA8F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74163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4650-7C23-2F3F-CB1F-10AAE420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38214-43F2-CCCD-023E-4355D9A2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AA909-F33A-EEF4-32D8-C02CA4699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098C-B9E9-AFF3-7AAF-5C4D58EC9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29387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CBF9-726B-082D-F9E0-8E21D095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7DF36-F58E-FCA2-5D3A-9BEA24ECC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5DED7-0FE7-0B8F-A1BA-C5CBEF859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69070-86DE-51F2-7C11-D3802C566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37573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EFDE-1C03-007E-62E8-0E60CDE2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7C369-B256-C0D2-FD4A-5FCDEFBDF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FCE28-9B54-99F0-B26E-F5592FC1A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36A0E-B594-D0F1-DE07-4BF0ADEDF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0755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7D02-0E1F-7221-64E7-AF1E7524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30C60-9B78-A959-838C-0E6D5C912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85B3B-F485-FD20-2601-136A1C2E0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C5281-9B19-84DB-BB24-5AFE24A9C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62663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E4D92-9E64-A5BB-F542-EA6AD8D2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541C0-9560-A4C5-A05D-88D72680D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5AEAA3-AADD-262A-F6F8-DC81CFDAD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6D37E-9C3D-5E13-6321-BB500D480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28847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440F-455E-3157-10C7-577356580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01106-A987-0D7E-3DE7-158961AFA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803D4-6ACB-9DDD-D2FA-2CC51FA35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8DF0C-DD3C-BD57-5CA0-4AAD9FFCF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17185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F4576-39CE-90C0-7EAF-34B310061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2C8D0-1B74-54CA-668B-C9E79DD58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1FA02A-9D73-5270-F8D6-81C429271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F6E7A-3760-5A07-995A-01EB7FA26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49133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67F6-B20C-8FB2-B2DA-467F2498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804E1-B239-CACB-3E79-7DA4D68E1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1029F-39BB-5344-9300-9A81A68F0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81E64-AB81-103B-0448-723045867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43281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7C07E-5A33-1F5D-CF87-8A92A038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10579-67AB-6639-27C3-950E8E108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CB52B-EEC3-18BA-0D55-FBC4AE332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2EA1A-CAAD-A3E2-A583-D9DEE2FAB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1908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09C7-3E3D-BA39-A80C-601A06D1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EBFB8-586E-0C38-D1F2-38E2BC504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8A059-005E-AC6F-C25F-BF48C3FF1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31C7A-5365-9954-E04C-FBAE90D2F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98991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89D3D-9336-1510-6C70-BBFB2B6F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5A58F-74A6-93BD-07E3-9B21D9A9F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B9061-4DAF-1448-B70B-288C7CB76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11335-7A9A-9368-7000-E56E9F315A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1024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8DC4-FC0E-6F46-76E6-2CFD2013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3CFEA-0643-386E-6925-41952E961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C6DCC8-22D7-5630-6623-3A7374EEA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CA9B8-51DB-3CAC-3E6F-38CCA50D80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07914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E96F-7EA4-D671-2553-4C8BB1CF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183DA-222D-E67D-7C5D-4613A50B9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C8787-3C14-2ABD-14EE-79D56604D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3F2DD-F006-9757-0725-684DD6F35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449095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3B3C-8BF6-6A20-727F-5B9075160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4E854-EA3A-E872-C187-FEB15E55A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D4362-2877-4FC3-5535-F4B4305E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C1959-05BA-365E-5BBE-84BC5F8EF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88420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2C15-531F-29BB-F7F7-86053B72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3A654-101C-C9D5-B83A-21D55A232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8A8ED-5E8C-445B-3F7E-6C0B4027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B1EB9-9515-DD86-EBAE-9B5077711E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42669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2859E-D7E2-C923-C1B9-1E702587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E2C3F-CE0F-A0E2-880A-03FEB32A4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1766D-9D4E-380A-B76B-24A485698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5952F-CA70-0A10-EDD1-E9350D3B9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918412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81B2E-F647-5E2D-7C20-1D5ED4C8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5AED6-C71D-9BCE-0FB8-9FA7D2856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6390C-94D2-708A-D541-A081D2960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51C6B-26BA-9A70-FCF9-01B0A1BC6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44856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6701C-06EF-1A52-D11A-266403001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9EDE1-7CFA-E1C1-6CA7-7CE89770B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B31461-B739-DF8B-C328-B4F6FC034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F49EE-8EFF-2CBB-8902-8DA976DAC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153330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177D-5500-06C1-4D55-4863AD1B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4EE10-CF01-5D12-C5E8-2B07B6FCC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31599-BC31-5C91-4EB9-20EE90F1D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2B310-B0E2-1E0A-5A89-8827DE7C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438343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7F0D5-8C89-830A-96E8-19ED5805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061EB5-9C6F-6823-8A16-C79E1083B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8BE15-809F-37AE-C3CD-46FFF8C18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A34FB-C3F3-C650-1CA8-33C54A587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93762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AB0F-8545-81B4-00CD-CBA6FE1F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B53F8-1748-83A4-787A-2B0E2F03E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944A1-1288-EA1D-C9B4-D4FD59B94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39AB9-49B1-7C65-8A16-80E91C724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63378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3F27-344C-19CA-54F1-A5369FE2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FFF2A-A219-4BC5-560A-142A0EC0D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E7CAB-8E6E-B52D-41C2-685DCF4DD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05833-0FB3-2C2E-3500-BF71C7372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5567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8.04.2026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6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Obiekty i Interfejsy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>
            <a:extLst>
              <a:ext uri="{FF2B5EF4-FFF2-40B4-BE49-F238E27FC236}">
                <a16:creationId xmlns:a16="http://schemas.microsoft.com/office/drawing/2014/main" id="{83A61E0A-FE1E-026D-911A-886AF724A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626" y="2526572"/>
            <a:ext cx="6228180" cy="114994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1B720C-B788-DF92-9E3D-AC0B43E9FAEF}"/>
              </a:ext>
            </a:extLst>
          </p:cNvPr>
          <p:cNvSpPr txBox="1"/>
          <p:nvPr/>
        </p:nvSpPr>
        <p:spPr>
          <a:xfrm>
            <a:off x="1033753" y="796886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 </a:t>
            </a:r>
            <a:r>
              <a:rPr lang="pl-PL" sz="1600" b="1" dirty="0" err="1"/>
              <a:t>object</a:t>
            </a:r>
            <a:r>
              <a:rPr lang="pl-PL" sz="1600" dirty="0"/>
              <a:t> pozwala na jednoczesne zdefiniowanie klasy i utworzenie jej instancji. </a:t>
            </a:r>
          </a:p>
          <a:p>
            <a:pPr algn="just"/>
            <a:r>
              <a:rPr lang="pl-PL" sz="1600" dirty="0"/>
              <a:t>Jest to przydatne w dwóch głównych scenariuszach: tworzeniu </a:t>
            </a:r>
            <a:r>
              <a:rPr lang="pl-PL" sz="1600" b="1" dirty="0"/>
              <a:t>singletonów</a:t>
            </a:r>
            <a:r>
              <a:rPr lang="pl-PL" sz="1600" dirty="0"/>
              <a:t> oraz </a:t>
            </a:r>
            <a:r>
              <a:rPr lang="pl-PL" sz="1600" b="1" dirty="0"/>
              <a:t>anonimowych obiektów</a:t>
            </a:r>
            <a:r>
              <a:rPr lang="pl-PL" sz="1600" dirty="0"/>
              <a:t>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273FCFA-8F16-BE0F-6EA5-24A8CC5510F0}"/>
              </a:ext>
            </a:extLst>
          </p:cNvPr>
          <p:cNvCxnSpPr>
            <a:cxnSpLocks/>
          </p:cNvCxnSpPr>
          <p:nvPr/>
        </p:nvCxnSpPr>
        <p:spPr>
          <a:xfrm>
            <a:off x="2490416" y="2439779"/>
            <a:ext cx="738079" cy="31098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17CEE7F3-054A-31CC-CFE1-58E98DB368A5}"/>
              </a:ext>
            </a:extLst>
          </p:cNvPr>
          <p:cNvSpPr txBox="1"/>
          <p:nvPr/>
        </p:nvSpPr>
        <p:spPr>
          <a:xfrm>
            <a:off x="1885121" y="1777220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8A85CA74-D56D-E701-81B7-64AD166588D1}"/>
              </a:ext>
            </a:extLst>
          </p:cNvPr>
          <p:cNvCxnSpPr>
            <a:cxnSpLocks/>
          </p:cNvCxnSpPr>
          <p:nvPr/>
        </p:nvCxnSpPr>
        <p:spPr>
          <a:xfrm>
            <a:off x="2296675" y="318098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480D4D3-D1DE-FCFF-AAD9-A576504A8086}"/>
              </a:ext>
            </a:extLst>
          </p:cNvPr>
          <p:cNvSpPr txBox="1"/>
          <p:nvPr/>
        </p:nvSpPr>
        <p:spPr>
          <a:xfrm>
            <a:off x="1280130" y="284453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i="1" dirty="0" err="1">
                <a:solidFill>
                  <a:schemeClr val="accent5">
                    <a:lumMod val="75000"/>
                  </a:schemeClr>
                </a:solidFill>
              </a:rPr>
              <a:t>dummy</a:t>
            </a:r>
            <a:endParaRPr lang="pl-PL" sz="1800" b="1" i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pl-PL" sz="1800" b="1" i="1" dirty="0">
                <a:solidFill>
                  <a:schemeClr val="accent5">
                    <a:lumMod val="75000"/>
                  </a:schemeClr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C767E-04D6-7149-BB47-E280A44F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>
            <a:extLst>
              <a:ext uri="{FF2B5EF4-FFF2-40B4-BE49-F238E27FC236}">
                <a16:creationId xmlns:a16="http://schemas.microsoft.com/office/drawing/2014/main" id="{59BBD8FE-A1A0-B90F-7DD2-567225B40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626" y="2526572"/>
            <a:ext cx="6228180" cy="11499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7A8C2C-C185-3FE8-11F6-3BA3E930FD2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2323406-2089-C014-1156-431383014717}"/>
              </a:ext>
            </a:extLst>
          </p:cNvPr>
          <p:cNvSpPr txBox="1"/>
          <p:nvPr/>
        </p:nvSpPr>
        <p:spPr>
          <a:xfrm>
            <a:off x="1033753" y="796886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Słowo kluczowe </a:t>
            </a:r>
            <a:r>
              <a:rPr lang="pl-PL" sz="1600" b="1" dirty="0" err="1"/>
              <a:t>object</a:t>
            </a:r>
            <a:r>
              <a:rPr lang="pl-PL" sz="1600" dirty="0"/>
              <a:t> pozwala na jednoczesne zdefiniowanie klasy i utworzenie jej instancji. </a:t>
            </a:r>
          </a:p>
          <a:p>
            <a:pPr algn="just"/>
            <a:r>
              <a:rPr lang="pl-PL" sz="1600" dirty="0"/>
              <a:t>Jest to przydatne w dwóch głównych scenariuszach: tworzeniu </a:t>
            </a:r>
            <a:r>
              <a:rPr lang="pl-PL" sz="1600" b="1" dirty="0"/>
              <a:t>singletonów</a:t>
            </a:r>
            <a:r>
              <a:rPr lang="pl-PL" sz="1600" dirty="0"/>
              <a:t> oraz </a:t>
            </a:r>
            <a:r>
              <a:rPr lang="pl-PL" sz="1600" b="1" dirty="0"/>
              <a:t>anonimowych obiektów</a:t>
            </a:r>
            <a:r>
              <a:rPr lang="pl-PL" sz="1600" dirty="0"/>
              <a:t>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C4EA2DF8-5D5C-8DC4-16E1-7AFD7AC19A7E}"/>
              </a:ext>
            </a:extLst>
          </p:cNvPr>
          <p:cNvCxnSpPr>
            <a:cxnSpLocks/>
          </p:cNvCxnSpPr>
          <p:nvPr/>
        </p:nvCxnSpPr>
        <p:spPr>
          <a:xfrm>
            <a:off x="2490416" y="2439779"/>
            <a:ext cx="738079" cy="31098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E9C7F01-207F-5C6E-75C5-0735631FFBBB}"/>
              </a:ext>
            </a:extLst>
          </p:cNvPr>
          <p:cNvSpPr txBox="1"/>
          <p:nvPr/>
        </p:nvSpPr>
        <p:spPr>
          <a:xfrm>
            <a:off x="1885121" y="1777220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76D0F0E-9FE7-7A35-22CC-001689149C26}"/>
              </a:ext>
            </a:extLst>
          </p:cNvPr>
          <p:cNvCxnSpPr>
            <a:cxnSpLocks/>
          </p:cNvCxnSpPr>
          <p:nvPr/>
        </p:nvCxnSpPr>
        <p:spPr>
          <a:xfrm>
            <a:off x="2296675" y="318098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8FEFA4C-D8A4-C408-D114-E5E67BDA0F93}"/>
              </a:ext>
            </a:extLst>
          </p:cNvPr>
          <p:cNvSpPr txBox="1"/>
          <p:nvPr/>
        </p:nvSpPr>
        <p:spPr>
          <a:xfrm>
            <a:off x="1280130" y="2844539"/>
            <a:ext cx="1005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i="1" dirty="0" err="1">
                <a:solidFill>
                  <a:schemeClr val="accent5">
                    <a:lumMod val="75000"/>
                  </a:schemeClr>
                </a:solidFill>
              </a:rPr>
              <a:t>dummy</a:t>
            </a:r>
            <a:endParaRPr lang="pl-PL" sz="1800" b="1" i="1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pl-PL" sz="1800" b="1" i="1" dirty="0">
                <a:solidFill>
                  <a:schemeClr val="accent5">
                    <a:lumMod val="75000"/>
                  </a:schemeClr>
                </a:solidFill>
              </a:rPr>
              <a:t>data</a:t>
            </a: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42994CAC-1056-16AF-5B0B-10EF63A2B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731" y="4725144"/>
            <a:ext cx="4816300" cy="1462590"/>
          </a:xfrm>
          <a:prstGeom prst="rect">
            <a:avLst/>
          </a:prstGeom>
        </p:spPr>
      </p:pic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E03CA45E-A986-B20D-3EE8-F1AC0AF89D61}"/>
              </a:ext>
            </a:extLst>
          </p:cNvPr>
          <p:cNvCxnSpPr>
            <a:cxnSpLocks/>
          </p:cNvCxnSpPr>
          <p:nvPr/>
        </p:nvCxnSpPr>
        <p:spPr>
          <a:xfrm>
            <a:off x="3923928" y="4473534"/>
            <a:ext cx="1083783" cy="27785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6F5ED649-BDB3-34D9-9531-79403983D30D}"/>
              </a:ext>
            </a:extLst>
          </p:cNvPr>
          <p:cNvSpPr txBox="1"/>
          <p:nvPr/>
        </p:nvSpPr>
        <p:spPr>
          <a:xfrm>
            <a:off x="3086995" y="3814585"/>
            <a:ext cx="1762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odwołanie się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do obiektu</a:t>
            </a: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5070E1B-013B-F8C0-6F96-B985C4E5D8A4}"/>
              </a:ext>
            </a:extLst>
          </p:cNvPr>
          <p:cNvSpPr txBox="1"/>
          <p:nvPr/>
        </p:nvSpPr>
        <p:spPr>
          <a:xfrm>
            <a:off x="5121168" y="3669734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operator</a:t>
            </a:r>
          </a:p>
          <a:p>
            <a:pPr algn="ctr"/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dereferencji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E2ED42D7-9E93-A2CE-CA4E-B2C7A8342525}"/>
              </a:ext>
            </a:extLst>
          </p:cNvPr>
          <p:cNvSpPr txBox="1"/>
          <p:nvPr/>
        </p:nvSpPr>
        <p:spPr>
          <a:xfrm>
            <a:off x="1050934" y="6187734"/>
            <a:ext cx="7913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Możemy uzyskiwać dostęp do właściwości </a:t>
            </a:r>
            <a:r>
              <a:rPr lang="pl-PL" sz="1600" dirty="0" err="1"/>
              <a:t>dummyData</a:t>
            </a:r>
            <a:r>
              <a:rPr lang="pl-PL" sz="1600" dirty="0"/>
              <a:t> </a:t>
            </a:r>
            <a:r>
              <a:rPr lang="pl-PL" sz="1600" b="1" dirty="0"/>
              <a:t>bez potrzeby jawnego tworzenia instancji klasy</a:t>
            </a:r>
            <a:r>
              <a:rPr lang="pl-PL" sz="1600" dirty="0"/>
              <a:t>.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78D30923-881A-D0EE-0745-3B031DCC7E2F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5867526" y="4316065"/>
            <a:ext cx="504674" cy="5647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A30C1BA2-E723-275B-E20A-63739F382FEB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7055997" y="4316766"/>
            <a:ext cx="739448" cy="4087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29270F08-EC75-2141-2B16-4F392C369306}"/>
              </a:ext>
            </a:extLst>
          </p:cNvPr>
          <p:cNvSpPr txBox="1"/>
          <p:nvPr/>
        </p:nvSpPr>
        <p:spPr>
          <a:xfrm>
            <a:off x="6863138" y="3670435"/>
            <a:ext cx="186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odwołanie się 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do właściwości</a:t>
            </a:r>
          </a:p>
        </p:txBody>
      </p:sp>
    </p:spTree>
    <p:extLst>
      <p:ext uri="{BB962C8B-B14F-4D97-AF65-F5344CB8AC3E}">
        <p14:creationId xmlns:p14="http://schemas.microsoft.com/office/powerpoint/2010/main" val="3518681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5ED04-D91F-FA66-614A-0551933A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D61E60-FE3D-336A-AC41-02502501F96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6B0E948-65CB-DF10-2404-FE5C735980E2}"/>
              </a:ext>
            </a:extLst>
          </p:cNvPr>
          <p:cNvSpPr txBox="1"/>
          <p:nvPr/>
        </p:nvSpPr>
        <p:spPr>
          <a:xfrm>
            <a:off x="1043608" y="8367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anonimowe </a:t>
            </a:r>
            <a:r>
              <a:rPr lang="pl-PL" sz="1600" dirty="0"/>
              <a:t>można wykorzystać do </a:t>
            </a:r>
            <a:r>
              <a:rPr lang="pl-PL" sz="1600" b="1" dirty="0"/>
              <a:t>jednorazowej</a:t>
            </a:r>
            <a:r>
              <a:rPr lang="pl-PL" sz="1600" dirty="0"/>
              <a:t> implementacji interfejsów lub klas abstrakcyjnych.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16982D9-6660-4159-5475-3770D5E93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5"/>
            <a:ext cx="3105240" cy="1075180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C2062F9-1781-14D8-9F8D-AEF2ECDD1ABD}"/>
              </a:ext>
            </a:extLst>
          </p:cNvPr>
          <p:cNvSpPr txBox="1"/>
          <p:nvPr/>
        </p:nvSpPr>
        <p:spPr>
          <a:xfrm>
            <a:off x="2618548" y="1872531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wymagana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8DC2B101-FFE4-6FFB-DB99-07DCC6A2A883}"/>
              </a:ext>
            </a:extLst>
          </p:cNvPr>
          <p:cNvCxnSpPr>
            <a:cxnSpLocks/>
          </p:cNvCxnSpPr>
          <p:nvPr/>
        </p:nvCxnSpPr>
        <p:spPr>
          <a:xfrm>
            <a:off x="4355221" y="220486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447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6575A0-38F3-FCC2-37E7-26FCCF51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A2DAE0-496B-46A0-098A-F239670EAF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432431-5D12-15CD-B9C2-BF9766EDF0BB}"/>
              </a:ext>
            </a:extLst>
          </p:cNvPr>
          <p:cNvSpPr txBox="1"/>
          <p:nvPr/>
        </p:nvSpPr>
        <p:spPr>
          <a:xfrm>
            <a:off x="1043608" y="8367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anonimowe </a:t>
            </a:r>
            <a:r>
              <a:rPr lang="pl-PL" sz="1600" dirty="0"/>
              <a:t>można wykorzystać do </a:t>
            </a:r>
            <a:r>
              <a:rPr lang="pl-PL" sz="1600" b="1" dirty="0"/>
              <a:t>jednorazowej</a:t>
            </a:r>
            <a:r>
              <a:rPr lang="pl-PL" sz="1600" dirty="0"/>
              <a:t> implementacji interfejsów lub klas abstrakcyjnych.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C9549AD-D965-7531-A411-917BA8ED4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5"/>
            <a:ext cx="3105240" cy="107518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076172C7-2527-6DE1-6448-21DB16DF8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4869160"/>
            <a:ext cx="4011563" cy="1347337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27A5045-E106-8238-7802-5A9F50C795A0}"/>
              </a:ext>
            </a:extLst>
          </p:cNvPr>
          <p:cNvSpPr txBox="1"/>
          <p:nvPr/>
        </p:nvSpPr>
        <p:spPr>
          <a:xfrm>
            <a:off x="2618548" y="1872531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wymagana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AEB65FEE-CB19-488A-184B-07980986D2A5}"/>
              </a:ext>
            </a:extLst>
          </p:cNvPr>
          <p:cNvCxnSpPr>
            <a:cxnSpLocks/>
          </p:cNvCxnSpPr>
          <p:nvPr/>
        </p:nvCxnSpPr>
        <p:spPr>
          <a:xfrm>
            <a:off x="4355221" y="220486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5A1E61E-C597-6517-8FD6-CF4BDB0C54CD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590095" y="4369460"/>
            <a:ext cx="549857" cy="5213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90FD3CD1-D737-B159-BF01-1CBA82EAB24A}"/>
              </a:ext>
            </a:extLst>
          </p:cNvPr>
          <p:cNvSpPr txBox="1"/>
          <p:nvPr/>
        </p:nvSpPr>
        <p:spPr>
          <a:xfrm>
            <a:off x="1209760" y="4077072"/>
            <a:ext cx="2380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obiektu anonimowego 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293AB751-1D79-7443-2312-E9F43F5DAB44}"/>
              </a:ext>
            </a:extLst>
          </p:cNvPr>
          <p:cNvSpPr/>
          <p:nvPr/>
        </p:nvSpPr>
        <p:spPr>
          <a:xfrm>
            <a:off x="1187624" y="4077072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312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0B601-808B-CD83-6F21-B7217D80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C3244B-22EA-27E0-38CF-C46725D6087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2E6CB80-0191-0128-3793-2A0C8E7CFFBB}"/>
              </a:ext>
            </a:extLst>
          </p:cNvPr>
          <p:cNvSpPr txBox="1"/>
          <p:nvPr/>
        </p:nvSpPr>
        <p:spPr>
          <a:xfrm>
            <a:off x="1043608" y="8367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anonimowe </a:t>
            </a:r>
            <a:r>
              <a:rPr lang="pl-PL" sz="1600" dirty="0"/>
              <a:t>można wykorzystać do </a:t>
            </a:r>
            <a:r>
              <a:rPr lang="pl-PL" sz="1600" b="1" dirty="0"/>
              <a:t>jednorazowej</a:t>
            </a:r>
            <a:r>
              <a:rPr lang="pl-PL" sz="1600" dirty="0"/>
              <a:t> implementacji interfejsów lub klas abstrakcyjnych.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9675316-DBE6-6598-716F-A94735063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5"/>
            <a:ext cx="3105240" cy="107518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AA85AC67-F867-034A-121B-8D770538D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4869160"/>
            <a:ext cx="4011563" cy="1347337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55D633D8-05B3-52C6-0B41-7F67140F8728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>
          <a:xfrm>
            <a:off x="4571991" y="3856755"/>
            <a:ext cx="277599" cy="10124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71A6585-44D4-C928-7DBE-D1BD285EBE23}"/>
              </a:ext>
            </a:extLst>
          </p:cNvPr>
          <p:cNvSpPr txBox="1"/>
          <p:nvPr/>
        </p:nvSpPr>
        <p:spPr>
          <a:xfrm>
            <a:off x="2618548" y="1872531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wymagana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E1AEB487-A9D0-0A9C-52E8-9FB228D5D734}"/>
              </a:ext>
            </a:extLst>
          </p:cNvPr>
          <p:cNvCxnSpPr>
            <a:cxnSpLocks/>
          </p:cNvCxnSpPr>
          <p:nvPr/>
        </p:nvCxnSpPr>
        <p:spPr>
          <a:xfrm>
            <a:off x="4355221" y="220486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45ACEB0-903F-A094-0DF1-39641615AC4D}"/>
              </a:ext>
            </a:extLst>
          </p:cNvPr>
          <p:cNvSpPr txBox="1"/>
          <p:nvPr/>
        </p:nvSpPr>
        <p:spPr>
          <a:xfrm>
            <a:off x="2851944" y="3249853"/>
            <a:ext cx="346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Utworzenie i zainicjowanie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obiektu anonimowego 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F077968E-F6AB-F4ED-29AF-DDD209D55F77}"/>
              </a:ext>
            </a:extLst>
          </p:cNvPr>
          <p:cNvSpPr/>
          <p:nvPr/>
        </p:nvSpPr>
        <p:spPr>
          <a:xfrm>
            <a:off x="2841407" y="3271980"/>
            <a:ext cx="346116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A2C96DB3-1D65-BAFD-FF04-C6004EA97667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590095" y="4369460"/>
            <a:ext cx="549857" cy="5213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77A1DD97-19F9-ECF0-2434-818E933269F9}"/>
              </a:ext>
            </a:extLst>
          </p:cNvPr>
          <p:cNvSpPr txBox="1"/>
          <p:nvPr/>
        </p:nvSpPr>
        <p:spPr>
          <a:xfrm>
            <a:off x="1209760" y="4077072"/>
            <a:ext cx="2380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obiektu anonimowego 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C124E052-D5E9-1FF6-461C-90982EBAD82D}"/>
              </a:ext>
            </a:extLst>
          </p:cNvPr>
          <p:cNvSpPr/>
          <p:nvPr/>
        </p:nvSpPr>
        <p:spPr>
          <a:xfrm>
            <a:off x="1187624" y="4077072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597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E2BF2-2EB2-EFB9-D972-4A65C721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AE3F6B-D408-3D47-AD24-6FC39A5936C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4365D94-DBA6-9E95-42E6-1C7CCD7A6C94}"/>
              </a:ext>
            </a:extLst>
          </p:cNvPr>
          <p:cNvSpPr txBox="1"/>
          <p:nvPr/>
        </p:nvSpPr>
        <p:spPr>
          <a:xfrm>
            <a:off x="1043608" y="8367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anonimowe </a:t>
            </a:r>
            <a:r>
              <a:rPr lang="pl-PL" sz="1600" dirty="0"/>
              <a:t>można wykorzystać do </a:t>
            </a:r>
            <a:r>
              <a:rPr lang="pl-PL" sz="1600" b="1" dirty="0"/>
              <a:t>jednorazowej</a:t>
            </a:r>
            <a:r>
              <a:rPr lang="pl-PL" sz="1600" dirty="0"/>
              <a:t> implementacji interfejsów lub klas abstrakcyjnych.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07B3BEF-4EC5-0B31-2E0C-8A7D50ED3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5"/>
            <a:ext cx="3105240" cy="107518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28BDB1AE-9DB6-FC5D-DE93-B5675742B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4869160"/>
            <a:ext cx="4011563" cy="1347337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E75C11B6-2669-C6EC-9A83-3FF16C07ACAD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>
          <a:xfrm>
            <a:off x="4571991" y="3856755"/>
            <a:ext cx="277599" cy="10124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5612FE6-832F-79D6-9DCC-BC81ED3D51DB}"/>
              </a:ext>
            </a:extLst>
          </p:cNvPr>
          <p:cNvSpPr txBox="1"/>
          <p:nvPr/>
        </p:nvSpPr>
        <p:spPr>
          <a:xfrm>
            <a:off x="2618548" y="1872531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wymagana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42FB052F-6216-5688-BE04-887E8E5D46E4}"/>
              </a:ext>
            </a:extLst>
          </p:cNvPr>
          <p:cNvCxnSpPr>
            <a:cxnSpLocks/>
          </p:cNvCxnSpPr>
          <p:nvPr/>
        </p:nvCxnSpPr>
        <p:spPr>
          <a:xfrm>
            <a:off x="4355221" y="220486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13A234C-B707-F778-47FF-3A4A58B57B04}"/>
              </a:ext>
            </a:extLst>
          </p:cNvPr>
          <p:cNvSpPr txBox="1"/>
          <p:nvPr/>
        </p:nvSpPr>
        <p:spPr>
          <a:xfrm>
            <a:off x="2851944" y="3249853"/>
            <a:ext cx="346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Utworzenie i zainicjowanie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obiektu anonimowego 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A5B34D71-A98D-65A0-A311-ED7F3F2A081A}"/>
              </a:ext>
            </a:extLst>
          </p:cNvPr>
          <p:cNvSpPr/>
          <p:nvPr/>
        </p:nvSpPr>
        <p:spPr>
          <a:xfrm>
            <a:off x="2841407" y="3271980"/>
            <a:ext cx="346116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BB855558-C8E7-4EA5-FA0D-FB3A82DD6927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590095" y="4369460"/>
            <a:ext cx="549857" cy="5213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0F77DD32-FEAB-85C8-9616-FF64B334D2A6}"/>
              </a:ext>
            </a:extLst>
          </p:cNvPr>
          <p:cNvSpPr txBox="1"/>
          <p:nvPr/>
        </p:nvSpPr>
        <p:spPr>
          <a:xfrm>
            <a:off x="1209760" y="4077072"/>
            <a:ext cx="2380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obiektu anonimowego 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41C8F6CD-75DD-9924-3619-80B35DF5208F}"/>
              </a:ext>
            </a:extLst>
          </p:cNvPr>
          <p:cNvSpPr/>
          <p:nvPr/>
        </p:nvSpPr>
        <p:spPr>
          <a:xfrm>
            <a:off x="1187624" y="4077072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3E64C832-9A50-038A-5925-87797A99FDC8}"/>
              </a:ext>
            </a:extLst>
          </p:cNvPr>
          <p:cNvSpPr txBox="1"/>
          <p:nvPr/>
        </p:nvSpPr>
        <p:spPr>
          <a:xfrm>
            <a:off x="5809794" y="3980843"/>
            <a:ext cx="195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dziedziczy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po klasie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Shape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107DC991-92A9-E4E7-BE72-6DA3D8F635C9}"/>
              </a:ext>
            </a:extLst>
          </p:cNvPr>
          <p:cNvSpPr/>
          <p:nvPr/>
        </p:nvSpPr>
        <p:spPr>
          <a:xfrm>
            <a:off x="5724128" y="3980844"/>
            <a:ext cx="20951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26D7A034-2CBB-683F-C4F7-20B83DC65164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5809794" y="4565619"/>
            <a:ext cx="961920" cy="3251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97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1D0C6B-C8A3-5C67-93A1-804F2DC2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CA2029-1229-FC03-47D1-D8A9917FBE0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BEA61B7-6CE0-5F91-6EBC-B821B232D30C}"/>
              </a:ext>
            </a:extLst>
          </p:cNvPr>
          <p:cNvSpPr txBox="1"/>
          <p:nvPr/>
        </p:nvSpPr>
        <p:spPr>
          <a:xfrm>
            <a:off x="1043608" y="8367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anonimowe </a:t>
            </a:r>
            <a:r>
              <a:rPr lang="pl-PL" sz="1600" dirty="0"/>
              <a:t>można wykorzystać do </a:t>
            </a:r>
            <a:r>
              <a:rPr lang="pl-PL" sz="1600" b="1" dirty="0"/>
              <a:t>jednorazowej</a:t>
            </a:r>
            <a:r>
              <a:rPr lang="pl-PL" sz="1600" dirty="0"/>
              <a:t> implementacji interfejsów lub klas abstrakcyjnych.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6600DB2-06C6-B60A-79BC-7DD323C0D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5"/>
            <a:ext cx="3105240" cy="107518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FB205470-AC72-213A-50CA-E6BA6E1903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4869160"/>
            <a:ext cx="4011563" cy="1347337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51704208-F3EE-F126-2192-DE31B50AD6A9}"/>
              </a:ext>
            </a:extLst>
          </p:cNvPr>
          <p:cNvCxnSpPr>
            <a:cxnSpLocks/>
            <a:stCxn id="23" idx="2"/>
            <a:endCxn id="11" idx="0"/>
          </p:cNvCxnSpPr>
          <p:nvPr/>
        </p:nvCxnSpPr>
        <p:spPr>
          <a:xfrm>
            <a:off x="4571991" y="3856755"/>
            <a:ext cx="277599" cy="10124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54B9AD7-7D8B-9F8D-95D2-02FECBEB85A9}"/>
              </a:ext>
            </a:extLst>
          </p:cNvPr>
          <p:cNvSpPr txBox="1"/>
          <p:nvPr/>
        </p:nvSpPr>
        <p:spPr>
          <a:xfrm>
            <a:off x="2618548" y="1872531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wymagana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</p:txBody>
      </p: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7E0EBF09-6326-0C4F-8D92-EE97E38BF306}"/>
              </a:ext>
            </a:extLst>
          </p:cNvPr>
          <p:cNvCxnSpPr>
            <a:cxnSpLocks/>
          </p:cNvCxnSpPr>
          <p:nvPr/>
        </p:nvCxnSpPr>
        <p:spPr>
          <a:xfrm>
            <a:off x="4355221" y="2204864"/>
            <a:ext cx="988736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C813F55E-96C2-CF09-A2F0-82600B6DCD54}"/>
              </a:ext>
            </a:extLst>
          </p:cNvPr>
          <p:cNvSpPr txBox="1"/>
          <p:nvPr/>
        </p:nvSpPr>
        <p:spPr>
          <a:xfrm>
            <a:off x="2851944" y="3249853"/>
            <a:ext cx="346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Utworzenie i zainicjowanie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obiektu anonimowego 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7D1A1046-1963-F5CE-88A0-F35F81C574E8}"/>
              </a:ext>
            </a:extLst>
          </p:cNvPr>
          <p:cNvSpPr/>
          <p:nvPr/>
        </p:nvSpPr>
        <p:spPr>
          <a:xfrm>
            <a:off x="2841407" y="3271980"/>
            <a:ext cx="3461168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BBAA6B18-A0A7-236C-AC66-825781AFE6D0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590095" y="4369460"/>
            <a:ext cx="549857" cy="5213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2013C314-1908-2A93-9068-2B9584DD54AB}"/>
              </a:ext>
            </a:extLst>
          </p:cNvPr>
          <p:cNvSpPr txBox="1"/>
          <p:nvPr/>
        </p:nvSpPr>
        <p:spPr>
          <a:xfrm>
            <a:off x="1209760" y="4077072"/>
            <a:ext cx="2380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Przypisanie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obiektu anonimowego 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78372FD4-277B-5E2F-45D1-09EF126C10EC}"/>
              </a:ext>
            </a:extLst>
          </p:cNvPr>
          <p:cNvSpPr/>
          <p:nvPr/>
        </p:nvSpPr>
        <p:spPr>
          <a:xfrm>
            <a:off x="1187624" y="4077072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3" name="pole tekstowe 42">
            <a:extLst>
              <a:ext uri="{FF2B5EF4-FFF2-40B4-BE49-F238E27FC236}">
                <a16:creationId xmlns:a16="http://schemas.microsoft.com/office/drawing/2014/main" id="{16A086DB-BF8A-7CB9-5586-260D0C73CC2D}"/>
              </a:ext>
            </a:extLst>
          </p:cNvPr>
          <p:cNvSpPr txBox="1"/>
          <p:nvPr/>
        </p:nvSpPr>
        <p:spPr>
          <a:xfrm>
            <a:off x="5809794" y="3980843"/>
            <a:ext cx="195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dziedziczy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po klasie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Shape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D2F2FB42-4756-6ACB-AACD-E10CADC26C27}"/>
              </a:ext>
            </a:extLst>
          </p:cNvPr>
          <p:cNvSpPr/>
          <p:nvPr/>
        </p:nvSpPr>
        <p:spPr>
          <a:xfrm>
            <a:off x="5724128" y="3980844"/>
            <a:ext cx="20951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D45ED35D-FCC9-7D8B-03B0-5BFD2CD4B08A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5809794" y="4565619"/>
            <a:ext cx="961920" cy="3251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2802D5E3-FEC0-D7BF-13EA-05934C3FD354}"/>
              </a:ext>
            </a:extLst>
          </p:cNvPr>
          <p:cNvSpPr txBox="1"/>
          <p:nvPr/>
        </p:nvSpPr>
        <p:spPr>
          <a:xfrm>
            <a:off x="6862429" y="4958052"/>
            <a:ext cx="2095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Implementacja metody abstrakcyjnej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2" name="Prostokąt: zaokrąglone rogi 51">
            <a:extLst>
              <a:ext uri="{FF2B5EF4-FFF2-40B4-BE49-F238E27FC236}">
                <a16:creationId xmlns:a16="http://schemas.microsoft.com/office/drawing/2014/main" id="{CA854D32-3439-99C5-2FD4-1AE8EA201236}"/>
              </a:ext>
            </a:extLst>
          </p:cNvPr>
          <p:cNvSpPr/>
          <p:nvPr/>
        </p:nvSpPr>
        <p:spPr>
          <a:xfrm>
            <a:off x="6855371" y="4958053"/>
            <a:ext cx="20951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5F809735-B5CA-1492-8D45-299688F24913}"/>
              </a:ext>
            </a:extLst>
          </p:cNvPr>
          <p:cNvCxnSpPr>
            <a:cxnSpLocks/>
            <a:stCxn id="52" idx="1"/>
          </p:cNvCxnSpPr>
          <p:nvPr/>
        </p:nvCxnSpPr>
        <p:spPr>
          <a:xfrm flipH="1">
            <a:off x="5773969" y="5250441"/>
            <a:ext cx="1081402" cy="1025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10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3C24D-6E40-01A2-B401-332890CE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CAC3FA-056E-EDEC-B28F-AB1F6CD8A4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Obiekty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18EE370-2473-3C43-2433-351F31313DD6}"/>
              </a:ext>
            </a:extLst>
          </p:cNvPr>
          <p:cNvSpPr txBox="1"/>
          <p:nvPr/>
        </p:nvSpPr>
        <p:spPr>
          <a:xfrm>
            <a:off x="1043608" y="836712"/>
            <a:ext cx="7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Obiekty danych </a:t>
            </a:r>
            <a:r>
              <a:rPr lang="pl-PL" sz="1600" dirty="0"/>
              <a:t>rozszerza funkcjonalność zwykłych obiektów, przez wprowadzenie 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4614292-7B1D-02D0-9C27-46E436B65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596" y="1360818"/>
            <a:ext cx="4018679" cy="3891930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5B9CC2A-6908-3554-7DDA-9188DE45C63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230405" y="4834663"/>
            <a:ext cx="1205691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D27F0AD-A2A1-7278-FD27-477374A3E8D3}"/>
              </a:ext>
            </a:extLst>
          </p:cNvPr>
          <p:cNvSpPr txBox="1"/>
          <p:nvPr/>
        </p:nvSpPr>
        <p:spPr>
          <a:xfrm>
            <a:off x="1839001" y="4542275"/>
            <a:ext cx="2380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Różna implementacja metody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toString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()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2FDCF2D-EAE2-7BFF-E7CC-AEA024CD9B9F}"/>
              </a:ext>
            </a:extLst>
          </p:cNvPr>
          <p:cNvSpPr/>
          <p:nvPr/>
        </p:nvSpPr>
        <p:spPr>
          <a:xfrm>
            <a:off x="1827934" y="4542275"/>
            <a:ext cx="2402471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E0F4A0D5-89F8-CD53-B9D9-F9447AD086D2}"/>
              </a:ext>
            </a:extLst>
          </p:cNvPr>
          <p:cNvSpPr/>
          <p:nvPr/>
        </p:nvSpPr>
        <p:spPr>
          <a:xfrm>
            <a:off x="1155411" y="1761026"/>
            <a:ext cx="3758185" cy="204855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F1B68E25-AA6F-52F9-BBF4-BF608AB14037}"/>
              </a:ext>
            </a:extLst>
          </p:cNvPr>
          <p:cNvSpPr txBox="1"/>
          <p:nvPr/>
        </p:nvSpPr>
        <p:spPr>
          <a:xfrm>
            <a:off x="1155411" y="1861922"/>
            <a:ext cx="37581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obiektach danych automatyczne generowanie metod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equals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()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hashCode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().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Wspiera porównania strukturalne, co pozwala porównywać obiekty tego samego typu jako równe, oraz wykorzystanie w kolekcjach opartych o </a:t>
            </a:r>
            <a:r>
              <a:rPr lang="pl-PL" sz="1600" i="1" dirty="0" err="1">
                <a:solidFill>
                  <a:schemeClr val="accent4">
                    <a:lumMod val="50000"/>
                  </a:schemeClr>
                </a:solidFill>
              </a:rPr>
              <a:t>hashowanie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046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56580-A371-7547-3A56-7ECEB14B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4BCD9A-3F18-8BE1-5C2C-9BDA0C27D53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32043B0-1F09-02E2-340D-E1FA9EDC83CC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 to struktura, która definiuje zestaw metod i właściwości, które klasy mogą implementować.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770F387-B35F-F7DE-A79E-16626FDC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01" y="1904264"/>
            <a:ext cx="2575878" cy="131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95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8FCCB-F63B-4C16-349E-629EEAE1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F02045-C4B9-94C8-9199-F20E48FB74E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F2ED433-A8D6-9DCF-F2D5-258CE5B275AD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 to struktura, która definiuje zestaw metod i właściwości, które klasy mogą implementować.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455EEC2-F3B9-2600-4DAD-690232D9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01" y="1904264"/>
            <a:ext cx="2575878" cy="1314851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B0ADA78-913A-2954-895F-AE2BC3F9EC56}"/>
              </a:ext>
            </a:extLst>
          </p:cNvPr>
          <p:cNvCxnSpPr>
            <a:cxnSpLocks/>
          </p:cNvCxnSpPr>
          <p:nvPr/>
        </p:nvCxnSpPr>
        <p:spPr>
          <a:xfrm>
            <a:off x="2702346" y="2063420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6C3D87A3-F0A3-29A7-0751-69E0E9A4BDA3}"/>
              </a:ext>
            </a:extLst>
          </p:cNvPr>
          <p:cNvSpPr txBox="1"/>
          <p:nvPr/>
        </p:nvSpPr>
        <p:spPr>
          <a:xfrm>
            <a:off x="1428354" y="167177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4F6CD27-7F5F-AAE8-BAF3-139A24A3D471}"/>
              </a:ext>
            </a:extLst>
          </p:cNvPr>
          <p:cNvSpPr txBox="1"/>
          <p:nvPr/>
        </p:nvSpPr>
        <p:spPr>
          <a:xfrm>
            <a:off x="3979646" y="1126485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7DF43487-3BE5-04A5-734C-D06BD60D367E}"/>
              </a:ext>
            </a:extLst>
          </p:cNvPr>
          <p:cNvCxnSpPr>
            <a:cxnSpLocks/>
          </p:cNvCxnSpPr>
          <p:nvPr/>
        </p:nvCxnSpPr>
        <p:spPr>
          <a:xfrm>
            <a:off x="4644008" y="1772816"/>
            <a:ext cx="547119" cy="3012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BB1292BA-2221-0BF2-8CD6-E5050CAB55B4}"/>
              </a:ext>
            </a:extLst>
          </p:cNvPr>
          <p:cNvCxnSpPr>
            <a:cxnSpLocks/>
          </p:cNvCxnSpPr>
          <p:nvPr/>
        </p:nvCxnSpPr>
        <p:spPr>
          <a:xfrm flipH="1" flipV="1">
            <a:off x="5305585" y="2463452"/>
            <a:ext cx="922599" cy="1017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C5C0120E-EAFB-2D4C-80C9-0AF5C7744DE0}"/>
              </a:ext>
            </a:extLst>
          </p:cNvPr>
          <p:cNvCxnSpPr>
            <a:cxnSpLocks/>
          </p:cNvCxnSpPr>
          <p:nvPr/>
        </p:nvCxnSpPr>
        <p:spPr>
          <a:xfrm flipH="1">
            <a:off x="5345761" y="2590396"/>
            <a:ext cx="882423" cy="15282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F723C80-30E3-E13E-E186-CD91572D9A9E}"/>
              </a:ext>
            </a:extLst>
          </p:cNvPr>
          <p:cNvSpPr txBox="1"/>
          <p:nvPr/>
        </p:nvSpPr>
        <p:spPr>
          <a:xfrm>
            <a:off x="6258571" y="2216150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sygnatura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</p:spTree>
    <p:extLst>
      <p:ext uri="{BB962C8B-B14F-4D97-AF65-F5344CB8AC3E}">
        <p14:creationId xmlns:p14="http://schemas.microsoft.com/office/powerpoint/2010/main" val="53077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6BDF6-8461-2619-C29C-128D3645B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C5377F-5D71-F856-6B55-CD65723CF6C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72034FC-1658-B0EE-74FE-415293858F84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 to struktura, która definiuje zestaw metod i właściwości, które klasy mogą implementować.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4C72D0B-E180-3104-E0CA-CA7622A29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01" y="1904264"/>
            <a:ext cx="2575878" cy="131485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D814D8F-2278-7E31-650F-2887EE54A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122" y="3962480"/>
            <a:ext cx="3935363" cy="2631158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F810DCC3-7476-D903-FD71-A1D7BCF49C80}"/>
              </a:ext>
            </a:extLst>
          </p:cNvPr>
          <p:cNvCxnSpPr>
            <a:cxnSpLocks/>
          </p:cNvCxnSpPr>
          <p:nvPr/>
        </p:nvCxnSpPr>
        <p:spPr>
          <a:xfrm>
            <a:off x="2702346" y="2063420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0C66201-B74F-123F-7CA9-236F9174D1F4}"/>
              </a:ext>
            </a:extLst>
          </p:cNvPr>
          <p:cNvSpPr txBox="1"/>
          <p:nvPr/>
        </p:nvSpPr>
        <p:spPr>
          <a:xfrm>
            <a:off x="1428354" y="167177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67D4FCD-7D48-81C7-07AB-F8D69E359C6A}"/>
              </a:ext>
            </a:extLst>
          </p:cNvPr>
          <p:cNvSpPr txBox="1"/>
          <p:nvPr/>
        </p:nvSpPr>
        <p:spPr>
          <a:xfrm>
            <a:off x="3979646" y="1126485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2649E0C-68A6-DECC-B426-7887791ADFCC}"/>
              </a:ext>
            </a:extLst>
          </p:cNvPr>
          <p:cNvCxnSpPr>
            <a:cxnSpLocks/>
          </p:cNvCxnSpPr>
          <p:nvPr/>
        </p:nvCxnSpPr>
        <p:spPr>
          <a:xfrm>
            <a:off x="4644008" y="1772816"/>
            <a:ext cx="547119" cy="3012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36FF986-721C-17F3-24D1-BB9B8480991F}"/>
              </a:ext>
            </a:extLst>
          </p:cNvPr>
          <p:cNvCxnSpPr>
            <a:cxnSpLocks/>
          </p:cNvCxnSpPr>
          <p:nvPr/>
        </p:nvCxnSpPr>
        <p:spPr>
          <a:xfrm flipH="1" flipV="1">
            <a:off x="5305585" y="2463452"/>
            <a:ext cx="922599" cy="1017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1C683284-649C-318E-9D7B-A481500E1CA8}"/>
              </a:ext>
            </a:extLst>
          </p:cNvPr>
          <p:cNvCxnSpPr>
            <a:cxnSpLocks/>
          </p:cNvCxnSpPr>
          <p:nvPr/>
        </p:nvCxnSpPr>
        <p:spPr>
          <a:xfrm flipH="1">
            <a:off x="5345761" y="2590396"/>
            <a:ext cx="882423" cy="15282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AB19206C-654C-C095-DAA0-BF942790F87C}"/>
              </a:ext>
            </a:extLst>
          </p:cNvPr>
          <p:cNvSpPr txBox="1"/>
          <p:nvPr/>
        </p:nvSpPr>
        <p:spPr>
          <a:xfrm>
            <a:off x="6258571" y="2216150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sygnatura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</p:spTree>
    <p:extLst>
      <p:ext uri="{BB962C8B-B14F-4D97-AF65-F5344CB8AC3E}">
        <p14:creationId xmlns:p14="http://schemas.microsoft.com/office/powerpoint/2010/main" val="454026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2C042-3A58-5A29-42E3-93E2B7F7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2AF075-D7F2-1FCC-BFC7-D6B5DD975CA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C7BAFD4-6E96-0441-D014-C487566CBBBA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 to struktura, która definiuje zestaw metod i właściwości, które klasy mogą implementować.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A3DDFB-4ABE-51AC-D9B1-B116F49BD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01" y="1904264"/>
            <a:ext cx="2575878" cy="131485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D252B40-5AF8-AFE3-8DEE-3FF042BB43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122" y="3962480"/>
            <a:ext cx="3935363" cy="2631158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F3548AF6-DC39-6E0B-ACA8-8C3F31869454}"/>
              </a:ext>
            </a:extLst>
          </p:cNvPr>
          <p:cNvCxnSpPr>
            <a:cxnSpLocks/>
          </p:cNvCxnSpPr>
          <p:nvPr/>
        </p:nvCxnSpPr>
        <p:spPr>
          <a:xfrm>
            <a:off x="2702346" y="2063420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6DBAC81-ECB9-EF12-4CCC-1CEC932FB8A7}"/>
              </a:ext>
            </a:extLst>
          </p:cNvPr>
          <p:cNvSpPr txBox="1"/>
          <p:nvPr/>
        </p:nvSpPr>
        <p:spPr>
          <a:xfrm>
            <a:off x="1428354" y="167177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D1245514-9A75-D319-6018-BCFDF97F9DD7}"/>
              </a:ext>
            </a:extLst>
          </p:cNvPr>
          <p:cNvSpPr txBox="1"/>
          <p:nvPr/>
        </p:nvSpPr>
        <p:spPr>
          <a:xfrm>
            <a:off x="3979646" y="1126485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9A5B658-976A-0E8E-EC48-DF73C78B23BD}"/>
              </a:ext>
            </a:extLst>
          </p:cNvPr>
          <p:cNvCxnSpPr>
            <a:cxnSpLocks/>
          </p:cNvCxnSpPr>
          <p:nvPr/>
        </p:nvCxnSpPr>
        <p:spPr>
          <a:xfrm>
            <a:off x="4644008" y="1772816"/>
            <a:ext cx="547119" cy="3012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2DF431E-3AF5-5466-1A80-7F0F206A6EDF}"/>
              </a:ext>
            </a:extLst>
          </p:cNvPr>
          <p:cNvCxnSpPr>
            <a:cxnSpLocks/>
          </p:cNvCxnSpPr>
          <p:nvPr/>
        </p:nvCxnSpPr>
        <p:spPr>
          <a:xfrm flipH="1" flipV="1">
            <a:off x="5305585" y="2463452"/>
            <a:ext cx="922599" cy="1017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1A52B4BB-6560-F24C-7B18-C697FACD021D}"/>
              </a:ext>
            </a:extLst>
          </p:cNvPr>
          <p:cNvCxnSpPr>
            <a:cxnSpLocks/>
          </p:cNvCxnSpPr>
          <p:nvPr/>
        </p:nvCxnSpPr>
        <p:spPr>
          <a:xfrm flipH="1">
            <a:off x="5345761" y="2590396"/>
            <a:ext cx="882423" cy="15282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B7E42DC0-885E-6BEB-DA2A-2C4DAC5CF4C6}"/>
              </a:ext>
            </a:extLst>
          </p:cNvPr>
          <p:cNvSpPr txBox="1"/>
          <p:nvPr/>
        </p:nvSpPr>
        <p:spPr>
          <a:xfrm>
            <a:off x="6258571" y="2216150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sygnatura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54BAC5C3-B849-FE28-2622-F715AEE1B001}"/>
              </a:ext>
            </a:extLst>
          </p:cNvPr>
          <p:cNvCxnSpPr>
            <a:cxnSpLocks/>
          </p:cNvCxnSpPr>
          <p:nvPr/>
        </p:nvCxnSpPr>
        <p:spPr>
          <a:xfrm>
            <a:off x="2284335" y="4054358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F982C18-77DB-4316-B5EC-768B2D7C1CF2}"/>
              </a:ext>
            </a:extLst>
          </p:cNvPr>
          <p:cNvSpPr txBox="1"/>
          <p:nvPr/>
        </p:nvSpPr>
        <p:spPr>
          <a:xfrm>
            <a:off x="1428354" y="37778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klasa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4724C627-73D0-761F-34C8-D2376AD5D670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3034838" y="3674599"/>
            <a:ext cx="1169811" cy="47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AE66B9AB-93E3-B98C-7447-38B75BC94A78}"/>
              </a:ext>
            </a:extLst>
          </p:cNvPr>
          <p:cNvSpPr txBox="1"/>
          <p:nvPr/>
        </p:nvSpPr>
        <p:spPr>
          <a:xfrm>
            <a:off x="2107873" y="3305267"/>
            <a:ext cx="18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klasy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EF5A0607-29FA-34E6-0C58-08D6DBE8EE36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591352" y="3719211"/>
            <a:ext cx="540262" cy="4446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12CA0C53-1969-4225-5C14-F0D504745BDD}"/>
              </a:ext>
            </a:extLst>
          </p:cNvPr>
          <p:cNvSpPr txBox="1"/>
          <p:nvPr/>
        </p:nvSpPr>
        <p:spPr>
          <a:xfrm>
            <a:off x="4204649" y="3349879"/>
            <a:ext cx="18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implementuje</a:t>
            </a:r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EA300B80-D5D6-C7CB-1821-AB46AD31E74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5235729" y="3907309"/>
            <a:ext cx="1825756" cy="256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827C8519-2D1C-9186-AB43-A967911828FC}"/>
              </a:ext>
            </a:extLst>
          </p:cNvPr>
          <p:cNvSpPr txBox="1"/>
          <p:nvPr/>
        </p:nvSpPr>
        <p:spPr>
          <a:xfrm>
            <a:off x="6049647" y="3537977"/>
            <a:ext cx="202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interfejsu</a:t>
            </a:r>
          </a:p>
        </p:txBody>
      </p:sp>
    </p:spTree>
    <p:extLst>
      <p:ext uri="{BB962C8B-B14F-4D97-AF65-F5344CB8AC3E}">
        <p14:creationId xmlns:p14="http://schemas.microsoft.com/office/powerpoint/2010/main" val="62739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28C25-F050-F237-5335-0F415701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EAFFEE-D488-99D8-3CAD-CA8C66630BD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79E450A-20CB-650C-7A8E-B73EEE64E96D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 to struktura, która definiuje zestaw metod i właściwości, które klasy mogą implementować.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C42CBD3-9703-5200-85DE-3994223EA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01" y="1904264"/>
            <a:ext cx="2575878" cy="131485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1B872F8-1B40-2128-A5A7-20AB2188E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6122" y="3962480"/>
            <a:ext cx="3935363" cy="2631158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5AE1AEC7-6D07-9D31-0F73-B419F9F37931}"/>
              </a:ext>
            </a:extLst>
          </p:cNvPr>
          <p:cNvCxnSpPr>
            <a:cxnSpLocks/>
          </p:cNvCxnSpPr>
          <p:nvPr/>
        </p:nvCxnSpPr>
        <p:spPr>
          <a:xfrm>
            <a:off x="2702346" y="2063420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E7D8D70-3543-1C6D-1522-EE6B4770EB0A}"/>
              </a:ext>
            </a:extLst>
          </p:cNvPr>
          <p:cNvSpPr txBox="1"/>
          <p:nvPr/>
        </p:nvSpPr>
        <p:spPr>
          <a:xfrm>
            <a:off x="1428354" y="1671771"/>
            <a:ext cx="1210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słowo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kluczowe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0084C11F-78A7-94EF-8DE0-50FD22448354}"/>
              </a:ext>
            </a:extLst>
          </p:cNvPr>
          <p:cNvSpPr txBox="1"/>
          <p:nvPr/>
        </p:nvSpPr>
        <p:spPr>
          <a:xfrm>
            <a:off x="3979646" y="1126485"/>
            <a:ext cx="1223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interfejsu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07617592-3A00-6C91-C159-6C3EC46588EE}"/>
              </a:ext>
            </a:extLst>
          </p:cNvPr>
          <p:cNvCxnSpPr>
            <a:cxnSpLocks/>
          </p:cNvCxnSpPr>
          <p:nvPr/>
        </p:nvCxnSpPr>
        <p:spPr>
          <a:xfrm>
            <a:off x="4644008" y="1772816"/>
            <a:ext cx="547119" cy="3012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2A11B636-1DE2-EDDE-8716-38DCB3D888D9}"/>
              </a:ext>
            </a:extLst>
          </p:cNvPr>
          <p:cNvCxnSpPr>
            <a:cxnSpLocks/>
          </p:cNvCxnSpPr>
          <p:nvPr/>
        </p:nvCxnSpPr>
        <p:spPr>
          <a:xfrm flipH="1" flipV="1">
            <a:off x="5305585" y="2463452"/>
            <a:ext cx="922599" cy="1017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3EE5B81F-ABB1-F715-5237-CA03CF01685B}"/>
              </a:ext>
            </a:extLst>
          </p:cNvPr>
          <p:cNvCxnSpPr>
            <a:cxnSpLocks/>
          </p:cNvCxnSpPr>
          <p:nvPr/>
        </p:nvCxnSpPr>
        <p:spPr>
          <a:xfrm flipH="1">
            <a:off x="5345761" y="2590396"/>
            <a:ext cx="882423" cy="15282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AC47FD7-D71D-4208-35D9-6C6915F4860B}"/>
              </a:ext>
            </a:extLst>
          </p:cNvPr>
          <p:cNvSpPr txBox="1"/>
          <p:nvPr/>
        </p:nvSpPr>
        <p:spPr>
          <a:xfrm>
            <a:off x="6258571" y="2216150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sygnatura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6E4D261A-6B5A-5A8B-FCFA-17D2277A1473}"/>
              </a:ext>
            </a:extLst>
          </p:cNvPr>
          <p:cNvCxnSpPr>
            <a:cxnSpLocks/>
          </p:cNvCxnSpPr>
          <p:nvPr/>
        </p:nvCxnSpPr>
        <p:spPr>
          <a:xfrm>
            <a:off x="2284335" y="4054358"/>
            <a:ext cx="1225245" cy="16280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315E49E3-8D3A-1FDB-3DFD-8C52B1B896F8}"/>
              </a:ext>
            </a:extLst>
          </p:cNvPr>
          <p:cNvSpPr txBox="1"/>
          <p:nvPr/>
        </p:nvSpPr>
        <p:spPr>
          <a:xfrm>
            <a:off x="1428354" y="377781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klasa</a:t>
            </a:r>
          </a:p>
        </p:txBody>
      </p:sp>
      <p:cxnSp>
        <p:nvCxnSpPr>
          <p:cNvPr id="28" name="Łącznik prosty ze strzałką 27">
            <a:extLst>
              <a:ext uri="{FF2B5EF4-FFF2-40B4-BE49-F238E27FC236}">
                <a16:creationId xmlns:a16="http://schemas.microsoft.com/office/drawing/2014/main" id="{612966D5-FCD6-FDC1-A2E7-35C86B414ED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3034838" y="3674599"/>
            <a:ext cx="1169811" cy="47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1C828BC0-4F7E-F8B0-B783-F59A6B1A1DFC}"/>
              </a:ext>
            </a:extLst>
          </p:cNvPr>
          <p:cNvSpPr txBox="1"/>
          <p:nvPr/>
        </p:nvSpPr>
        <p:spPr>
          <a:xfrm>
            <a:off x="2107873" y="3305267"/>
            <a:ext cx="18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klasy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42ACF869-55E4-A73B-B270-6139F24FBC79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591352" y="3719211"/>
            <a:ext cx="540262" cy="4446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C2AE8D92-841E-C33F-BB56-01A88B109DAF}"/>
              </a:ext>
            </a:extLst>
          </p:cNvPr>
          <p:cNvSpPr txBox="1"/>
          <p:nvPr/>
        </p:nvSpPr>
        <p:spPr>
          <a:xfrm>
            <a:off x="4204649" y="3349879"/>
            <a:ext cx="18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implementuje</a:t>
            </a:r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DAA1BF45-2C71-F73D-999B-220E17CA1EB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5235729" y="3907309"/>
            <a:ext cx="1825756" cy="2565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ole tekstowe 36">
            <a:extLst>
              <a:ext uri="{FF2B5EF4-FFF2-40B4-BE49-F238E27FC236}">
                <a16:creationId xmlns:a16="http://schemas.microsoft.com/office/drawing/2014/main" id="{85C23C1C-32B5-69E3-58F5-BF80C16DF2C3}"/>
              </a:ext>
            </a:extLst>
          </p:cNvPr>
          <p:cNvSpPr txBox="1"/>
          <p:nvPr/>
        </p:nvSpPr>
        <p:spPr>
          <a:xfrm>
            <a:off x="6049647" y="3537977"/>
            <a:ext cx="202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interfejsu</a:t>
            </a: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B8E7AE2D-B740-3A0F-EAE2-CFC6306FDF63}"/>
              </a:ext>
            </a:extLst>
          </p:cNvPr>
          <p:cNvCxnSpPr>
            <a:cxnSpLocks/>
          </p:cNvCxnSpPr>
          <p:nvPr/>
        </p:nvCxnSpPr>
        <p:spPr>
          <a:xfrm flipH="1" flipV="1">
            <a:off x="6156176" y="5000401"/>
            <a:ext cx="1481781" cy="3973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Łącznik prosty ze strzałką 42">
            <a:extLst>
              <a:ext uri="{FF2B5EF4-FFF2-40B4-BE49-F238E27FC236}">
                <a16:creationId xmlns:a16="http://schemas.microsoft.com/office/drawing/2014/main" id="{6612C76E-3B4E-AC03-5297-2F93BE764327}"/>
              </a:ext>
            </a:extLst>
          </p:cNvPr>
          <p:cNvCxnSpPr>
            <a:cxnSpLocks/>
          </p:cNvCxnSpPr>
          <p:nvPr/>
        </p:nvCxnSpPr>
        <p:spPr>
          <a:xfrm flipH="1">
            <a:off x="6228184" y="5422955"/>
            <a:ext cx="1409773" cy="2626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FA370881-E1CC-32FC-6E9C-FBF472070E14}"/>
              </a:ext>
            </a:extLst>
          </p:cNvPr>
          <p:cNvSpPr txBox="1"/>
          <p:nvPr/>
        </p:nvSpPr>
        <p:spPr>
          <a:xfrm>
            <a:off x="7418277" y="5048709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</p:spTree>
    <p:extLst>
      <p:ext uri="{BB962C8B-B14F-4D97-AF65-F5344CB8AC3E}">
        <p14:creationId xmlns:p14="http://schemas.microsoft.com/office/powerpoint/2010/main" val="1907606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41D6F-CBB7-9888-F518-11D56AA0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8FFEB4-AF4E-1CA1-CCFF-D19CA475E48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2BAC4D9-7212-FD9F-7A03-00C371688996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Klasy mogą </a:t>
            </a:r>
            <a:r>
              <a:rPr lang="pl-PL" sz="1600" b="1" dirty="0"/>
              <a:t>dziedziczyć</a:t>
            </a:r>
            <a:r>
              <a:rPr lang="pl-PL" sz="1600" dirty="0"/>
              <a:t> tylko </a:t>
            </a:r>
            <a:r>
              <a:rPr lang="pl-PL" sz="1600" b="1" dirty="0"/>
              <a:t>po jednej klasie</a:t>
            </a:r>
            <a:r>
              <a:rPr lang="pl-PL" sz="1600" dirty="0"/>
              <a:t>, ale mogą </a:t>
            </a:r>
            <a:r>
              <a:rPr lang="pl-PL" sz="1600" b="1" dirty="0"/>
              <a:t>implementować dowolną ilość interfejsów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0DDCA33D-8864-B9C8-1BED-6A9E931AB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243" y="1577116"/>
            <a:ext cx="6076578" cy="80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1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CFE5A-930F-F8AF-5E03-C17152A2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14A3D0-90D8-6251-B0D5-E74CF919ABF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1C28AA8-9630-CF8D-5C13-29BE744601FA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Klasy mogą </a:t>
            </a:r>
            <a:r>
              <a:rPr lang="pl-PL" sz="1600" b="1" dirty="0"/>
              <a:t>dziedziczyć</a:t>
            </a:r>
            <a:r>
              <a:rPr lang="pl-PL" sz="1600" dirty="0"/>
              <a:t> tylko </a:t>
            </a:r>
            <a:r>
              <a:rPr lang="pl-PL" sz="1600" b="1" dirty="0"/>
              <a:t>po jednej klasie</a:t>
            </a:r>
            <a:r>
              <a:rPr lang="pl-PL" sz="1600" dirty="0"/>
              <a:t>, ale mogą </a:t>
            </a:r>
            <a:r>
              <a:rPr lang="pl-PL" sz="1600" b="1" dirty="0"/>
              <a:t>implementować dowolną ilość interfejsów</a:t>
            </a:r>
            <a:r>
              <a:rPr lang="pl-PL" sz="1600" dirty="0"/>
              <a:t>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21137FDA-DF1F-A89A-000F-010B675E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243" y="1577116"/>
            <a:ext cx="6076578" cy="800456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0E002C31-2131-7BE4-1E53-06F1F1C1E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3888" y="3702686"/>
            <a:ext cx="5380447" cy="1555485"/>
          </a:xfrm>
          <a:prstGeom prst="rect">
            <a:avLst/>
          </a:prstGeom>
        </p:spPr>
      </p:pic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4F7787B8-B419-3DC1-30AC-F8B238CD6222}"/>
              </a:ext>
            </a:extLst>
          </p:cNvPr>
          <p:cNvCxnSpPr>
            <a:cxnSpLocks/>
          </p:cNvCxnSpPr>
          <p:nvPr/>
        </p:nvCxnSpPr>
        <p:spPr>
          <a:xfrm>
            <a:off x="3883862" y="3373392"/>
            <a:ext cx="292648" cy="27705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153569ED-BA11-C187-F2C0-1ED61F53BD38}"/>
              </a:ext>
            </a:extLst>
          </p:cNvPr>
          <p:cNvSpPr txBox="1"/>
          <p:nvPr/>
        </p:nvSpPr>
        <p:spPr>
          <a:xfrm>
            <a:off x="3424875" y="300809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klasa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109D3264-F103-2A8D-1B3E-6E206C0B7C80}"/>
              </a:ext>
            </a:extLst>
          </p:cNvPr>
          <p:cNvCxnSpPr>
            <a:cxnSpLocks/>
          </p:cNvCxnSpPr>
          <p:nvPr/>
        </p:nvCxnSpPr>
        <p:spPr>
          <a:xfrm>
            <a:off x="4750076" y="3107880"/>
            <a:ext cx="121503" cy="47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72283F71-37F2-9BA7-8690-D9F6A12F2B53}"/>
              </a:ext>
            </a:extLst>
          </p:cNvPr>
          <p:cNvSpPr txBox="1"/>
          <p:nvPr/>
        </p:nvSpPr>
        <p:spPr>
          <a:xfrm>
            <a:off x="3883862" y="2681249"/>
            <a:ext cx="1853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klasy</a:t>
            </a:r>
          </a:p>
        </p:txBody>
      </p:sp>
      <p:sp>
        <p:nvSpPr>
          <p:cNvPr id="24" name="Nawias klamrowy otwierający 23">
            <a:extLst>
              <a:ext uri="{FF2B5EF4-FFF2-40B4-BE49-F238E27FC236}">
                <a16:creationId xmlns:a16="http://schemas.microsoft.com/office/drawing/2014/main" id="{3BF6357E-C468-BA5B-ADD4-92F9E1F9AFE5}"/>
              </a:ext>
            </a:extLst>
          </p:cNvPr>
          <p:cNvSpPr/>
          <p:nvPr/>
        </p:nvSpPr>
        <p:spPr>
          <a:xfrm rot="5400000">
            <a:off x="6789184" y="2667919"/>
            <a:ext cx="318159" cy="158417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3057B8FE-7FFA-DB3B-59CF-921016551571}"/>
              </a:ext>
            </a:extLst>
          </p:cNvPr>
          <p:cNvSpPr txBox="1"/>
          <p:nvPr/>
        </p:nvSpPr>
        <p:spPr>
          <a:xfrm>
            <a:off x="5913539" y="2654596"/>
            <a:ext cx="2069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implementowane interfejsy</a:t>
            </a: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26EE3D1A-8C1C-B14C-5693-CAD0E579C455}"/>
              </a:ext>
            </a:extLst>
          </p:cNvPr>
          <p:cNvCxnSpPr>
            <a:cxnSpLocks/>
          </p:cNvCxnSpPr>
          <p:nvPr/>
        </p:nvCxnSpPr>
        <p:spPr>
          <a:xfrm flipV="1">
            <a:off x="3347864" y="4480429"/>
            <a:ext cx="1080120" cy="17671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Łącznik prosty ze strzałką 37">
            <a:extLst>
              <a:ext uri="{FF2B5EF4-FFF2-40B4-BE49-F238E27FC236}">
                <a16:creationId xmlns:a16="http://schemas.microsoft.com/office/drawing/2014/main" id="{2F50D16E-6E16-F4D7-A197-7512E99BC67F}"/>
              </a:ext>
            </a:extLst>
          </p:cNvPr>
          <p:cNvCxnSpPr>
            <a:cxnSpLocks/>
          </p:cNvCxnSpPr>
          <p:nvPr/>
        </p:nvCxnSpPr>
        <p:spPr>
          <a:xfrm>
            <a:off x="3347864" y="4702543"/>
            <a:ext cx="1080120" cy="5090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4B854251-6272-5BD5-C9A7-980B11A8A127}"/>
              </a:ext>
            </a:extLst>
          </p:cNvPr>
          <p:cNvSpPr txBox="1"/>
          <p:nvPr/>
        </p:nvSpPr>
        <p:spPr>
          <a:xfrm>
            <a:off x="1543178" y="4430277"/>
            <a:ext cx="17876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metod</a:t>
            </a:r>
          </a:p>
        </p:txBody>
      </p:sp>
    </p:spTree>
    <p:extLst>
      <p:ext uri="{BB962C8B-B14F-4D97-AF65-F5344CB8AC3E}">
        <p14:creationId xmlns:p14="http://schemas.microsoft.com/office/powerpoint/2010/main" val="2964710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30551A-C0FF-2915-F5A1-8F9F287E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1990F9-2E50-6D55-B3E1-87191084AAA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49EE3FF-F07D-8C9A-2234-2EDB0C0DC293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 Interfejsy mogą dostarczać </a:t>
            </a:r>
            <a:r>
              <a:rPr lang="pl-PL" sz="1600" b="1" dirty="0"/>
              <a:t>domyślną</a:t>
            </a:r>
            <a:r>
              <a:rPr lang="pl-PL" sz="1600" dirty="0"/>
              <a:t> implementację metod.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690620F-A423-3443-5549-653C51F0A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361" y="1242257"/>
            <a:ext cx="3434506" cy="2141785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83C934DD-6B3A-9DE4-155F-96982421B211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4650552" y="1941612"/>
            <a:ext cx="1342698" cy="10754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21A25286-ED98-E1C7-3924-09A9E36083DA}"/>
              </a:ext>
            </a:extLst>
          </p:cNvPr>
          <p:cNvCxnSpPr>
            <a:cxnSpLocks/>
          </p:cNvCxnSpPr>
          <p:nvPr/>
        </p:nvCxnSpPr>
        <p:spPr>
          <a:xfrm flipV="1">
            <a:off x="4689520" y="2996952"/>
            <a:ext cx="1303730" cy="143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0E033A1B-2FEB-7D7E-41DE-927B83B815C8}"/>
              </a:ext>
            </a:extLst>
          </p:cNvPr>
          <p:cNvSpPr/>
          <p:nvPr/>
        </p:nvSpPr>
        <p:spPr>
          <a:xfrm>
            <a:off x="1155411" y="1305412"/>
            <a:ext cx="3495141" cy="127239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48D422F2-6A17-3F10-F9A8-A65A5999854B}"/>
              </a:ext>
            </a:extLst>
          </p:cNvPr>
          <p:cNvSpPr txBox="1"/>
          <p:nvPr/>
        </p:nvSpPr>
        <p:spPr>
          <a:xfrm>
            <a:off x="1155411" y="1406308"/>
            <a:ext cx="34951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implementacją.</a:t>
            </a:r>
          </a:p>
          <a:p>
            <a:pPr algn="just"/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wymagane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nadpisanie przez klasy implementujące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4ADE6C3C-4371-92F1-DB8F-59DEC578E57F}"/>
              </a:ext>
            </a:extLst>
          </p:cNvPr>
          <p:cNvSpPr/>
          <p:nvPr/>
        </p:nvSpPr>
        <p:spPr>
          <a:xfrm>
            <a:off x="1188699" y="2789597"/>
            <a:ext cx="3495141" cy="68567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0A49E68-C30D-649A-E386-9B31EB93BB51}"/>
              </a:ext>
            </a:extLst>
          </p:cNvPr>
          <p:cNvSpPr txBox="1"/>
          <p:nvPr/>
        </p:nvSpPr>
        <p:spPr>
          <a:xfrm>
            <a:off x="1188699" y="2890493"/>
            <a:ext cx="3495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Wymagane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nadpisanie przez klasy implementujące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137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3199B-2126-DE59-0624-FE5BE91C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8C3A52-5890-5A39-4107-E285C9EF88B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ABBDDE0-B6D5-257B-B9F1-D65AC6931E46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 Interfejsy mogą dostarczać </a:t>
            </a:r>
            <a:r>
              <a:rPr lang="pl-PL" sz="1600" b="1" dirty="0"/>
              <a:t>domyślną</a:t>
            </a:r>
            <a:r>
              <a:rPr lang="pl-PL" sz="1600" dirty="0"/>
              <a:t> implementację metod.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F050344-9F51-DBED-F5AE-3C6770D85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361" y="1242257"/>
            <a:ext cx="3434506" cy="2141785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4F1AED1A-1236-62C5-3FDD-A1BD4DCF9ED3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4650552" y="1941612"/>
            <a:ext cx="1342698" cy="10754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2586AA30-41D6-478F-3C65-A2F0CCFB0DDE}"/>
              </a:ext>
            </a:extLst>
          </p:cNvPr>
          <p:cNvCxnSpPr>
            <a:cxnSpLocks/>
          </p:cNvCxnSpPr>
          <p:nvPr/>
        </p:nvCxnSpPr>
        <p:spPr>
          <a:xfrm flipV="1">
            <a:off x="4689520" y="2996952"/>
            <a:ext cx="1303730" cy="143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580A0B95-60C8-0FA3-A143-AE540C5C9C88}"/>
              </a:ext>
            </a:extLst>
          </p:cNvPr>
          <p:cNvSpPr/>
          <p:nvPr/>
        </p:nvSpPr>
        <p:spPr>
          <a:xfrm>
            <a:off x="1155411" y="1305412"/>
            <a:ext cx="3495141" cy="127239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222F2917-6B75-002A-8C17-A0E85D99BCE5}"/>
              </a:ext>
            </a:extLst>
          </p:cNvPr>
          <p:cNvSpPr txBox="1"/>
          <p:nvPr/>
        </p:nvSpPr>
        <p:spPr>
          <a:xfrm>
            <a:off x="1155411" y="1406308"/>
            <a:ext cx="34951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implementacją.</a:t>
            </a:r>
          </a:p>
          <a:p>
            <a:pPr algn="just"/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wymagane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nadpisanie przez klasy implementujące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1F84C36F-C3CD-9EAC-21C9-4EA171C91A43}"/>
              </a:ext>
            </a:extLst>
          </p:cNvPr>
          <p:cNvSpPr/>
          <p:nvPr/>
        </p:nvSpPr>
        <p:spPr>
          <a:xfrm>
            <a:off x="1188699" y="2789597"/>
            <a:ext cx="3495141" cy="68567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96EEA214-CD8B-00EA-F624-EA33EAF03AC9}"/>
              </a:ext>
            </a:extLst>
          </p:cNvPr>
          <p:cNvSpPr txBox="1"/>
          <p:nvPr/>
        </p:nvSpPr>
        <p:spPr>
          <a:xfrm>
            <a:off x="1188699" y="2890493"/>
            <a:ext cx="3495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Wymagane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nadpisanie przez klasy implementujące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32" name="Obraz 31">
            <a:extLst>
              <a:ext uri="{FF2B5EF4-FFF2-40B4-BE49-F238E27FC236}">
                <a16:creationId xmlns:a16="http://schemas.microsoft.com/office/drawing/2014/main" id="{8CFAC76F-161B-F444-6349-C7D7B4182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950" y="4765961"/>
            <a:ext cx="3911327" cy="1281802"/>
          </a:xfrm>
          <a:prstGeom prst="rect">
            <a:avLst/>
          </a:prstGeom>
        </p:spPr>
      </p:pic>
      <p:sp>
        <p:nvSpPr>
          <p:cNvPr id="33" name="Prostokąt: zaokrąglone rogi 32">
            <a:extLst>
              <a:ext uri="{FF2B5EF4-FFF2-40B4-BE49-F238E27FC236}">
                <a16:creationId xmlns:a16="http://schemas.microsoft.com/office/drawing/2014/main" id="{3BAC2F4D-43AE-D3E1-EC0A-AC19F81DECEB}"/>
              </a:ext>
            </a:extLst>
          </p:cNvPr>
          <p:cNvSpPr/>
          <p:nvPr/>
        </p:nvSpPr>
        <p:spPr>
          <a:xfrm>
            <a:off x="5234312" y="3961451"/>
            <a:ext cx="2821428" cy="37210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B9C36456-262A-E4BE-6300-4E01E2FEBDBE}"/>
              </a:ext>
            </a:extLst>
          </p:cNvPr>
          <p:cNvSpPr txBox="1"/>
          <p:nvPr/>
        </p:nvSpPr>
        <p:spPr>
          <a:xfrm>
            <a:off x="5234311" y="3981111"/>
            <a:ext cx="3495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implementuje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interfejs</a:t>
            </a:r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43DC7DFF-E366-32FF-278F-909576B951FA}"/>
              </a:ext>
            </a:extLst>
          </p:cNvPr>
          <p:cNvCxnSpPr>
            <a:cxnSpLocks/>
          </p:cNvCxnSpPr>
          <p:nvPr/>
        </p:nvCxnSpPr>
        <p:spPr>
          <a:xfrm>
            <a:off x="6680804" y="4333554"/>
            <a:ext cx="123444" cy="41851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71D1880E-CB65-04B2-6F56-B28BBAB84B37}"/>
              </a:ext>
            </a:extLst>
          </p:cNvPr>
          <p:cNvSpPr/>
          <p:nvPr/>
        </p:nvSpPr>
        <p:spPr>
          <a:xfrm>
            <a:off x="1155411" y="5185217"/>
            <a:ext cx="3495141" cy="367371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AC55BE54-0AFC-971D-5625-3C5F45BD25C9}"/>
              </a:ext>
            </a:extLst>
          </p:cNvPr>
          <p:cNvSpPr txBox="1"/>
          <p:nvPr/>
        </p:nvSpPr>
        <p:spPr>
          <a:xfrm>
            <a:off x="1155411" y="5159304"/>
            <a:ext cx="34951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Wymagana implementacja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metody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56E8BDA0-FF6C-5383-D5CB-06F4617E04D5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4650552" y="5301208"/>
            <a:ext cx="1145584" cy="6769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68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B5C73-ECAF-D4EA-BD79-E4527C02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85E105-7EE9-6298-A59C-72F579D2343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3283005-7B26-1723-CF3F-A81079703916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Kotlin pozwala również na definiowanie </a:t>
            </a:r>
            <a:r>
              <a:rPr lang="pl-PL" sz="1600" b="1" dirty="0"/>
              <a:t>metod prywatnych </a:t>
            </a:r>
            <a:r>
              <a:rPr lang="pl-PL" sz="1600" dirty="0"/>
              <a:t>w interfejsach.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5986311-D6C0-B11F-390F-B7F57FCD9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739" y="1124744"/>
            <a:ext cx="4458394" cy="2808312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B5E13460-8D9A-F853-101E-B5BD28323F40}"/>
              </a:ext>
            </a:extLst>
          </p:cNvPr>
          <p:cNvSpPr/>
          <p:nvPr/>
        </p:nvSpPr>
        <p:spPr>
          <a:xfrm>
            <a:off x="1056266" y="2420888"/>
            <a:ext cx="3495141" cy="121546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07EE6F67-3EF5-247F-4FF9-44016AA59097}"/>
              </a:ext>
            </a:extLst>
          </p:cNvPr>
          <p:cNvSpPr txBox="1"/>
          <p:nvPr/>
        </p:nvSpPr>
        <p:spPr>
          <a:xfrm>
            <a:off x="1056266" y="2490012"/>
            <a:ext cx="34951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Metoda prywatna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dostępna wyłącznie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obrębie interfejsu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mogą być używane do wspierania implementacji metod publicznych.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B206AA5-6EED-0CD6-4FD3-AEDCD3FBB23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51407" y="3028621"/>
            <a:ext cx="893899" cy="1123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36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05F95-DFF0-0B56-CAEB-1CEF6B09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F4FFA8-7E77-48F9-DEEF-9D23288A34A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2759CF8-C51C-2A09-CE35-A217C5123AA1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Kotlin pozwala również na definiowanie </a:t>
            </a:r>
            <a:r>
              <a:rPr lang="pl-PL" sz="1600" b="1" dirty="0"/>
              <a:t>metod prywatnych </a:t>
            </a:r>
            <a:r>
              <a:rPr lang="pl-PL" sz="1600" dirty="0"/>
              <a:t>w interfejsach.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9D6B65A-848F-6BB2-78D5-6A14BA416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739" y="1124744"/>
            <a:ext cx="4458394" cy="2808312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B8413765-FD6D-0E5F-EBB1-4EDBCECF9CE2}"/>
              </a:ext>
            </a:extLst>
          </p:cNvPr>
          <p:cNvSpPr/>
          <p:nvPr/>
        </p:nvSpPr>
        <p:spPr>
          <a:xfrm>
            <a:off x="1056266" y="2420888"/>
            <a:ext cx="3495141" cy="121546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7ABE11F-3745-3101-8DC7-BCFAF2EC5A59}"/>
              </a:ext>
            </a:extLst>
          </p:cNvPr>
          <p:cNvSpPr txBox="1"/>
          <p:nvPr/>
        </p:nvSpPr>
        <p:spPr>
          <a:xfrm>
            <a:off x="1056266" y="2490012"/>
            <a:ext cx="34951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Metoda prywatna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dostępna wyłącznie 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obrębie interfejsu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mogą być używane do wspierania implementacji metod publicznych.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D58AF41-62C4-8AF7-9D99-BC41004A5A1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551407" y="3028621"/>
            <a:ext cx="893899" cy="1123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A4FE0EF-FEBE-E990-6FBC-B3417F361954}"/>
              </a:ext>
            </a:extLst>
          </p:cNvPr>
          <p:cNvSpPr txBox="1"/>
          <p:nvPr/>
        </p:nvSpPr>
        <p:spPr>
          <a:xfrm>
            <a:off x="1115616" y="3953024"/>
            <a:ext cx="8013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 Mogą posiadać </a:t>
            </a:r>
            <a:r>
              <a:rPr lang="pl-PL" sz="1600" b="1" dirty="0"/>
              <a:t>właściwości</a:t>
            </a:r>
            <a:r>
              <a:rPr lang="pl-PL" sz="1600" dirty="0"/>
              <a:t>.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37AB8461-E059-103D-F1EC-4A65C3312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024" y="4471665"/>
            <a:ext cx="3533152" cy="1781547"/>
          </a:xfrm>
          <a:prstGeom prst="rect">
            <a:avLst/>
          </a:prstGeom>
        </p:spPr>
      </p:pic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91D697AD-4787-01D7-9D2B-833B3CE4B07C}"/>
              </a:ext>
            </a:extLst>
          </p:cNvPr>
          <p:cNvSpPr/>
          <p:nvPr/>
        </p:nvSpPr>
        <p:spPr>
          <a:xfrm>
            <a:off x="1043608" y="4660605"/>
            <a:ext cx="3495141" cy="65389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8F69BB8-A10B-DD05-9827-8C89C1503AE7}"/>
              </a:ext>
            </a:extLst>
          </p:cNvPr>
          <p:cNvSpPr txBox="1"/>
          <p:nvPr/>
        </p:nvSpPr>
        <p:spPr>
          <a:xfrm>
            <a:off x="1043608" y="4729729"/>
            <a:ext cx="3495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Właściwość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ze zdefiniowanym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D4B70A88-2E9D-5925-B202-27E4104394A7}"/>
              </a:ext>
            </a:extLst>
          </p:cNvPr>
          <p:cNvCxnSpPr>
            <a:cxnSpLocks/>
          </p:cNvCxnSpPr>
          <p:nvPr/>
        </p:nvCxnSpPr>
        <p:spPr>
          <a:xfrm>
            <a:off x="4588485" y="5022116"/>
            <a:ext cx="856821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075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1F4E9-92A4-D277-7186-AB92C9B1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C507A9-F9C2-D5FD-113C-D77C8DDA20A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BF47F92-017F-E2F4-F6B5-4B53BF832770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Interfejsy </a:t>
            </a:r>
            <a:r>
              <a:rPr lang="pl-PL" sz="1600" b="1" dirty="0"/>
              <a:t>mogą dziedziczyć </a:t>
            </a:r>
            <a:r>
              <a:rPr lang="pl-PL" sz="1600" dirty="0"/>
              <a:t>po innych interfejsach. Różnicą jest możliwość </a:t>
            </a:r>
            <a:r>
              <a:rPr lang="pl-PL" sz="1600" b="1" dirty="0"/>
              <a:t>wielokrotnego dziedziczenia</a:t>
            </a:r>
            <a:r>
              <a:rPr lang="pl-PL" sz="1600" dirty="0"/>
              <a:t>.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1E578DDA-848C-DC83-47B5-D3A659DE0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772816"/>
            <a:ext cx="5283299" cy="63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27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A91F9-F014-129B-B07F-1E509A5E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409E40-C007-861F-6521-33D679BF688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9A79DE1-B2F9-D9C8-AE49-0B5AC48515FC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Interfejsy </a:t>
            </a:r>
            <a:r>
              <a:rPr lang="pl-PL" sz="1600" b="1" dirty="0"/>
              <a:t>mogą dziedziczyć </a:t>
            </a:r>
            <a:r>
              <a:rPr lang="pl-PL" sz="1600" dirty="0"/>
              <a:t>po innych interfejsach. Różnicą jest możliwość </a:t>
            </a:r>
            <a:r>
              <a:rPr lang="pl-PL" sz="1600" b="1" dirty="0"/>
              <a:t>wielokrotnego dziedziczenia</a:t>
            </a:r>
            <a:r>
              <a:rPr lang="pl-PL" sz="1600" dirty="0"/>
              <a:t>.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91BF9743-E6DA-1EC2-B569-7C8DA8037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772816"/>
            <a:ext cx="5283299" cy="639233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60C06561-9AB9-44B3-2CBF-87274B2AA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3651825"/>
            <a:ext cx="6964263" cy="303454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3AD4E3BD-5447-C170-B4E0-D4600AB2F094}"/>
              </a:ext>
            </a:extLst>
          </p:cNvPr>
          <p:cNvCxnSpPr>
            <a:cxnSpLocks/>
          </p:cNvCxnSpPr>
          <p:nvPr/>
        </p:nvCxnSpPr>
        <p:spPr>
          <a:xfrm>
            <a:off x="2115314" y="3397483"/>
            <a:ext cx="292648" cy="27705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60F8FBB-744C-E14C-86E5-99386AA291B7}"/>
              </a:ext>
            </a:extLst>
          </p:cNvPr>
          <p:cNvSpPr txBox="1"/>
          <p:nvPr/>
        </p:nvSpPr>
        <p:spPr>
          <a:xfrm>
            <a:off x="1357232" y="2995413"/>
            <a:ext cx="108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1B6EA4B0-6942-8648-5C4C-D148863DBEFB}"/>
              </a:ext>
            </a:extLst>
          </p:cNvPr>
          <p:cNvCxnSpPr>
            <a:cxnSpLocks/>
          </p:cNvCxnSpPr>
          <p:nvPr/>
        </p:nvCxnSpPr>
        <p:spPr>
          <a:xfrm>
            <a:off x="3275856" y="3223733"/>
            <a:ext cx="121503" cy="47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44F3565-1A6D-E481-53AC-BEE1524604DF}"/>
              </a:ext>
            </a:extLst>
          </p:cNvPr>
          <p:cNvSpPr txBox="1"/>
          <p:nvPr/>
        </p:nvSpPr>
        <p:spPr>
          <a:xfrm>
            <a:off x="2348891" y="2533903"/>
            <a:ext cx="185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interfejsu</a:t>
            </a:r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FD4D35BE-658D-FA95-F55A-149450BB3910}"/>
              </a:ext>
            </a:extLst>
          </p:cNvPr>
          <p:cNvSpPr/>
          <p:nvPr/>
        </p:nvSpPr>
        <p:spPr>
          <a:xfrm rot="5400000">
            <a:off x="4846868" y="2719312"/>
            <a:ext cx="318159" cy="1481390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E1A7272-F88E-DEEA-F84C-41AD472A36EB}"/>
              </a:ext>
            </a:extLst>
          </p:cNvPr>
          <p:cNvSpPr txBox="1"/>
          <p:nvPr/>
        </p:nvSpPr>
        <p:spPr>
          <a:xfrm>
            <a:off x="4207592" y="2626158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dziedziczone interfejsy</a:t>
            </a:r>
          </a:p>
        </p:txBody>
      </p:sp>
    </p:spTree>
    <p:extLst>
      <p:ext uri="{BB962C8B-B14F-4D97-AF65-F5344CB8AC3E}">
        <p14:creationId xmlns:p14="http://schemas.microsoft.com/office/powerpoint/2010/main" val="3626712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4687D-0B6D-E170-29CE-97F9BECE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88D5B8-CDCC-16E4-C97E-E2278B592B6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Dziedziczenie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E048628-C156-9101-543A-F6F79FC22E2B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Interfejsy </a:t>
            </a:r>
            <a:r>
              <a:rPr lang="pl-PL" sz="1600" b="1" dirty="0"/>
              <a:t>mogą dziedziczyć </a:t>
            </a:r>
            <a:r>
              <a:rPr lang="pl-PL" sz="1600" dirty="0"/>
              <a:t>po innych interfejsach. Różnicą jest możliwość </a:t>
            </a:r>
            <a:r>
              <a:rPr lang="pl-PL" sz="1600" b="1" dirty="0"/>
              <a:t>wielokrotnego dziedziczenia</a:t>
            </a:r>
            <a:r>
              <a:rPr lang="pl-PL" sz="1600" dirty="0"/>
              <a:t>.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A82986E8-CC67-DA22-0535-F2A6A234E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1772816"/>
            <a:ext cx="5283299" cy="639233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B45AD773-17E8-EE59-094D-304BA2A39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3651825"/>
            <a:ext cx="6964263" cy="303454"/>
          </a:xfrm>
          <a:prstGeom prst="rect">
            <a:avLst/>
          </a:prstGeom>
        </p:spPr>
      </p:pic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6E3FED67-EB98-5A66-C61C-58ECAB419788}"/>
              </a:ext>
            </a:extLst>
          </p:cNvPr>
          <p:cNvCxnSpPr>
            <a:cxnSpLocks/>
          </p:cNvCxnSpPr>
          <p:nvPr/>
        </p:nvCxnSpPr>
        <p:spPr>
          <a:xfrm>
            <a:off x="2115314" y="3397483"/>
            <a:ext cx="292648" cy="27705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69C2E30-11AA-CED8-2BB4-4A382FE60A4D}"/>
              </a:ext>
            </a:extLst>
          </p:cNvPr>
          <p:cNvSpPr txBox="1"/>
          <p:nvPr/>
        </p:nvSpPr>
        <p:spPr>
          <a:xfrm>
            <a:off x="1357232" y="2995413"/>
            <a:ext cx="108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7E5A1B0A-7A75-CCB5-BA72-031213E56829}"/>
              </a:ext>
            </a:extLst>
          </p:cNvPr>
          <p:cNvCxnSpPr>
            <a:cxnSpLocks/>
          </p:cNvCxnSpPr>
          <p:nvPr/>
        </p:nvCxnSpPr>
        <p:spPr>
          <a:xfrm>
            <a:off x="3275856" y="3223733"/>
            <a:ext cx="121503" cy="47254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BD0ECC3-3FDA-0B33-90D0-193D09287DE2}"/>
              </a:ext>
            </a:extLst>
          </p:cNvPr>
          <p:cNvSpPr txBox="1"/>
          <p:nvPr/>
        </p:nvSpPr>
        <p:spPr>
          <a:xfrm>
            <a:off x="2348891" y="2533903"/>
            <a:ext cx="185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 interfejsu</a:t>
            </a:r>
          </a:p>
        </p:txBody>
      </p:sp>
      <p:sp>
        <p:nvSpPr>
          <p:cNvPr id="8" name="Nawias klamrowy otwierający 7">
            <a:extLst>
              <a:ext uri="{FF2B5EF4-FFF2-40B4-BE49-F238E27FC236}">
                <a16:creationId xmlns:a16="http://schemas.microsoft.com/office/drawing/2014/main" id="{FD84CA9B-151A-67D3-43EB-E90EC52BB625}"/>
              </a:ext>
            </a:extLst>
          </p:cNvPr>
          <p:cNvSpPr/>
          <p:nvPr/>
        </p:nvSpPr>
        <p:spPr>
          <a:xfrm rot="5400000">
            <a:off x="4846868" y="2719312"/>
            <a:ext cx="318159" cy="1481390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6D4691D-1240-F649-16CF-7FC40C6A2691}"/>
              </a:ext>
            </a:extLst>
          </p:cNvPr>
          <p:cNvSpPr txBox="1"/>
          <p:nvPr/>
        </p:nvSpPr>
        <p:spPr>
          <a:xfrm>
            <a:off x="4207592" y="2626158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dziedziczone interfejsy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06254802-9B99-4898-E92B-FB16E1A358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7079" y="5026496"/>
            <a:ext cx="4693897" cy="1642864"/>
          </a:xfrm>
          <a:prstGeom prst="rect">
            <a:avLst/>
          </a:prstGeom>
        </p:spPr>
      </p:pic>
      <p:sp>
        <p:nvSpPr>
          <p:cNvPr id="23" name="Nawias klamrowy otwierający 22">
            <a:extLst>
              <a:ext uri="{FF2B5EF4-FFF2-40B4-BE49-F238E27FC236}">
                <a16:creationId xmlns:a16="http://schemas.microsoft.com/office/drawing/2014/main" id="{9296AA19-5C78-2B2C-1235-6E9F6DF054F4}"/>
              </a:ext>
            </a:extLst>
          </p:cNvPr>
          <p:cNvSpPr/>
          <p:nvPr/>
        </p:nvSpPr>
        <p:spPr>
          <a:xfrm>
            <a:off x="4606297" y="5661248"/>
            <a:ext cx="318159" cy="62769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AFBB55CB-6299-8677-AA72-BC8A6B3BF903}"/>
              </a:ext>
            </a:extLst>
          </p:cNvPr>
          <p:cNvSpPr txBox="1"/>
          <p:nvPr/>
        </p:nvSpPr>
        <p:spPr>
          <a:xfrm>
            <a:off x="1121181" y="5502827"/>
            <a:ext cx="3475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implementująca interfejs musi implementować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wszystkie metody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interfejsów dziedziczonych.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C7563ACF-880D-16F0-702B-1A4DAA50A509}"/>
              </a:ext>
            </a:extLst>
          </p:cNvPr>
          <p:cNvSpPr/>
          <p:nvPr/>
        </p:nvSpPr>
        <p:spPr>
          <a:xfrm>
            <a:off x="1111156" y="5528599"/>
            <a:ext cx="3495141" cy="92760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5535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2D10CC-3AEA-05A6-BE8D-24750AEB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C8D791-9291-7AFA-F0F3-A82463017F5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F8CED0C-E07F-E3C3-2E7E-52272FDC4EF1}"/>
              </a:ext>
            </a:extLst>
          </p:cNvPr>
          <p:cNvSpPr txBox="1"/>
          <p:nvPr/>
        </p:nvSpPr>
        <p:spPr>
          <a:xfrm>
            <a:off x="1043608" y="836712"/>
            <a:ext cx="81003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Ustalenie sygnatury metod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Jednym z głównych zastosowań interfejsów jest </a:t>
            </a:r>
            <a:r>
              <a:rPr lang="pl-PL" sz="1600" b="1" dirty="0"/>
              <a:t>narzucenie klasom implementującym</a:t>
            </a:r>
            <a:r>
              <a:rPr lang="pl-PL" sz="1600" dirty="0"/>
              <a:t> interfejs </a:t>
            </a:r>
            <a:r>
              <a:rPr lang="pl-PL" sz="1600" b="1" dirty="0"/>
              <a:t>obowiązku</a:t>
            </a:r>
            <a:r>
              <a:rPr lang="pl-PL" sz="1600" dirty="0"/>
              <a:t> zaimplementowania metod zadeklarowanych w interfejsie.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397BE2F8-FFA3-8863-597D-350E2142B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479" y="2380590"/>
            <a:ext cx="6614650" cy="331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24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EAA1D-78E4-CA99-66DD-4E7F2E51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DDE175-F937-AA78-677D-AE116116164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4130E78-9637-6388-5DEA-B70E54B71CB7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Polimorfizm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Możemy używać </a:t>
            </a:r>
            <a:r>
              <a:rPr lang="pl-PL" sz="1600" b="1" dirty="0"/>
              <a:t>interfejsów jako typów</a:t>
            </a:r>
            <a:r>
              <a:rPr lang="pl-PL" sz="1600" dirty="0"/>
              <a:t>, obiekty różnych klas mogą być </a:t>
            </a:r>
            <a:r>
              <a:rPr lang="pl-PL" sz="1600" b="1" dirty="0"/>
              <a:t>traktowane w jednolity sposób</a:t>
            </a:r>
            <a:r>
              <a:rPr lang="pl-PL" sz="1600" dirty="0"/>
              <a:t>, o ile implementują ten sam interfejs.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487CDEA-B97F-9465-198E-DAA1273CE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1953175"/>
            <a:ext cx="5292852" cy="229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47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27C92-C6E5-B9D5-F4FA-5279DAFFB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08547-DF50-7789-BF1B-DF93FDF3FB7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669818-CF8C-897C-C143-0D3616DBF035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Polimorfizm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Możemy używać </a:t>
            </a:r>
            <a:r>
              <a:rPr lang="pl-PL" sz="1600" b="1" dirty="0"/>
              <a:t>interfejsów jako typów</a:t>
            </a:r>
            <a:r>
              <a:rPr lang="pl-PL" sz="1600" dirty="0"/>
              <a:t>, obiekty różnych klas mogą być </a:t>
            </a:r>
            <a:r>
              <a:rPr lang="pl-PL" sz="1600" b="1" dirty="0"/>
              <a:t>traktowane w jednolity sposób</a:t>
            </a:r>
            <a:r>
              <a:rPr lang="pl-PL" sz="1600" dirty="0"/>
              <a:t>, o ile implementują ten sam interfejs.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29DF136-4EDA-C596-7C61-BC87402F8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1953175"/>
            <a:ext cx="5292852" cy="229113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5FA2483-4991-2EED-7AB2-1D49BD683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402" y="4727852"/>
            <a:ext cx="5855863" cy="40918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11F5A187-A58F-E633-2A32-4911D66EE1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402" y="6196069"/>
            <a:ext cx="6279226" cy="324787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31701094-2636-CDD7-6AA8-9AD7400FF626}"/>
              </a:ext>
            </a:extLst>
          </p:cNvPr>
          <p:cNvCxnSpPr>
            <a:cxnSpLocks/>
          </p:cNvCxnSpPr>
          <p:nvPr/>
        </p:nvCxnSpPr>
        <p:spPr>
          <a:xfrm>
            <a:off x="4144568" y="5877272"/>
            <a:ext cx="0" cy="3527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86CF6C40-4CCD-0695-62BA-D6955FF10ACC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230817" y="5080598"/>
            <a:ext cx="557207" cy="41425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7B53BFA3-02F8-12D3-62B6-DFFC504C8F87}"/>
              </a:ext>
            </a:extLst>
          </p:cNvPr>
          <p:cNvSpPr txBox="1"/>
          <p:nvPr/>
        </p:nvSpPr>
        <p:spPr>
          <a:xfrm>
            <a:off x="3050479" y="5469084"/>
            <a:ext cx="3475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 typie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interfesju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5E6062A7-41C8-E46B-9F59-DDF7A823F646}"/>
              </a:ext>
            </a:extLst>
          </p:cNvPr>
          <p:cNvSpPr/>
          <p:nvPr/>
        </p:nvSpPr>
        <p:spPr>
          <a:xfrm>
            <a:off x="3040455" y="5494856"/>
            <a:ext cx="2380724" cy="3486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4438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E37D5-10F9-3708-05DE-98A3AEA6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A965D6-281B-3DED-08D9-B821E7812A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07C8725-70C9-5F4A-E204-E40C8AB3CDEC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Polimorfizm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Możemy używać </a:t>
            </a:r>
            <a:r>
              <a:rPr lang="pl-PL" sz="1600" b="1" dirty="0"/>
              <a:t>interfejsów jako typów</a:t>
            </a:r>
            <a:r>
              <a:rPr lang="pl-PL" sz="1600" dirty="0"/>
              <a:t>, obiekty różnych klas mogą być </a:t>
            </a:r>
            <a:r>
              <a:rPr lang="pl-PL" sz="1600" b="1" dirty="0"/>
              <a:t>traktowane w jednolity sposób</a:t>
            </a:r>
            <a:r>
              <a:rPr lang="pl-PL" sz="1600" dirty="0"/>
              <a:t>, o ile implementują ten sam interfejs.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3701AE6-EB9E-35EF-DF55-168B3CCC6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946361"/>
            <a:ext cx="5855863" cy="40918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C20A94A5-8F65-14FA-BA92-82B5C1DE9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80" y="3414578"/>
            <a:ext cx="6279226" cy="324787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7209E7C4-A033-8596-EB2C-768EF7D3C1EC}"/>
              </a:ext>
            </a:extLst>
          </p:cNvPr>
          <p:cNvCxnSpPr>
            <a:cxnSpLocks/>
          </p:cNvCxnSpPr>
          <p:nvPr/>
        </p:nvCxnSpPr>
        <p:spPr>
          <a:xfrm>
            <a:off x="4266846" y="3095781"/>
            <a:ext cx="0" cy="3527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6DFF8C9-0BB6-95AA-C7DF-BF57F5BDF9D0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353095" y="2299107"/>
            <a:ext cx="557207" cy="41425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DDC0C88-F8B6-48FA-F26A-C911D173BF4A}"/>
              </a:ext>
            </a:extLst>
          </p:cNvPr>
          <p:cNvSpPr txBox="1"/>
          <p:nvPr/>
        </p:nvSpPr>
        <p:spPr>
          <a:xfrm>
            <a:off x="3172757" y="2687593"/>
            <a:ext cx="3475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 typie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interfesju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13F2FAD0-08D5-CA74-73CE-22AE8B803B03}"/>
              </a:ext>
            </a:extLst>
          </p:cNvPr>
          <p:cNvSpPr/>
          <p:nvPr/>
        </p:nvSpPr>
        <p:spPr>
          <a:xfrm>
            <a:off x="3162733" y="2713365"/>
            <a:ext cx="2380724" cy="3486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" name="Owal 3">
            <a:extLst>
              <a:ext uri="{FF2B5EF4-FFF2-40B4-BE49-F238E27FC236}">
                <a16:creationId xmlns:a16="http://schemas.microsoft.com/office/drawing/2014/main" id="{EBFFD1A5-6C1E-9CEF-77F7-B711A0360E82}"/>
              </a:ext>
            </a:extLst>
          </p:cNvPr>
          <p:cNvSpPr/>
          <p:nvPr/>
        </p:nvSpPr>
        <p:spPr>
          <a:xfrm>
            <a:off x="3260038" y="4480962"/>
            <a:ext cx="1008112" cy="1008112"/>
          </a:xfrm>
          <a:prstGeom prst="ellipse">
            <a:avLst/>
          </a:prstGeom>
          <a:solidFill>
            <a:schemeClr val="accent1">
              <a:alpha val="46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40D5FD58-09DB-755B-0647-73F8837F9A46}"/>
              </a:ext>
            </a:extLst>
          </p:cNvPr>
          <p:cNvCxnSpPr>
            <a:cxnSpLocks/>
          </p:cNvCxnSpPr>
          <p:nvPr/>
        </p:nvCxnSpPr>
        <p:spPr>
          <a:xfrm>
            <a:off x="2784133" y="4246028"/>
            <a:ext cx="754508" cy="4008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owolny kształt: kształt 6">
            <a:extLst>
              <a:ext uri="{FF2B5EF4-FFF2-40B4-BE49-F238E27FC236}">
                <a16:creationId xmlns:a16="http://schemas.microsoft.com/office/drawing/2014/main" id="{6365DB6F-028F-BA4A-F4BF-7915891D6681}"/>
              </a:ext>
            </a:extLst>
          </p:cNvPr>
          <p:cNvSpPr/>
          <p:nvPr/>
        </p:nvSpPr>
        <p:spPr>
          <a:xfrm>
            <a:off x="2783583" y="4377942"/>
            <a:ext cx="1797319" cy="1380067"/>
          </a:xfrm>
          <a:custGeom>
            <a:avLst/>
            <a:gdLst>
              <a:gd name="connsiteX0" fmla="*/ 618066 w 2946400"/>
              <a:gd name="connsiteY0" fmla="*/ 0 h 1380067"/>
              <a:gd name="connsiteX1" fmla="*/ 618066 w 2946400"/>
              <a:gd name="connsiteY1" fmla="*/ 0 h 1380067"/>
              <a:gd name="connsiteX2" fmla="*/ 1278466 w 2946400"/>
              <a:gd name="connsiteY2" fmla="*/ 33867 h 1380067"/>
              <a:gd name="connsiteX3" fmla="*/ 1591733 w 2946400"/>
              <a:gd name="connsiteY3" fmla="*/ 8467 h 1380067"/>
              <a:gd name="connsiteX4" fmla="*/ 2946400 w 2946400"/>
              <a:gd name="connsiteY4" fmla="*/ 16933 h 1380067"/>
              <a:gd name="connsiteX5" fmla="*/ 2667000 w 2946400"/>
              <a:gd name="connsiteY5" fmla="*/ 1024467 h 1380067"/>
              <a:gd name="connsiteX6" fmla="*/ 719666 w 2946400"/>
              <a:gd name="connsiteY6" fmla="*/ 1380067 h 1380067"/>
              <a:gd name="connsiteX7" fmla="*/ 0 w 2946400"/>
              <a:gd name="connsiteY7" fmla="*/ 855133 h 1380067"/>
              <a:gd name="connsiteX8" fmla="*/ 626533 w 2946400"/>
              <a:gd name="connsiteY8" fmla="*/ 270933 h 1380067"/>
              <a:gd name="connsiteX9" fmla="*/ 618066 w 2946400"/>
              <a:gd name="connsiteY9" fmla="*/ 0 h 138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46400" h="1380067">
                <a:moveTo>
                  <a:pt x="618066" y="0"/>
                </a:moveTo>
                <a:lnTo>
                  <a:pt x="618066" y="0"/>
                </a:lnTo>
                <a:cubicBezTo>
                  <a:pt x="882757" y="24063"/>
                  <a:pt x="995800" y="40761"/>
                  <a:pt x="1278466" y="33867"/>
                </a:cubicBezTo>
                <a:cubicBezTo>
                  <a:pt x="1383200" y="31313"/>
                  <a:pt x="1487311" y="16934"/>
                  <a:pt x="1591733" y="8467"/>
                </a:cubicBezTo>
                <a:lnTo>
                  <a:pt x="2946400" y="16933"/>
                </a:lnTo>
                <a:lnTo>
                  <a:pt x="2667000" y="1024467"/>
                </a:lnTo>
                <a:lnTo>
                  <a:pt x="719666" y="1380067"/>
                </a:lnTo>
                <a:lnTo>
                  <a:pt x="0" y="855133"/>
                </a:lnTo>
                <a:lnTo>
                  <a:pt x="626533" y="270933"/>
                </a:lnTo>
                <a:lnTo>
                  <a:pt x="618066" y="0"/>
                </a:lnTo>
                <a:close/>
              </a:path>
            </a:pathLst>
          </a:custGeom>
          <a:solidFill>
            <a:schemeClr val="accent3">
              <a:alpha val="5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7952799E-B41A-6B5D-D9F6-414234E4848C}"/>
              </a:ext>
            </a:extLst>
          </p:cNvPr>
          <p:cNvSpPr txBox="1"/>
          <p:nvPr/>
        </p:nvSpPr>
        <p:spPr>
          <a:xfrm>
            <a:off x="2371199" y="385948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Circle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737A1BF6-B8A7-11E4-827E-9572C463AE37}"/>
              </a:ext>
            </a:extLst>
          </p:cNvPr>
          <p:cNvCxnSpPr>
            <a:cxnSpLocks/>
          </p:cNvCxnSpPr>
          <p:nvPr/>
        </p:nvCxnSpPr>
        <p:spPr>
          <a:xfrm>
            <a:off x="2345001" y="4850734"/>
            <a:ext cx="754508" cy="4008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CB86A75A-5E40-9630-0F7F-EECCAC4553B3}"/>
              </a:ext>
            </a:extLst>
          </p:cNvPr>
          <p:cNvSpPr txBox="1"/>
          <p:nvPr/>
        </p:nvSpPr>
        <p:spPr>
          <a:xfrm>
            <a:off x="1906420" y="44641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Shape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EF66C92E-C1A1-DAD0-0BEC-DCC31BBA69E9}"/>
              </a:ext>
            </a:extLst>
          </p:cNvPr>
          <p:cNvSpPr/>
          <p:nvPr/>
        </p:nvSpPr>
        <p:spPr>
          <a:xfrm>
            <a:off x="6233458" y="4407084"/>
            <a:ext cx="1007203" cy="1007203"/>
          </a:xfrm>
          <a:prstGeom prst="rect">
            <a:avLst/>
          </a:prstGeom>
          <a:solidFill>
            <a:schemeClr val="accent1">
              <a:alpha val="4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B3F7B5F8-2D72-43D7-4F87-EF21E33444DB}"/>
              </a:ext>
            </a:extLst>
          </p:cNvPr>
          <p:cNvCxnSpPr>
            <a:cxnSpLocks/>
          </p:cNvCxnSpPr>
          <p:nvPr/>
        </p:nvCxnSpPr>
        <p:spPr>
          <a:xfrm>
            <a:off x="5764838" y="4246028"/>
            <a:ext cx="754508" cy="4008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owolny kształt: kształt 19">
            <a:extLst>
              <a:ext uri="{FF2B5EF4-FFF2-40B4-BE49-F238E27FC236}">
                <a16:creationId xmlns:a16="http://schemas.microsoft.com/office/drawing/2014/main" id="{81E23B07-A47C-CAF6-3BCE-52CE4A2E6C41}"/>
              </a:ext>
            </a:extLst>
          </p:cNvPr>
          <p:cNvSpPr/>
          <p:nvPr/>
        </p:nvSpPr>
        <p:spPr>
          <a:xfrm>
            <a:off x="5764288" y="4377942"/>
            <a:ext cx="1797319" cy="1380067"/>
          </a:xfrm>
          <a:custGeom>
            <a:avLst/>
            <a:gdLst>
              <a:gd name="connsiteX0" fmla="*/ 618066 w 2946400"/>
              <a:gd name="connsiteY0" fmla="*/ 0 h 1380067"/>
              <a:gd name="connsiteX1" fmla="*/ 618066 w 2946400"/>
              <a:gd name="connsiteY1" fmla="*/ 0 h 1380067"/>
              <a:gd name="connsiteX2" fmla="*/ 1278466 w 2946400"/>
              <a:gd name="connsiteY2" fmla="*/ 33867 h 1380067"/>
              <a:gd name="connsiteX3" fmla="*/ 1591733 w 2946400"/>
              <a:gd name="connsiteY3" fmla="*/ 8467 h 1380067"/>
              <a:gd name="connsiteX4" fmla="*/ 2946400 w 2946400"/>
              <a:gd name="connsiteY4" fmla="*/ 16933 h 1380067"/>
              <a:gd name="connsiteX5" fmla="*/ 2667000 w 2946400"/>
              <a:gd name="connsiteY5" fmla="*/ 1024467 h 1380067"/>
              <a:gd name="connsiteX6" fmla="*/ 719666 w 2946400"/>
              <a:gd name="connsiteY6" fmla="*/ 1380067 h 1380067"/>
              <a:gd name="connsiteX7" fmla="*/ 0 w 2946400"/>
              <a:gd name="connsiteY7" fmla="*/ 855133 h 1380067"/>
              <a:gd name="connsiteX8" fmla="*/ 626533 w 2946400"/>
              <a:gd name="connsiteY8" fmla="*/ 270933 h 1380067"/>
              <a:gd name="connsiteX9" fmla="*/ 618066 w 2946400"/>
              <a:gd name="connsiteY9" fmla="*/ 0 h 138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46400" h="1380067">
                <a:moveTo>
                  <a:pt x="618066" y="0"/>
                </a:moveTo>
                <a:lnTo>
                  <a:pt x="618066" y="0"/>
                </a:lnTo>
                <a:cubicBezTo>
                  <a:pt x="882757" y="24063"/>
                  <a:pt x="995800" y="40761"/>
                  <a:pt x="1278466" y="33867"/>
                </a:cubicBezTo>
                <a:cubicBezTo>
                  <a:pt x="1383200" y="31313"/>
                  <a:pt x="1487311" y="16934"/>
                  <a:pt x="1591733" y="8467"/>
                </a:cubicBezTo>
                <a:lnTo>
                  <a:pt x="2946400" y="16933"/>
                </a:lnTo>
                <a:lnTo>
                  <a:pt x="2667000" y="1024467"/>
                </a:lnTo>
                <a:lnTo>
                  <a:pt x="719666" y="1380067"/>
                </a:lnTo>
                <a:lnTo>
                  <a:pt x="0" y="855133"/>
                </a:lnTo>
                <a:lnTo>
                  <a:pt x="626533" y="270933"/>
                </a:lnTo>
                <a:lnTo>
                  <a:pt x="618066" y="0"/>
                </a:lnTo>
                <a:close/>
              </a:path>
            </a:pathLst>
          </a:custGeom>
          <a:solidFill>
            <a:schemeClr val="accent3">
              <a:alpha val="5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172305EA-88AB-BCF7-3F6C-26603002DA02}"/>
              </a:ext>
            </a:extLst>
          </p:cNvPr>
          <p:cNvSpPr txBox="1"/>
          <p:nvPr/>
        </p:nvSpPr>
        <p:spPr>
          <a:xfrm>
            <a:off x="5281373" y="3859489"/>
            <a:ext cx="966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Square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42B4299F-A500-0A83-2AD3-BA55428A47A2}"/>
              </a:ext>
            </a:extLst>
          </p:cNvPr>
          <p:cNvCxnSpPr>
            <a:cxnSpLocks/>
          </p:cNvCxnSpPr>
          <p:nvPr/>
        </p:nvCxnSpPr>
        <p:spPr>
          <a:xfrm>
            <a:off x="5325706" y="4850734"/>
            <a:ext cx="754508" cy="4008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311BF866-A1E9-1515-9FDC-EF3E59B044E3}"/>
              </a:ext>
            </a:extLst>
          </p:cNvPr>
          <p:cNvSpPr txBox="1"/>
          <p:nvPr/>
        </p:nvSpPr>
        <p:spPr>
          <a:xfrm>
            <a:off x="4887125" y="446419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Shape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1FCC2DF8-11A8-DC1F-5875-CD40BD0F4426}"/>
              </a:ext>
            </a:extLst>
          </p:cNvPr>
          <p:cNvSpPr txBox="1"/>
          <p:nvPr/>
        </p:nvSpPr>
        <p:spPr>
          <a:xfrm>
            <a:off x="1069717" y="6182234"/>
            <a:ext cx="8100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Implementowanie interfejsu nadaje klasie typ interfejsu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97172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57BA2-D5A9-F0B3-A8BA-977CDA0A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714388-E026-9957-8DFC-9C8B1CA1225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4CB6871-B6B9-8400-F039-78C7EA45E57A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znacznikowy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interfejs, który </a:t>
            </a:r>
            <a:r>
              <a:rPr lang="pl-PL" sz="1600" b="1" dirty="0"/>
              <a:t>nie zawiera żadnych</a:t>
            </a:r>
            <a:r>
              <a:rPr lang="pl-PL" sz="1600" dirty="0"/>
              <a:t> metod ani właściwości. Celem jest </a:t>
            </a:r>
            <a:r>
              <a:rPr lang="pl-PL" sz="1600" b="1" dirty="0"/>
              <a:t>oznaczenie</a:t>
            </a:r>
            <a:r>
              <a:rPr lang="pl-PL" sz="1600" dirty="0"/>
              <a:t> klas jako </a:t>
            </a:r>
            <a:r>
              <a:rPr lang="pl-PL" sz="1600" b="1" dirty="0"/>
              <a:t>spełniających określone kryteria</a:t>
            </a:r>
            <a:r>
              <a:rPr lang="pl-PL" sz="1600" dirty="0"/>
              <a:t>, </a:t>
            </a:r>
            <a:r>
              <a:rPr lang="pl-PL" sz="1600" b="1" dirty="0"/>
              <a:t>zgrupowanie</a:t>
            </a:r>
            <a:r>
              <a:rPr lang="pl-PL" sz="1600" dirty="0"/>
              <a:t> pod wspólnym typem.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91680AD4-C805-8D5D-FE98-BE96C3BF4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564904"/>
            <a:ext cx="5104234" cy="965856"/>
          </a:xfrm>
          <a:prstGeom prst="rect">
            <a:avLst/>
          </a:prstGeom>
        </p:spPr>
      </p:pic>
      <p:sp>
        <p:nvSpPr>
          <p:cNvPr id="4" name="Prostokąt 3">
            <a:extLst>
              <a:ext uri="{FF2B5EF4-FFF2-40B4-BE49-F238E27FC236}">
                <a16:creationId xmlns:a16="http://schemas.microsoft.com/office/drawing/2014/main" id="{89586298-93CB-5D81-81E2-F54109BF409C}"/>
              </a:ext>
            </a:extLst>
          </p:cNvPr>
          <p:cNvSpPr/>
          <p:nvPr/>
        </p:nvSpPr>
        <p:spPr>
          <a:xfrm>
            <a:off x="3851920" y="2996952"/>
            <a:ext cx="5040560" cy="10801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4428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AE140-B205-3858-4BAC-DC63D91E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D9F99E-3941-0A28-0EA6-B923B096298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BFE8D22-09BF-9786-18A9-64FA67CD1A4E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znacznikowy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interfejs, który </a:t>
            </a:r>
            <a:r>
              <a:rPr lang="pl-PL" sz="1600" b="1" dirty="0"/>
              <a:t>nie zawiera żadnych</a:t>
            </a:r>
            <a:r>
              <a:rPr lang="pl-PL" sz="1600" dirty="0"/>
              <a:t> metod ani właściwości. Celem jest </a:t>
            </a:r>
            <a:r>
              <a:rPr lang="pl-PL" sz="1600" b="1" dirty="0"/>
              <a:t>oznaczenie</a:t>
            </a:r>
            <a:r>
              <a:rPr lang="pl-PL" sz="1600" dirty="0"/>
              <a:t> klas jako </a:t>
            </a:r>
            <a:r>
              <a:rPr lang="pl-PL" sz="1600" b="1" dirty="0"/>
              <a:t>spełniających określone kryteria</a:t>
            </a:r>
            <a:r>
              <a:rPr lang="pl-PL" sz="1600" dirty="0"/>
              <a:t>, </a:t>
            </a:r>
            <a:r>
              <a:rPr lang="pl-PL" sz="1600" b="1" dirty="0"/>
              <a:t>zgrupowanie</a:t>
            </a:r>
            <a:r>
              <a:rPr lang="pl-PL" sz="1600" dirty="0"/>
              <a:t> pod wspólnym typem.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F2E57C3B-D76D-5038-B8FB-198214A8E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564904"/>
            <a:ext cx="5104234" cy="965856"/>
          </a:xfrm>
          <a:prstGeom prst="rect">
            <a:avLst/>
          </a:prstGeom>
        </p:spPr>
      </p:pic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2CBD3DBF-7DCC-4159-FF0D-B19FFA534EF0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818140" y="2435795"/>
            <a:ext cx="1438643" cy="3876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2C674EBF-0458-B2B6-E06F-967A85FC3408}"/>
              </a:ext>
            </a:extLst>
          </p:cNvPr>
          <p:cNvSpPr txBox="1"/>
          <p:nvPr/>
        </p:nvSpPr>
        <p:spPr>
          <a:xfrm>
            <a:off x="1689740" y="2073817"/>
            <a:ext cx="3158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Interfejs znacznikowy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9C652C74-AA6F-1D5F-D8CF-1CD0E395D1AF}"/>
              </a:ext>
            </a:extLst>
          </p:cNvPr>
          <p:cNvSpPr/>
          <p:nvPr/>
        </p:nvSpPr>
        <p:spPr>
          <a:xfrm>
            <a:off x="1712352" y="2087122"/>
            <a:ext cx="2211575" cy="3486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89758134-2AFD-8AA5-E586-80BB49FDC627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471207" y="3140968"/>
            <a:ext cx="785576" cy="974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C9D024F2-64F6-5B30-EA93-E7269ED9EAC2}"/>
              </a:ext>
            </a:extLst>
          </p:cNvPr>
          <p:cNvSpPr txBox="1"/>
          <p:nvPr/>
        </p:nvSpPr>
        <p:spPr>
          <a:xfrm>
            <a:off x="1287103" y="2935662"/>
            <a:ext cx="221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implementująca interfejs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3CBD5DD0-EC8A-C8DD-7DFF-37DBB23932A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471207" y="3238373"/>
            <a:ext cx="785576" cy="1423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6F4316A7-CCF5-4C5E-D97B-7B32DC4CF754}"/>
              </a:ext>
            </a:extLst>
          </p:cNvPr>
          <p:cNvSpPr/>
          <p:nvPr/>
        </p:nvSpPr>
        <p:spPr>
          <a:xfrm>
            <a:off x="1259632" y="2945985"/>
            <a:ext cx="221157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9" name="pole tekstowe 38">
            <a:extLst>
              <a:ext uri="{FF2B5EF4-FFF2-40B4-BE49-F238E27FC236}">
                <a16:creationId xmlns:a16="http://schemas.microsoft.com/office/drawing/2014/main" id="{FFA582AC-1BD6-8511-7A3C-3A6C7ABBBB06}"/>
              </a:ext>
            </a:extLst>
          </p:cNvPr>
          <p:cNvSpPr txBox="1"/>
          <p:nvPr/>
        </p:nvSpPr>
        <p:spPr>
          <a:xfrm>
            <a:off x="6638104" y="1933333"/>
            <a:ext cx="221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Implementowany interfejs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9C419407-B8C8-D074-CB53-25353E36FA7F}"/>
              </a:ext>
            </a:extLst>
          </p:cNvPr>
          <p:cNvSpPr/>
          <p:nvPr/>
        </p:nvSpPr>
        <p:spPr>
          <a:xfrm>
            <a:off x="6508957" y="1933962"/>
            <a:ext cx="221157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41" name="Łącznik prosty ze strzałką 40">
            <a:extLst>
              <a:ext uri="{FF2B5EF4-FFF2-40B4-BE49-F238E27FC236}">
                <a16:creationId xmlns:a16="http://schemas.microsoft.com/office/drawing/2014/main" id="{BFCC87C8-284A-36EF-6E1A-5676B2A59A6E}"/>
              </a:ext>
            </a:extLst>
          </p:cNvPr>
          <p:cNvCxnSpPr>
            <a:cxnSpLocks/>
          </p:cNvCxnSpPr>
          <p:nvPr/>
        </p:nvCxnSpPr>
        <p:spPr>
          <a:xfrm flipH="1">
            <a:off x="6721258" y="2550830"/>
            <a:ext cx="893486" cy="4291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2ABE51CC-1838-B9AF-B3A4-418BD4651EA6}"/>
              </a:ext>
            </a:extLst>
          </p:cNvPr>
          <p:cNvCxnSpPr>
            <a:cxnSpLocks/>
          </p:cNvCxnSpPr>
          <p:nvPr/>
        </p:nvCxnSpPr>
        <p:spPr>
          <a:xfrm>
            <a:off x="8190634" y="2550830"/>
            <a:ext cx="413814" cy="6772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506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B6933-698A-50EC-9F86-332A553B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7630A8-7192-18EB-FC78-22E54A41F1B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CE7831C-6E83-99A1-D7CE-2BD5223287C0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znacznikowy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interfejs, który </a:t>
            </a:r>
            <a:r>
              <a:rPr lang="pl-PL" sz="1600" b="1" dirty="0"/>
              <a:t>nie zawiera żadnych</a:t>
            </a:r>
            <a:r>
              <a:rPr lang="pl-PL" sz="1600" dirty="0"/>
              <a:t> metod ani właściwości. Celem jest </a:t>
            </a:r>
            <a:r>
              <a:rPr lang="pl-PL" sz="1600" b="1" dirty="0"/>
              <a:t>oznaczenie</a:t>
            </a:r>
            <a:r>
              <a:rPr lang="pl-PL" sz="1600" dirty="0"/>
              <a:t> klas jako </a:t>
            </a:r>
            <a:r>
              <a:rPr lang="pl-PL" sz="1600" b="1" dirty="0"/>
              <a:t>spełniających określone kryteria</a:t>
            </a:r>
            <a:r>
              <a:rPr lang="pl-PL" sz="1600" dirty="0"/>
              <a:t>, </a:t>
            </a:r>
            <a:r>
              <a:rPr lang="pl-PL" sz="1600" b="1" dirty="0"/>
              <a:t>zgrupowanie</a:t>
            </a:r>
            <a:r>
              <a:rPr lang="pl-PL" sz="1600" dirty="0"/>
              <a:t> pod wspólnym typem.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AA53F0FE-EFE3-EB0F-42C5-8C7D40F5E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564904"/>
            <a:ext cx="5104234" cy="965856"/>
          </a:xfrm>
          <a:prstGeom prst="rect">
            <a:avLst/>
          </a:prstGeom>
        </p:spPr>
      </p:pic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92E3A99E-131C-4C08-2F66-8A31E6651532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818140" y="2435795"/>
            <a:ext cx="1438643" cy="38766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0805CAE3-CFD5-9F83-A11E-4B6769C105B0}"/>
              </a:ext>
            </a:extLst>
          </p:cNvPr>
          <p:cNvSpPr txBox="1"/>
          <p:nvPr/>
        </p:nvSpPr>
        <p:spPr>
          <a:xfrm>
            <a:off x="1689740" y="2073817"/>
            <a:ext cx="3158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Interfejs znacznikowy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99D2F780-FD1F-2D20-089B-DB66A664A7F4}"/>
              </a:ext>
            </a:extLst>
          </p:cNvPr>
          <p:cNvSpPr/>
          <p:nvPr/>
        </p:nvSpPr>
        <p:spPr>
          <a:xfrm>
            <a:off x="1712352" y="2087122"/>
            <a:ext cx="2211575" cy="34867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FDE8D488-6182-514B-4B63-F8FD8F79BCD4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3471207" y="3140968"/>
            <a:ext cx="785576" cy="974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3635900E-9541-9051-4F18-6375FDD4399D}"/>
              </a:ext>
            </a:extLst>
          </p:cNvPr>
          <p:cNvSpPr txBox="1"/>
          <p:nvPr/>
        </p:nvSpPr>
        <p:spPr>
          <a:xfrm>
            <a:off x="1287103" y="2935662"/>
            <a:ext cx="221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implementująca interfejs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03683451-5AA4-E9E2-A381-8AEADB878A97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3471207" y="3238373"/>
            <a:ext cx="785576" cy="1423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00793C92-B231-3F82-625B-335940E9AB96}"/>
              </a:ext>
            </a:extLst>
          </p:cNvPr>
          <p:cNvSpPr/>
          <p:nvPr/>
        </p:nvSpPr>
        <p:spPr>
          <a:xfrm>
            <a:off x="1259632" y="2945985"/>
            <a:ext cx="221157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6AD5FE6-54CF-C1CC-E173-F55206BA0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8385" y="4643583"/>
            <a:ext cx="5630838" cy="137911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A51C663-0B25-A470-B16B-523E3C0C9416}"/>
              </a:ext>
            </a:extLst>
          </p:cNvPr>
          <p:cNvSpPr txBox="1"/>
          <p:nvPr/>
        </p:nvSpPr>
        <p:spPr>
          <a:xfrm>
            <a:off x="4355976" y="4046791"/>
            <a:ext cx="3068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 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typie interfejsu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3D52ECB-7F43-982F-96F7-0CF003576AAE}"/>
              </a:ext>
            </a:extLst>
          </p:cNvPr>
          <p:cNvSpPr/>
          <p:nvPr/>
        </p:nvSpPr>
        <p:spPr>
          <a:xfrm>
            <a:off x="4355976" y="4046791"/>
            <a:ext cx="2304256" cy="35701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13306351-C95A-9B57-EB0D-64DA4F67E07A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923927" y="4403803"/>
            <a:ext cx="1584177" cy="25010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AD5CD3B9-0E34-6081-7CE8-DF0711D5BB4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508104" y="3472238"/>
            <a:ext cx="850175" cy="5745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8578AF3E-0984-A8C0-739D-D1FEBF9140EE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508104" y="3472238"/>
            <a:ext cx="2426309" cy="5745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EF0BD6E0-6744-3120-A9E7-C279792C6601}"/>
              </a:ext>
            </a:extLst>
          </p:cNvPr>
          <p:cNvSpPr/>
          <p:nvPr/>
        </p:nvSpPr>
        <p:spPr>
          <a:xfrm>
            <a:off x="1237856" y="2956308"/>
            <a:ext cx="221157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98E747A8-B5AB-3C3A-5897-8841AE6CB6B5}"/>
              </a:ext>
            </a:extLst>
          </p:cNvPr>
          <p:cNvSpPr txBox="1"/>
          <p:nvPr/>
        </p:nvSpPr>
        <p:spPr>
          <a:xfrm>
            <a:off x="6638104" y="1933333"/>
            <a:ext cx="2211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Implementowany interfejs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9F9255B4-5C00-16BC-7B16-D07E0659BEFC}"/>
              </a:ext>
            </a:extLst>
          </p:cNvPr>
          <p:cNvSpPr/>
          <p:nvPr/>
        </p:nvSpPr>
        <p:spPr>
          <a:xfrm>
            <a:off x="6508957" y="1933962"/>
            <a:ext cx="221157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F77AC89F-2854-CAE7-3B41-AE733DDC47D7}"/>
              </a:ext>
            </a:extLst>
          </p:cNvPr>
          <p:cNvCxnSpPr>
            <a:cxnSpLocks/>
          </p:cNvCxnSpPr>
          <p:nvPr/>
        </p:nvCxnSpPr>
        <p:spPr>
          <a:xfrm flipH="1">
            <a:off x="6721258" y="2550830"/>
            <a:ext cx="893486" cy="4291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BBBC4D8D-0AE0-1D3B-3D37-3DECE520F27F}"/>
              </a:ext>
            </a:extLst>
          </p:cNvPr>
          <p:cNvCxnSpPr>
            <a:cxnSpLocks/>
          </p:cNvCxnSpPr>
          <p:nvPr/>
        </p:nvCxnSpPr>
        <p:spPr>
          <a:xfrm>
            <a:off x="8190634" y="2550830"/>
            <a:ext cx="413814" cy="6772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900852B1-92E4-71D7-EC1B-5331D65134AD}"/>
              </a:ext>
            </a:extLst>
          </p:cNvPr>
          <p:cNvSpPr txBox="1"/>
          <p:nvPr/>
        </p:nvSpPr>
        <p:spPr>
          <a:xfrm>
            <a:off x="1287103" y="6280931"/>
            <a:ext cx="7677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Przykładem interfejsu znacznikowego w bibliotece standardowej jest </a:t>
            </a:r>
            <a:r>
              <a:rPr lang="pl-PL" sz="1600" b="1" dirty="0" err="1"/>
              <a:t>Serializable</a:t>
            </a:r>
            <a:r>
              <a:rPr lang="pl-PL" sz="16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397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CC04E-B7D7-93B8-FA7E-B2B7A055E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2A822-6983-9C4D-BFBD-FFA75E76285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88C85DA-2317-EBCE-7C28-9BE04F171F44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Nadanie wspólnej cechy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interfejsy </a:t>
            </a:r>
            <a:r>
              <a:rPr lang="pl-PL" sz="1600" b="1" dirty="0"/>
              <a:t>opisują cechę </a:t>
            </a:r>
            <a:r>
              <a:rPr lang="pl-PL" sz="1600" dirty="0"/>
              <a:t>(na podstawie </a:t>
            </a:r>
            <a:r>
              <a:rPr lang="pl-PL" sz="1600" b="1" dirty="0"/>
              <a:t>metod</a:t>
            </a:r>
            <a:r>
              <a:rPr lang="pl-PL" sz="1600" dirty="0"/>
              <a:t> i </a:t>
            </a:r>
            <a:r>
              <a:rPr lang="pl-PL" sz="1600" b="1" dirty="0"/>
              <a:t>właściwości</a:t>
            </a:r>
            <a:r>
              <a:rPr lang="pl-PL" sz="1600" dirty="0"/>
              <a:t>), która jest </a:t>
            </a:r>
            <a:r>
              <a:rPr lang="pl-PL" sz="1600" b="1" dirty="0"/>
              <a:t>nadana</a:t>
            </a:r>
            <a:r>
              <a:rPr lang="pl-PL" sz="1600" dirty="0"/>
              <a:t> implementującym je klasom.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A5A3A804-6C81-4B34-356F-D11406ACC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324967"/>
            <a:ext cx="2736304" cy="269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12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7EC6C-0364-9F1D-9FE1-4D1EBB2F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540370-F1A7-863F-B6E4-BEA39EE313B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97F298-A1CC-4CF3-2856-935A2AB40A41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funkcyjny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Zawierają </a:t>
            </a:r>
            <a:r>
              <a:rPr lang="pl-PL" sz="1600" b="1" dirty="0"/>
              <a:t>tylko jedną metodę,</a:t>
            </a:r>
            <a:r>
              <a:rPr lang="pl-PL" sz="1600" dirty="0"/>
              <a:t> są one wykorzystywane głównie do reprezentowania </a:t>
            </a:r>
            <a:r>
              <a:rPr lang="pl-PL" sz="1600" b="1" dirty="0"/>
              <a:t>wyrażeń lambda </a:t>
            </a:r>
            <a:r>
              <a:rPr lang="pl-PL" sz="1600" dirty="0"/>
              <a:t>jako </a:t>
            </a:r>
            <a:r>
              <a:rPr lang="pl-PL" sz="1600" b="1" dirty="0"/>
              <a:t>typów danych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8D01198-D4EF-2A04-41F4-A517F528C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49" y="2744936"/>
            <a:ext cx="4175770" cy="108862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08A0AD00-2EAD-25E7-C629-AFA7F7E31808}"/>
              </a:ext>
            </a:extLst>
          </p:cNvPr>
          <p:cNvCxnSpPr>
            <a:cxnSpLocks/>
          </p:cNvCxnSpPr>
          <p:nvPr/>
        </p:nvCxnSpPr>
        <p:spPr>
          <a:xfrm flipH="1">
            <a:off x="5469315" y="2468315"/>
            <a:ext cx="112185" cy="49137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7DE98508-7AD3-CCED-8511-747863082E4B}"/>
              </a:ext>
            </a:extLst>
          </p:cNvPr>
          <p:cNvSpPr/>
          <p:nvPr/>
        </p:nvSpPr>
        <p:spPr>
          <a:xfrm rot="5400000">
            <a:off x="3581510" y="2084373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2273F64-BB57-1620-E8AA-9A6004867083}"/>
              </a:ext>
            </a:extLst>
          </p:cNvPr>
          <p:cNvSpPr txBox="1"/>
          <p:nvPr/>
        </p:nvSpPr>
        <p:spPr>
          <a:xfrm>
            <a:off x="2882610" y="1977562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funkcyjny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95F040E-0373-6BC1-6B28-84B3719F963A}"/>
              </a:ext>
            </a:extLst>
          </p:cNvPr>
          <p:cNvSpPr txBox="1"/>
          <p:nvPr/>
        </p:nvSpPr>
        <p:spPr>
          <a:xfrm>
            <a:off x="4730578" y="211606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29D2CC3A-A97F-3EAD-9E58-F6E148815607}"/>
              </a:ext>
            </a:extLst>
          </p:cNvPr>
          <p:cNvCxnSpPr>
            <a:cxnSpLocks/>
          </p:cNvCxnSpPr>
          <p:nvPr/>
        </p:nvCxnSpPr>
        <p:spPr>
          <a:xfrm flipV="1">
            <a:off x="3682511" y="3538608"/>
            <a:ext cx="500235" cy="5078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DDEFAB8F-CAF6-CFCA-5100-CF0F5210DFDA}"/>
              </a:ext>
            </a:extLst>
          </p:cNvPr>
          <p:cNvSpPr txBox="1"/>
          <p:nvPr/>
        </p:nvSpPr>
        <p:spPr>
          <a:xfrm>
            <a:off x="2771800" y="4093104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jedna funkcja</a:t>
            </a:r>
          </a:p>
        </p:txBody>
      </p:sp>
      <p:sp>
        <p:nvSpPr>
          <p:cNvPr id="17" name="Nawias klamrowy otwierający 16">
            <a:extLst>
              <a:ext uri="{FF2B5EF4-FFF2-40B4-BE49-F238E27FC236}">
                <a16:creationId xmlns:a16="http://schemas.microsoft.com/office/drawing/2014/main" id="{8B4CB777-5027-8CDC-E88A-3B1532C6E1CD}"/>
              </a:ext>
            </a:extLst>
          </p:cNvPr>
          <p:cNvSpPr/>
          <p:nvPr/>
        </p:nvSpPr>
        <p:spPr>
          <a:xfrm rot="16200000">
            <a:off x="5268615" y="2914854"/>
            <a:ext cx="305405" cy="149804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FC130C2F-74F7-E582-8F49-E69181D1FBD0}"/>
              </a:ext>
            </a:extLst>
          </p:cNvPr>
          <p:cNvSpPr txBox="1"/>
          <p:nvPr/>
        </p:nvSpPr>
        <p:spPr>
          <a:xfrm>
            <a:off x="4561240" y="3821601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0F80B604-254E-678F-6D63-1DEAECD504C5}"/>
              </a:ext>
            </a:extLst>
          </p:cNvPr>
          <p:cNvCxnSpPr>
            <a:cxnSpLocks/>
          </p:cNvCxnSpPr>
          <p:nvPr/>
        </p:nvCxnSpPr>
        <p:spPr>
          <a:xfrm flipH="1" flipV="1">
            <a:off x="6600797" y="3501230"/>
            <a:ext cx="505648" cy="4533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AF489A2-1155-84FB-9A75-D8FEDA273A46}"/>
              </a:ext>
            </a:extLst>
          </p:cNvPr>
          <p:cNvSpPr txBox="1"/>
          <p:nvPr/>
        </p:nvSpPr>
        <p:spPr>
          <a:xfrm>
            <a:off x="6530381" y="4046430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zwracany</a:t>
            </a:r>
          </a:p>
        </p:txBody>
      </p:sp>
    </p:spTree>
    <p:extLst>
      <p:ext uri="{BB962C8B-B14F-4D97-AF65-F5344CB8AC3E}">
        <p14:creationId xmlns:p14="http://schemas.microsoft.com/office/powerpoint/2010/main" val="3073861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8B532-3AF2-EB87-C0A3-7AD31E28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025276-831C-AE1D-CF1E-A10DA08A3E5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53D85CD-B705-796A-4AB0-91348990B6FE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funkcyjny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Zawierają </a:t>
            </a:r>
            <a:r>
              <a:rPr lang="pl-PL" sz="1600" b="1" dirty="0"/>
              <a:t>tylko jedną metodę,</a:t>
            </a:r>
            <a:r>
              <a:rPr lang="pl-PL" sz="1600" dirty="0"/>
              <a:t> są one wykorzystywane głównie do reprezentowania </a:t>
            </a:r>
            <a:r>
              <a:rPr lang="pl-PL" sz="1600" b="1" dirty="0"/>
              <a:t>wyrażeń lambda </a:t>
            </a:r>
            <a:r>
              <a:rPr lang="pl-PL" sz="1600" dirty="0"/>
              <a:t>jako </a:t>
            </a:r>
            <a:r>
              <a:rPr lang="pl-PL" sz="1600" b="1" dirty="0"/>
              <a:t>typów danych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CB2BCF6-4443-2CB7-E3B3-D401E6F26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49" y="2744936"/>
            <a:ext cx="4175770" cy="108862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23FAC780-AEF5-102E-D523-8CFAE586B984}"/>
              </a:ext>
            </a:extLst>
          </p:cNvPr>
          <p:cNvCxnSpPr>
            <a:cxnSpLocks/>
          </p:cNvCxnSpPr>
          <p:nvPr/>
        </p:nvCxnSpPr>
        <p:spPr>
          <a:xfrm flipH="1">
            <a:off x="5469315" y="2468315"/>
            <a:ext cx="112185" cy="49137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03BFADD8-A6AD-9874-C995-B51D980504CD}"/>
              </a:ext>
            </a:extLst>
          </p:cNvPr>
          <p:cNvSpPr/>
          <p:nvPr/>
        </p:nvSpPr>
        <p:spPr>
          <a:xfrm rot="5400000">
            <a:off x="3581510" y="2084373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DFD8901-FF41-261D-7D31-0FDF49A8AC7E}"/>
              </a:ext>
            </a:extLst>
          </p:cNvPr>
          <p:cNvSpPr txBox="1"/>
          <p:nvPr/>
        </p:nvSpPr>
        <p:spPr>
          <a:xfrm>
            <a:off x="2882610" y="1977562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funkcyjny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73A26B38-EFA9-3000-8E09-FCFB497F74D6}"/>
              </a:ext>
            </a:extLst>
          </p:cNvPr>
          <p:cNvSpPr txBox="1"/>
          <p:nvPr/>
        </p:nvSpPr>
        <p:spPr>
          <a:xfrm>
            <a:off x="4730578" y="211606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40B3B6FC-4A42-3404-CBA1-E1D99B613871}"/>
              </a:ext>
            </a:extLst>
          </p:cNvPr>
          <p:cNvCxnSpPr>
            <a:cxnSpLocks/>
          </p:cNvCxnSpPr>
          <p:nvPr/>
        </p:nvCxnSpPr>
        <p:spPr>
          <a:xfrm flipV="1">
            <a:off x="3682511" y="3538608"/>
            <a:ext cx="500235" cy="5078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A1F1EC8-BA61-F552-5DA4-8373713D68B2}"/>
              </a:ext>
            </a:extLst>
          </p:cNvPr>
          <p:cNvSpPr txBox="1"/>
          <p:nvPr/>
        </p:nvSpPr>
        <p:spPr>
          <a:xfrm>
            <a:off x="2771800" y="4093104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jedna funkcja</a:t>
            </a:r>
          </a:p>
        </p:txBody>
      </p:sp>
      <p:sp>
        <p:nvSpPr>
          <p:cNvPr id="17" name="Nawias klamrowy otwierający 16">
            <a:extLst>
              <a:ext uri="{FF2B5EF4-FFF2-40B4-BE49-F238E27FC236}">
                <a16:creationId xmlns:a16="http://schemas.microsoft.com/office/drawing/2014/main" id="{CC81C361-53FD-1234-71C2-FD6B4A52759C}"/>
              </a:ext>
            </a:extLst>
          </p:cNvPr>
          <p:cNvSpPr/>
          <p:nvPr/>
        </p:nvSpPr>
        <p:spPr>
          <a:xfrm rot="16200000">
            <a:off x="5268615" y="2914854"/>
            <a:ext cx="305405" cy="149804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194DC1A-E3D3-C226-C105-FC237256F1BC}"/>
              </a:ext>
            </a:extLst>
          </p:cNvPr>
          <p:cNvSpPr txBox="1"/>
          <p:nvPr/>
        </p:nvSpPr>
        <p:spPr>
          <a:xfrm>
            <a:off x="4561240" y="3821601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3EDDBD09-80C2-7851-A5AA-518A59F94668}"/>
              </a:ext>
            </a:extLst>
          </p:cNvPr>
          <p:cNvCxnSpPr>
            <a:cxnSpLocks/>
          </p:cNvCxnSpPr>
          <p:nvPr/>
        </p:nvCxnSpPr>
        <p:spPr>
          <a:xfrm flipH="1" flipV="1">
            <a:off x="6600797" y="3501230"/>
            <a:ext cx="505648" cy="4533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46552EC-FB53-1478-B26E-162F4CBC981F}"/>
              </a:ext>
            </a:extLst>
          </p:cNvPr>
          <p:cNvSpPr txBox="1"/>
          <p:nvPr/>
        </p:nvSpPr>
        <p:spPr>
          <a:xfrm>
            <a:off x="6530381" y="4046430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zwracany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9E7EA063-ED69-3111-0DAA-1DFAB903D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436" y="6345154"/>
            <a:ext cx="6624736" cy="304936"/>
          </a:xfrm>
          <a:prstGeom prst="rect">
            <a:avLst/>
          </a:prstGeom>
        </p:spPr>
      </p:pic>
      <p:sp>
        <p:nvSpPr>
          <p:cNvPr id="24" name="pole tekstowe 23">
            <a:extLst>
              <a:ext uri="{FF2B5EF4-FFF2-40B4-BE49-F238E27FC236}">
                <a16:creationId xmlns:a16="http://schemas.microsoft.com/office/drawing/2014/main" id="{99362EC7-93F2-B764-7388-A3198D031269}"/>
              </a:ext>
            </a:extLst>
          </p:cNvPr>
          <p:cNvSpPr txBox="1"/>
          <p:nvPr/>
        </p:nvSpPr>
        <p:spPr>
          <a:xfrm>
            <a:off x="2065949" y="5314663"/>
            <a:ext cx="262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deklaracja zmiennej o typie interfejsu</a:t>
            </a:r>
          </a:p>
        </p:txBody>
      </p:sp>
      <p:sp>
        <p:nvSpPr>
          <p:cNvPr id="25" name="Nawias klamrowy otwierający 24">
            <a:extLst>
              <a:ext uri="{FF2B5EF4-FFF2-40B4-BE49-F238E27FC236}">
                <a16:creationId xmlns:a16="http://schemas.microsoft.com/office/drawing/2014/main" id="{D9F5DE0E-125C-F2DC-813F-7BE898A2CD40}"/>
              </a:ext>
            </a:extLst>
          </p:cNvPr>
          <p:cNvSpPr/>
          <p:nvPr/>
        </p:nvSpPr>
        <p:spPr>
          <a:xfrm rot="5400000">
            <a:off x="3230155" y="4926170"/>
            <a:ext cx="305405" cy="2427557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994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EBF0C-D83D-015C-B93E-93C01761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BD9424-8818-05A4-B253-B10887E611C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F588B60-4F3A-4C4F-95EB-0F5B8D3D117F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funkcyjny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Zawierają </a:t>
            </a:r>
            <a:r>
              <a:rPr lang="pl-PL" sz="1600" b="1" dirty="0"/>
              <a:t>tylko jedną metodę,</a:t>
            </a:r>
            <a:r>
              <a:rPr lang="pl-PL" sz="1600" dirty="0"/>
              <a:t> są one wykorzystywane głównie do reprezentowania </a:t>
            </a:r>
            <a:r>
              <a:rPr lang="pl-PL" sz="1600" b="1" dirty="0"/>
              <a:t>wyrażeń lambda </a:t>
            </a:r>
            <a:r>
              <a:rPr lang="pl-PL" sz="1600" dirty="0"/>
              <a:t>jako </a:t>
            </a:r>
            <a:r>
              <a:rPr lang="pl-PL" sz="1600" b="1" dirty="0"/>
              <a:t>typów danych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0650BB0-7683-3F02-EFEB-F610E12B8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49" y="2744936"/>
            <a:ext cx="4175770" cy="108862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40AD2DFE-6EF3-5F61-6CAC-FD4F8227C876}"/>
              </a:ext>
            </a:extLst>
          </p:cNvPr>
          <p:cNvCxnSpPr>
            <a:cxnSpLocks/>
          </p:cNvCxnSpPr>
          <p:nvPr/>
        </p:nvCxnSpPr>
        <p:spPr>
          <a:xfrm flipH="1">
            <a:off x="5469315" y="2468315"/>
            <a:ext cx="112185" cy="49137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1325E0E7-B7BD-CC47-8F7D-B4486BDF2C27}"/>
              </a:ext>
            </a:extLst>
          </p:cNvPr>
          <p:cNvSpPr/>
          <p:nvPr/>
        </p:nvSpPr>
        <p:spPr>
          <a:xfrm rot="5400000">
            <a:off x="3581510" y="2084373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18F7B10-6537-9F6D-06B2-3CF55F7A050C}"/>
              </a:ext>
            </a:extLst>
          </p:cNvPr>
          <p:cNvSpPr txBox="1"/>
          <p:nvPr/>
        </p:nvSpPr>
        <p:spPr>
          <a:xfrm>
            <a:off x="2882610" y="1977562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funkcyjny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49649DF-2B76-AC56-754B-F6BB31601EC4}"/>
              </a:ext>
            </a:extLst>
          </p:cNvPr>
          <p:cNvSpPr txBox="1"/>
          <p:nvPr/>
        </p:nvSpPr>
        <p:spPr>
          <a:xfrm>
            <a:off x="4730578" y="211606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5006FB54-3F0E-3C09-83BD-FD0321B2FA20}"/>
              </a:ext>
            </a:extLst>
          </p:cNvPr>
          <p:cNvCxnSpPr>
            <a:cxnSpLocks/>
          </p:cNvCxnSpPr>
          <p:nvPr/>
        </p:nvCxnSpPr>
        <p:spPr>
          <a:xfrm flipV="1">
            <a:off x="3682511" y="3538608"/>
            <a:ext cx="500235" cy="5078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50A14C19-9091-7B93-7A1A-FE817A0091AD}"/>
              </a:ext>
            </a:extLst>
          </p:cNvPr>
          <p:cNvSpPr txBox="1"/>
          <p:nvPr/>
        </p:nvSpPr>
        <p:spPr>
          <a:xfrm>
            <a:off x="2771800" y="4093104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jedna funkcja</a:t>
            </a:r>
          </a:p>
        </p:txBody>
      </p:sp>
      <p:sp>
        <p:nvSpPr>
          <p:cNvPr id="17" name="Nawias klamrowy otwierający 16">
            <a:extLst>
              <a:ext uri="{FF2B5EF4-FFF2-40B4-BE49-F238E27FC236}">
                <a16:creationId xmlns:a16="http://schemas.microsoft.com/office/drawing/2014/main" id="{904DCF26-BE21-6278-73AF-F8079ADFDEE3}"/>
              </a:ext>
            </a:extLst>
          </p:cNvPr>
          <p:cNvSpPr/>
          <p:nvPr/>
        </p:nvSpPr>
        <p:spPr>
          <a:xfrm rot="16200000">
            <a:off x="5268615" y="2914854"/>
            <a:ext cx="305405" cy="149804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187B9FE-84A2-66F9-736A-EAECE279A4C8}"/>
              </a:ext>
            </a:extLst>
          </p:cNvPr>
          <p:cNvSpPr txBox="1"/>
          <p:nvPr/>
        </p:nvSpPr>
        <p:spPr>
          <a:xfrm>
            <a:off x="4561240" y="3821601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AAF98ED3-D97D-849B-4E69-4C99D209FDC5}"/>
              </a:ext>
            </a:extLst>
          </p:cNvPr>
          <p:cNvCxnSpPr>
            <a:cxnSpLocks/>
          </p:cNvCxnSpPr>
          <p:nvPr/>
        </p:nvCxnSpPr>
        <p:spPr>
          <a:xfrm flipH="1" flipV="1">
            <a:off x="6600797" y="3501230"/>
            <a:ext cx="505648" cy="4533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036C15F-719E-2E1C-5F42-9978866764A6}"/>
              </a:ext>
            </a:extLst>
          </p:cNvPr>
          <p:cNvSpPr txBox="1"/>
          <p:nvPr/>
        </p:nvSpPr>
        <p:spPr>
          <a:xfrm>
            <a:off x="6530381" y="4046430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zwracany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2010A5C4-ECB6-2E2A-B0E0-D864B1120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436" y="6345154"/>
            <a:ext cx="6624736" cy="304936"/>
          </a:xfrm>
          <a:prstGeom prst="rect">
            <a:avLst/>
          </a:prstGeom>
        </p:spPr>
      </p:pic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31CC6CB-531B-8975-EDB9-92132C8E5FE0}"/>
              </a:ext>
            </a:extLst>
          </p:cNvPr>
          <p:cNvSpPr txBox="1"/>
          <p:nvPr/>
        </p:nvSpPr>
        <p:spPr>
          <a:xfrm>
            <a:off x="2065949" y="5314663"/>
            <a:ext cx="262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deklaracja zmiennej o typie interfejsu</a:t>
            </a:r>
          </a:p>
        </p:txBody>
      </p:sp>
      <p:sp>
        <p:nvSpPr>
          <p:cNvPr id="25" name="Nawias klamrowy otwierający 24">
            <a:extLst>
              <a:ext uri="{FF2B5EF4-FFF2-40B4-BE49-F238E27FC236}">
                <a16:creationId xmlns:a16="http://schemas.microsoft.com/office/drawing/2014/main" id="{3DE71AE6-CFC8-EEE6-D4FA-74E63F2C1F5E}"/>
              </a:ext>
            </a:extLst>
          </p:cNvPr>
          <p:cNvSpPr/>
          <p:nvPr/>
        </p:nvSpPr>
        <p:spPr>
          <a:xfrm rot="5400000">
            <a:off x="3230155" y="4926170"/>
            <a:ext cx="305405" cy="2427557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AF629CE8-99BF-EF1F-6B61-9F3D70DC5730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5655258" y="5513822"/>
            <a:ext cx="44486" cy="8313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200E42C6-77D9-2143-E668-80535AA7E0EF}"/>
              </a:ext>
            </a:extLst>
          </p:cNvPr>
          <p:cNvSpPr txBox="1"/>
          <p:nvPr/>
        </p:nvSpPr>
        <p:spPr>
          <a:xfrm>
            <a:off x="4522497" y="4590492"/>
            <a:ext cx="2354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tworzy instancję obiektu o typie interfejsu</a:t>
            </a:r>
          </a:p>
        </p:txBody>
      </p:sp>
    </p:spTree>
    <p:extLst>
      <p:ext uri="{BB962C8B-B14F-4D97-AF65-F5344CB8AC3E}">
        <p14:creationId xmlns:p14="http://schemas.microsoft.com/office/powerpoint/2010/main" val="2264811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3AB10-CA85-2BB1-6372-DAA2F490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A6552A-F0B7-3D06-27D1-5BFF509E21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Zastosowania interfejsów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6383CD6-7619-0F8B-3F30-0952D5DBC17D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Interfejs funkcyjny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Zawierają </a:t>
            </a:r>
            <a:r>
              <a:rPr lang="pl-PL" sz="1600" b="1" dirty="0"/>
              <a:t>tylko jedną metodę,</a:t>
            </a:r>
            <a:r>
              <a:rPr lang="pl-PL" sz="1600" dirty="0"/>
              <a:t> są one wykorzystywane głównie do reprezentowania </a:t>
            </a:r>
            <a:r>
              <a:rPr lang="pl-PL" sz="1600" b="1" dirty="0"/>
              <a:t>wyrażeń lambda </a:t>
            </a:r>
            <a:r>
              <a:rPr lang="pl-PL" sz="1600" dirty="0"/>
              <a:t>jako </a:t>
            </a:r>
            <a:r>
              <a:rPr lang="pl-PL" sz="1600" b="1" dirty="0"/>
              <a:t>typów danych</a:t>
            </a:r>
            <a:r>
              <a:rPr lang="pl-PL" sz="1600" dirty="0"/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5AE41DE-0993-BC39-84C9-E31F85543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49" y="2744936"/>
            <a:ext cx="4175770" cy="1088625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8AD261B9-6BC2-97A1-A14D-3999F05BFD0D}"/>
              </a:ext>
            </a:extLst>
          </p:cNvPr>
          <p:cNvCxnSpPr>
            <a:cxnSpLocks/>
          </p:cNvCxnSpPr>
          <p:nvPr/>
        </p:nvCxnSpPr>
        <p:spPr>
          <a:xfrm flipH="1">
            <a:off x="5469315" y="2468315"/>
            <a:ext cx="112185" cy="49137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2F0639BC-595C-0191-23D2-4F0A6D7CD4C9}"/>
              </a:ext>
            </a:extLst>
          </p:cNvPr>
          <p:cNvSpPr/>
          <p:nvPr/>
        </p:nvSpPr>
        <p:spPr>
          <a:xfrm rot="5400000">
            <a:off x="3581510" y="2084373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60DB82A-CEAA-4550-735A-04C93B6D4CB3}"/>
              </a:ext>
            </a:extLst>
          </p:cNvPr>
          <p:cNvSpPr txBox="1"/>
          <p:nvPr/>
        </p:nvSpPr>
        <p:spPr>
          <a:xfrm>
            <a:off x="2882610" y="1977562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funkcyjny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A411E1D3-2991-2048-43D8-621804BFC8E8}"/>
              </a:ext>
            </a:extLst>
          </p:cNvPr>
          <p:cNvSpPr txBox="1"/>
          <p:nvPr/>
        </p:nvSpPr>
        <p:spPr>
          <a:xfrm>
            <a:off x="4730578" y="211606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nazwa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7C673FA-D052-7B3A-19B4-3DC098997933}"/>
              </a:ext>
            </a:extLst>
          </p:cNvPr>
          <p:cNvCxnSpPr>
            <a:cxnSpLocks/>
          </p:cNvCxnSpPr>
          <p:nvPr/>
        </p:nvCxnSpPr>
        <p:spPr>
          <a:xfrm flipV="1">
            <a:off x="3682511" y="3538608"/>
            <a:ext cx="500235" cy="5078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0CD84261-C05F-BC08-482D-815CD8DD3364}"/>
              </a:ext>
            </a:extLst>
          </p:cNvPr>
          <p:cNvSpPr txBox="1"/>
          <p:nvPr/>
        </p:nvSpPr>
        <p:spPr>
          <a:xfrm>
            <a:off x="2771800" y="4093104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jedna funkcja</a:t>
            </a:r>
          </a:p>
        </p:txBody>
      </p:sp>
      <p:sp>
        <p:nvSpPr>
          <p:cNvPr id="17" name="Nawias klamrowy otwierający 16">
            <a:extLst>
              <a:ext uri="{FF2B5EF4-FFF2-40B4-BE49-F238E27FC236}">
                <a16:creationId xmlns:a16="http://schemas.microsoft.com/office/drawing/2014/main" id="{B4C013D4-029A-FC09-2593-AF06C3867D28}"/>
              </a:ext>
            </a:extLst>
          </p:cNvPr>
          <p:cNvSpPr/>
          <p:nvPr/>
        </p:nvSpPr>
        <p:spPr>
          <a:xfrm rot="16200000">
            <a:off x="5268615" y="2914854"/>
            <a:ext cx="305405" cy="149804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9F978B9F-C47D-2290-D443-6BF0E5E2D074}"/>
              </a:ext>
            </a:extLst>
          </p:cNvPr>
          <p:cNvSpPr txBox="1"/>
          <p:nvPr/>
        </p:nvSpPr>
        <p:spPr>
          <a:xfrm>
            <a:off x="4561240" y="3821601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lista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parametrów</a:t>
            </a:r>
          </a:p>
        </p:txBody>
      </p:sp>
      <p:cxnSp>
        <p:nvCxnSpPr>
          <p:cNvPr id="19" name="Łącznik prosty ze strzałką 18">
            <a:extLst>
              <a:ext uri="{FF2B5EF4-FFF2-40B4-BE49-F238E27FC236}">
                <a16:creationId xmlns:a16="http://schemas.microsoft.com/office/drawing/2014/main" id="{B60110CA-B2A6-4FD4-9D0F-A7B9C396B00C}"/>
              </a:ext>
            </a:extLst>
          </p:cNvPr>
          <p:cNvCxnSpPr>
            <a:cxnSpLocks/>
          </p:cNvCxnSpPr>
          <p:nvPr/>
        </p:nvCxnSpPr>
        <p:spPr>
          <a:xfrm flipH="1" flipV="1">
            <a:off x="6600797" y="3501230"/>
            <a:ext cx="505648" cy="4533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A1332F2-431C-F1AB-2301-82B2944F4EA4}"/>
              </a:ext>
            </a:extLst>
          </p:cNvPr>
          <p:cNvSpPr txBox="1"/>
          <p:nvPr/>
        </p:nvSpPr>
        <p:spPr>
          <a:xfrm>
            <a:off x="6530381" y="4046430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typ zwracany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21F91DFD-6D6A-C13E-D597-797E467DA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436" y="6345154"/>
            <a:ext cx="6624736" cy="304936"/>
          </a:xfrm>
          <a:prstGeom prst="rect">
            <a:avLst/>
          </a:prstGeom>
        </p:spPr>
      </p:pic>
      <p:sp>
        <p:nvSpPr>
          <p:cNvPr id="24" name="pole tekstowe 23">
            <a:extLst>
              <a:ext uri="{FF2B5EF4-FFF2-40B4-BE49-F238E27FC236}">
                <a16:creationId xmlns:a16="http://schemas.microsoft.com/office/drawing/2014/main" id="{2AF56F4C-B14C-15BB-F54A-FEF1C04355C3}"/>
              </a:ext>
            </a:extLst>
          </p:cNvPr>
          <p:cNvSpPr txBox="1"/>
          <p:nvPr/>
        </p:nvSpPr>
        <p:spPr>
          <a:xfrm>
            <a:off x="2065949" y="5314663"/>
            <a:ext cx="262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deklaracja zmiennej o typie interfejsu</a:t>
            </a:r>
          </a:p>
        </p:txBody>
      </p:sp>
      <p:sp>
        <p:nvSpPr>
          <p:cNvPr id="25" name="Nawias klamrowy otwierający 24">
            <a:extLst>
              <a:ext uri="{FF2B5EF4-FFF2-40B4-BE49-F238E27FC236}">
                <a16:creationId xmlns:a16="http://schemas.microsoft.com/office/drawing/2014/main" id="{A188AE0D-C403-AA9A-C4E2-2DBF3FF54D4D}"/>
              </a:ext>
            </a:extLst>
          </p:cNvPr>
          <p:cNvSpPr/>
          <p:nvPr/>
        </p:nvSpPr>
        <p:spPr>
          <a:xfrm rot="5400000">
            <a:off x="3230155" y="4926170"/>
            <a:ext cx="305405" cy="2427557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48FC5B6-E3B8-65FA-575E-D9F84B91184B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5655258" y="5513822"/>
            <a:ext cx="44486" cy="8313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6106DD3A-CC30-5856-51C6-F5449949B5C3}"/>
              </a:ext>
            </a:extLst>
          </p:cNvPr>
          <p:cNvSpPr txBox="1"/>
          <p:nvPr/>
        </p:nvSpPr>
        <p:spPr>
          <a:xfrm>
            <a:off x="4522497" y="4590492"/>
            <a:ext cx="2354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tworzy instancję obiektu o typie interfejsu</a:t>
            </a:r>
          </a:p>
        </p:txBody>
      </p:sp>
      <p:sp>
        <p:nvSpPr>
          <p:cNvPr id="29" name="Nawias klamrowy otwierający 28">
            <a:extLst>
              <a:ext uri="{FF2B5EF4-FFF2-40B4-BE49-F238E27FC236}">
                <a16:creationId xmlns:a16="http://schemas.microsoft.com/office/drawing/2014/main" id="{B3798599-EE3E-E24D-7E81-07B9A4EAF686}"/>
              </a:ext>
            </a:extLst>
          </p:cNvPr>
          <p:cNvSpPr/>
          <p:nvPr/>
        </p:nvSpPr>
        <p:spPr>
          <a:xfrm rot="5400000">
            <a:off x="7143305" y="5366315"/>
            <a:ext cx="305405" cy="1464752"/>
          </a:xfrm>
          <a:prstGeom prst="leftBrace">
            <a:avLst>
              <a:gd name="adj1" fmla="val 8333"/>
              <a:gd name="adj2" fmla="val 52890"/>
            </a:avLst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7C5CB61E-D4FC-A3E7-48C1-9276160D35BB}"/>
              </a:ext>
            </a:extLst>
          </p:cNvPr>
          <p:cNvSpPr txBox="1"/>
          <p:nvPr/>
        </p:nvSpPr>
        <p:spPr>
          <a:xfrm>
            <a:off x="5939771" y="5283156"/>
            <a:ext cx="2625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Implementacja metody </a:t>
            </a:r>
            <a:r>
              <a:rPr lang="pl-PL" sz="1800" b="1" dirty="0" err="1">
                <a:solidFill>
                  <a:schemeClr val="accent5">
                    <a:lumMod val="75000"/>
                  </a:schemeClr>
                </a:solidFill>
              </a:rPr>
              <a:t>invoke</a:t>
            </a:r>
            <a:endParaRPr lang="pl-PL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656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826D6-EF50-70DE-5A96-ED8C5A09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089BC2-7BF7-EEFA-FD49-7453AFAD33B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8A38F5B-38C8-48E0-CA39-7A7CA68FA5AC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Single </a:t>
            </a:r>
            <a:r>
              <a:rPr lang="pl-PL" sz="1800" b="1" dirty="0" err="1"/>
              <a:t>Abstract</a:t>
            </a:r>
            <a:r>
              <a:rPr lang="pl-PL" sz="1800" b="1" dirty="0"/>
              <a:t> Method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Jeśli interfejs ma </a:t>
            </a:r>
            <a:r>
              <a:rPr lang="pl-PL" sz="1600" b="1" dirty="0"/>
              <a:t>dokładnie jedną metodę</a:t>
            </a:r>
            <a:r>
              <a:rPr lang="pl-PL" sz="1600" dirty="0"/>
              <a:t>, Kotlin pozwala na jego zaimplementowanie za pomocą </a:t>
            </a:r>
            <a:r>
              <a:rPr lang="pl-PL" sz="1600" b="1" dirty="0"/>
              <a:t>wyrażenia lambda</a:t>
            </a:r>
            <a:r>
              <a:rPr lang="pl-PL" sz="1600" dirty="0"/>
              <a:t>.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721BB7C9-EF7E-A0E3-09C3-5F9E187AD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1700808"/>
            <a:ext cx="4044703" cy="3593938"/>
          </a:xfrm>
          <a:prstGeom prst="rect">
            <a:avLst/>
          </a:prstGeom>
        </p:spPr>
      </p:pic>
      <p:sp>
        <p:nvSpPr>
          <p:cNvPr id="20" name="Nawias klamrowy otwierający 19">
            <a:extLst>
              <a:ext uri="{FF2B5EF4-FFF2-40B4-BE49-F238E27FC236}">
                <a16:creationId xmlns:a16="http://schemas.microsoft.com/office/drawing/2014/main" id="{F44B6607-3D4F-09BA-770A-7C00C2D9D5DB}"/>
              </a:ext>
            </a:extLst>
          </p:cNvPr>
          <p:cNvSpPr/>
          <p:nvPr/>
        </p:nvSpPr>
        <p:spPr>
          <a:xfrm>
            <a:off x="4698643" y="2808804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8876DD7B-8EA1-AB31-5436-BE73A2B6A628}"/>
              </a:ext>
            </a:extLst>
          </p:cNvPr>
          <p:cNvSpPr txBox="1"/>
          <p:nvPr/>
        </p:nvSpPr>
        <p:spPr>
          <a:xfrm>
            <a:off x="1214560" y="3174469"/>
            <a:ext cx="335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 konstruktora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SAM –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konieczność jawnego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utworzenia obiektu o typie interfejsu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6A441DA2-27B5-AD51-6446-79B7478A83B6}"/>
              </a:ext>
            </a:extLst>
          </p:cNvPr>
          <p:cNvSpPr/>
          <p:nvPr/>
        </p:nvSpPr>
        <p:spPr>
          <a:xfrm>
            <a:off x="1214559" y="3174470"/>
            <a:ext cx="3388835" cy="89051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938910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774C5-FF38-33A6-87D0-520181B2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B3443D-A1B0-E462-D958-B6A166A0870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B5024DF-185F-FDCF-C98A-B03A06A60CA1}"/>
              </a:ext>
            </a:extLst>
          </p:cNvPr>
          <p:cNvSpPr txBox="1"/>
          <p:nvPr/>
        </p:nvSpPr>
        <p:spPr>
          <a:xfrm>
            <a:off x="1043608" y="836712"/>
            <a:ext cx="81003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/>
              <a:t>Single </a:t>
            </a:r>
            <a:r>
              <a:rPr lang="pl-PL" sz="1800" b="1" dirty="0" err="1"/>
              <a:t>Abstract</a:t>
            </a:r>
            <a:r>
              <a:rPr lang="pl-PL" sz="1800" b="1" dirty="0"/>
              <a:t> Method</a:t>
            </a:r>
          </a:p>
          <a:p>
            <a:pPr algn="ctr"/>
            <a:endParaRPr lang="pl-PL" sz="1600" dirty="0"/>
          </a:p>
          <a:p>
            <a:pPr algn="just"/>
            <a:r>
              <a:rPr lang="pl-PL" sz="1600" dirty="0"/>
              <a:t>Jeśli interfejs ma </a:t>
            </a:r>
            <a:r>
              <a:rPr lang="pl-PL" sz="1600" b="1" dirty="0"/>
              <a:t>dokładnie jedną metodę</a:t>
            </a:r>
            <a:r>
              <a:rPr lang="pl-PL" sz="1600" dirty="0"/>
              <a:t>, Kotlin pozwala na jego zaimplementowanie za pomocą </a:t>
            </a:r>
            <a:r>
              <a:rPr lang="pl-PL" sz="1600" b="1" dirty="0"/>
              <a:t>wyrażenia lambda</a:t>
            </a:r>
            <a:r>
              <a:rPr lang="pl-PL" sz="1600" dirty="0"/>
              <a:t>.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B9FBC2A9-EBB1-D890-E76E-065DD7355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1700808"/>
            <a:ext cx="4044703" cy="3593938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C971A172-112C-E550-34BD-D7751AE4A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20" y="2363708"/>
            <a:ext cx="3849533" cy="2268137"/>
          </a:xfrm>
          <a:prstGeom prst="rect">
            <a:avLst/>
          </a:prstGeom>
        </p:spPr>
      </p:pic>
      <p:sp>
        <p:nvSpPr>
          <p:cNvPr id="7" name="Nawias klamrowy otwierający 6">
            <a:extLst>
              <a:ext uri="{FF2B5EF4-FFF2-40B4-BE49-F238E27FC236}">
                <a16:creationId xmlns:a16="http://schemas.microsoft.com/office/drawing/2014/main" id="{C8B0E7B8-3DC6-467F-F7D8-E86AE95035E2}"/>
              </a:ext>
            </a:extLst>
          </p:cNvPr>
          <p:cNvSpPr/>
          <p:nvPr/>
        </p:nvSpPr>
        <p:spPr>
          <a:xfrm>
            <a:off x="4793052" y="2765206"/>
            <a:ext cx="305405" cy="1465142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98606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5D626-4543-C800-B2C9-C4170083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C21C2B-504C-1B4B-3312-A94CC0BC3BF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6EABBA49-B234-3B46-4094-9F526885D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08" y="912145"/>
            <a:ext cx="3849533" cy="226813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8542E08-A6D9-AAAE-2807-CA1E3A3B7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9321" y="878444"/>
            <a:ext cx="3986423" cy="226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80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F20E6-A033-9169-0B65-3E203168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51E3A8-394B-2816-18A1-E0C80206857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16597773-CE6C-7C45-59CB-F4C9AEE34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08" y="912145"/>
            <a:ext cx="3849533" cy="226813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441F0F50-0CCE-27DE-1246-98FE22C85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9321" y="878444"/>
            <a:ext cx="3986423" cy="226813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4A78FF25-277C-DE79-D926-CAF312CF7D61}"/>
              </a:ext>
            </a:extLst>
          </p:cNvPr>
          <p:cNvSpPr txBox="1"/>
          <p:nvPr/>
        </p:nvSpPr>
        <p:spPr>
          <a:xfrm>
            <a:off x="1331641" y="3246480"/>
            <a:ext cx="335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jedną instancję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obiektu o typie interfejsu funkcyjnego i przypisuje ją do zmiennej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30E3B1F5-8DDD-1DAE-337F-B7CC50F00BE0}"/>
              </a:ext>
            </a:extLst>
          </p:cNvPr>
          <p:cNvSpPr/>
          <p:nvPr/>
        </p:nvSpPr>
        <p:spPr>
          <a:xfrm>
            <a:off x="1331640" y="3246481"/>
            <a:ext cx="3388835" cy="89051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FC9D383D-81B8-8E2A-C44A-7AA88E8F1634}"/>
              </a:ext>
            </a:extLst>
          </p:cNvPr>
          <p:cNvSpPr txBox="1"/>
          <p:nvPr/>
        </p:nvSpPr>
        <p:spPr>
          <a:xfrm>
            <a:off x="5508105" y="3268928"/>
            <a:ext cx="3357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Definiuje funkcję, która zwraca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nową instancję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obiektu o typie interfejsu funkcyjnego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 każdym wywołaniu.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05ED50C0-CC4B-1ECF-5CA2-EE779382C824}"/>
              </a:ext>
            </a:extLst>
          </p:cNvPr>
          <p:cNvSpPr/>
          <p:nvPr/>
        </p:nvSpPr>
        <p:spPr>
          <a:xfrm>
            <a:off x="5529122" y="3243611"/>
            <a:ext cx="3388835" cy="120168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9023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08669-1EC5-2439-58A7-B50F67D5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B33C4-EC13-1157-278D-DF8FF22454C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pic>
        <p:nvPicPr>
          <p:cNvPr id="16" name="Obraz 15">
            <a:extLst>
              <a:ext uri="{FF2B5EF4-FFF2-40B4-BE49-F238E27FC236}">
                <a16:creationId xmlns:a16="http://schemas.microsoft.com/office/drawing/2014/main" id="{E225A79F-657A-4441-6B09-CAB8C194F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608" y="912145"/>
            <a:ext cx="3849533" cy="226813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EAF7497F-8D47-0985-3C3B-A2134F5D8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9321" y="878444"/>
            <a:ext cx="3986423" cy="2268137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0EB6729-B7DB-766E-B9DB-F2C75D1801DC}"/>
              </a:ext>
            </a:extLst>
          </p:cNvPr>
          <p:cNvSpPr txBox="1"/>
          <p:nvPr/>
        </p:nvSpPr>
        <p:spPr>
          <a:xfrm>
            <a:off x="1331641" y="3246480"/>
            <a:ext cx="335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jedną instancję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obiektu o typie interfejsu funkcyjnego i przypisuje ją do zmiennej</a:t>
            </a: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66E74FFF-53CF-A3E6-4D5A-68090215A0F3}"/>
              </a:ext>
            </a:extLst>
          </p:cNvPr>
          <p:cNvSpPr/>
          <p:nvPr/>
        </p:nvSpPr>
        <p:spPr>
          <a:xfrm>
            <a:off x="1331640" y="3246481"/>
            <a:ext cx="3388835" cy="89051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7E00EE4-D75F-DC38-1A5E-E94FED5F452D}"/>
              </a:ext>
            </a:extLst>
          </p:cNvPr>
          <p:cNvSpPr txBox="1"/>
          <p:nvPr/>
        </p:nvSpPr>
        <p:spPr>
          <a:xfrm>
            <a:off x="5508105" y="3268928"/>
            <a:ext cx="3357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Definiuje funkcję, która zwraca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nową instancję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obiektu o typie interfejsu funkcyjnego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 każdym wywołaniu.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56E2CD5-7F50-017F-CAEF-832A5C772DBE}"/>
              </a:ext>
            </a:extLst>
          </p:cNvPr>
          <p:cNvSpPr/>
          <p:nvPr/>
        </p:nvSpPr>
        <p:spPr>
          <a:xfrm>
            <a:off x="5529122" y="3243611"/>
            <a:ext cx="3388835" cy="1201688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22805910-1DE2-10DF-F309-D8BD624C404A}"/>
              </a:ext>
            </a:extLst>
          </p:cNvPr>
          <p:cNvGraphicFramePr>
            <a:graphicFrameLocks noGrp="1"/>
          </p:cNvGraphicFramePr>
          <p:nvPr/>
        </p:nvGraphicFramePr>
        <p:xfrm>
          <a:off x="1299776" y="4797152"/>
          <a:ext cx="7586316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772">
                  <a:extLst>
                    <a:ext uri="{9D8B030D-6E8A-4147-A177-3AD203B41FA5}">
                      <a16:colId xmlns:a16="http://schemas.microsoft.com/office/drawing/2014/main" val="3986058771"/>
                    </a:ext>
                  </a:extLst>
                </a:gridCol>
                <a:gridCol w="2528772">
                  <a:extLst>
                    <a:ext uri="{9D8B030D-6E8A-4147-A177-3AD203B41FA5}">
                      <a16:colId xmlns:a16="http://schemas.microsoft.com/office/drawing/2014/main" val="2345781151"/>
                    </a:ext>
                  </a:extLst>
                </a:gridCol>
                <a:gridCol w="2528772">
                  <a:extLst>
                    <a:ext uri="{9D8B030D-6E8A-4147-A177-3AD203B41FA5}">
                      <a16:colId xmlns:a16="http://schemas.microsoft.com/office/drawing/2014/main" val="2513532015"/>
                    </a:ext>
                  </a:extLst>
                </a:gridCol>
              </a:tblGrid>
              <a:tr h="285723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Aspekt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val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fun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89369"/>
                  </a:ext>
                </a:extLst>
              </a:tr>
              <a:tr h="285723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Tworzenie instancji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jednorazowe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Przy każdym wywołaniu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718640"/>
                  </a:ext>
                </a:extLst>
              </a:tr>
              <a:tr h="285723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Wydajność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l-PL" dirty="0">
                        <a:ln>
                          <a:noFill/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l-PL">
                        <a:ln>
                          <a:noFill/>
                        </a:ln>
                        <a:solidFill>
                          <a:schemeClr val="dk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583258"/>
                  </a:ext>
                </a:extLst>
              </a:tr>
              <a:tr h="602250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Zastosowanie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Stałe reguły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Dynamiczne tworzenie </a:t>
                      </a:r>
                      <a:r>
                        <a:rPr lang="pl-PL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nwych</a:t>
                      </a:r>
                      <a:r>
                        <a:rPr lang="pl-PL" dirty="0">
                          <a:ln>
                            <a:noFill/>
                          </a:ln>
                          <a:solidFill>
                            <a:schemeClr val="dk1"/>
                          </a:solidFill>
                        </a:rPr>
                        <a:t> obiektów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557502"/>
                  </a:ext>
                </a:extLst>
              </a:tr>
            </a:tbl>
          </a:graphicData>
        </a:graphic>
      </p:graphicFrame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621AA75F-C065-6D07-D6AB-DE6D6861CDA8}"/>
              </a:ext>
            </a:extLst>
          </p:cNvPr>
          <p:cNvCxnSpPr/>
          <p:nvPr/>
        </p:nvCxnSpPr>
        <p:spPr>
          <a:xfrm flipV="1">
            <a:off x="5139321" y="5608800"/>
            <a:ext cx="0" cy="215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7DF7D6F3-94CF-BF6B-DAEB-1E6E9B01CD7C}"/>
              </a:ext>
            </a:extLst>
          </p:cNvPr>
          <p:cNvCxnSpPr>
            <a:cxnSpLocks/>
          </p:cNvCxnSpPr>
          <p:nvPr/>
        </p:nvCxnSpPr>
        <p:spPr>
          <a:xfrm>
            <a:off x="7596336" y="5608800"/>
            <a:ext cx="0" cy="21683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03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0250-F62A-2923-70E3-FD81603B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rostokąt 16">
            <a:extLst>
              <a:ext uri="{FF2B5EF4-FFF2-40B4-BE49-F238E27FC236}">
                <a16:creationId xmlns:a16="http://schemas.microsoft.com/office/drawing/2014/main" id="{3FD4174F-B475-2460-93E4-7CF35E0EDD81}"/>
              </a:ext>
            </a:extLst>
          </p:cNvPr>
          <p:cNvSpPr/>
          <p:nvPr/>
        </p:nvSpPr>
        <p:spPr>
          <a:xfrm>
            <a:off x="0" y="836712"/>
            <a:ext cx="1043608" cy="60212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4956E75F-490D-609F-295A-26E533F6CE97}"/>
              </a:ext>
            </a:extLst>
          </p:cNvPr>
          <p:cNvSpPr/>
          <p:nvPr/>
        </p:nvSpPr>
        <p:spPr>
          <a:xfrm>
            <a:off x="268284" y="2132856"/>
            <a:ext cx="3388834" cy="107721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B4AEA9-3F61-FF52-9ACD-6204B4DE9B8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Konstruktor SAM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2356A8E-D78C-CF9E-9EA4-1E17361FB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641" y="2132856"/>
            <a:ext cx="5395650" cy="3182863"/>
          </a:xfrm>
          <a:prstGeom prst="rect">
            <a:avLst/>
          </a:prstGeo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D308F5C3-993A-A279-E73D-475297AFA35D}"/>
              </a:ext>
            </a:extLst>
          </p:cNvPr>
          <p:cNvSpPr txBox="1"/>
          <p:nvPr/>
        </p:nvSpPr>
        <p:spPr>
          <a:xfrm>
            <a:off x="268283" y="2132856"/>
            <a:ext cx="3357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przyjmuje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parametr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i="1" dirty="0" err="1">
                <a:solidFill>
                  <a:schemeClr val="accent4">
                    <a:lumMod val="50000"/>
                  </a:schemeClr>
                </a:solidFill>
              </a:rPr>
              <a:t>threshold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więc możliwe jest tworzenie instancji o różnych progach.</a:t>
            </a:r>
          </a:p>
        </p:txBody>
      </p:sp>
      <p:sp>
        <p:nvSpPr>
          <p:cNvPr id="18" name="Nawias klamrowy otwierający 17">
            <a:extLst>
              <a:ext uri="{FF2B5EF4-FFF2-40B4-BE49-F238E27FC236}">
                <a16:creationId xmlns:a16="http://schemas.microsoft.com/office/drawing/2014/main" id="{C1C1FD4D-8AC4-7AD5-956E-6DD6A9C1E0EB}"/>
              </a:ext>
            </a:extLst>
          </p:cNvPr>
          <p:cNvSpPr/>
          <p:nvPr/>
        </p:nvSpPr>
        <p:spPr>
          <a:xfrm>
            <a:off x="3671260" y="2259145"/>
            <a:ext cx="305405" cy="665799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Nawias klamrowy otwierający 18">
            <a:extLst>
              <a:ext uri="{FF2B5EF4-FFF2-40B4-BE49-F238E27FC236}">
                <a16:creationId xmlns:a16="http://schemas.microsoft.com/office/drawing/2014/main" id="{2965C988-121F-5C8D-C2CC-D4B178D88BEC}"/>
              </a:ext>
            </a:extLst>
          </p:cNvPr>
          <p:cNvSpPr/>
          <p:nvPr/>
        </p:nvSpPr>
        <p:spPr>
          <a:xfrm>
            <a:off x="3715641" y="3454533"/>
            <a:ext cx="305405" cy="40651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A7A940D7-2845-525F-1C5A-22CAD59DD5A2}"/>
              </a:ext>
            </a:extLst>
          </p:cNvPr>
          <p:cNvSpPr/>
          <p:nvPr/>
        </p:nvSpPr>
        <p:spPr>
          <a:xfrm>
            <a:off x="538236" y="3328358"/>
            <a:ext cx="3146159" cy="83099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1F89649-5124-0844-E6DA-9A431AFBA3A7}"/>
              </a:ext>
            </a:extLst>
          </p:cNvPr>
          <p:cNvSpPr txBox="1"/>
          <p:nvPr/>
        </p:nvSpPr>
        <p:spPr>
          <a:xfrm>
            <a:off x="506843" y="3328358"/>
            <a:ext cx="3146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Każde wywołanie funkcji zwraca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nowy obiekt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który działa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niezależnie od innych</a:t>
            </a:r>
          </a:p>
        </p:txBody>
      </p:sp>
    </p:spTree>
    <p:extLst>
      <p:ext uri="{BB962C8B-B14F-4D97-AF65-F5344CB8AC3E}">
        <p14:creationId xmlns:p14="http://schemas.microsoft.com/office/powerpoint/2010/main" val="2483566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86FA7-F13B-7BFB-09CB-E97A4EFD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7A1D5-C3E7-54C1-A2E5-DBFF1023131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A759213-D083-B336-BEC4-EC099554C215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Interfejsy i klasy abstrakcyjne </a:t>
            </a:r>
            <a:r>
              <a:rPr lang="pl-PL" sz="1600" b="1" dirty="0"/>
              <a:t>mogą posiadać funkcje</a:t>
            </a:r>
            <a:r>
              <a:rPr lang="pl-PL" sz="1600" dirty="0"/>
              <a:t>. Po nadpisaniu możemy uzyskać dostęp do domyślnej implementacji przez słowo kluczowe </a:t>
            </a:r>
            <a:r>
              <a:rPr lang="pl-PL" sz="1600" b="1" dirty="0"/>
              <a:t>super.</a:t>
            </a:r>
            <a:endParaRPr lang="pl-PL" sz="14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0F3B526-3B36-1D38-7413-7844625A9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1577116"/>
            <a:ext cx="3249563" cy="1446673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3A4EA999-EAFA-DC53-38E3-805652B1A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401" y="1726892"/>
            <a:ext cx="3050244" cy="12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547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07B0C-7286-5AF7-3FE9-1A637D46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5A6657-E773-35C3-62F9-A4C84F9D7AD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66A28A8-642E-2D28-569A-48ABEAE3C2DA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Interfejsy i klasy abstrakcyjne </a:t>
            </a:r>
            <a:r>
              <a:rPr lang="pl-PL" sz="1600" b="1" dirty="0"/>
              <a:t>mogą posiadać funkcje</a:t>
            </a:r>
            <a:r>
              <a:rPr lang="pl-PL" sz="1600" dirty="0"/>
              <a:t>. Po nadpisaniu możemy uzyskać dostęp do domyślnej implementacji przez słowo kluczowe </a:t>
            </a:r>
            <a:r>
              <a:rPr lang="pl-PL" sz="1600" b="1" dirty="0"/>
              <a:t>super.</a:t>
            </a:r>
            <a:endParaRPr lang="pl-PL" sz="14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AA919B24-3824-85D1-4452-971F44685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1577116"/>
            <a:ext cx="3249563" cy="1446673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9CD86ABC-C1A3-5AD2-A8F4-A034B638A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401" y="1726892"/>
            <a:ext cx="3050244" cy="1296897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153DD5A1-0B09-E9EA-54B6-DFA690EF5F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8639" y="4077072"/>
            <a:ext cx="3658890" cy="2737290"/>
          </a:xfrm>
          <a:prstGeom prst="rect">
            <a:avLst/>
          </a:prstGeom>
        </p:spPr>
      </p:pic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6206D1EC-B032-F6B8-42F2-85B313D962B5}"/>
              </a:ext>
            </a:extLst>
          </p:cNvPr>
          <p:cNvCxnSpPr>
            <a:cxnSpLocks/>
          </p:cNvCxnSpPr>
          <p:nvPr/>
        </p:nvCxnSpPr>
        <p:spPr>
          <a:xfrm>
            <a:off x="4067944" y="3734012"/>
            <a:ext cx="432048" cy="34306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DC934DD-0E88-9880-D23C-43872E6A9E6C}"/>
              </a:ext>
            </a:extLst>
          </p:cNvPr>
          <p:cNvSpPr txBox="1"/>
          <p:nvPr/>
        </p:nvSpPr>
        <p:spPr>
          <a:xfrm>
            <a:off x="4324824" y="3070701"/>
            <a:ext cx="1703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implementuje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interfejs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D45E9BC4-D73B-3238-1F47-CFC3E9EDA960}"/>
              </a:ext>
            </a:extLst>
          </p:cNvPr>
          <p:cNvCxnSpPr>
            <a:cxnSpLocks/>
          </p:cNvCxnSpPr>
          <p:nvPr/>
        </p:nvCxnSpPr>
        <p:spPr>
          <a:xfrm flipH="1">
            <a:off x="4990568" y="3717032"/>
            <a:ext cx="185858" cy="41739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89AD5CCA-62B8-7E43-E484-004E11F8EAA9}"/>
              </a:ext>
            </a:extLst>
          </p:cNvPr>
          <p:cNvSpPr txBox="1"/>
          <p:nvPr/>
        </p:nvSpPr>
        <p:spPr>
          <a:xfrm>
            <a:off x="3042077" y="3383829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klasa</a:t>
            </a: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EB7B9D4B-CB3F-4ADA-632C-346EA28DF701}"/>
              </a:ext>
            </a:extLst>
          </p:cNvPr>
          <p:cNvSpPr txBox="1"/>
          <p:nvPr/>
        </p:nvSpPr>
        <p:spPr>
          <a:xfrm>
            <a:off x="5934843" y="3179418"/>
            <a:ext cx="244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rozszerza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klasę abstrakcyjną</a:t>
            </a: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DFD46B9B-1B99-EB87-6701-627A1527C932}"/>
              </a:ext>
            </a:extLst>
          </p:cNvPr>
          <p:cNvCxnSpPr>
            <a:cxnSpLocks/>
          </p:cNvCxnSpPr>
          <p:nvPr/>
        </p:nvCxnSpPr>
        <p:spPr>
          <a:xfrm flipH="1">
            <a:off x="5667002" y="3834212"/>
            <a:ext cx="1388687" cy="24286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EDC47255-7915-3AAD-2AB9-7F621E2904C0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3342137" y="4984887"/>
            <a:ext cx="1373879" cy="47540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Łącznik prosty ze strzałką 31">
            <a:extLst>
              <a:ext uri="{FF2B5EF4-FFF2-40B4-BE49-F238E27FC236}">
                <a16:creationId xmlns:a16="http://schemas.microsoft.com/office/drawing/2014/main" id="{F997525A-7BFA-53FA-7AE1-D0DF35886097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3342137" y="5460293"/>
            <a:ext cx="1294180" cy="74730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F21CDF4E-9DA8-63E1-4A65-7FCA98FE5096}"/>
              </a:ext>
            </a:extLst>
          </p:cNvPr>
          <p:cNvSpPr txBox="1"/>
          <p:nvPr/>
        </p:nvSpPr>
        <p:spPr>
          <a:xfrm>
            <a:off x="1098378" y="5167905"/>
            <a:ext cx="2249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Dostęp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implementacji</a:t>
            </a:r>
          </a:p>
        </p:txBody>
      </p:sp>
      <p:sp>
        <p:nvSpPr>
          <p:cNvPr id="36" name="Prostokąt: zaokrąglone rogi 35">
            <a:extLst>
              <a:ext uri="{FF2B5EF4-FFF2-40B4-BE49-F238E27FC236}">
                <a16:creationId xmlns:a16="http://schemas.microsoft.com/office/drawing/2014/main" id="{F48025A2-C709-6148-C577-7324C4153368}"/>
              </a:ext>
            </a:extLst>
          </p:cNvPr>
          <p:cNvSpPr/>
          <p:nvPr/>
        </p:nvSpPr>
        <p:spPr>
          <a:xfrm>
            <a:off x="1092652" y="5167905"/>
            <a:ext cx="2249485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A6E8F6D9-A9F6-FEBA-756B-69B186D5FC5C}"/>
              </a:ext>
            </a:extLst>
          </p:cNvPr>
          <p:cNvCxnSpPr>
            <a:cxnSpLocks/>
          </p:cNvCxnSpPr>
          <p:nvPr/>
        </p:nvCxnSpPr>
        <p:spPr>
          <a:xfrm flipH="1">
            <a:off x="5613871" y="5222590"/>
            <a:ext cx="1694434" cy="37900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DE376C68-F7C7-836E-E210-CACCAEBAC0EE}"/>
              </a:ext>
            </a:extLst>
          </p:cNvPr>
          <p:cNvSpPr txBox="1"/>
          <p:nvPr/>
        </p:nvSpPr>
        <p:spPr>
          <a:xfrm>
            <a:off x="7372931" y="5053312"/>
            <a:ext cx="2249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Domyśłnie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final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2" name="Prostokąt: zaokrąglone rogi 41">
            <a:extLst>
              <a:ext uri="{FF2B5EF4-FFF2-40B4-BE49-F238E27FC236}">
                <a16:creationId xmlns:a16="http://schemas.microsoft.com/office/drawing/2014/main" id="{6DD37479-51B8-EA25-FEC5-DF335DEA12DB}"/>
              </a:ext>
            </a:extLst>
          </p:cNvPr>
          <p:cNvSpPr/>
          <p:nvPr/>
        </p:nvSpPr>
        <p:spPr>
          <a:xfrm>
            <a:off x="7367205" y="5053313"/>
            <a:ext cx="1677909" cy="338554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0042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62204F-5A6F-79EC-8070-46F4BEA3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23272E-C80A-AA26-6437-9E7DC51B37C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0EBFDBC-A4D3-00D6-A3AC-37213AC21FF8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interfejsy i klasy abstrakcyjne mogą posiadać </a:t>
            </a:r>
            <a:r>
              <a:rPr lang="pl-PL" sz="1600" b="1" dirty="0"/>
              <a:t>właściwości</a:t>
            </a:r>
            <a:endParaRPr lang="pl-PL" sz="14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3D9E1BA-BB8D-5E11-0D02-A494F966D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1556792"/>
            <a:ext cx="5472087" cy="201565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CBCA97A7-4610-B039-1183-BA16AA2A8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3999059"/>
            <a:ext cx="5533429" cy="202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007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3E178-D869-A057-1A5B-3A6CE439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D26B2A-B130-FBF9-B71B-372E5E12914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1FF7330-61AF-8F0A-C169-980CE7B7745F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4DF8CAC-FE96-9D1E-9F65-3434178A4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DB825654-B762-5799-2224-216FE2DFA96C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365DD54-5B5C-5536-0C58-903A5301FE90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CA6061C-46A8-204C-D131-5A22E7959C4C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67A298B-26CC-7D07-2431-69C58A2E11CB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4023253-A02F-6E8E-19A5-3FE20A68786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DA627C2F-0733-509B-FB48-D5639212806E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0050BE3-590D-24C9-AAED-673318C24E44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F1F2F5C2-C7E7-3FE8-4512-D613613F8143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A396B86-2921-DBA0-CE02-22C0B7BB7F02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135461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947D6-85A6-74F2-D499-0B85E8138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2EA062-1B80-AC10-C9AC-47807E68C48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E97D7AF-BC3C-2ECD-7739-052D98550CDC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0FD6905B-66B1-6990-17F9-8380D7025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0B708D67-686A-3B45-7C7D-4E123731AED9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A8661E0-B43B-F138-C97D-FB737D0F2FC4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F47FF669-F7BD-77B4-88D6-1AA3F2D9854D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E7EE614-CE98-0B7D-2FCF-38EFDBCA1979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F9DD2AD5-EA6D-C89E-8738-A194F82D9FE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383B1A4A-396B-F3B3-227A-DCD1940686AD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DA067735-4FCA-8EFC-DB92-397D0CED6150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4DF7DE5A-BD7D-9BC0-AF00-7AE91CE77E67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686C19B-625C-F77B-7D21-F215698D0E5C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E7E02F9C-F04C-9DD6-0B8C-AB06E6689370}"/>
              </a:ext>
            </a:extLst>
          </p:cNvPr>
          <p:cNvSpPr txBox="1"/>
          <p:nvPr/>
        </p:nvSpPr>
        <p:spPr>
          <a:xfrm>
            <a:off x="5407399" y="1421487"/>
            <a:ext cx="32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 odwołać się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klasy implementującej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przez słowo kluczowe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this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A565080C-638E-A8DA-8F3B-5F46572DE732}"/>
              </a:ext>
            </a:extLst>
          </p:cNvPr>
          <p:cNvSpPr/>
          <p:nvPr/>
        </p:nvSpPr>
        <p:spPr>
          <a:xfrm>
            <a:off x="5407399" y="1458138"/>
            <a:ext cx="3264720" cy="7883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33B285E3-2397-A857-E32B-3C97BEE0079E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304502" y="2246451"/>
            <a:ext cx="735257" cy="4530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C5DF00DF-778B-4223-0318-A9D7B1625B3A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656818" y="2246451"/>
            <a:ext cx="382941" cy="679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3334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8CA87-DD0F-808F-E4C1-652FAB46F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BD5C1-75CB-8C50-A7F5-E81820EB0B4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B9A8301-006C-FEDB-EE1F-EA7615F4CF9B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FCA9516-B1BA-2A03-D216-0CC04DEBA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3B9DA73-DB38-C427-D626-8E39AF486CD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8B526EA-738D-E075-F24F-E3A45251E1E2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58FCE154-5D24-C32C-7E2F-22E2AD4EBB2F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776C88A-F3E7-7FC1-D189-112FFB61AC53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B69D8E0B-D84D-3B32-0E8F-31E6E39785A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442097C4-52AF-DA64-69F3-B322D7CAD56E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E0033CF6-C7F7-11B5-7BB5-CC2B8FFF0DE7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880062EB-A8B9-B693-D073-0365A22204BB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0197206B-F6C3-3DFF-95B5-C10556830E55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B4171F55-3928-4803-56F5-070F764C50A5}"/>
              </a:ext>
            </a:extLst>
          </p:cNvPr>
          <p:cNvSpPr txBox="1"/>
          <p:nvPr/>
        </p:nvSpPr>
        <p:spPr>
          <a:xfrm>
            <a:off x="5407399" y="1421487"/>
            <a:ext cx="32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 odwołać się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klasy implementującej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przez słowo kluczowe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this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504C716A-C874-1A78-F3A4-B0247D2EE7B9}"/>
              </a:ext>
            </a:extLst>
          </p:cNvPr>
          <p:cNvSpPr/>
          <p:nvPr/>
        </p:nvSpPr>
        <p:spPr>
          <a:xfrm>
            <a:off x="5407399" y="1458138"/>
            <a:ext cx="3264720" cy="7883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ECFB6A4D-5D37-FDAF-CCBE-C48D4C97CFFF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304502" y="2246451"/>
            <a:ext cx="735257" cy="4530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9CE17AA6-8561-E488-8E3F-FD0690BD56E3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656818" y="2246451"/>
            <a:ext cx="382941" cy="679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Obraz 40">
            <a:extLst>
              <a:ext uri="{FF2B5EF4-FFF2-40B4-BE49-F238E27FC236}">
                <a16:creationId xmlns:a16="http://schemas.microsoft.com/office/drawing/2014/main" id="{BF9357FE-DCA1-E679-0779-7FF983BBA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59" y="4508625"/>
            <a:ext cx="1919742" cy="2116936"/>
          </a:xfrm>
          <a:prstGeom prst="rect">
            <a:avLst/>
          </a:prstGeom>
        </p:spPr>
      </p:pic>
      <p:sp>
        <p:nvSpPr>
          <p:cNvPr id="42" name="Prostokąt: zaokrąglone rogi 41">
            <a:extLst>
              <a:ext uri="{FF2B5EF4-FFF2-40B4-BE49-F238E27FC236}">
                <a16:creationId xmlns:a16="http://schemas.microsoft.com/office/drawing/2014/main" id="{3E7CD430-B2C8-9280-C71A-94EE2AC3BE25}"/>
              </a:ext>
            </a:extLst>
          </p:cNvPr>
          <p:cNvSpPr/>
          <p:nvPr/>
        </p:nvSpPr>
        <p:spPr>
          <a:xfrm>
            <a:off x="1316631" y="4441066"/>
            <a:ext cx="1919742" cy="230030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Nawias klamrowy otwierający 3">
            <a:extLst>
              <a:ext uri="{FF2B5EF4-FFF2-40B4-BE49-F238E27FC236}">
                <a16:creationId xmlns:a16="http://schemas.microsoft.com/office/drawing/2014/main" id="{D9065317-CE00-3C8A-6671-5C8EF3FD9913}"/>
              </a:ext>
            </a:extLst>
          </p:cNvPr>
          <p:cNvSpPr/>
          <p:nvPr/>
        </p:nvSpPr>
        <p:spPr>
          <a:xfrm rot="10800000">
            <a:off x="3282898" y="4498887"/>
            <a:ext cx="305405" cy="40651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54036F5-472F-0BD0-C072-054D4057243D}"/>
              </a:ext>
            </a:extLst>
          </p:cNvPr>
          <p:cNvSpPr txBox="1"/>
          <p:nvPr/>
        </p:nvSpPr>
        <p:spPr>
          <a:xfrm>
            <a:off x="3726385" y="4357393"/>
            <a:ext cx="3055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Definiujemy dwie klasy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implementujące interfejs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3BC8E88-89B4-7639-07D7-478F74EA3641}"/>
              </a:ext>
            </a:extLst>
          </p:cNvPr>
          <p:cNvSpPr/>
          <p:nvPr/>
        </p:nvSpPr>
        <p:spPr>
          <a:xfrm>
            <a:off x="3726385" y="4361940"/>
            <a:ext cx="3096344" cy="59322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710326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591E3-830E-D5FC-8B0A-6F6CEE50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DAF02F-F41F-024A-AB08-4FAB7B00622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700DF23-581A-5F54-0BB3-6B09A854BAE9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DE9EA97-0C55-74C6-ABC5-33FC62211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8645583-0F9F-A4F3-A1A7-6544D61C3FA3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A944420-68E0-0F04-2FB6-0392E626251C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BE2C1F0-ACD7-84B2-1A89-AFA17F4D6355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EB8A636-8CBF-8453-B8A0-50E1591007A2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8C11ADAD-0EE8-5492-ADFF-1B7631EA2F1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4BE2C116-5471-69E8-5805-07BFB324D1DE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E3026E7C-581B-707D-C4E7-88DDB9F75597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36E22587-B70E-23B7-8549-F803A0A5DB80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44508D12-580D-9898-E2FA-7F08579A2362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D84509C5-6FD4-4ECD-480E-1E36F54634D2}"/>
              </a:ext>
            </a:extLst>
          </p:cNvPr>
          <p:cNvSpPr txBox="1"/>
          <p:nvPr/>
        </p:nvSpPr>
        <p:spPr>
          <a:xfrm>
            <a:off x="5407399" y="1421487"/>
            <a:ext cx="32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 odwołać się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klasy implementującej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przez słowo kluczowe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this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DC051DA6-B68A-2D00-B108-D832D4A03565}"/>
              </a:ext>
            </a:extLst>
          </p:cNvPr>
          <p:cNvSpPr/>
          <p:nvPr/>
        </p:nvSpPr>
        <p:spPr>
          <a:xfrm>
            <a:off x="5407399" y="1458138"/>
            <a:ext cx="3264720" cy="7883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A5A15722-0993-E7E9-F48B-669BF16EA6EF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304502" y="2246451"/>
            <a:ext cx="735257" cy="4530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239D25C2-9A8A-90C9-C27F-F73219FF8826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656818" y="2246451"/>
            <a:ext cx="382941" cy="679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Obraz 40">
            <a:extLst>
              <a:ext uri="{FF2B5EF4-FFF2-40B4-BE49-F238E27FC236}">
                <a16:creationId xmlns:a16="http://schemas.microsoft.com/office/drawing/2014/main" id="{BD225E15-F98F-4BA2-AA1C-995758FA26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59" y="4508625"/>
            <a:ext cx="1919742" cy="2116936"/>
          </a:xfrm>
          <a:prstGeom prst="rect">
            <a:avLst/>
          </a:prstGeom>
        </p:spPr>
      </p:pic>
      <p:sp>
        <p:nvSpPr>
          <p:cNvPr id="42" name="Prostokąt: zaokrąglone rogi 41">
            <a:extLst>
              <a:ext uri="{FF2B5EF4-FFF2-40B4-BE49-F238E27FC236}">
                <a16:creationId xmlns:a16="http://schemas.microsoft.com/office/drawing/2014/main" id="{4B8B8FA8-93A7-CAC5-3C62-33DBEC9468B9}"/>
              </a:ext>
            </a:extLst>
          </p:cNvPr>
          <p:cNvSpPr/>
          <p:nvPr/>
        </p:nvSpPr>
        <p:spPr>
          <a:xfrm>
            <a:off x="1316631" y="4441066"/>
            <a:ext cx="1919742" cy="230030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Nawias klamrowy otwierający 3">
            <a:extLst>
              <a:ext uri="{FF2B5EF4-FFF2-40B4-BE49-F238E27FC236}">
                <a16:creationId xmlns:a16="http://schemas.microsoft.com/office/drawing/2014/main" id="{CFEFA9F1-41DD-8C7B-752E-CC3399226445}"/>
              </a:ext>
            </a:extLst>
          </p:cNvPr>
          <p:cNvSpPr/>
          <p:nvPr/>
        </p:nvSpPr>
        <p:spPr>
          <a:xfrm rot="10800000">
            <a:off x="3282898" y="4498887"/>
            <a:ext cx="305405" cy="40651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7AFD8A78-52CC-0C1F-B938-01601F5A2966}"/>
              </a:ext>
            </a:extLst>
          </p:cNvPr>
          <p:cNvSpPr txBox="1"/>
          <p:nvPr/>
        </p:nvSpPr>
        <p:spPr>
          <a:xfrm>
            <a:off x="3726385" y="4357393"/>
            <a:ext cx="3055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Definiujemy dwie klasy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implementujące interfejs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1E68EA4-D222-680B-7B50-8A5A1A2B8467}"/>
              </a:ext>
            </a:extLst>
          </p:cNvPr>
          <p:cNvSpPr/>
          <p:nvPr/>
        </p:nvSpPr>
        <p:spPr>
          <a:xfrm>
            <a:off x="3726385" y="4361940"/>
            <a:ext cx="3096344" cy="59322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6" name="Nawias klamrowy otwierający 15">
            <a:extLst>
              <a:ext uri="{FF2B5EF4-FFF2-40B4-BE49-F238E27FC236}">
                <a16:creationId xmlns:a16="http://schemas.microsoft.com/office/drawing/2014/main" id="{ABFC99F6-D2D0-0A26-8BB3-4F955625BC17}"/>
              </a:ext>
            </a:extLst>
          </p:cNvPr>
          <p:cNvSpPr/>
          <p:nvPr/>
        </p:nvSpPr>
        <p:spPr>
          <a:xfrm rot="10800000">
            <a:off x="3298267" y="5160576"/>
            <a:ext cx="305405" cy="1076735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1537122F-C52F-BBF1-1092-748DBF077279}"/>
              </a:ext>
            </a:extLst>
          </p:cNvPr>
          <p:cNvSpPr txBox="1"/>
          <p:nvPr/>
        </p:nvSpPr>
        <p:spPr>
          <a:xfrm>
            <a:off x="3662697" y="5405459"/>
            <a:ext cx="4933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Tworzymy instancje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modyfikujemy pole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names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zdefiniowane w interfejsie (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CB5DBD20-28DD-0292-3456-706165F9C0B6}"/>
              </a:ext>
            </a:extLst>
          </p:cNvPr>
          <p:cNvSpPr/>
          <p:nvPr/>
        </p:nvSpPr>
        <p:spPr>
          <a:xfrm>
            <a:off x="3662698" y="5410006"/>
            <a:ext cx="5009420" cy="59322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9414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7AF0BE-1FA4-92D2-A1BE-5EC2DC44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1AF250-21DB-621D-779E-E3D74742315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0F5F95B-7283-D0B3-D135-B658EC718F90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E3B861E-5C82-661D-C8D1-E2C9A855B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3C7F9461-C684-70BE-34FA-5191AB6E9C1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2BCF03FC-CE96-9E57-DD9C-44F97AB45424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A7DDFEBF-376C-C4C2-702D-10D2893A32AC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8552884-68B9-C920-C4BC-1FB6124334A1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C5D0DFA0-4C10-0EFB-AADB-FB0E05612BB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2D0C30C3-FB72-CAB7-7A8C-1CA792D04B99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0518C8D-05E7-CF04-DB14-1B62DAB58BA4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4B7E8830-946C-5D66-71F3-0BEC57AB181C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A5433CA-9876-A869-CB3C-92A0608F6F44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331090C0-8A15-EFCD-3B8B-CE9D8B2D7EDE}"/>
              </a:ext>
            </a:extLst>
          </p:cNvPr>
          <p:cNvSpPr txBox="1"/>
          <p:nvPr/>
        </p:nvSpPr>
        <p:spPr>
          <a:xfrm>
            <a:off x="5407399" y="1421487"/>
            <a:ext cx="32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 odwołać się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klasy implementującej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przez słowo kluczowe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this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070B47E3-A865-96A5-596E-3E30F87CD7E2}"/>
              </a:ext>
            </a:extLst>
          </p:cNvPr>
          <p:cNvSpPr/>
          <p:nvPr/>
        </p:nvSpPr>
        <p:spPr>
          <a:xfrm>
            <a:off x="5407399" y="1458138"/>
            <a:ext cx="3264720" cy="7883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A4C5FF35-71D0-3416-B846-EB0B05AFC80E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304502" y="2246451"/>
            <a:ext cx="735257" cy="4530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A57CCAB4-92D8-EE36-422B-AAE095EC2199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656818" y="2246451"/>
            <a:ext cx="382941" cy="679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Obraz 40">
            <a:extLst>
              <a:ext uri="{FF2B5EF4-FFF2-40B4-BE49-F238E27FC236}">
                <a16:creationId xmlns:a16="http://schemas.microsoft.com/office/drawing/2014/main" id="{53A2FD6B-462C-EB72-A1DD-1A9E7A83C4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59" y="4508625"/>
            <a:ext cx="1919742" cy="2116936"/>
          </a:xfrm>
          <a:prstGeom prst="rect">
            <a:avLst/>
          </a:prstGeom>
        </p:spPr>
      </p:pic>
      <p:sp>
        <p:nvSpPr>
          <p:cNvPr id="42" name="Prostokąt: zaokrąglone rogi 41">
            <a:extLst>
              <a:ext uri="{FF2B5EF4-FFF2-40B4-BE49-F238E27FC236}">
                <a16:creationId xmlns:a16="http://schemas.microsoft.com/office/drawing/2014/main" id="{B9040E84-C665-0932-D51D-43A7950843B1}"/>
              </a:ext>
            </a:extLst>
          </p:cNvPr>
          <p:cNvSpPr/>
          <p:nvPr/>
        </p:nvSpPr>
        <p:spPr>
          <a:xfrm>
            <a:off x="1316631" y="4441066"/>
            <a:ext cx="1919742" cy="230030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" name="Nawias klamrowy otwierający 3">
            <a:extLst>
              <a:ext uri="{FF2B5EF4-FFF2-40B4-BE49-F238E27FC236}">
                <a16:creationId xmlns:a16="http://schemas.microsoft.com/office/drawing/2014/main" id="{C85AF149-9715-49FD-2ECA-11482DDB8308}"/>
              </a:ext>
            </a:extLst>
          </p:cNvPr>
          <p:cNvSpPr/>
          <p:nvPr/>
        </p:nvSpPr>
        <p:spPr>
          <a:xfrm rot="10800000">
            <a:off x="3282898" y="4498887"/>
            <a:ext cx="305405" cy="40651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68C3510-323B-C685-70B3-3573D79640E9}"/>
              </a:ext>
            </a:extLst>
          </p:cNvPr>
          <p:cNvSpPr txBox="1"/>
          <p:nvPr/>
        </p:nvSpPr>
        <p:spPr>
          <a:xfrm>
            <a:off x="3726385" y="4357393"/>
            <a:ext cx="3055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Definiujemy dwie klasy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implementujące interfejs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C92D1EA6-4703-1D30-F815-DEACBD669FB1}"/>
              </a:ext>
            </a:extLst>
          </p:cNvPr>
          <p:cNvSpPr/>
          <p:nvPr/>
        </p:nvSpPr>
        <p:spPr>
          <a:xfrm>
            <a:off x="3726385" y="4361940"/>
            <a:ext cx="3096344" cy="59322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6" name="Nawias klamrowy otwierający 15">
            <a:extLst>
              <a:ext uri="{FF2B5EF4-FFF2-40B4-BE49-F238E27FC236}">
                <a16:creationId xmlns:a16="http://schemas.microsoft.com/office/drawing/2014/main" id="{01AF390B-0297-7D44-76AC-D7A29FE2F89D}"/>
              </a:ext>
            </a:extLst>
          </p:cNvPr>
          <p:cNvSpPr/>
          <p:nvPr/>
        </p:nvSpPr>
        <p:spPr>
          <a:xfrm rot="10800000">
            <a:off x="3298267" y="5160576"/>
            <a:ext cx="305405" cy="1076735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9E20E642-6B08-3419-BFEA-539A1C28F132}"/>
              </a:ext>
            </a:extLst>
          </p:cNvPr>
          <p:cNvSpPr txBox="1"/>
          <p:nvPr/>
        </p:nvSpPr>
        <p:spPr>
          <a:xfrm>
            <a:off x="3662697" y="5405459"/>
            <a:ext cx="49330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Tworzymy instancje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 modyfikujemy pole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names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zdefiniowane w interfejsie (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1C294B7A-118E-AC50-878A-DEBF052B9375}"/>
              </a:ext>
            </a:extLst>
          </p:cNvPr>
          <p:cNvSpPr/>
          <p:nvPr/>
        </p:nvSpPr>
        <p:spPr>
          <a:xfrm>
            <a:off x="3662698" y="5410006"/>
            <a:ext cx="5009420" cy="59322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D14CA93D-22CD-3E81-5C3D-3AE8DC9E4E0D}"/>
              </a:ext>
            </a:extLst>
          </p:cNvPr>
          <p:cNvCxnSpPr>
            <a:cxnSpLocks/>
          </p:cNvCxnSpPr>
          <p:nvPr/>
        </p:nvCxnSpPr>
        <p:spPr>
          <a:xfrm>
            <a:off x="2530652" y="6475015"/>
            <a:ext cx="1208391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AA60E7C6-1BC3-6A0C-7766-725BECDA6A57}"/>
              </a:ext>
            </a:extLst>
          </p:cNvPr>
          <p:cNvSpPr txBox="1"/>
          <p:nvPr/>
        </p:nvSpPr>
        <p:spPr>
          <a:xfrm>
            <a:off x="3739043" y="6294522"/>
            <a:ext cx="493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Wywołujemy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getter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pola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names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9A0192C0-6D82-1612-B3AA-02BBEA520BE8}"/>
              </a:ext>
            </a:extLst>
          </p:cNvPr>
          <p:cNvSpPr/>
          <p:nvPr/>
        </p:nvSpPr>
        <p:spPr>
          <a:xfrm>
            <a:off x="3739043" y="6308011"/>
            <a:ext cx="3120279" cy="334007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082466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6B106-E302-3230-B6D8-66FE34A3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A4AE5-D428-878B-B340-1035542714B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50B9DB7-D087-4A66-2308-B67B5BA9C33E}"/>
              </a:ext>
            </a:extLst>
          </p:cNvPr>
          <p:cNvSpPr txBox="1"/>
          <p:nvPr/>
        </p:nvSpPr>
        <p:spPr>
          <a:xfrm>
            <a:off x="1043608" y="836712"/>
            <a:ext cx="8100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interfejs </a:t>
            </a:r>
            <a:r>
              <a:rPr lang="pl-PL" sz="1600" b="1" dirty="0"/>
              <a:t>nie może przechowywać stanu </a:t>
            </a:r>
            <a:r>
              <a:rPr lang="pl-PL" sz="1600" dirty="0"/>
              <a:t>- za wyjątkiem przypadku kiedy może to zrobić (</a:t>
            </a:r>
            <a:r>
              <a:rPr lang="pl-PL" sz="1600" b="1" dirty="0"/>
              <a:t>zła praktyka</a:t>
            </a:r>
            <a:r>
              <a:rPr lang="pl-PL" sz="1600" dirty="0"/>
              <a:t>) - przykładowo w </a:t>
            </a:r>
            <a:r>
              <a:rPr lang="pl-PL" sz="1600" b="1" dirty="0" err="1"/>
              <a:t>companion</a:t>
            </a:r>
            <a:r>
              <a:rPr lang="pl-PL" sz="1600" b="1" dirty="0"/>
              <a:t> </a:t>
            </a:r>
            <a:r>
              <a:rPr lang="pl-PL" sz="1600" b="1" dirty="0" err="1"/>
              <a:t>object</a:t>
            </a:r>
            <a:endParaRPr lang="pl-PL" sz="14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27FAF2F-A285-82CA-1C5F-CC8C732CC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672" y="2132856"/>
            <a:ext cx="4234086" cy="2110942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B8B3592-1434-A652-4016-114F67C8DBC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557311" y="1954064"/>
            <a:ext cx="1144983" cy="6108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FC48D29D-9221-0064-0A5A-4B800762BF49}"/>
              </a:ext>
            </a:extLst>
          </p:cNvPr>
          <p:cNvSpPr txBox="1"/>
          <p:nvPr/>
        </p:nvSpPr>
        <p:spPr>
          <a:xfrm>
            <a:off x="1114765" y="1661676"/>
            <a:ext cx="244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Właściwość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getterem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setterem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1D1827F5-9F5A-9CA8-7382-D19AB3675B96}"/>
              </a:ext>
            </a:extLst>
          </p:cNvPr>
          <p:cNvSpPr/>
          <p:nvPr/>
        </p:nvSpPr>
        <p:spPr>
          <a:xfrm>
            <a:off x="1109039" y="1661676"/>
            <a:ext cx="2448272" cy="58477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EACD46E-EE91-35ED-6F88-24EBED5683EF}"/>
              </a:ext>
            </a:extLst>
          </p:cNvPr>
          <p:cNvSpPr txBox="1"/>
          <p:nvPr/>
        </p:nvSpPr>
        <p:spPr>
          <a:xfrm>
            <a:off x="1283839" y="2564905"/>
            <a:ext cx="2442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Obiekt stowarzyszony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F175CE13-00D1-0060-E843-F67C5287C1A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548879" y="2734182"/>
            <a:ext cx="1153415" cy="63901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720AD29B-016D-7A6B-1A49-6FB01AA2320D}"/>
              </a:ext>
            </a:extLst>
          </p:cNvPr>
          <p:cNvSpPr/>
          <p:nvPr/>
        </p:nvSpPr>
        <p:spPr>
          <a:xfrm>
            <a:off x="1316631" y="2564904"/>
            <a:ext cx="2232248" cy="338555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A8CE5F01-387D-2094-87F1-ED7620BD8CDB}"/>
              </a:ext>
            </a:extLst>
          </p:cNvPr>
          <p:cNvSpPr txBox="1"/>
          <p:nvPr/>
        </p:nvSpPr>
        <p:spPr>
          <a:xfrm>
            <a:off x="1109039" y="3302665"/>
            <a:ext cx="3055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Mapa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przechwująca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referencje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wszystkich obiektów o typie interfejsu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659182E7-00F8-AD8E-3354-2FAC1B213E82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4205383" y="3698758"/>
            <a:ext cx="733236" cy="216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CD7D9F1A-17BF-45A9-C94E-4BD512AE650F}"/>
              </a:ext>
            </a:extLst>
          </p:cNvPr>
          <p:cNvSpPr/>
          <p:nvPr/>
        </p:nvSpPr>
        <p:spPr>
          <a:xfrm>
            <a:off x="1109039" y="3307212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5F3F42A9-ECEF-FBBE-8E62-A1697846D2B1}"/>
              </a:ext>
            </a:extLst>
          </p:cNvPr>
          <p:cNvSpPr txBox="1"/>
          <p:nvPr/>
        </p:nvSpPr>
        <p:spPr>
          <a:xfrm>
            <a:off x="5407399" y="1421487"/>
            <a:ext cx="32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Możemy odwołać się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instancji klasy implementującej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przez słowo kluczowe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this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8BA4E691-95F5-442B-C265-644671177268}"/>
              </a:ext>
            </a:extLst>
          </p:cNvPr>
          <p:cNvSpPr/>
          <p:nvPr/>
        </p:nvSpPr>
        <p:spPr>
          <a:xfrm>
            <a:off x="5407399" y="1458138"/>
            <a:ext cx="3264720" cy="788313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6BA2BEB6-FCF8-6921-F50D-B026DBFEA0AB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304502" y="2246451"/>
            <a:ext cx="735257" cy="4530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D3F2602F-50D9-EE79-88E3-63541F6D6E2A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656818" y="2246451"/>
            <a:ext cx="382941" cy="679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Obraz 40">
            <a:extLst>
              <a:ext uri="{FF2B5EF4-FFF2-40B4-BE49-F238E27FC236}">
                <a16:creationId xmlns:a16="http://schemas.microsoft.com/office/drawing/2014/main" id="{40522CF6-605C-0771-9E00-034CAC805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159" y="4508625"/>
            <a:ext cx="1919742" cy="2116936"/>
          </a:xfrm>
          <a:prstGeom prst="rect">
            <a:avLst/>
          </a:prstGeom>
        </p:spPr>
      </p:pic>
      <p:sp>
        <p:nvSpPr>
          <p:cNvPr id="42" name="Prostokąt: zaokrąglone rogi 41">
            <a:extLst>
              <a:ext uri="{FF2B5EF4-FFF2-40B4-BE49-F238E27FC236}">
                <a16:creationId xmlns:a16="http://schemas.microsoft.com/office/drawing/2014/main" id="{2D3FAD0B-149D-8DC4-EE66-75B7CB568C15}"/>
              </a:ext>
            </a:extLst>
          </p:cNvPr>
          <p:cNvSpPr/>
          <p:nvPr/>
        </p:nvSpPr>
        <p:spPr>
          <a:xfrm>
            <a:off x="1316631" y="4441066"/>
            <a:ext cx="1919742" cy="2300302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46" name="Obraz 45">
            <a:extLst>
              <a:ext uri="{FF2B5EF4-FFF2-40B4-BE49-F238E27FC236}">
                <a16:creationId xmlns:a16="http://schemas.microsoft.com/office/drawing/2014/main" id="{C46BEC62-0495-D4FA-EB3A-38B32AA80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72" y="5410691"/>
            <a:ext cx="5659959" cy="312803"/>
          </a:xfrm>
          <a:prstGeom prst="rect">
            <a:avLst/>
          </a:prstGeom>
        </p:spPr>
      </p:pic>
      <p:cxnSp>
        <p:nvCxnSpPr>
          <p:cNvPr id="43" name="Łącznik prosty ze strzałką 42">
            <a:extLst>
              <a:ext uri="{FF2B5EF4-FFF2-40B4-BE49-F238E27FC236}">
                <a16:creationId xmlns:a16="http://schemas.microsoft.com/office/drawing/2014/main" id="{24AE02EB-F493-507B-26BB-D353B307CADB}"/>
              </a:ext>
            </a:extLst>
          </p:cNvPr>
          <p:cNvCxnSpPr>
            <a:cxnSpLocks/>
          </p:cNvCxnSpPr>
          <p:nvPr/>
        </p:nvCxnSpPr>
        <p:spPr>
          <a:xfrm flipV="1">
            <a:off x="2530652" y="5589240"/>
            <a:ext cx="1105244" cy="88577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554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AE674-ED29-004A-8C4D-F0A6BEDB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AB22C4-50B7-F659-CC2A-D14FA09C552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3D0244D-84F3-4928-034F-D76752085ED6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klasa abstrakcyjna </a:t>
            </a:r>
            <a:r>
              <a:rPr lang="pl-PL" sz="1600" b="1" dirty="0"/>
              <a:t>może posiadać konstruktor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6BAD948-0A88-6B2F-5461-D78D65CE2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2075754"/>
            <a:ext cx="5101952" cy="1334056"/>
          </a:xfrm>
          <a:prstGeom prst="rect">
            <a:avLst/>
          </a:prstGeom>
        </p:spPr>
      </p:pic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E179BB38-759D-CDBE-72B7-D2FE1DFE6519}"/>
              </a:ext>
            </a:extLst>
          </p:cNvPr>
          <p:cNvSpPr/>
          <p:nvPr/>
        </p:nvSpPr>
        <p:spPr>
          <a:xfrm rot="5400000">
            <a:off x="5463412" y="737387"/>
            <a:ext cx="305405" cy="2520280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EC3CE4E4-2A1E-0FB6-EF58-0DF5C150E4A2}"/>
              </a:ext>
            </a:extLst>
          </p:cNvPr>
          <p:cNvSpPr txBox="1"/>
          <p:nvPr/>
        </p:nvSpPr>
        <p:spPr>
          <a:xfrm>
            <a:off x="4764512" y="143613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konstruktor</a:t>
            </a:r>
          </a:p>
        </p:txBody>
      </p:sp>
    </p:spTree>
    <p:extLst>
      <p:ext uri="{BB962C8B-B14F-4D97-AF65-F5344CB8AC3E}">
        <p14:creationId xmlns:p14="http://schemas.microsoft.com/office/powerpoint/2010/main" val="2399063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59C1C-F1CD-D06B-D8FC-547FCC1E8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53A35-9E0D-D0D3-0637-804AD2E13D3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9CF7F88-01D1-78B8-80B5-8953EF0EEAEC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klasa abstrakcyjna </a:t>
            </a:r>
            <a:r>
              <a:rPr lang="pl-PL" sz="1600" b="1" dirty="0"/>
              <a:t>może posiadać konstruktor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ABA8803-9BA8-5BED-0706-45BD3CC22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2075754"/>
            <a:ext cx="5101952" cy="1334056"/>
          </a:xfrm>
          <a:prstGeom prst="rect">
            <a:avLst/>
          </a:prstGeom>
        </p:spPr>
      </p:pic>
      <p:sp>
        <p:nvSpPr>
          <p:cNvPr id="10" name="Nawias klamrowy otwierający 9">
            <a:extLst>
              <a:ext uri="{FF2B5EF4-FFF2-40B4-BE49-F238E27FC236}">
                <a16:creationId xmlns:a16="http://schemas.microsoft.com/office/drawing/2014/main" id="{5D6220CB-14E3-6607-C634-4A669F884C22}"/>
              </a:ext>
            </a:extLst>
          </p:cNvPr>
          <p:cNvSpPr/>
          <p:nvPr/>
        </p:nvSpPr>
        <p:spPr>
          <a:xfrm rot="5400000">
            <a:off x="5463412" y="737387"/>
            <a:ext cx="305405" cy="2520280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946294D6-305C-9C1C-F9B7-605955418A99}"/>
              </a:ext>
            </a:extLst>
          </p:cNvPr>
          <p:cNvSpPr txBox="1"/>
          <p:nvPr/>
        </p:nvSpPr>
        <p:spPr>
          <a:xfrm>
            <a:off x="4764512" y="1436131"/>
            <a:ext cx="170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konstruktor</a:t>
            </a:r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CCA0F9AB-5FC9-053E-80E8-A2FECE1EA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3768" y="5103304"/>
            <a:ext cx="6372200" cy="1120254"/>
          </a:xfrm>
          <a:prstGeom prst="rect">
            <a:avLst/>
          </a:prstGeom>
        </p:spPr>
      </p:pic>
      <p:sp>
        <p:nvSpPr>
          <p:cNvPr id="24" name="Nawias klamrowy otwierający 23">
            <a:extLst>
              <a:ext uri="{FF2B5EF4-FFF2-40B4-BE49-F238E27FC236}">
                <a16:creationId xmlns:a16="http://schemas.microsoft.com/office/drawing/2014/main" id="{652620E9-2047-205A-4414-B8B2593DFAE7}"/>
              </a:ext>
            </a:extLst>
          </p:cNvPr>
          <p:cNvSpPr/>
          <p:nvPr/>
        </p:nvSpPr>
        <p:spPr>
          <a:xfrm rot="5400000">
            <a:off x="5207742" y="3232841"/>
            <a:ext cx="305405" cy="3191287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886B14D8-4CAA-DAB7-2976-AC3C4853CEC1}"/>
              </a:ext>
            </a:extLst>
          </p:cNvPr>
          <p:cNvSpPr txBox="1"/>
          <p:nvPr/>
        </p:nvSpPr>
        <p:spPr>
          <a:xfrm>
            <a:off x="4355974" y="3937696"/>
            <a:ext cx="2238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konstruktor</a:t>
            </a:r>
          </a:p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klasy pochodnej</a:t>
            </a:r>
          </a:p>
        </p:txBody>
      </p:sp>
      <p:sp>
        <p:nvSpPr>
          <p:cNvPr id="26" name="Nawias klamrowy otwierający 25">
            <a:extLst>
              <a:ext uri="{FF2B5EF4-FFF2-40B4-BE49-F238E27FC236}">
                <a16:creationId xmlns:a16="http://schemas.microsoft.com/office/drawing/2014/main" id="{762639E1-A7CA-A0FF-259A-11C2022397A9}"/>
              </a:ext>
            </a:extLst>
          </p:cNvPr>
          <p:cNvSpPr/>
          <p:nvPr/>
        </p:nvSpPr>
        <p:spPr>
          <a:xfrm rot="5400000">
            <a:off x="7952708" y="4545278"/>
            <a:ext cx="305405" cy="730118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7C51615-41A1-9F8F-D3C3-DE0AB5CDE6C6}"/>
              </a:ext>
            </a:extLst>
          </p:cNvPr>
          <p:cNvSpPr txBox="1"/>
          <p:nvPr/>
        </p:nvSpPr>
        <p:spPr>
          <a:xfrm>
            <a:off x="6901239" y="3845940"/>
            <a:ext cx="2353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800" b="1" dirty="0">
                <a:solidFill>
                  <a:schemeClr val="accent5">
                    <a:lumMod val="75000"/>
                  </a:schemeClr>
                </a:solidFill>
              </a:rPr>
              <a:t>wywołanie konstruktora klasy bazowej</a:t>
            </a:r>
          </a:p>
        </p:txBody>
      </p:sp>
      <p:cxnSp>
        <p:nvCxnSpPr>
          <p:cNvPr id="4" name="Łącznik prosty ze strzałką 3">
            <a:extLst>
              <a:ext uri="{FF2B5EF4-FFF2-40B4-BE49-F238E27FC236}">
                <a16:creationId xmlns:a16="http://schemas.microsoft.com/office/drawing/2014/main" id="{0731BCA0-E9AA-3868-2996-88468EB038E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54457" y="4542296"/>
            <a:ext cx="1105243" cy="60073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ECA39F5-C6D2-0F06-6213-BCCA1D261C4C}"/>
              </a:ext>
            </a:extLst>
          </p:cNvPr>
          <p:cNvSpPr txBox="1"/>
          <p:nvPr/>
        </p:nvSpPr>
        <p:spPr>
          <a:xfrm>
            <a:off x="1106285" y="3711299"/>
            <a:ext cx="30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Brak utworzenia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pola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–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tylko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przekazanie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do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konstruktora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klasy bazowej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0A855095-1FD5-18F6-D4C4-B3C449FA95E9}"/>
              </a:ext>
            </a:extLst>
          </p:cNvPr>
          <p:cNvSpPr/>
          <p:nvPr/>
        </p:nvSpPr>
        <p:spPr>
          <a:xfrm>
            <a:off x="1106285" y="3715846"/>
            <a:ext cx="3096344" cy="826450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260226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4E994-BFC4-1880-F507-3D6E5D6D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99FD86-8AB3-5275-09BB-91C2677EF7A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Klasy abstrakcyjne vs interfejsy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4CBA949-0C9F-53EE-6AAD-78B331815ACE}"/>
              </a:ext>
            </a:extLst>
          </p:cNvPr>
          <p:cNvSpPr txBox="1"/>
          <p:nvPr/>
        </p:nvSpPr>
        <p:spPr>
          <a:xfrm>
            <a:off x="1043608" y="836712"/>
            <a:ext cx="81003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dirty="0"/>
              <a:t>Klasa może implementować </a:t>
            </a:r>
            <a:r>
              <a:rPr lang="pl-PL" sz="1600" b="1" dirty="0"/>
              <a:t>wiele interfejsów </a:t>
            </a:r>
            <a:r>
              <a:rPr lang="pl-PL" sz="1600" dirty="0"/>
              <a:t>i rozszerzać </a:t>
            </a:r>
            <a:r>
              <a:rPr lang="pl-PL" sz="1600" b="1" dirty="0"/>
              <a:t>tylko jedną klasę</a:t>
            </a:r>
          </a:p>
        </p:txBody>
      </p:sp>
      <p:sp>
        <p:nvSpPr>
          <p:cNvPr id="11" name="Nawias klamrowy otwierający 10">
            <a:extLst>
              <a:ext uri="{FF2B5EF4-FFF2-40B4-BE49-F238E27FC236}">
                <a16:creationId xmlns:a16="http://schemas.microsoft.com/office/drawing/2014/main" id="{0CA00169-079D-0E04-41EE-66E1E1F63E45}"/>
              </a:ext>
            </a:extLst>
          </p:cNvPr>
          <p:cNvSpPr/>
          <p:nvPr/>
        </p:nvSpPr>
        <p:spPr>
          <a:xfrm>
            <a:off x="2948278" y="1401999"/>
            <a:ext cx="219566" cy="648073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5C3B78E-73E1-43CA-F1DB-07EA45A8DC45}"/>
              </a:ext>
            </a:extLst>
          </p:cNvPr>
          <p:cNvSpPr txBox="1"/>
          <p:nvPr/>
        </p:nvSpPr>
        <p:spPr>
          <a:xfrm>
            <a:off x="1184448" y="1419316"/>
            <a:ext cx="1801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Definicja interfejsów i klasy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3AAF366D-FD60-A641-0CC7-7FADA204494A}"/>
              </a:ext>
            </a:extLst>
          </p:cNvPr>
          <p:cNvSpPr/>
          <p:nvPr/>
        </p:nvSpPr>
        <p:spPr>
          <a:xfrm>
            <a:off x="1182677" y="1434760"/>
            <a:ext cx="1729597" cy="55388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pic>
        <p:nvPicPr>
          <p:cNvPr id="17" name="Obraz 16">
            <a:extLst>
              <a:ext uri="{FF2B5EF4-FFF2-40B4-BE49-F238E27FC236}">
                <a16:creationId xmlns:a16="http://schemas.microsoft.com/office/drawing/2014/main" id="{E3A7F478-94AC-DAA3-DC1F-4B312A57B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1330895"/>
            <a:ext cx="3622923" cy="719177"/>
          </a:xfrm>
          <a:prstGeom prst="rect">
            <a:avLst/>
          </a:prstGeom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8CAA9D8E-F8EA-306C-CD1C-E38342BD5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274" y="2564904"/>
            <a:ext cx="6084168" cy="1062132"/>
          </a:xfrm>
          <a:prstGeom prst="rect">
            <a:avLst/>
          </a:prstGeom>
        </p:spPr>
      </p:pic>
      <p:sp>
        <p:nvSpPr>
          <p:cNvPr id="21" name="Nawias klamrowy otwierający 20">
            <a:extLst>
              <a:ext uri="{FF2B5EF4-FFF2-40B4-BE49-F238E27FC236}">
                <a16:creationId xmlns:a16="http://schemas.microsoft.com/office/drawing/2014/main" id="{89BAC948-048B-EAC5-E0A9-E754D110DEF4}"/>
              </a:ext>
            </a:extLst>
          </p:cNvPr>
          <p:cNvSpPr/>
          <p:nvPr/>
        </p:nvSpPr>
        <p:spPr>
          <a:xfrm>
            <a:off x="2838495" y="2604670"/>
            <a:ext cx="219566" cy="1022366"/>
          </a:xfrm>
          <a:prstGeom prst="leftBrac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D228D5AD-459F-1955-A1E6-0E218B6497DA}"/>
              </a:ext>
            </a:extLst>
          </p:cNvPr>
          <p:cNvSpPr/>
          <p:nvPr/>
        </p:nvSpPr>
        <p:spPr>
          <a:xfrm>
            <a:off x="1087703" y="2508337"/>
            <a:ext cx="1729597" cy="1323439"/>
          </a:xfrm>
          <a:prstGeom prst="roundRect">
            <a:avLst/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1F112106-98E4-BC24-25F5-094ECAACD3E1}"/>
              </a:ext>
            </a:extLst>
          </p:cNvPr>
          <p:cNvSpPr txBox="1"/>
          <p:nvPr/>
        </p:nvSpPr>
        <p:spPr>
          <a:xfrm>
            <a:off x="1036890" y="2492896"/>
            <a:ext cx="18016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Klasa implementująca dwa interfejsy i rozszerzająca jedna klasę</a:t>
            </a:r>
          </a:p>
        </p:txBody>
      </p:sp>
    </p:spTree>
    <p:extLst>
      <p:ext uri="{BB962C8B-B14F-4D97-AF65-F5344CB8AC3E}">
        <p14:creationId xmlns:p14="http://schemas.microsoft.com/office/powerpoint/2010/main" val="592740337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83897</TotalTime>
  <Pages>0</Pages>
  <Words>1721</Words>
  <Characters>0</Characters>
  <Application>Microsoft Office PowerPoint</Application>
  <PresentationFormat>Pokaz na ekranie (4:3)</PresentationFormat>
  <Lines>0</Lines>
  <Paragraphs>394</Paragraphs>
  <Slides>53</Slides>
  <Notes>53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53</vt:i4>
      </vt:variant>
    </vt:vector>
  </HeadingPairs>
  <TitlesOfParts>
    <vt:vector size="58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1235</cp:revision>
  <dcterms:modified xsi:type="dcterms:W3CDTF">2026-04-08T17:34:07Z</dcterms:modified>
  <cp:category/>
</cp:coreProperties>
</file>