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7"/>
  </p:notesMasterIdLst>
  <p:handoutMasterIdLst>
    <p:handoutMasterId r:id="rId38"/>
  </p:handoutMasterIdLst>
  <p:sldIdLst>
    <p:sldId id="346" r:id="rId2"/>
    <p:sldId id="503" r:id="rId3"/>
    <p:sldId id="519" r:id="rId4"/>
    <p:sldId id="520" r:id="rId5"/>
    <p:sldId id="505" r:id="rId6"/>
    <p:sldId id="521" r:id="rId7"/>
    <p:sldId id="504" r:id="rId8"/>
    <p:sldId id="522" r:id="rId9"/>
    <p:sldId id="523" r:id="rId10"/>
    <p:sldId id="507" r:id="rId11"/>
    <p:sldId id="524" r:id="rId12"/>
    <p:sldId id="506" r:id="rId13"/>
    <p:sldId id="525" r:id="rId14"/>
    <p:sldId id="508" r:id="rId15"/>
    <p:sldId id="526" r:id="rId16"/>
    <p:sldId id="527" r:id="rId17"/>
    <p:sldId id="509" r:id="rId18"/>
    <p:sldId id="528" r:id="rId19"/>
    <p:sldId id="510" r:id="rId20"/>
    <p:sldId id="529" r:id="rId21"/>
    <p:sldId id="511" r:id="rId22"/>
    <p:sldId id="530" r:id="rId23"/>
    <p:sldId id="531" r:id="rId24"/>
    <p:sldId id="512" r:id="rId25"/>
    <p:sldId id="513" r:id="rId26"/>
    <p:sldId id="532" r:id="rId27"/>
    <p:sldId id="533" r:id="rId28"/>
    <p:sldId id="534" r:id="rId29"/>
    <p:sldId id="514" r:id="rId30"/>
    <p:sldId id="515" r:id="rId31"/>
    <p:sldId id="535" r:id="rId32"/>
    <p:sldId id="516" r:id="rId33"/>
    <p:sldId id="536" r:id="rId34"/>
    <p:sldId id="517" r:id="rId35"/>
    <p:sldId id="518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66" d="100"/>
          <a:sy n="66" d="100"/>
        </p:scale>
        <p:origin x="123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9C31-F4B5-AC6C-D93A-4156004C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CA2F4-5F85-9B90-E794-04179D1E6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F3E2E-2CD7-76EE-077E-0C0D66E8A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4CABB-CB8F-088F-D4C5-3EC8662EE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8664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BBD5-897F-AE00-FFF3-E4A9D4D9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CFCF6-DA16-469F-A496-C109ACFD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4498A-717D-1137-6F94-A1E1E727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14723-D5C9-7ECB-FD84-79F1D691C8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983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E6C3-C6DE-AAB4-EC26-1E85C54A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A5D9A-B8B4-95F7-A0E6-50FB3F09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AC067-E1C3-0130-C5CC-FC9CD30B0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A641-E91B-6A4F-EA44-231274C33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9887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FAAF-9418-7019-024D-653B30A4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27277-F50C-477B-4C45-FD0734B86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120FA-0763-7FA5-3B78-485FD0B2B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0CD40-C514-5365-2655-A96D3FA86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1221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D111-AF6D-9240-8441-04884EE4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8A66F-0D2F-09C9-81BA-9E486B969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77069-50BB-0D38-6BE4-CFF120053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869AF-CEE8-27A5-8421-FD453C54A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1262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07A1-C18B-E7E4-F68F-BF1C0B73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1D7E4-0DF7-5C7E-9C7E-EB01E488A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4E429-C388-5816-4341-93812C63D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62FCC-91DD-9464-3339-8F422816D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0241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658A-0488-91EE-26D3-6E773121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3148-82B0-BF3B-1ADB-5E5BE637D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5F09E-9E34-E19C-6F3B-A74F8CBEA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443C0-6816-31AA-61AB-43A4B859E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8810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5F70-8196-48F0-175E-27B8EF5A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3C16D-5C9B-BE46-89FF-7B199E416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5914D-503D-8269-9168-F6C06F6D4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6CF5-6C95-101B-16FC-C14B4E06B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5896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1C62-813E-74CB-ED37-6DB42F43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95FCC-8A5D-3B38-62F9-D25B1CC20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A735E-48B9-3C49-51E4-EA4CDD4B0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E250-249C-9204-F267-59C9028C5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2511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78298-BB00-1913-A527-0FF17B00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548D0-04FE-43D1-4F92-C8EB022F5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65456-97D9-8AB3-2003-83727134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7EA4-6C11-FE40-700C-415A31FFE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7066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F244-3EDE-9F44-BC48-5AF5D081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85D9-3A99-30A8-1347-852CCCB9A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CF2C-8150-4C35-C431-45BCF97A5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5557D-3DF1-24F9-5CCB-30FA0C70A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6919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CC17F-7DFF-641C-8AD4-632A70CA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1813B-8A9C-B88A-AB3F-AF564DAC0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22A36-9185-A3CE-B5E9-C7B0F6425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4EC55-6215-2D12-ADB9-B1F24B848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4874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41D0-1581-9A45-A938-B77A0F3D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96098-E08C-7BCA-40FE-24EEDB4DC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8F26-6E16-CD60-8EE3-8C6A3369F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AC06B-477B-021A-24F0-B40144759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8369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60A9-37D7-591A-72DD-A7DDFE45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F5C24-A743-FFFE-65AC-827CDAB89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76273-48B6-095D-C207-84E3EF4E4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36BC2-E55D-7018-3009-8A0518337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1841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01164-0857-214E-5FFD-26D5DFB6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2FF7D-C41D-A6C9-EEAD-0FD379AAF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A094-BFB6-4E61-DBDB-13B5B6C47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E2F75-CD39-A403-E04E-D9AB4D1B1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3106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082B-0877-0053-8186-0C110E81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C4844-E798-E258-3AA4-4FBF19C9D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D1997-AC07-26AC-54A3-E9A5A9016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E412-98AE-BAC5-CBFF-96CB82DF4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5791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0194-6EE8-85E5-D569-C819FB5F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042FB-675E-2D65-77C6-80DDC8323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5B7DB-C741-FC8C-4EFE-2C1EECE81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D6C0A-247D-9867-B43D-8A3322949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240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18B7-C7A1-0D6F-0ECA-10FFA920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3C055-4438-CDA5-56D9-D9DFEA6CD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97392-B0B8-D573-A9D0-EF68185A1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4E3B-624F-3A65-7124-421D6E3ED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4049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C6E9-8A60-3135-2B52-440A054F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30F00-C143-6826-8EA2-4EA42F1A8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B701C-ABCD-FA6B-51BC-3152456F6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83C91-B8AA-F84A-F007-D0FA857979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1072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E355-91E0-8538-66FA-63CC7A6F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00B68-F894-EC72-1E77-34A3FEFEF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1C3D5-4FE3-5B87-04E8-2564276C5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E0118-B8E5-8CE4-39E6-9AF602F3C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07652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33D2-8DDE-7172-ACB1-CFC826FC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9A0F8-1C3B-8AED-04F6-BA3108899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0F19D-9C58-7E5C-E13F-02FA80851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D6321-03B8-7D70-3668-2A40D086F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5581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1C4D-52C7-F802-8827-CA05F08E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345F3-7FC0-7D0B-061E-E642A5E8E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5C473-CE47-FFA6-AB55-900961EFC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CB54F-F6C5-9AF9-258F-620E94343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1055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6303-F8B6-01F9-4FB7-5C0F8640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247EC-4DBE-61FD-3C28-9E08CA7E6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8E864-9D93-F3F6-EF70-E025C1229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07803-B5D8-82EF-6043-F57C2B152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23062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2AEB-EC89-A17F-DDA7-A86BE219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3676D-1AED-B2B1-3A8C-15A213315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5DD21-3BF5-13EC-D95E-3FF3D8D7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E8124-03CA-402D-A4DC-7E5FD4D35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66221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51E7-57FA-59E3-63F2-3D1B6E90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D75C6-7DDE-EA76-682B-67D688094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A9C41-5894-9DC7-9868-E676C7214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5DCF3-96A1-5759-F17A-E7F167FE1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43149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0BFC-0DD8-7ED9-F357-71E62B18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34F1E-7E8C-56A2-36A2-798976D30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BA2D0-F25C-EE7B-B45A-85977D5BC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5C32-D191-6BA7-31FF-A68DC31B8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24512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6C8D3-F781-DE5D-002D-ECFE204F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CC15E-5044-87DF-7428-3D7A9C2FA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3C141-7994-7BBB-300A-E7F547CE0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FE4B4-F3D6-0284-297F-3276EE6F5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4064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83DC-9C0B-BF2B-018A-02D3501A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E9D5C-B8A8-3DC3-B03A-127EDF602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DB53D-5003-8643-3D82-2A6E492C7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B35C3-0A1E-130D-A877-88FC28A99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4009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9038-004B-D310-94AC-FA589F44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26CB7-F400-2CAD-2F63-47C5019C2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D1704-7CD9-76E9-1CD8-C48496CD1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F448A-062B-C4BD-427D-9E650B020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5423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1A51-1E76-7DC9-3486-B24B7A68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F2995-FCAF-6A9D-D087-2EB7FABDC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3026D-337E-CA77-75B1-F6F7933DE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30113-57F8-272A-8424-1AD36DE9B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08524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4C03-802E-5C3A-AD00-DA9C8BE5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A76F3-AF63-8EF1-50F8-3E1EFE417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1327A-AA01-2FD6-E2A8-39D6BAE46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EB0C9-B549-366E-64C7-EC59B521C0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66203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F41A-E939-1DB5-3FD6-98B3908B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2DC9F-7B56-D536-7287-37113E0F6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27104-D2D4-6159-39F0-E2F67B843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E4E51-6782-AFAD-CB69-07895A640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0114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EDA9-95D9-CFCC-4634-1B91561C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159C3-C0EA-E84E-9EBF-CBFD054A7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77570-57AB-6132-D31F-1693BB448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9EF02-9658-FCB2-E7B7-A167F6AA5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05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10.01.2025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7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Inicjalizacja i Delegacja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F92ADF1-EB9F-6223-7E24-930F9AF9FEBB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955C015-E5D5-27D8-4B93-2A77EFF57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74" y="3573016"/>
            <a:ext cx="4179820" cy="394808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3FBF9714-0885-79E9-232C-5D3C9B80C07C}"/>
              </a:ext>
            </a:extLst>
          </p:cNvPr>
          <p:cNvCxnSpPr>
            <a:cxnSpLocks/>
          </p:cNvCxnSpPr>
          <p:nvPr/>
        </p:nvCxnSpPr>
        <p:spPr>
          <a:xfrm>
            <a:off x="3693299" y="3248586"/>
            <a:ext cx="333833" cy="39904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714E474-5E91-2B0D-206C-64F7D6843652}"/>
              </a:ext>
            </a:extLst>
          </p:cNvPr>
          <p:cNvSpPr txBox="1"/>
          <p:nvPr/>
        </p:nvSpPr>
        <p:spPr>
          <a:xfrm>
            <a:off x="1812805" y="2603985"/>
            <a:ext cx="2402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Modyfikator pozwalający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inicjalizację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94F7AC80-B73E-C717-485C-C96A5B008B51}"/>
              </a:ext>
            </a:extLst>
          </p:cNvPr>
          <p:cNvSpPr/>
          <p:nvPr/>
        </p:nvSpPr>
        <p:spPr>
          <a:xfrm>
            <a:off x="1812805" y="2636004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6F049-91AC-E565-40B1-20496FB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D9F3B-A2DA-F25D-A8D7-B6AE0C29FD6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1D862D9-CAF4-AF7C-471B-7E57E50823A1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16EB5A9-0C3A-F138-C11C-48FB843F1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74" y="3573016"/>
            <a:ext cx="4179820" cy="394808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E9B1BF21-A3AC-929A-0C88-C5C5B9AEADB6}"/>
              </a:ext>
            </a:extLst>
          </p:cNvPr>
          <p:cNvCxnSpPr>
            <a:cxnSpLocks/>
          </p:cNvCxnSpPr>
          <p:nvPr/>
        </p:nvCxnSpPr>
        <p:spPr>
          <a:xfrm>
            <a:off x="3693299" y="3248586"/>
            <a:ext cx="333833" cy="39904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1B7CE93-CAF0-8D1D-A51F-CC5909D51C15}"/>
              </a:ext>
            </a:extLst>
          </p:cNvPr>
          <p:cNvSpPr txBox="1"/>
          <p:nvPr/>
        </p:nvSpPr>
        <p:spPr>
          <a:xfrm>
            <a:off x="1812805" y="2603985"/>
            <a:ext cx="2402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Modyfikator pozwalający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inicjalizację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383CEEF-158F-6262-0C46-B379B3A8CCFC}"/>
              </a:ext>
            </a:extLst>
          </p:cNvPr>
          <p:cNvSpPr/>
          <p:nvPr/>
        </p:nvSpPr>
        <p:spPr>
          <a:xfrm>
            <a:off x="1812805" y="2636004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D340CBA-7B2A-31E6-B834-941B28831A30}"/>
              </a:ext>
            </a:extLst>
          </p:cNvPr>
          <p:cNvSpPr txBox="1"/>
          <p:nvPr/>
        </p:nvSpPr>
        <p:spPr>
          <a:xfrm>
            <a:off x="4374436" y="2528199"/>
            <a:ext cx="1636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Zmienne tylko dla typu </a:t>
            </a:r>
            <a:r>
              <a:rPr lang="pl-PL" sz="1600" b="1" dirty="0" err="1"/>
              <a:t>var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6D2F9182-2B05-5783-C5B6-1962C6A46E39}"/>
              </a:ext>
            </a:extLst>
          </p:cNvPr>
          <p:cNvSpPr/>
          <p:nvPr/>
        </p:nvSpPr>
        <p:spPr>
          <a:xfrm>
            <a:off x="4466419" y="2527144"/>
            <a:ext cx="1426765" cy="57888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AA58EAC-86E3-EA68-7DBD-6EC30F8BE07E}"/>
              </a:ext>
            </a:extLst>
          </p:cNvPr>
          <p:cNvCxnSpPr>
            <a:cxnSpLocks/>
          </p:cNvCxnSpPr>
          <p:nvPr/>
        </p:nvCxnSpPr>
        <p:spPr>
          <a:xfrm flipH="1">
            <a:off x="4816091" y="3143938"/>
            <a:ext cx="256811" cy="557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75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F9289-B1B0-2675-C734-F0914003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C1B6BB-70CF-1F80-1955-8CBB438A46E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8A4A5DE-AB39-928F-D696-4C117EB71420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6C2E4F0-70CE-E152-283F-4532C57BA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74" y="3573016"/>
            <a:ext cx="4179820" cy="394808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93B06611-E842-7E36-100A-7BA04EE35ED3}"/>
              </a:ext>
            </a:extLst>
          </p:cNvPr>
          <p:cNvCxnSpPr>
            <a:cxnSpLocks/>
          </p:cNvCxnSpPr>
          <p:nvPr/>
        </p:nvCxnSpPr>
        <p:spPr>
          <a:xfrm>
            <a:off x="3693299" y="3248586"/>
            <a:ext cx="333833" cy="39904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B96A7DA-B837-2C3C-AF65-CF4FEC0505D7}"/>
              </a:ext>
            </a:extLst>
          </p:cNvPr>
          <p:cNvSpPr txBox="1"/>
          <p:nvPr/>
        </p:nvSpPr>
        <p:spPr>
          <a:xfrm>
            <a:off x="1812805" y="2603985"/>
            <a:ext cx="2402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Modyfikator pozwalający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inicjalizację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3599517-138C-48E8-0995-9F635B96F8E8}"/>
              </a:ext>
            </a:extLst>
          </p:cNvPr>
          <p:cNvSpPr/>
          <p:nvPr/>
        </p:nvSpPr>
        <p:spPr>
          <a:xfrm>
            <a:off x="1812805" y="2636004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BD502923-14F3-3D29-4152-5148D0C6AEDC}"/>
              </a:ext>
            </a:extLst>
          </p:cNvPr>
          <p:cNvSpPr txBox="1"/>
          <p:nvPr/>
        </p:nvSpPr>
        <p:spPr>
          <a:xfrm>
            <a:off x="4374436" y="2528199"/>
            <a:ext cx="1636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Zmienne tylko dla typu </a:t>
            </a:r>
            <a:r>
              <a:rPr lang="pl-PL" sz="1600" b="1" dirty="0" err="1"/>
              <a:t>var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55752EB7-4237-5F07-E981-6BECD271D89C}"/>
              </a:ext>
            </a:extLst>
          </p:cNvPr>
          <p:cNvSpPr/>
          <p:nvPr/>
        </p:nvSpPr>
        <p:spPr>
          <a:xfrm>
            <a:off x="4466419" y="2527144"/>
            <a:ext cx="1426765" cy="57888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724CF5E-A781-38A7-6A9D-82805B443A49}"/>
              </a:ext>
            </a:extLst>
          </p:cNvPr>
          <p:cNvCxnSpPr>
            <a:cxnSpLocks/>
          </p:cNvCxnSpPr>
          <p:nvPr/>
        </p:nvCxnSpPr>
        <p:spPr>
          <a:xfrm flipH="1">
            <a:off x="4816091" y="3143938"/>
            <a:ext cx="256811" cy="557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C62FF43-C498-D384-005B-D32442F28EB2}"/>
              </a:ext>
            </a:extLst>
          </p:cNvPr>
          <p:cNvSpPr txBox="1"/>
          <p:nvPr/>
        </p:nvSpPr>
        <p:spPr>
          <a:xfrm>
            <a:off x="6368466" y="2419679"/>
            <a:ext cx="1840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Wymagane </a:t>
            </a:r>
            <a:r>
              <a:rPr lang="pl-PL" sz="1600" b="1" dirty="0"/>
              <a:t>jawne</a:t>
            </a:r>
            <a:r>
              <a:rPr lang="pl-PL" sz="1600" dirty="0"/>
              <a:t> określenie typu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BD6DA83A-9DFF-9C05-81AF-D020A61DC23F}"/>
              </a:ext>
            </a:extLst>
          </p:cNvPr>
          <p:cNvSpPr/>
          <p:nvPr/>
        </p:nvSpPr>
        <p:spPr>
          <a:xfrm>
            <a:off x="6368466" y="2446961"/>
            <a:ext cx="1840739" cy="57888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E1EE5F50-F243-14B2-BA05-5EBA5DA3CEC5}"/>
              </a:ext>
            </a:extLst>
          </p:cNvPr>
          <p:cNvCxnSpPr>
            <a:cxnSpLocks/>
          </p:cNvCxnSpPr>
          <p:nvPr/>
        </p:nvCxnSpPr>
        <p:spPr>
          <a:xfrm flipH="1">
            <a:off x="7032025" y="3042722"/>
            <a:ext cx="256811" cy="557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70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B6E29-9FAB-6F4A-7494-9C723A70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243CAA-3C8D-FC4C-90A8-578639C9C3C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B001444-91A6-F63B-A037-4A478A16F321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7737B4F-90DF-697A-5443-878EE1634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74" y="3573016"/>
            <a:ext cx="4179820" cy="394808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8343290D-30BC-D37B-94B9-96C2C509DDD7}"/>
              </a:ext>
            </a:extLst>
          </p:cNvPr>
          <p:cNvCxnSpPr>
            <a:cxnSpLocks/>
          </p:cNvCxnSpPr>
          <p:nvPr/>
        </p:nvCxnSpPr>
        <p:spPr>
          <a:xfrm>
            <a:off x="3693299" y="3248586"/>
            <a:ext cx="333833" cy="39904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EFBE8D9-E5B9-CC28-AE4F-E9EDA40E85DE}"/>
              </a:ext>
            </a:extLst>
          </p:cNvPr>
          <p:cNvSpPr txBox="1"/>
          <p:nvPr/>
        </p:nvSpPr>
        <p:spPr>
          <a:xfrm>
            <a:off x="1812805" y="2603985"/>
            <a:ext cx="2402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Modyfikator pozwalający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inicjalizację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206FD74-A84C-C191-BD1E-9F35A781EEA7}"/>
              </a:ext>
            </a:extLst>
          </p:cNvPr>
          <p:cNvSpPr/>
          <p:nvPr/>
        </p:nvSpPr>
        <p:spPr>
          <a:xfrm>
            <a:off x="1812805" y="2636004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E330057-AE82-9EE6-59E7-8C77A68AB3B6}"/>
              </a:ext>
            </a:extLst>
          </p:cNvPr>
          <p:cNvSpPr txBox="1"/>
          <p:nvPr/>
        </p:nvSpPr>
        <p:spPr>
          <a:xfrm>
            <a:off x="4374436" y="2528199"/>
            <a:ext cx="1636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Zmienne tylko dla typu </a:t>
            </a:r>
            <a:r>
              <a:rPr lang="pl-PL" sz="1600" b="1" dirty="0" err="1"/>
              <a:t>var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5F2D4FA1-EA71-97ED-73A5-449C239F59F0}"/>
              </a:ext>
            </a:extLst>
          </p:cNvPr>
          <p:cNvSpPr/>
          <p:nvPr/>
        </p:nvSpPr>
        <p:spPr>
          <a:xfrm>
            <a:off x="4466419" y="2527144"/>
            <a:ext cx="1426765" cy="57888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0986D55F-0AA3-6195-E60B-8A65C7A46A6E}"/>
              </a:ext>
            </a:extLst>
          </p:cNvPr>
          <p:cNvCxnSpPr>
            <a:cxnSpLocks/>
          </p:cNvCxnSpPr>
          <p:nvPr/>
        </p:nvCxnSpPr>
        <p:spPr>
          <a:xfrm flipH="1">
            <a:off x="4816091" y="3143938"/>
            <a:ext cx="256811" cy="557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6A8B7D0D-69A9-B790-F1E3-36FF054316A8}"/>
              </a:ext>
            </a:extLst>
          </p:cNvPr>
          <p:cNvSpPr txBox="1"/>
          <p:nvPr/>
        </p:nvSpPr>
        <p:spPr>
          <a:xfrm>
            <a:off x="6368466" y="2419679"/>
            <a:ext cx="1840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/>
              <a:t>Wymagane </a:t>
            </a:r>
            <a:r>
              <a:rPr lang="pl-PL" sz="1600" b="1" dirty="0"/>
              <a:t>jawne</a:t>
            </a:r>
            <a:r>
              <a:rPr lang="pl-PL" sz="1600" dirty="0"/>
              <a:t> określenie typu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C772FE75-9182-128A-BA43-D3E24C7F2FEC}"/>
              </a:ext>
            </a:extLst>
          </p:cNvPr>
          <p:cNvSpPr/>
          <p:nvPr/>
        </p:nvSpPr>
        <p:spPr>
          <a:xfrm>
            <a:off x="6368466" y="2446961"/>
            <a:ext cx="1840739" cy="57888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368BAC5C-F725-3D39-3E14-D0D072E5F8B7}"/>
              </a:ext>
            </a:extLst>
          </p:cNvPr>
          <p:cNvCxnSpPr>
            <a:cxnSpLocks/>
          </p:cNvCxnSpPr>
          <p:nvPr/>
        </p:nvCxnSpPr>
        <p:spPr>
          <a:xfrm flipH="1">
            <a:off x="7032025" y="3042722"/>
            <a:ext cx="256811" cy="557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BD4CA95A-7E52-695E-9AC1-EADE29DC7C0E}"/>
              </a:ext>
            </a:extLst>
          </p:cNvPr>
          <p:cNvSpPr txBox="1"/>
          <p:nvPr/>
        </p:nvSpPr>
        <p:spPr>
          <a:xfrm>
            <a:off x="1109523" y="4396902"/>
            <a:ext cx="8008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Nie można używać </a:t>
            </a:r>
            <a:r>
              <a:rPr lang="pl-PL" sz="1600" b="1" dirty="0" err="1"/>
              <a:t>lateinit</a:t>
            </a:r>
            <a:r>
              <a:rPr lang="pl-PL" sz="1600" dirty="0"/>
              <a:t> dla </a:t>
            </a:r>
            <a:r>
              <a:rPr lang="pl-PL" sz="1600" b="1" dirty="0"/>
              <a:t>typów prymitywnych</a:t>
            </a:r>
            <a:r>
              <a:rPr lang="pl-PL" sz="1600" dirty="0"/>
              <a:t>, takich jak </a:t>
            </a:r>
            <a:r>
              <a:rPr lang="pl-PL" sz="1600" b="1" dirty="0" err="1"/>
              <a:t>Int</a:t>
            </a:r>
            <a:r>
              <a:rPr lang="pl-PL" sz="1600" dirty="0"/>
              <a:t> czy </a:t>
            </a:r>
            <a:r>
              <a:rPr lang="pl-PL" sz="1600" b="1" dirty="0" err="1"/>
              <a:t>Double</a:t>
            </a:r>
            <a:r>
              <a:rPr lang="pl-PL" sz="1600" dirty="0"/>
              <a:t>.</a:t>
            </a:r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711C0031-7948-DC2F-B64A-87BA58E13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60" y="4941849"/>
            <a:ext cx="8090483" cy="8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9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322F0-13EA-97A9-D32A-FF6A30C1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3460DA-78D5-AABB-AC77-F16B585748F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EAE6C54-80E4-C52F-B17A-0363D69FA12E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CE6426D5-92A6-E127-211D-7ADE428C6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51" y="2419139"/>
            <a:ext cx="5265651" cy="4005064"/>
          </a:xfrm>
          <a:prstGeom prst="rect">
            <a:avLst/>
          </a:prstGeom>
        </p:spPr>
      </p:pic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C50B33AE-14AB-6FF0-41FD-019524B36331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14892" y="2743546"/>
            <a:ext cx="914877" cy="19952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CA7D3580-CE4D-AC49-A0E5-4A2FF63A0C03}"/>
              </a:ext>
            </a:extLst>
          </p:cNvPr>
          <p:cNvSpPr txBox="1"/>
          <p:nvPr/>
        </p:nvSpPr>
        <p:spPr>
          <a:xfrm>
            <a:off x="1547664" y="2419139"/>
            <a:ext cx="1867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Zmienna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inicjalizacją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66DDC4D1-E6DD-3B6E-B69E-18A9EC4795A5}"/>
              </a:ext>
            </a:extLst>
          </p:cNvPr>
          <p:cNvSpPr/>
          <p:nvPr/>
        </p:nvSpPr>
        <p:spPr>
          <a:xfrm>
            <a:off x="1547664" y="2451158"/>
            <a:ext cx="186722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761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2156C-B240-86CF-4C41-B16D22BE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34D5FA-70B3-9F26-588F-DE1A245952A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283411C-73AD-266C-6FF2-BFE75307F087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A2AEA0F-8221-1FDB-CCCE-6C825A425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51" y="2419139"/>
            <a:ext cx="5265651" cy="4005064"/>
          </a:xfrm>
          <a:prstGeom prst="rect">
            <a:avLst/>
          </a:prstGeom>
        </p:spPr>
      </p:pic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D0311C42-AAD6-C714-25D0-BA0C2D1B93A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14892" y="2743546"/>
            <a:ext cx="914877" cy="19952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84CB4070-F8E5-D9BD-4711-2039AD4ADEBF}"/>
              </a:ext>
            </a:extLst>
          </p:cNvPr>
          <p:cNvSpPr txBox="1"/>
          <p:nvPr/>
        </p:nvSpPr>
        <p:spPr>
          <a:xfrm>
            <a:off x="1547664" y="2419139"/>
            <a:ext cx="1867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Zmienna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inicjalizacją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71AD4A57-7D44-7E7A-8B31-17CD5FE55801}"/>
              </a:ext>
            </a:extLst>
          </p:cNvPr>
          <p:cNvSpPr/>
          <p:nvPr/>
        </p:nvSpPr>
        <p:spPr>
          <a:xfrm>
            <a:off x="1547664" y="2451158"/>
            <a:ext cx="186722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BA019B4-CC98-82B1-CF9C-B49817E7E9B8}"/>
              </a:ext>
            </a:extLst>
          </p:cNvPr>
          <p:cNvSpPr txBox="1"/>
          <p:nvPr/>
        </p:nvSpPr>
        <p:spPr>
          <a:xfrm>
            <a:off x="1763688" y="3270709"/>
            <a:ext cx="1435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inicjalizująca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00CC169F-99BA-32C9-C7CC-BA71297FAA8F}"/>
              </a:ext>
            </a:extLst>
          </p:cNvPr>
          <p:cNvSpPr/>
          <p:nvPr/>
        </p:nvSpPr>
        <p:spPr>
          <a:xfrm>
            <a:off x="1835696" y="3302728"/>
            <a:ext cx="1296144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07AAB074-C7D1-8076-F47F-6CA11C7C564A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131840" y="3595115"/>
            <a:ext cx="1197929" cy="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5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C3F17-72FA-3833-5539-67F31679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927C44-DA64-939F-28C9-8A999684F0B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opóźniona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113BE26-BD45-BC48-4F3D-BEF28F1F4737}"/>
              </a:ext>
            </a:extLst>
          </p:cNvPr>
          <p:cNvSpPr txBox="1"/>
          <p:nvPr/>
        </p:nvSpPr>
        <p:spPr>
          <a:xfrm>
            <a:off x="1033753" y="796886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nie możemy lub nie chcemy od razu przypisać wartości do zmiennej w momencie jej deklaracji, możemy wykorzystać </a:t>
            </a:r>
            <a:r>
              <a:rPr lang="pl-PL" sz="1600" b="1" dirty="0"/>
              <a:t>opóźnioną inicjalizację.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 to modyfikator, który pozwala na opóźnioną inicjalizację właściwości zmiennych </a:t>
            </a:r>
            <a:r>
              <a:rPr lang="pl-PL" sz="1600" b="1" dirty="0"/>
              <a:t>tylko dla typu </a:t>
            </a:r>
            <a:r>
              <a:rPr lang="pl-PL" sz="1600" b="1" dirty="0" err="1"/>
              <a:t>var</a:t>
            </a:r>
            <a:r>
              <a:rPr lang="pl-PL" sz="1600" dirty="0"/>
              <a:t>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F41B079E-CBC6-B0BD-EDC9-63EC7D446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51" y="2419139"/>
            <a:ext cx="5265651" cy="4005064"/>
          </a:xfrm>
          <a:prstGeom prst="rect">
            <a:avLst/>
          </a:prstGeom>
        </p:spPr>
      </p:pic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570A95B1-C74C-B4C3-937D-ED66CC42A6E8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14892" y="2743546"/>
            <a:ext cx="914877" cy="19952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868851F0-AA74-FAAD-D524-26C9E23D9411}"/>
              </a:ext>
            </a:extLst>
          </p:cNvPr>
          <p:cNvSpPr txBox="1"/>
          <p:nvPr/>
        </p:nvSpPr>
        <p:spPr>
          <a:xfrm>
            <a:off x="1547664" y="2419139"/>
            <a:ext cx="1867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Zmienna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późną inicjalizacją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0406E36-8595-942B-08D8-B86C10029921}"/>
              </a:ext>
            </a:extLst>
          </p:cNvPr>
          <p:cNvSpPr/>
          <p:nvPr/>
        </p:nvSpPr>
        <p:spPr>
          <a:xfrm>
            <a:off x="1547664" y="2451158"/>
            <a:ext cx="186722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1E6ADDAC-8190-D4CE-18C9-7DB11F1780FC}"/>
              </a:ext>
            </a:extLst>
          </p:cNvPr>
          <p:cNvSpPr txBox="1"/>
          <p:nvPr/>
        </p:nvSpPr>
        <p:spPr>
          <a:xfrm>
            <a:off x="1763688" y="3270709"/>
            <a:ext cx="1435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inicjalizująca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A9F40B9D-C969-2583-492B-F5345A00DB86}"/>
              </a:ext>
            </a:extLst>
          </p:cNvPr>
          <p:cNvSpPr/>
          <p:nvPr/>
        </p:nvSpPr>
        <p:spPr>
          <a:xfrm>
            <a:off x="1835696" y="3302728"/>
            <a:ext cx="1296144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289C8595-243C-2328-9D21-5379E4FACC16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131840" y="3595115"/>
            <a:ext cx="1197929" cy="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BE6005DC-D899-A527-FB37-38B022A58C71}"/>
              </a:ext>
            </a:extLst>
          </p:cNvPr>
          <p:cNvSpPr txBox="1"/>
          <p:nvPr/>
        </p:nvSpPr>
        <p:spPr>
          <a:xfrm>
            <a:off x="1165890" y="4678177"/>
            <a:ext cx="2206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Operator referencji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właściwości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65D15B66-6C35-112A-B466-599A926CB63E}"/>
              </a:ext>
            </a:extLst>
          </p:cNvPr>
          <p:cNvSpPr/>
          <p:nvPr/>
        </p:nvSpPr>
        <p:spPr>
          <a:xfrm>
            <a:off x="1259632" y="4699687"/>
            <a:ext cx="204299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A8D2AAEB-8483-FC9D-9A14-29CC69D28D31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3302627" y="4797152"/>
            <a:ext cx="1845437" cy="19492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6E76BB3E-000E-DD3C-A5B5-95287F643ECD}"/>
              </a:ext>
            </a:extLst>
          </p:cNvPr>
          <p:cNvSpPr txBox="1"/>
          <p:nvPr/>
        </p:nvSpPr>
        <p:spPr>
          <a:xfrm>
            <a:off x="6588224" y="3270709"/>
            <a:ext cx="2206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sprawdza, czy właściwość została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zainicjalizowana</a:t>
            </a:r>
          </a:p>
        </p:txBody>
      </p:sp>
      <p:sp>
        <p:nvSpPr>
          <p:cNvPr id="38" name="Prostokąt: zaokrąglone rogi 37">
            <a:extLst>
              <a:ext uri="{FF2B5EF4-FFF2-40B4-BE49-F238E27FC236}">
                <a16:creationId xmlns:a16="http://schemas.microsoft.com/office/drawing/2014/main" id="{F52DBF0B-1DA6-431D-33F3-E4E18F1C5BFC}"/>
              </a:ext>
            </a:extLst>
          </p:cNvPr>
          <p:cNvSpPr/>
          <p:nvPr/>
        </p:nvSpPr>
        <p:spPr>
          <a:xfrm>
            <a:off x="6732240" y="3302727"/>
            <a:ext cx="1934840" cy="79897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3610F540-8ACA-5A72-01DD-918971EDE42B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6588224" y="4101706"/>
            <a:ext cx="1111436" cy="4794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47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73964-2B79-9E62-0702-02F85B9B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E288E-7DE4-17AC-D1C3-7A04A80568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A45249B-D139-3883-C329-FB0EC64DD9CD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Delegaty</a:t>
            </a:r>
            <a:r>
              <a:rPr lang="pl-PL" sz="1600" dirty="0"/>
              <a:t> to mechanizm pozwalający na przekazywanie odpowiedzialności za implementację właściwości </a:t>
            </a:r>
            <a:r>
              <a:rPr lang="pl-PL" sz="1600" b="1" dirty="0"/>
              <a:t>innemu obiektowi</a:t>
            </a:r>
            <a:r>
              <a:rPr lang="pl-PL" sz="1600" dirty="0"/>
              <a:t> - przekazanie wywołania metod </a:t>
            </a:r>
            <a:r>
              <a:rPr lang="pl-PL" sz="1600" b="1" dirty="0" err="1"/>
              <a:t>get</a:t>
            </a:r>
            <a:r>
              <a:rPr lang="pl-PL" sz="1600" b="1" dirty="0"/>
              <a:t>() </a:t>
            </a:r>
            <a:r>
              <a:rPr lang="pl-PL" sz="1600" dirty="0"/>
              <a:t>i </a:t>
            </a:r>
            <a:r>
              <a:rPr lang="pl-PL" sz="1600" b="1" dirty="0"/>
              <a:t>set() </a:t>
            </a:r>
            <a:r>
              <a:rPr lang="pl-PL" sz="1600" dirty="0"/>
              <a:t>do innego obiektu.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Do dyspozycji mamy dwa </a:t>
            </a:r>
            <a:r>
              <a:rPr lang="pl-PL" sz="1600" b="1" dirty="0"/>
              <a:t>wbudowane interfejsy </a:t>
            </a:r>
            <a:r>
              <a:rPr lang="pl-PL" sz="1600" dirty="0"/>
              <a:t>definiujące sygnatury metod tylko do odczytu oraz do </a:t>
            </a:r>
            <a:r>
              <a:rPr lang="pl-PL" sz="1600" b="1" dirty="0"/>
              <a:t>odczytu i zapisu </a:t>
            </a:r>
            <a:r>
              <a:rPr lang="pl-PL" sz="1600" dirty="0"/>
              <a:t>właściwości.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AF41734-158D-58EA-B9D4-85D4F6B08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813" y="3284984"/>
            <a:ext cx="5943186" cy="2320615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0A8F579-F7D7-385A-5921-0F34CDDCFCCF}"/>
              </a:ext>
            </a:extLst>
          </p:cNvPr>
          <p:cNvSpPr txBox="1"/>
          <p:nvPr/>
        </p:nvSpPr>
        <p:spPr>
          <a:xfrm>
            <a:off x="1115616" y="3841215"/>
            <a:ext cx="2495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nadpisuje jedną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wbudowanych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27567136-DE09-9BDC-507A-AADD6D504904}"/>
              </a:ext>
            </a:extLst>
          </p:cNvPr>
          <p:cNvSpPr/>
          <p:nvPr/>
        </p:nvSpPr>
        <p:spPr>
          <a:xfrm>
            <a:off x="1115616" y="3868643"/>
            <a:ext cx="2448272" cy="55734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F3397D17-630B-D2DD-5E82-BEC8B0374FF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88" y="4147317"/>
            <a:ext cx="362838" cy="73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13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0C251-E90E-E7AB-9360-49B7ABAA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1E75C7-A240-CD6E-F73A-732D51642E6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B19B30-BA81-3CAA-0422-11A7DA930C9E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Delegaty</a:t>
            </a:r>
            <a:r>
              <a:rPr lang="pl-PL" sz="1600" dirty="0"/>
              <a:t> to mechanizm pozwalający na przekazywanie odpowiedzialności za implementację właściwości </a:t>
            </a:r>
            <a:r>
              <a:rPr lang="pl-PL" sz="1600" b="1" dirty="0"/>
              <a:t>innemu obiektowi</a:t>
            </a:r>
            <a:r>
              <a:rPr lang="pl-PL" sz="1600" dirty="0"/>
              <a:t> - przekazanie wywołania metod </a:t>
            </a:r>
            <a:r>
              <a:rPr lang="pl-PL" sz="1600" b="1" dirty="0" err="1"/>
              <a:t>get</a:t>
            </a:r>
            <a:r>
              <a:rPr lang="pl-PL" sz="1600" b="1" dirty="0"/>
              <a:t>() </a:t>
            </a:r>
            <a:r>
              <a:rPr lang="pl-PL" sz="1600" dirty="0"/>
              <a:t>i </a:t>
            </a:r>
            <a:r>
              <a:rPr lang="pl-PL" sz="1600" b="1" dirty="0"/>
              <a:t>set() </a:t>
            </a:r>
            <a:r>
              <a:rPr lang="pl-PL" sz="1600" dirty="0"/>
              <a:t>do innego obiektu.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Do dyspozycji mamy dwa </a:t>
            </a:r>
            <a:r>
              <a:rPr lang="pl-PL" sz="1600" b="1" dirty="0"/>
              <a:t>wbudowane interfejsy </a:t>
            </a:r>
            <a:r>
              <a:rPr lang="pl-PL" sz="1600" dirty="0"/>
              <a:t>definiujące sygnatury metod tylko do odczytu oraz do </a:t>
            </a:r>
            <a:r>
              <a:rPr lang="pl-PL" sz="1600" b="1" dirty="0"/>
              <a:t>odczytu i zapisu </a:t>
            </a:r>
            <a:r>
              <a:rPr lang="pl-PL" sz="1600" dirty="0"/>
              <a:t>właściwości.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BFF258F-D16E-8E26-0F34-DC1AA7A5F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813" y="3284984"/>
            <a:ext cx="5943186" cy="232061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AB80E392-BE08-224B-A058-DB82D4921AFE}"/>
              </a:ext>
            </a:extLst>
          </p:cNvPr>
          <p:cNvCxnSpPr>
            <a:cxnSpLocks/>
          </p:cNvCxnSpPr>
          <p:nvPr/>
        </p:nvCxnSpPr>
        <p:spPr>
          <a:xfrm flipH="1">
            <a:off x="5766893" y="3382242"/>
            <a:ext cx="455901" cy="471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746836F-0F34-0833-4C31-1A99DD2EA085}"/>
              </a:ext>
            </a:extLst>
          </p:cNvPr>
          <p:cNvSpPr txBox="1"/>
          <p:nvPr/>
        </p:nvSpPr>
        <p:spPr>
          <a:xfrm>
            <a:off x="3926726" y="2510279"/>
            <a:ext cx="250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argumentach funkcji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AE491E7A-7DF5-3AF0-C5A8-1840012527FD}"/>
              </a:ext>
            </a:extLst>
          </p:cNvPr>
          <p:cNvSpPr/>
          <p:nvPr/>
        </p:nvSpPr>
        <p:spPr>
          <a:xfrm>
            <a:off x="3935101" y="2543695"/>
            <a:ext cx="2495435" cy="812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F60485C-B2A1-B049-4487-2A77641AA84C}"/>
              </a:ext>
            </a:extLst>
          </p:cNvPr>
          <p:cNvSpPr txBox="1"/>
          <p:nvPr/>
        </p:nvSpPr>
        <p:spPr>
          <a:xfrm>
            <a:off x="1115616" y="3841215"/>
            <a:ext cx="2495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nadpisuje jedną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wbudowanych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86783610-0017-FE93-8D32-52C161642379}"/>
              </a:ext>
            </a:extLst>
          </p:cNvPr>
          <p:cNvSpPr/>
          <p:nvPr/>
        </p:nvSpPr>
        <p:spPr>
          <a:xfrm>
            <a:off x="1115616" y="3868643"/>
            <a:ext cx="2448272" cy="55734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4957268-6BD1-CAE4-BB7E-D63FE9C734D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88" y="4147317"/>
            <a:ext cx="362838" cy="73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45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902FB-A2E2-1886-7DB9-AC9B4134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6ED5B-8716-6F18-1355-14AD4A7A28B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133C58E-D0FA-FD68-4252-B98C173242CA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Delegaty</a:t>
            </a:r>
            <a:r>
              <a:rPr lang="pl-PL" sz="1600" dirty="0"/>
              <a:t> to mechanizm pozwalający na przekazywanie odpowiedzialności za implementację właściwości </a:t>
            </a:r>
            <a:r>
              <a:rPr lang="pl-PL" sz="1600" b="1" dirty="0"/>
              <a:t>innemu obiektowi</a:t>
            </a:r>
            <a:r>
              <a:rPr lang="pl-PL" sz="1600" dirty="0"/>
              <a:t> - przekazanie wywołania metod </a:t>
            </a:r>
            <a:r>
              <a:rPr lang="pl-PL" sz="1600" b="1" dirty="0" err="1"/>
              <a:t>get</a:t>
            </a:r>
            <a:r>
              <a:rPr lang="pl-PL" sz="1600" b="1" dirty="0"/>
              <a:t>() </a:t>
            </a:r>
            <a:r>
              <a:rPr lang="pl-PL" sz="1600" dirty="0"/>
              <a:t>i </a:t>
            </a:r>
            <a:r>
              <a:rPr lang="pl-PL" sz="1600" b="1" dirty="0"/>
              <a:t>set() </a:t>
            </a:r>
            <a:r>
              <a:rPr lang="pl-PL" sz="1600" dirty="0"/>
              <a:t>do innego obiektu.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Do dyspozycji mamy dwa </a:t>
            </a:r>
            <a:r>
              <a:rPr lang="pl-PL" sz="1600" b="1" dirty="0"/>
              <a:t>wbudowane interfejsy </a:t>
            </a:r>
            <a:r>
              <a:rPr lang="pl-PL" sz="1600" dirty="0"/>
              <a:t>definiujące sygnatury metod tylko do odczytu oraz do </a:t>
            </a:r>
            <a:r>
              <a:rPr lang="pl-PL" sz="1600" b="1" dirty="0"/>
              <a:t>odczytu i zapisu </a:t>
            </a:r>
            <a:r>
              <a:rPr lang="pl-PL" sz="1600" dirty="0"/>
              <a:t>właściwości.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600508A-83A1-5CF1-AE07-948211C5C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813" y="3284984"/>
            <a:ext cx="5943186" cy="232061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34128C4D-11F6-B97E-410D-224060033A39}"/>
              </a:ext>
            </a:extLst>
          </p:cNvPr>
          <p:cNvCxnSpPr>
            <a:cxnSpLocks/>
          </p:cNvCxnSpPr>
          <p:nvPr/>
        </p:nvCxnSpPr>
        <p:spPr>
          <a:xfrm flipH="1">
            <a:off x="5766893" y="3382242"/>
            <a:ext cx="455901" cy="471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CCCF98D-1F8D-A8A2-0F92-EE9FB31A9FB7}"/>
              </a:ext>
            </a:extLst>
          </p:cNvPr>
          <p:cNvSpPr txBox="1"/>
          <p:nvPr/>
        </p:nvSpPr>
        <p:spPr>
          <a:xfrm>
            <a:off x="3926726" y="2510279"/>
            <a:ext cx="250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argumentach funkcji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F5CC5DF0-E40F-B652-31E5-BE6D32AA4CCC}"/>
              </a:ext>
            </a:extLst>
          </p:cNvPr>
          <p:cNvSpPr/>
          <p:nvPr/>
        </p:nvSpPr>
        <p:spPr>
          <a:xfrm>
            <a:off x="3935101" y="2543695"/>
            <a:ext cx="2495435" cy="812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49062C4-3A6E-A81E-5720-CFE3CE8A29A3}"/>
              </a:ext>
            </a:extLst>
          </p:cNvPr>
          <p:cNvSpPr txBox="1"/>
          <p:nvPr/>
        </p:nvSpPr>
        <p:spPr>
          <a:xfrm>
            <a:off x="6646580" y="2231816"/>
            <a:ext cx="2509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wartościach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zwracanych przez funkcję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BE01996B-AF98-49A3-727B-0383CCC07DDE}"/>
              </a:ext>
            </a:extLst>
          </p:cNvPr>
          <p:cNvSpPr/>
          <p:nvPr/>
        </p:nvSpPr>
        <p:spPr>
          <a:xfrm>
            <a:off x="6632351" y="2217725"/>
            <a:ext cx="2495435" cy="10776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D74915AC-939A-743A-9516-012F02537D02}"/>
              </a:ext>
            </a:extLst>
          </p:cNvPr>
          <p:cNvCxnSpPr>
            <a:cxnSpLocks/>
          </p:cNvCxnSpPr>
          <p:nvPr/>
        </p:nvCxnSpPr>
        <p:spPr>
          <a:xfrm flipH="1">
            <a:off x="6245655" y="3318033"/>
            <a:ext cx="1224136" cy="55061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A8CF7CA-CC53-6B5E-4D4A-A5A5DAADBAA6}"/>
              </a:ext>
            </a:extLst>
          </p:cNvPr>
          <p:cNvSpPr txBox="1"/>
          <p:nvPr/>
        </p:nvSpPr>
        <p:spPr>
          <a:xfrm>
            <a:off x="1115616" y="3841215"/>
            <a:ext cx="2495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nadpisuje jedną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wbudowanych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E8E2BE44-4727-C141-B7CB-973076DA345F}"/>
              </a:ext>
            </a:extLst>
          </p:cNvPr>
          <p:cNvSpPr/>
          <p:nvPr/>
        </p:nvSpPr>
        <p:spPr>
          <a:xfrm>
            <a:off x="1115616" y="3868643"/>
            <a:ext cx="2448272" cy="55734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1B6C586D-AC85-69EC-6D74-B3A546D3241D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88" y="4147317"/>
            <a:ext cx="362838" cy="73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712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83970-1753-5EC2-C274-02F1629F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5B14B-F4F2-B93C-6D86-D4B78B0A897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8E30455-65FB-7BC3-D911-073675809121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Delegaty</a:t>
            </a:r>
            <a:r>
              <a:rPr lang="pl-PL" sz="1600" dirty="0"/>
              <a:t> to mechanizm pozwalający na przekazywanie odpowiedzialności za implementację właściwości </a:t>
            </a:r>
            <a:r>
              <a:rPr lang="pl-PL" sz="1600" b="1" dirty="0"/>
              <a:t>innemu obiektowi</a:t>
            </a:r>
            <a:r>
              <a:rPr lang="pl-PL" sz="1600" dirty="0"/>
              <a:t> - przekazanie wywołania metod </a:t>
            </a:r>
            <a:r>
              <a:rPr lang="pl-PL" sz="1600" b="1" dirty="0" err="1"/>
              <a:t>get</a:t>
            </a:r>
            <a:r>
              <a:rPr lang="pl-PL" sz="1600" b="1" dirty="0"/>
              <a:t>() </a:t>
            </a:r>
            <a:r>
              <a:rPr lang="pl-PL" sz="1600" dirty="0"/>
              <a:t>i </a:t>
            </a:r>
            <a:r>
              <a:rPr lang="pl-PL" sz="1600" b="1" dirty="0"/>
              <a:t>set() </a:t>
            </a:r>
            <a:r>
              <a:rPr lang="pl-PL" sz="1600" dirty="0"/>
              <a:t>do innego obiektu.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Do dyspozycji mamy dwa </a:t>
            </a:r>
            <a:r>
              <a:rPr lang="pl-PL" sz="1600" b="1" dirty="0"/>
              <a:t>wbudowane interfejsy </a:t>
            </a:r>
            <a:r>
              <a:rPr lang="pl-PL" sz="1600" dirty="0"/>
              <a:t>definiujące sygnatury metod tylko do odczytu oraz do </a:t>
            </a:r>
            <a:r>
              <a:rPr lang="pl-PL" sz="1600" b="1" dirty="0"/>
              <a:t>odczytu i zapisu </a:t>
            </a:r>
            <a:r>
              <a:rPr lang="pl-PL" sz="1600" dirty="0"/>
              <a:t>właściwości.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590FA76-55FC-3E68-5658-377284D7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813" y="3284984"/>
            <a:ext cx="5943186" cy="232061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74BA8FA-40B6-AA7A-2F75-07D2B3BFC607}"/>
              </a:ext>
            </a:extLst>
          </p:cNvPr>
          <p:cNvCxnSpPr>
            <a:cxnSpLocks/>
          </p:cNvCxnSpPr>
          <p:nvPr/>
        </p:nvCxnSpPr>
        <p:spPr>
          <a:xfrm flipH="1">
            <a:off x="5766893" y="3382242"/>
            <a:ext cx="455901" cy="471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B87D52B-2BB1-38D4-B580-A742A4F26C6F}"/>
              </a:ext>
            </a:extLst>
          </p:cNvPr>
          <p:cNvSpPr txBox="1"/>
          <p:nvPr/>
        </p:nvSpPr>
        <p:spPr>
          <a:xfrm>
            <a:off x="3926726" y="2510279"/>
            <a:ext cx="250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argumentach funkcji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955CB59B-5BB5-B8AD-DD46-3451B4375988}"/>
              </a:ext>
            </a:extLst>
          </p:cNvPr>
          <p:cNvSpPr/>
          <p:nvPr/>
        </p:nvSpPr>
        <p:spPr>
          <a:xfrm>
            <a:off x="3935101" y="2543695"/>
            <a:ext cx="2495435" cy="812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0350917-30B4-DDE1-31EA-B95C4B331469}"/>
              </a:ext>
            </a:extLst>
          </p:cNvPr>
          <p:cNvSpPr txBox="1"/>
          <p:nvPr/>
        </p:nvSpPr>
        <p:spPr>
          <a:xfrm>
            <a:off x="6646580" y="2231816"/>
            <a:ext cx="2509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wartościach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zwracanych przez funkcję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80043CF7-5048-1B31-BA8F-B2595DDDCC68}"/>
              </a:ext>
            </a:extLst>
          </p:cNvPr>
          <p:cNvSpPr/>
          <p:nvPr/>
        </p:nvSpPr>
        <p:spPr>
          <a:xfrm>
            <a:off x="6632351" y="2217725"/>
            <a:ext cx="2495435" cy="10776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A72E088-A5F5-7E90-EA9E-8244F7A8428F}"/>
              </a:ext>
            </a:extLst>
          </p:cNvPr>
          <p:cNvCxnSpPr>
            <a:cxnSpLocks/>
          </p:cNvCxnSpPr>
          <p:nvPr/>
        </p:nvCxnSpPr>
        <p:spPr>
          <a:xfrm flipH="1">
            <a:off x="6245655" y="3318033"/>
            <a:ext cx="1224136" cy="55061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1C6CE35-C617-2A24-69C4-C15983560CC4}"/>
              </a:ext>
            </a:extLst>
          </p:cNvPr>
          <p:cNvSpPr txBox="1"/>
          <p:nvPr/>
        </p:nvSpPr>
        <p:spPr>
          <a:xfrm>
            <a:off x="1115616" y="3841215"/>
            <a:ext cx="2495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nadpisuje jedną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wbudowanych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0819C8CB-4CBE-1214-F2FC-187DD5964BB3}"/>
              </a:ext>
            </a:extLst>
          </p:cNvPr>
          <p:cNvSpPr/>
          <p:nvPr/>
        </p:nvSpPr>
        <p:spPr>
          <a:xfrm>
            <a:off x="1115616" y="3868643"/>
            <a:ext cx="2448272" cy="55734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725EAF3F-4706-87DF-4B61-F3233E3F490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88" y="4147317"/>
            <a:ext cx="362838" cy="73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B08255C1-1E1E-CAD4-AC21-86333F0384A1}"/>
              </a:ext>
            </a:extLst>
          </p:cNvPr>
          <p:cNvSpPr txBox="1"/>
          <p:nvPr/>
        </p:nvSpPr>
        <p:spPr>
          <a:xfrm>
            <a:off x="2376050" y="5693058"/>
            <a:ext cx="345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interfejs z biblioteki refleksji, który reprezentuje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właściwość klasy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lub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Pozwala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dostęp do metadanych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94A18512-7B3A-649E-B8C0-E3401BC16BDE}"/>
              </a:ext>
            </a:extLst>
          </p:cNvPr>
          <p:cNvSpPr/>
          <p:nvPr/>
        </p:nvSpPr>
        <p:spPr>
          <a:xfrm>
            <a:off x="2411760" y="5693059"/>
            <a:ext cx="3355133" cy="10937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95053221-FA5E-CB4D-2C84-809A0DB33663}"/>
              </a:ext>
            </a:extLst>
          </p:cNvPr>
          <p:cNvCxnSpPr>
            <a:cxnSpLocks/>
          </p:cNvCxnSpPr>
          <p:nvPr/>
        </p:nvCxnSpPr>
        <p:spPr>
          <a:xfrm flipV="1">
            <a:off x="4799950" y="5370074"/>
            <a:ext cx="2669841" cy="303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1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19480-D081-ED6C-972A-6384890E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F0E219-AFD5-FCAB-EB76-9C2A2A80333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F47635F-FB39-276F-EA21-94483E42E2F1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Delegaty</a:t>
            </a:r>
            <a:r>
              <a:rPr lang="pl-PL" sz="1600" dirty="0"/>
              <a:t> to mechanizm pozwalający na przekazywanie odpowiedzialności za implementację właściwości </a:t>
            </a:r>
            <a:r>
              <a:rPr lang="pl-PL" sz="1600" b="1" dirty="0"/>
              <a:t>innemu obiektowi</a:t>
            </a:r>
            <a:r>
              <a:rPr lang="pl-PL" sz="1600" dirty="0"/>
              <a:t> - przekazanie wywołania metod </a:t>
            </a:r>
            <a:r>
              <a:rPr lang="pl-PL" sz="1600" b="1" dirty="0" err="1"/>
              <a:t>get</a:t>
            </a:r>
            <a:r>
              <a:rPr lang="pl-PL" sz="1600" b="1" dirty="0"/>
              <a:t>() </a:t>
            </a:r>
            <a:r>
              <a:rPr lang="pl-PL" sz="1600" dirty="0"/>
              <a:t>i </a:t>
            </a:r>
            <a:r>
              <a:rPr lang="pl-PL" sz="1600" b="1" dirty="0"/>
              <a:t>set() </a:t>
            </a:r>
            <a:r>
              <a:rPr lang="pl-PL" sz="1600" dirty="0"/>
              <a:t>do innego obiektu.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Do dyspozycji mamy dwa </a:t>
            </a:r>
            <a:r>
              <a:rPr lang="pl-PL" sz="1600" b="1" dirty="0"/>
              <a:t>wbudowane interfejsy </a:t>
            </a:r>
            <a:r>
              <a:rPr lang="pl-PL" sz="1600" dirty="0"/>
              <a:t>definiujące sygnatury metod tylko do odczytu oraz do </a:t>
            </a:r>
            <a:r>
              <a:rPr lang="pl-PL" sz="1600" b="1" dirty="0"/>
              <a:t>odczytu i zapisu </a:t>
            </a:r>
            <a:r>
              <a:rPr lang="pl-PL" sz="1600" dirty="0"/>
              <a:t>właściwości.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ACBAE5E-AD99-F04A-EFB6-BD34FDAB3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813" y="3284984"/>
            <a:ext cx="5943186" cy="232061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889BEF7B-F561-B7CA-1D18-7D7913E3CD24}"/>
              </a:ext>
            </a:extLst>
          </p:cNvPr>
          <p:cNvCxnSpPr>
            <a:cxnSpLocks/>
          </p:cNvCxnSpPr>
          <p:nvPr/>
        </p:nvCxnSpPr>
        <p:spPr>
          <a:xfrm flipH="1">
            <a:off x="5766893" y="3382242"/>
            <a:ext cx="455901" cy="4710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663B719-67DC-831D-E78B-2E68240CBA51}"/>
              </a:ext>
            </a:extLst>
          </p:cNvPr>
          <p:cNvSpPr txBox="1"/>
          <p:nvPr/>
        </p:nvSpPr>
        <p:spPr>
          <a:xfrm>
            <a:off x="3926726" y="2510279"/>
            <a:ext cx="2509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argumentach funkcji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715D5DBA-FC5E-0451-AF75-BC7D4D61A2A5}"/>
              </a:ext>
            </a:extLst>
          </p:cNvPr>
          <p:cNvSpPr/>
          <p:nvPr/>
        </p:nvSpPr>
        <p:spPr>
          <a:xfrm>
            <a:off x="3935101" y="2543695"/>
            <a:ext cx="2495435" cy="812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B747EBF-D765-EB4D-EEDF-0F8E44F36EEB}"/>
              </a:ext>
            </a:extLst>
          </p:cNvPr>
          <p:cNvSpPr txBox="1"/>
          <p:nvPr/>
        </p:nvSpPr>
        <p:spPr>
          <a:xfrm>
            <a:off x="6646580" y="2231816"/>
            <a:ext cx="2509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parametr typowany może być używany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wartościach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zwracanych przez funkcję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5A180265-706A-5A7F-0E08-46F737981C20}"/>
              </a:ext>
            </a:extLst>
          </p:cNvPr>
          <p:cNvSpPr/>
          <p:nvPr/>
        </p:nvSpPr>
        <p:spPr>
          <a:xfrm>
            <a:off x="6632351" y="2217725"/>
            <a:ext cx="2495435" cy="10776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4A443667-1247-C5A8-11BF-CC2B065D43D7}"/>
              </a:ext>
            </a:extLst>
          </p:cNvPr>
          <p:cNvCxnSpPr>
            <a:cxnSpLocks/>
          </p:cNvCxnSpPr>
          <p:nvPr/>
        </p:nvCxnSpPr>
        <p:spPr>
          <a:xfrm flipH="1">
            <a:off x="6245655" y="3318033"/>
            <a:ext cx="1224136" cy="55061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59A2C3C-1A98-A345-5AB8-0FFAF3134E7A}"/>
              </a:ext>
            </a:extLst>
          </p:cNvPr>
          <p:cNvSpPr txBox="1"/>
          <p:nvPr/>
        </p:nvSpPr>
        <p:spPr>
          <a:xfrm>
            <a:off x="1115616" y="3841215"/>
            <a:ext cx="2495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nadpisuje jedną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wbudowanych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F2ED8A7F-2868-FECF-07F9-2446106BB5FC}"/>
              </a:ext>
            </a:extLst>
          </p:cNvPr>
          <p:cNvSpPr/>
          <p:nvPr/>
        </p:nvSpPr>
        <p:spPr>
          <a:xfrm>
            <a:off x="1115616" y="3868643"/>
            <a:ext cx="2448272" cy="55734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A5AE4A9-1274-F5E7-019E-97E4B555A10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88" y="4147317"/>
            <a:ext cx="362838" cy="73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ED625EF-CA0F-EA3C-5595-B0F6D39B21B1}"/>
              </a:ext>
            </a:extLst>
          </p:cNvPr>
          <p:cNvSpPr txBox="1"/>
          <p:nvPr/>
        </p:nvSpPr>
        <p:spPr>
          <a:xfrm>
            <a:off x="2376050" y="5693058"/>
            <a:ext cx="345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interfejs z biblioteki refleksji, który reprezentuje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właściwość klasy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lub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Pozwala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dostęp do metadanych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61B2700C-65FA-9927-1C1D-EA1213DD85B2}"/>
              </a:ext>
            </a:extLst>
          </p:cNvPr>
          <p:cNvSpPr/>
          <p:nvPr/>
        </p:nvSpPr>
        <p:spPr>
          <a:xfrm>
            <a:off x="2411760" y="5693059"/>
            <a:ext cx="3355133" cy="10937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E7E74C6F-DB73-FDD8-C007-02904C3FCABA}"/>
              </a:ext>
            </a:extLst>
          </p:cNvPr>
          <p:cNvCxnSpPr>
            <a:cxnSpLocks/>
          </p:cNvCxnSpPr>
          <p:nvPr/>
        </p:nvCxnSpPr>
        <p:spPr>
          <a:xfrm flipV="1">
            <a:off x="4799950" y="5370074"/>
            <a:ext cx="2669841" cy="303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819D7D9C-1C4D-B737-1AC1-7F5C5D119F01}"/>
              </a:ext>
            </a:extLst>
          </p:cNvPr>
          <p:cNvSpPr txBox="1"/>
          <p:nvPr/>
        </p:nvSpPr>
        <p:spPr>
          <a:xfrm>
            <a:off x="5832434" y="5816168"/>
            <a:ext cx="34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Typ dziki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może być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dowolnym typem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ale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narzucania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jakiejkolwiek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hierarchii typów 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8063A9C7-4156-E667-A846-BC02A2C86CC5}"/>
              </a:ext>
            </a:extLst>
          </p:cNvPr>
          <p:cNvSpPr/>
          <p:nvPr/>
        </p:nvSpPr>
        <p:spPr>
          <a:xfrm>
            <a:off x="6012160" y="5796989"/>
            <a:ext cx="3056768" cy="9041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8A854143-0C89-5727-D3A3-F33610A4C53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40544" y="5370074"/>
            <a:ext cx="559848" cy="42691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C5552-D280-B495-353A-DBA6E0CD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97EE8D-D664-1A0D-2D19-4EA7F5E440A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221E856-7419-0D95-CE2F-25BA7992DCC2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Delegat</a:t>
            </a:r>
            <a:r>
              <a:rPr lang="pl-PL" sz="1600" dirty="0"/>
              <a:t> jest obsługiwany za pomocą słowa kluczowego </a:t>
            </a:r>
            <a:r>
              <a:rPr lang="pl-PL" sz="1600" b="1" dirty="0"/>
              <a:t>by</a:t>
            </a:r>
            <a:r>
              <a:rPr lang="pl-PL" sz="1600" dirty="0"/>
              <a:t>, które wskazuje, że właściwość jest </a:t>
            </a:r>
            <a:r>
              <a:rPr lang="pl-PL" sz="1600" b="1" dirty="0"/>
              <a:t>delegowana do konkretnej implementacji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C62EC11C-70F0-E03D-3BB4-B2806763F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420888"/>
            <a:ext cx="6617812" cy="233500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260C022-BC9F-D498-96E0-5C766FFCD929}"/>
              </a:ext>
            </a:extLst>
          </p:cNvPr>
          <p:cNvSpPr txBox="1"/>
          <p:nvPr/>
        </p:nvSpPr>
        <p:spPr>
          <a:xfrm>
            <a:off x="1340088" y="1545144"/>
            <a:ext cx="316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implementuje interfejs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umożliwiający nadpisanie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6F210C8E-F9C6-0FE4-4082-21914333CE18}"/>
              </a:ext>
            </a:extLst>
          </p:cNvPr>
          <p:cNvSpPr/>
          <p:nvPr/>
        </p:nvSpPr>
        <p:spPr>
          <a:xfrm>
            <a:off x="1504286" y="1566427"/>
            <a:ext cx="2851690" cy="80971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761F257A-B4BE-A682-1E0F-0C7D2866AA17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355976" y="1971284"/>
            <a:ext cx="864096" cy="4261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654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A56E6-8AE2-A701-DE15-B03478ED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6B3C49-0D57-4D91-196C-C31190DC371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7A96FC4-2B48-7FCE-0F98-D23CFFB4AB5B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Delegat</a:t>
            </a:r>
            <a:r>
              <a:rPr lang="pl-PL" sz="1600" dirty="0"/>
              <a:t> jest obsługiwany za pomocą słowa kluczowego </a:t>
            </a:r>
            <a:r>
              <a:rPr lang="pl-PL" sz="1600" b="1" dirty="0"/>
              <a:t>by</a:t>
            </a:r>
            <a:r>
              <a:rPr lang="pl-PL" sz="1600" dirty="0"/>
              <a:t>, które wskazuje, że właściwość jest </a:t>
            </a:r>
            <a:r>
              <a:rPr lang="pl-PL" sz="1600" b="1" dirty="0"/>
              <a:t>delegowana do konkretnej implementacji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244F96E-B972-6B83-A7EE-57CB04358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420888"/>
            <a:ext cx="6617812" cy="233500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89C5441-16A7-B496-6F37-D91C31A5AF84}"/>
              </a:ext>
            </a:extLst>
          </p:cNvPr>
          <p:cNvSpPr txBox="1"/>
          <p:nvPr/>
        </p:nvSpPr>
        <p:spPr>
          <a:xfrm>
            <a:off x="1340088" y="1545144"/>
            <a:ext cx="316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implementuje interfejs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umożliwiający nadpisanie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14CD630-94AA-7948-ED3A-089C99032811}"/>
              </a:ext>
            </a:extLst>
          </p:cNvPr>
          <p:cNvSpPr/>
          <p:nvPr/>
        </p:nvSpPr>
        <p:spPr>
          <a:xfrm>
            <a:off x="1504286" y="1566427"/>
            <a:ext cx="2851690" cy="80971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2FA10E85-BA54-507A-BA34-223EC034A6E4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355976" y="1971284"/>
            <a:ext cx="864096" cy="4261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8C542E43-78F9-7EA0-CD49-80F0DE69EB4B}"/>
              </a:ext>
            </a:extLst>
          </p:cNvPr>
          <p:cNvSpPr txBox="1"/>
          <p:nvPr/>
        </p:nvSpPr>
        <p:spPr>
          <a:xfrm>
            <a:off x="999193" y="3284984"/>
            <a:ext cx="1670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musi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91869D24-8458-CCC5-E9C9-568F5F8E4730}"/>
              </a:ext>
            </a:extLst>
          </p:cNvPr>
          <p:cNvSpPr/>
          <p:nvPr/>
        </p:nvSpPr>
        <p:spPr>
          <a:xfrm>
            <a:off x="1223665" y="3284984"/>
            <a:ext cx="1445536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Nawias klamrowy otwierający 31">
            <a:extLst>
              <a:ext uri="{FF2B5EF4-FFF2-40B4-BE49-F238E27FC236}">
                <a16:creationId xmlns:a16="http://schemas.microsoft.com/office/drawing/2014/main" id="{B4B4CC35-7E91-8E87-BF05-03BACB17CB12}"/>
              </a:ext>
            </a:extLst>
          </p:cNvPr>
          <p:cNvSpPr/>
          <p:nvPr/>
        </p:nvSpPr>
        <p:spPr>
          <a:xfrm>
            <a:off x="2699792" y="2996952"/>
            <a:ext cx="309711" cy="1512168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7390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84429-D918-0455-D577-C5799B91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0422C6-E745-8D4B-5205-A3877B229CC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B9855A2-ACDE-FB25-C451-C7CB5A4F4181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Delegat</a:t>
            </a:r>
            <a:r>
              <a:rPr lang="pl-PL" sz="1600" dirty="0"/>
              <a:t> jest obsługiwany za pomocą słowa kluczowego </a:t>
            </a:r>
            <a:r>
              <a:rPr lang="pl-PL" sz="1600" b="1" dirty="0"/>
              <a:t>by</a:t>
            </a:r>
            <a:r>
              <a:rPr lang="pl-PL" sz="1600" dirty="0"/>
              <a:t>, które wskazuje, że właściwość jest </a:t>
            </a:r>
            <a:r>
              <a:rPr lang="pl-PL" sz="1600" b="1" dirty="0"/>
              <a:t>delegowana do konkretnej implementacji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DD2A4C7-1DEF-772C-B5D3-575743A1B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420888"/>
            <a:ext cx="6617812" cy="233500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C2A4411-50A4-5A23-E252-09D5094C4DA6}"/>
              </a:ext>
            </a:extLst>
          </p:cNvPr>
          <p:cNvSpPr txBox="1"/>
          <p:nvPr/>
        </p:nvSpPr>
        <p:spPr>
          <a:xfrm>
            <a:off x="1340088" y="1545144"/>
            <a:ext cx="316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implementuje interfejs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umożliwiający nadpisanie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7BD8481C-8B4D-4A37-D8FB-DAD0AB172131}"/>
              </a:ext>
            </a:extLst>
          </p:cNvPr>
          <p:cNvSpPr/>
          <p:nvPr/>
        </p:nvSpPr>
        <p:spPr>
          <a:xfrm>
            <a:off x="1504286" y="1566427"/>
            <a:ext cx="2851690" cy="80971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81006C16-CCFB-F13D-EBD2-8456AD5C66F1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355976" y="1971284"/>
            <a:ext cx="864096" cy="4261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78C04C3F-E905-5B9D-D40D-731CF4C6C9B8}"/>
              </a:ext>
            </a:extLst>
          </p:cNvPr>
          <p:cNvSpPr txBox="1"/>
          <p:nvPr/>
        </p:nvSpPr>
        <p:spPr>
          <a:xfrm>
            <a:off x="999193" y="3284984"/>
            <a:ext cx="1670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musi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571230A1-1C86-67C3-4991-9B4DBA42B796}"/>
              </a:ext>
            </a:extLst>
          </p:cNvPr>
          <p:cNvSpPr/>
          <p:nvPr/>
        </p:nvSpPr>
        <p:spPr>
          <a:xfrm>
            <a:off x="1223665" y="3284984"/>
            <a:ext cx="1445536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Nawias klamrowy otwierający 31">
            <a:extLst>
              <a:ext uri="{FF2B5EF4-FFF2-40B4-BE49-F238E27FC236}">
                <a16:creationId xmlns:a16="http://schemas.microsoft.com/office/drawing/2014/main" id="{CB47753D-99B5-77C1-1B43-CB08F17D8A49}"/>
              </a:ext>
            </a:extLst>
          </p:cNvPr>
          <p:cNvSpPr/>
          <p:nvPr/>
        </p:nvSpPr>
        <p:spPr>
          <a:xfrm>
            <a:off x="2699792" y="2996952"/>
            <a:ext cx="309711" cy="1512168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1EEB42FF-89F4-A355-7E25-CDDB7F3A008D}"/>
              </a:ext>
            </a:extLst>
          </p:cNvPr>
          <p:cNvSpPr txBox="1"/>
          <p:nvPr/>
        </p:nvSpPr>
        <p:spPr>
          <a:xfrm>
            <a:off x="1500177" y="4783616"/>
            <a:ext cx="2579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Brak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słowa kluczowego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operator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43ACC563-C984-BB1E-B10C-FECABB438676}"/>
              </a:ext>
            </a:extLst>
          </p:cNvPr>
          <p:cNvSpPr/>
          <p:nvPr/>
        </p:nvSpPr>
        <p:spPr>
          <a:xfrm>
            <a:off x="1605610" y="4823597"/>
            <a:ext cx="2426593" cy="5122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917B7A93-7B25-079B-7A7B-52470C67B1A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818907" y="4362202"/>
            <a:ext cx="600965" cy="4613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938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9BB0B-C0A1-F0D3-CCD8-39C8F962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3E97C7-98EB-6731-6F97-019D50AAB63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BC8FB21-6929-D077-51C3-059DE7FF2F34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Delegat</a:t>
            </a:r>
            <a:r>
              <a:rPr lang="pl-PL" sz="1600" dirty="0"/>
              <a:t> jest obsługiwany za pomocą słowa kluczowego </a:t>
            </a:r>
            <a:r>
              <a:rPr lang="pl-PL" sz="1600" b="1" dirty="0"/>
              <a:t>by</a:t>
            </a:r>
            <a:r>
              <a:rPr lang="pl-PL" sz="1600" dirty="0"/>
              <a:t>, które wskazuje, że właściwość jest </a:t>
            </a:r>
            <a:r>
              <a:rPr lang="pl-PL" sz="1600" b="1" dirty="0"/>
              <a:t>delegowana do konkretnej implementacji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619D3F3-25A3-3E2A-016A-7B100E699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420888"/>
            <a:ext cx="6617812" cy="233500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18EDDB0-E23F-CC10-614A-441789C6422E}"/>
              </a:ext>
            </a:extLst>
          </p:cNvPr>
          <p:cNvSpPr txBox="1"/>
          <p:nvPr/>
        </p:nvSpPr>
        <p:spPr>
          <a:xfrm>
            <a:off x="1340088" y="1545144"/>
            <a:ext cx="316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implementuje interfejs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umożliwiający nadpisanie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5A2D680E-4A32-30E6-E5BA-DD4D922FAF99}"/>
              </a:ext>
            </a:extLst>
          </p:cNvPr>
          <p:cNvSpPr/>
          <p:nvPr/>
        </p:nvSpPr>
        <p:spPr>
          <a:xfrm>
            <a:off x="1504286" y="1566427"/>
            <a:ext cx="2851690" cy="80971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D2093C89-9483-0DB5-0813-1B43D032A4B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355976" y="1971284"/>
            <a:ext cx="864096" cy="4261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440C76AC-7DD6-4B6B-F50B-C10638FB64A3}"/>
              </a:ext>
            </a:extLst>
          </p:cNvPr>
          <p:cNvSpPr txBox="1"/>
          <p:nvPr/>
        </p:nvSpPr>
        <p:spPr>
          <a:xfrm>
            <a:off x="999193" y="3284984"/>
            <a:ext cx="1670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musi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614B6C51-3D8E-631E-5E22-1C3F007F0708}"/>
              </a:ext>
            </a:extLst>
          </p:cNvPr>
          <p:cNvSpPr/>
          <p:nvPr/>
        </p:nvSpPr>
        <p:spPr>
          <a:xfrm>
            <a:off x="1223665" y="3284984"/>
            <a:ext cx="1445536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Nawias klamrowy otwierający 31">
            <a:extLst>
              <a:ext uri="{FF2B5EF4-FFF2-40B4-BE49-F238E27FC236}">
                <a16:creationId xmlns:a16="http://schemas.microsoft.com/office/drawing/2014/main" id="{A031656E-CF76-59E3-D5FE-9B1218BE97F9}"/>
              </a:ext>
            </a:extLst>
          </p:cNvPr>
          <p:cNvSpPr/>
          <p:nvPr/>
        </p:nvSpPr>
        <p:spPr>
          <a:xfrm>
            <a:off x="2699792" y="2996952"/>
            <a:ext cx="309711" cy="1512168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E16C1674-0A05-C0EE-04A1-99104243549D}"/>
              </a:ext>
            </a:extLst>
          </p:cNvPr>
          <p:cNvSpPr txBox="1"/>
          <p:nvPr/>
        </p:nvSpPr>
        <p:spPr>
          <a:xfrm>
            <a:off x="1500177" y="4783616"/>
            <a:ext cx="2579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Brak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słowa kluczowego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operator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523C5F97-CFB1-7E4D-0A87-E56E4F49D816}"/>
              </a:ext>
            </a:extLst>
          </p:cNvPr>
          <p:cNvSpPr/>
          <p:nvPr/>
        </p:nvSpPr>
        <p:spPr>
          <a:xfrm>
            <a:off x="1605610" y="4823597"/>
            <a:ext cx="2426593" cy="5122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C492C134-6ECD-CB9D-E5FA-0348F04ACF72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818907" y="4362202"/>
            <a:ext cx="600965" cy="4613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Obraz 37">
            <a:extLst>
              <a:ext uri="{FF2B5EF4-FFF2-40B4-BE49-F238E27FC236}">
                <a16:creationId xmlns:a16="http://schemas.microsoft.com/office/drawing/2014/main" id="{E7455FDD-2026-825A-6815-B59CF8BC0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37" y="5705824"/>
            <a:ext cx="4271419" cy="1054251"/>
          </a:xfrm>
          <a:prstGeom prst="rect">
            <a:avLst/>
          </a:prstGeom>
        </p:spPr>
      </p:pic>
      <p:sp>
        <p:nvSpPr>
          <p:cNvPr id="39" name="pole tekstowe 38">
            <a:extLst>
              <a:ext uri="{FF2B5EF4-FFF2-40B4-BE49-F238E27FC236}">
                <a16:creationId xmlns:a16="http://schemas.microsoft.com/office/drawing/2014/main" id="{77CB383C-0AB5-8183-F766-D93D9DE16464}"/>
              </a:ext>
            </a:extLst>
          </p:cNvPr>
          <p:cNvSpPr txBox="1"/>
          <p:nvPr/>
        </p:nvSpPr>
        <p:spPr>
          <a:xfrm>
            <a:off x="4032203" y="4723269"/>
            <a:ext cx="447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Deleguje właściwość -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przenosi odpowiedzialność za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zarządzanie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wartością właściwości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innego obiektu 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C814E166-547F-5EAF-8E98-ABEB8BA651FC}"/>
              </a:ext>
            </a:extLst>
          </p:cNvPr>
          <p:cNvSpPr/>
          <p:nvPr/>
        </p:nvSpPr>
        <p:spPr>
          <a:xfrm>
            <a:off x="4220301" y="4755896"/>
            <a:ext cx="4168123" cy="79837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22BE6C82-C9E2-7068-267A-F2441A418AF8}"/>
              </a:ext>
            </a:extLst>
          </p:cNvPr>
          <p:cNvCxnSpPr>
            <a:cxnSpLocks/>
          </p:cNvCxnSpPr>
          <p:nvPr/>
        </p:nvCxnSpPr>
        <p:spPr>
          <a:xfrm flipH="1">
            <a:off x="3419872" y="5552729"/>
            <a:ext cx="800429" cy="2370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95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A338D-7E0E-26C0-351E-CC7301B5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5824D-D1E9-8807-6D6F-F8A02CC75E6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4B6B7D9-0EDD-558B-9FDC-8BF01DAC39C6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Delegat</a:t>
            </a:r>
            <a:r>
              <a:rPr lang="pl-PL" sz="1600" dirty="0"/>
              <a:t> jest obsługiwany za pomocą słowa kluczowego </a:t>
            </a:r>
            <a:r>
              <a:rPr lang="pl-PL" sz="1600" b="1" dirty="0"/>
              <a:t>by</a:t>
            </a:r>
            <a:r>
              <a:rPr lang="pl-PL" sz="1600" dirty="0"/>
              <a:t>, które wskazuje, że właściwość jest </a:t>
            </a:r>
            <a:r>
              <a:rPr lang="pl-PL" sz="1600" b="1" dirty="0"/>
              <a:t>delegowana do konkretnej implementacji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BF8E48C-C5A3-C56F-1A5D-8AB27959E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2420888"/>
            <a:ext cx="6617812" cy="233500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8738146-CC67-8AF1-DD2C-1B2D8026A22A}"/>
              </a:ext>
            </a:extLst>
          </p:cNvPr>
          <p:cNvSpPr txBox="1"/>
          <p:nvPr/>
        </p:nvSpPr>
        <p:spPr>
          <a:xfrm>
            <a:off x="1340088" y="1545144"/>
            <a:ext cx="3165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implementuje interfejs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umożliwiający nadpisanie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EE8326C-B5D5-7660-9431-1D5E7662AA81}"/>
              </a:ext>
            </a:extLst>
          </p:cNvPr>
          <p:cNvSpPr/>
          <p:nvPr/>
        </p:nvSpPr>
        <p:spPr>
          <a:xfrm>
            <a:off x="1504286" y="1566427"/>
            <a:ext cx="2851690" cy="80971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01DA5061-2466-356E-D909-38B1836544C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355976" y="1971284"/>
            <a:ext cx="864096" cy="4261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A4AB27C6-31BB-8AF8-F083-67C071042B52}"/>
              </a:ext>
            </a:extLst>
          </p:cNvPr>
          <p:cNvSpPr txBox="1"/>
          <p:nvPr/>
        </p:nvSpPr>
        <p:spPr>
          <a:xfrm>
            <a:off x="999193" y="3284984"/>
            <a:ext cx="1670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musi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</a:t>
            </a: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54D9CF66-9FD6-5A9B-AAD0-42FAA7695D5D}"/>
              </a:ext>
            </a:extLst>
          </p:cNvPr>
          <p:cNvSpPr/>
          <p:nvPr/>
        </p:nvSpPr>
        <p:spPr>
          <a:xfrm>
            <a:off x="1223665" y="3284984"/>
            <a:ext cx="1445536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Nawias klamrowy otwierający 31">
            <a:extLst>
              <a:ext uri="{FF2B5EF4-FFF2-40B4-BE49-F238E27FC236}">
                <a16:creationId xmlns:a16="http://schemas.microsoft.com/office/drawing/2014/main" id="{3B1D8BEA-88E7-9F7F-2B36-CC77C90DFF9C}"/>
              </a:ext>
            </a:extLst>
          </p:cNvPr>
          <p:cNvSpPr/>
          <p:nvPr/>
        </p:nvSpPr>
        <p:spPr>
          <a:xfrm>
            <a:off x="2699792" y="2996952"/>
            <a:ext cx="309711" cy="1512168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E793A896-8B15-7C2A-1E49-6853FC3DBD0F}"/>
              </a:ext>
            </a:extLst>
          </p:cNvPr>
          <p:cNvSpPr txBox="1"/>
          <p:nvPr/>
        </p:nvSpPr>
        <p:spPr>
          <a:xfrm>
            <a:off x="1500177" y="4783616"/>
            <a:ext cx="2579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Brak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słowa kluczowego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operator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B544437D-08E5-DE81-F0BC-76EF40ADF9E0}"/>
              </a:ext>
            </a:extLst>
          </p:cNvPr>
          <p:cNvSpPr/>
          <p:nvPr/>
        </p:nvSpPr>
        <p:spPr>
          <a:xfrm>
            <a:off x="1605610" y="4823597"/>
            <a:ext cx="2426593" cy="5122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C6A171F3-4AF1-114C-C38B-3BF6733517BB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818907" y="4362202"/>
            <a:ext cx="600965" cy="4613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Obraz 37">
            <a:extLst>
              <a:ext uri="{FF2B5EF4-FFF2-40B4-BE49-F238E27FC236}">
                <a16:creationId xmlns:a16="http://schemas.microsoft.com/office/drawing/2014/main" id="{FA34E0CD-125D-E308-3C33-1167B643B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37" y="5705824"/>
            <a:ext cx="4271419" cy="1054251"/>
          </a:xfrm>
          <a:prstGeom prst="rect">
            <a:avLst/>
          </a:prstGeom>
        </p:spPr>
      </p:pic>
      <p:sp>
        <p:nvSpPr>
          <p:cNvPr id="39" name="pole tekstowe 38">
            <a:extLst>
              <a:ext uri="{FF2B5EF4-FFF2-40B4-BE49-F238E27FC236}">
                <a16:creationId xmlns:a16="http://schemas.microsoft.com/office/drawing/2014/main" id="{42ADCB13-4FA6-DE96-7594-6E5CFCB4E7EA}"/>
              </a:ext>
            </a:extLst>
          </p:cNvPr>
          <p:cNvSpPr txBox="1"/>
          <p:nvPr/>
        </p:nvSpPr>
        <p:spPr>
          <a:xfrm>
            <a:off x="4032203" y="4723269"/>
            <a:ext cx="447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Deleguje właściwość -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przenosi odpowiedzialność za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zarządzanie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wartością właściwości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innego obiektu 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C2BBAB6D-8F67-6C56-2FAF-E36E552AB00F}"/>
              </a:ext>
            </a:extLst>
          </p:cNvPr>
          <p:cNvSpPr/>
          <p:nvPr/>
        </p:nvSpPr>
        <p:spPr>
          <a:xfrm>
            <a:off x="4220301" y="4755896"/>
            <a:ext cx="4168123" cy="79837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61F5670E-B4F6-DF70-5644-DA2A1818E5DD}"/>
              </a:ext>
            </a:extLst>
          </p:cNvPr>
          <p:cNvCxnSpPr>
            <a:cxnSpLocks/>
          </p:cNvCxnSpPr>
          <p:nvPr/>
        </p:nvCxnSpPr>
        <p:spPr>
          <a:xfrm flipH="1">
            <a:off x="3419872" y="5552729"/>
            <a:ext cx="800429" cy="2370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40BC2B6D-22A3-90BF-16DD-28B73F2F4B94}"/>
              </a:ext>
            </a:extLst>
          </p:cNvPr>
          <p:cNvSpPr txBox="1"/>
          <p:nvPr/>
        </p:nvSpPr>
        <p:spPr>
          <a:xfrm>
            <a:off x="4932040" y="5992520"/>
            <a:ext cx="447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delegujący -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zawiera logikę, która modyfikuje wartość właściwości przed jej ustawieniem lub po jej odczytaniu </a:t>
            </a:r>
          </a:p>
        </p:txBody>
      </p:sp>
      <p:sp>
        <p:nvSpPr>
          <p:cNvPr id="46" name="Prostokąt: zaokrąglone rogi 45">
            <a:extLst>
              <a:ext uri="{FF2B5EF4-FFF2-40B4-BE49-F238E27FC236}">
                <a16:creationId xmlns:a16="http://schemas.microsoft.com/office/drawing/2014/main" id="{440BEA89-D797-7B83-D6EE-36E7A127DA8F}"/>
              </a:ext>
            </a:extLst>
          </p:cNvPr>
          <p:cNvSpPr/>
          <p:nvPr/>
        </p:nvSpPr>
        <p:spPr>
          <a:xfrm>
            <a:off x="5220072" y="6025147"/>
            <a:ext cx="3923927" cy="79837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1B7FA20B-025E-974F-8C53-47D0C124A76B}"/>
              </a:ext>
            </a:extLst>
          </p:cNvPr>
          <p:cNvCxnSpPr>
            <a:cxnSpLocks/>
          </p:cNvCxnSpPr>
          <p:nvPr/>
        </p:nvCxnSpPr>
        <p:spPr>
          <a:xfrm flipH="1" flipV="1">
            <a:off x="5220072" y="5872201"/>
            <a:ext cx="648072" cy="1203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704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628B2-A187-431D-9D6A-EED1E675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95F74-47F3-8B70-2011-70635434EA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433A068-843A-71D4-46DC-E4CDDB12135A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7FB619B-DD1A-AEFC-9450-D4DA3A29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0CA7BC2-6921-C0D5-97FA-133F3460177D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1443FA0-D90A-CE75-F31B-6D9B2E1F6D01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A96C7AB0-8C33-9162-0648-D10B8C1B3BF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344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D6CF5-6871-81B0-ECF1-162D9E9F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E3F791-8DE9-7909-927B-993FA101918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B25B664-BB2F-7EC0-FDA1-EF4B9B377EB9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6A28897-2057-5ED2-F0BE-BCF9A1EA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2350629-5475-015B-E7BA-7959D2320B9E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6302D3F0-021B-01E2-7F26-FF56C08FC43C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D145CC71-54CA-15E2-879A-8FD5FFA20F7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B03B0643-4A97-5555-8E01-B7C3F4639B5C}"/>
              </a:ext>
            </a:extLst>
          </p:cNvPr>
          <p:cNvSpPr txBox="1"/>
          <p:nvPr/>
        </p:nvSpPr>
        <p:spPr>
          <a:xfrm>
            <a:off x="4083227" y="172278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observable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śledzenia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 wartości właściwości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07EAC620-5733-9BDB-A7A2-736FA8ACCA5C}"/>
              </a:ext>
            </a:extLst>
          </p:cNvPr>
          <p:cNvSpPr/>
          <p:nvPr/>
        </p:nvSpPr>
        <p:spPr>
          <a:xfrm>
            <a:off x="4083228" y="174833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67DF375E-3FDD-53B7-70B3-598A3105E78D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004048" y="2553778"/>
            <a:ext cx="433369" cy="3821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E114931C-8E56-3EAC-F269-D150681D4AF2}"/>
              </a:ext>
            </a:extLst>
          </p:cNvPr>
          <p:cNvSpPr txBox="1"/>
          <p:nvPr/>
        </p:nvSpPr>
        <p:spPr>
          <a:xfrm>
            <a:off x="6667777" y="2088860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C7942233-4F8B-4FBB-8BB3-4C5D9DA874F4}"/>
              </a:ext>
            </a:extLst>
          </p:cNvPr>
          <p:cNvSpPr/>
          <p:nvPr/>
        </p:nvSpPr>
        <p:spPr>
          <a:xfrm>
            <a:off x="6978830" y="2114413"/>
            <a:ext cx="2002259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1B8FD340-51B9-B4E6-2843-9F9B4431D810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960650" y="2427414"/>
            <a:ext cx="2019310" cy="4175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940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69956-17B9-581C-2862-31A885B2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0597E1-C733-72CE-ECAA-675B2785C70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0E3354F-4EB7-0085-D933-0B4424EFE28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759120EF-6389-443D-48D8-E49610D48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E44AA66-9196-EB21-1E5E-036D0C0DE699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23D46328-C483-5DE2-53FC-278D1BEB51F1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2D980AC-4956-0C51-69A9-7C1AEAE07A4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B45083FB-BE1B-188B-E0F5-8189DFD64165}"/>
              </a:ext>
            </a:extLst>
          </p:cNvPr>
          <p:cNvSpPr txBox="1"/>
          <p:nvPr/>
        </p:nvSpPr>
        <p:spPr>
          <a:xfrm>
            <a:off x="4083227" y="172278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observable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śledzenia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 wartości właściwości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7D1F905F-94E2-176C-2C91-117018EBCBDB}"/>
              </a:ext>
            </a:extLst>
          </p:cNvPr>
          <p:cNvSpPr/>
          <p:nvPr/>
        </p:nvSpPr>
        <p:spPr>
          <a:xfrm>
            <a:off x="4083228" y="174833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D5060A1A-4259-6A67-6D50-F9D2AC177428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004048" y="2553778"/>
            <a:ext cx="433369" cy="3821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776FD12B-3C63-C09A-DC22-78649A6A3123}"/>
              </a:ext>
            </a:extLst>
          </p:cNvPr>
          <p:cNvSpPr txBox="1"/>
          <p:nvPr/>
        </p:nvSpPr>
        <p:spPr>
          <a:xfrm>
            <a:off x="6667777" y="2088860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685E7510-CBF3-F569-6177-05361A03C6B0}"/>
              </a:ext>
            </a:extLst>
          </p:cNvPr>
          <p:cNvSpPr/>
          <p:nvPr/>
        </p:nvSpPr>
        <p:spPr>
          <a:xfrm>
            <a:off x="6978830" y="2114413"/>
            <a:ext cx="2002259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F0AF41F-438A-F6E0-0A74-BAB37968829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960650" y="2427414"/>
            <a:ext cx="2019310" cy="4175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A507BF9C-A568-6A25-8A86-9BCE47198649}"/>
              </a:ext>
            </a:extLst>
          </p:cNvPr>
          <p:cNvSpPr txBox="1"/>
          <p:nvPr/>
        </p:nvSpPr>
        <p:spPr>
          <a:xfrm>
            <a:off x="1187624" y="3927592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Lambda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wywołana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każdej zmianie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D6C1EE08-6814-FB03-E9CA-09A366FBEB5A}"/>
              </a:ext>
            </a:extLst>
          </p:cNvPr>
          <p:cNvSpPr/>
          <p:nvPr/>
        </p:nvSpPr>
        <p:spPr>
          <a:xfrm>
            <a:off x="1187624" y="3927592"/>
            <a:ext cx="2708377" cy="8390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042D54EB-D980-64CD-92EF-3023F6CA770B}"/>
              </a:ext>
            </a:extLst>
          </p:cNvPr>
          <p:cNvCxnSpPr>
            <a:cxnSpLocks/>
          </p:cNvCxnSpPr>
          <p:nvPr/>
        </p:nvCxnSpPr>
        <p:spPr>
          <a:xfrm flipV="1">
            <a:off x="2349777" y="3458491"/>
            <a:ext cx="0" cy="4566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400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94D61-B57F-D812-B976-3990DBA1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78E5BB-999F-FF84-B14E-4B54A17125C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83BF0B9-66B6-F6A8-C139-9659DE355B05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AD33E13-9D6B-8802-F00B-28271672C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590D053-B443-ABB9-04D0-40CB8F000256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011C69D-D078-AE3B-E409-2A178FCF74D9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D480E882-A3CE-8CEC-0999-A6AF5F76369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A8B2B432-65D2-C161-F92C-6B1F12FBFE89}"/>
              </a:ext>
            </a:extLst>
          </p:cNvPr>
          <p:cNvSpPr txBox="1"/>
          <p:nvPr/>
        </p:nvSpPr>
        <p:spPr>
          <a:xfrm>
            <a:off x="4083227" y="172278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observable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śledzenia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 wartości właściwości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27912E85-25F4-8F6A-0F7B-651784B3CFF5}"/>
              </a:ext>
            </a:extLst>
          </p:cNvPr>
          <p:cNvSpPr/>
          <p:nvPr/>
        </p:nvSpPr>
        <p:spPr>
          <a:xfrm>
            <a:off x="4083228" y="174833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C22CFC0B-0C46-CEEA-3B23-2BF337991313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004048" y="2553778"/>
            <a:ext cx="433369" cy="3821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227B980-9A81-78A6-FABD-6C3A8180EC04}"/>
              </a:ext>
            </a:extLst>
          </p:cNvPr>
          <p:cNvSpPr txBox="1"/>
          <p:nvPr/>
        </p:nvSpPr>
        <p:spPr>
          <a:xfrm>
            <a:off x="6667777" y="2088860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AC31ECB1-3BD2-9AE1-97DB-873DD2BDBA34}"/>
              </a:ext>
            </a:extLst>
          </p:cNvPr>
          <p:cNvSpPr/>
          <p:nvPr/>
        </p:nvSpPr>
        <p:spPr>
          <a:xfrm>
            <a:off x="6978830" y="2114413"/>
            <a:ext cx="2002259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ED704526-7A44-E5CE-B90E-FFF528D043B0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960650" y="2427414"/>
            <a:ext cx="2019310" cy="4175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EC2CD6F0-75EA-F667-E842-BACC66911024}"/>
              </a:ext>
            </a:extLst>
          </p:cNvPr>
          <p:cNvSpPr txBox="1"/>
          <p:nvPr/>
        </p:nvSpPr>
        <p:spPr>
          <a:xfrm>
            <a:off x="1187624" y="3927592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Lambda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wywołana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każdej zmianie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3AFC9222-110E-C54C-5C51-19A95B47857C}"/>
              </a:ext>
            </a:extLst>
          </p:cNvPr>
          <p:cNvSpPr/>
          <p:nvPr/>
        </p:nvSpPr>
        <p:spPr>
          <a:xfrm>
            <a:off x="1187624" y="3927592"/>
            <a:ext cx="2708377" cy="8390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C0CB60A2-47C3-BB78-83BA-B5EC86CCE449}"/>
              </a:ext>
            </a:extLst>
          </p:cNvPr>
          <p:cNvCxnSpPr>
            <a:cxnSpLocks/>
          </p:cNvCxnSpPr>
          <p:nvPr/>
        </p:nvCxnSpPr>
        <p:spPr>
          <a:xfrm flipV="1">
            <a:off x="2349777" y="3458491"/>
            <a:ext cx="0" cy="4566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96791B8C-D9C0-1636-ED8D-47C1FF0A9B11}"/>
              </a:ext>
            </a:extLst>
          </p:cNvPr>
          <p:cNvSpPr txBox="1"/>
          <p:nvPr/>
        </p:nvSpPr>
        <p:spPr>
          <a:xfrm>
            <a:off x="2267744" y="4983534"/>
            <a:ext cx="3896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reprezentujący właściwość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która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została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zmieniona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(w tym przypadku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userName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uzyskać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dostęp np.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jej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nazwy.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2" name="Prostokąt: zaokrąglone rogi 51">
            <a:extLst>
              <a:ext uri="{FF2B5EF4-FFF2-40B4-BE49-F238E27FC236}">
                <a16:creationId xmlns:a16="http://schemas.microsoft.com/office/drawing/2014/main" id="{9EE94F2E-7E01-0C6B-0A60-7E27CB65CFEE}"/>
              </a:ext>
            </a:extLst>
          </p:cNvPr>
          <p:cNvSpPr/>
          <p:nvPr/>
        </p:nvSpPr>
        <p:spPr>
          <a:xfrm>
            <a:off x="2267744" y="4992126"/>
            <a:ext cx="3816424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DD99E50E-3A78-EEA7-4D52-C5DF89C516FC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4175956" y="3272583"/>
            <a:ext cx="396044" cy="1719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431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3BD5F-B783-CAD9-8726-C9053745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C6018-9B01-2AB2-887C-C7B6023618E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CFCEC4F-6A9E-9711-BD1D-203698244FCA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FCB78C3-3CDE-FAB9-E097-7716DEF51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1CCBF2C-FED1-6DB4-B60B-9E8026EFBBF5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C58F609-BF5B-84B3-3D20-393A6348CE91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BE33507C-39F9-53DC-9496-2223BCE5DB8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BF5628EE-57F3-B410-FB5A-F2B34C3067C4}"/>
              </a:ext>
            </a:extLst>
          </p:cNvPr>
          <p:cNvSpPr txBox="1"/>
          <p:nvPr/>
        </p:nvSpPr>
        <p:spPr>
          <a:xfrm>
            <a:off x="4083227" y="172278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observable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śledzenia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 wartości właściwości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FB8867BB-2D77-E58D-437E-5C8CD4641DF0}"/>
              </a:ext>
            </a:extLst>
          </p:cNvPr>
          <p:cNvSpPr/>
          <p:nvPr/>
        </p:nvSpPr>
        <p:spPr>
          <a:xfrm>
            <a:off x="4083228" y="174833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79777BE3-EB1B-5077-72B8-799C49032F2F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004048" y="2553778"/>
            <a:ext cx="433369" cy="3821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763C8D92-BB60-AF65-249C-504E8016A850}"/>
              </a:ext>
            </a:extLst>
          </p:cNvPr>
          <p:cNvSpPr txBox="1"/>
          <p:nvPr/>
        </p:nvSpPr>
        <p:spPr>
          <a:xfrm>
            <a:off x="6667777" y="2088860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BAFA8653-6EF0-BA52-9712-EEA40792A472}"/>
              </a:ext>
            </a:extLst>
          </p:cNvPr>
          <p:cNvSpPr/>
          <p:nvPr/>
        </p:nvSpPr>
        <p:spPr>
          <a:xfrm>
            <a:off x="6978830" y="2114413"/>
            <a:ext cx="2002259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1C7394AB-DD99-4E7D-8C51-DE19CF87005E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960650" y="2427414"/>
            <a:ext cx="2019310" cy="4175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776FF4B3-EEE2-6432-4EBE-BF4E9BFB3892}"/>
              </a:ext>
            </a:extLst>
          </p:cNvPr>
          <p:cNvSpPr txBox="1"/>
          <p:nvPr/>
        </p:nvSpPr>
        <p:spPr>
          <a:xfrm>
            <a:off x="1187624" y="3927592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Lambda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wywołana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każdej zmianie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</a:t>
            </a: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CF414169-1BB0-C4F5-71E5-1B119AFF88A0}"/>
              </a:ext>
            </a:extLst>
          </p:cNvPr>
          <p:cNvSpPr/>
          <p:nvPr/>
        </p:nvSpPr>
        <p:spPr>
          <a:xfrm>
            <a:off x="1187624" y="3927592"/>
            <a:ext cx="2708377" cy="8390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4791CF95-A6E0-780F-E897-E21B3F7364A0}"/>
              </a:ext>
            </a:extLst>
          </p:cNvPr>
          <p:cNvCxnSpPr>
            <a:cxnSpLocks/>
          </p:cNvCxnSpPr>
          <p:nvPr/>
        </p:nvCxnSpPr>
        <p:spPr>
          <a:xfrm flipV="1">
            <a:off x="2349777" y="3458491"/>
            <a:ext cx="0" cy="4566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5C4FD72A-10E6-91AF-9EBD-C907025F6DE4}"/>
              </a:ext>
            </a:extLst>
          </p:cNvPr>
          <p:cNvSpPr txBox="1"/>
          <p:nvPr/>
        </p:nvSpPr>
        <p:spPr>
          <a:xfrm>
            <a:off x="2267744" y="4983534"/>
            <a:ext cx="3896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reprezentujący właściwość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która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została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zmieniona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(w tym przypadku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userName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uzyskać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dostęp np.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jej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nazwy.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2" name="Prostokąt: zaokrąglone rogi 51">
            <a:extLst>
              <a:ext uri="{FF2B5EF4-FFF2-40B4-BE49-F238E27FC236}">
                <a16:creationId xmlns:a16="http://schemas.microsoft.com/office/drawing/2014/main" id="{F2833F61-4EB5-782D-2EFD-1F85723964FA}"/>
              </a:ext>
            </a:extLst>
          </p:cNvPr>
          <p:cNvSpPr/>
          <p:nvPr/>
        </p:nvSpPr>
        <p:spPr>
          <a:xfrm>
            <a:off x="2267744" y="4992126"/>
            <a:ext cx="3816424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1CD157BA-C636-EDBC-2840-06983E9B5751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4175956" y="3272583"/>
            <a:ext cx="396044" cy="17195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3FD02F02-AD8D-AF64-5A86-E75FD68334E1}"/>
              </a:ext>
            </a:extLst>
          </p:cNvPr>
          <p:cNvSpPr txBox="1"/>
          <p:nvPr/>
        </p:nvSpPr>
        <p:spPr>
          <a:xfrm>
            <a:off x="4572000" y="3756090"/>
            <a:ext cx="236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Poprzednia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wartość właściwości przed jej zmianą.</a:t>
            </a:r>
          </a:p>
        </p:txBody>
      </p:sp>
      <p:sp>
        <p:nvSpPr>
          <p:cNvPr id="57" name="Prostokąt: zaokrąglone rogi 56">
            <a:extLst>
              <a:ext uri="{FF2B5EF4-FFF2-40B4-BE49-F238E27FC236}">
                <a16:creationId xmlns:a16="http://schemas.microsoft.com/office/drawing/2014/main" id="{CA80C2A5-033C-9E31-FF9E-F1783F9774E0}"/>
              </a:ext>
            </a:extLst>
          </p:cNvPr>
          <p:cNvSpPr/>
          <p:nvPr/>
        </p:nvSpPr>
        <p:spPr>
          <a:xfrm>
            <a:off x="4716016" y="3770790"/>
            <a:ext cx="2160240" cy="8162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8" name="Łącznik prosty ze strzałką 57">
            <a:extLst>
              <a:ext uri="{FF2B5EF4-FFF2-40B4-BE49-F238E27FC236}">
                <a16:creationId xmlns:a16="http://schemas.microsoft.com/office/drawing/2014/main" id="{D400686A-5FC9-21FF-BCC2-C2E91ACE07EA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5796136" y="3272583"/>
            <a:ext cx="787628" cy="4982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pole tekstowe 62">
            <a:extLst>
              <a:ext uri="{FF2B5EF4-FFF2-40B4-BE49-F238E27FC236}">
                <a16:creationId xmlns:a16="http://schemas.microsoft.com/office/drawing/2014/main" id="{6E83E91D-2353-6C39-E2AE-29FCDE11EF51}"/>
              </a:ext>
            </a:extLst>
          </p:cNvPr>
          <p:cNvSpPr txBox="1"/>
          <p:nvPr/>
        </p:nvSpPr>
        <p:spPr>
          <a:xfrm>
            <a:off x="6599551" y="4847226"/>
            <a:ext cx="236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Nowa wartość,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którą przypisano do właściwości.</a:t>
            </a:r>
          </a:p>
        </p:txBody>
      </p:sp>
      <p:sp>
        <p:nvSpPr>
          <p:cNvPr id="64" name="Prostokąt: zaokrąglone rogi 63">
            <a:extLst>
              <a:ext uri="{FF2B5EF4-FFF2-40B4-BE49-F238E27FC236}">
                <a16:creationId xmlns:a16="http://schemas.microsoft.com/office/drawing/2014/main" id="{C71DAEA5-BFE0-0187-BB1F-AFDCA6168ED1}"/>
              </a:ext>
            </a:extLst>
          </p:cNvPr>
          <p:cNvSpPr/>
          <p:nvPr/>
        </p:nvSpPr>
        <p:spPr>
          <a:xfrm>
            <a:off x="6743567" y="4861926"/>
            <a:ext cx="2160240" cy="8162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65" name="Łącznik prosty ze strzałką 64">
            <a:extLst>
              <a:ext uri="{FF2B5EF4-FFF2-40B4-BE49-F238E27FC236}">
                <a16:creationId xmlns:a16="http://schemas.microsoft.com/office/drawing/2014/main" id="{48F81F76-6D2E-47E2-BDA3-55277F2B943B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7823687" y="3272583"/>
            <a:ext cx="86659" cy="15893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141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2BD0A-E607-6785-E628-17DD9A7C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2B0D43-60C2-2A7B-0AAB-643BBBCE0B4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z obserwatorem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52D04A6-6921-7874-D8E2-0874110BD03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Jednym z praktycznych zastosowań delegatów jest tworzenie </a:t>
            </a:r>
            <a:r>
              <a:rPr lang="pl-PL" sz="1600" b="1" dirty="0"/>
              <a:t>mechanizmu obserwacji zmian właściwości</a:t>
            </a:r>
            <a:r>
              <a:rPr lang="pl-PL" sz="1600" dirty="0"/>
              <a:t>. Dzięki temu możemy wykonać określone działania </a:t>
            </a:r>
            <a:r>
              <a:rPr lang="pl-PL" sz="1600" b="1" dirty="0"/>
              <a:t>za każdym razem</a:t>
            </a:r>
            <a:r>
              <a:rPr lang="pl-PL" sz="1600" dirty="0"/>
              <a:t>, gdy właściwość </a:t>
            </a:r>
            <a:r>
              <a:rPr lang="pl-PL" sz="1600" b="1" dirty="0"/>
              <a:t>zmienia swoją wartość</a:t>
            </a:r>
            <a:r>
              <a:rPr lang="pl-PL" sz="1600" dirty="0"/>
              <a:t>.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DBE8A62-491B-6064-1A67-DAE636374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35911"/>
            <a:ext cx="7087352" cy="61798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550D2B0-3EE2-338C-18A2-5AD12FB4AD29}"/>
              </a:ext>
            </a:extLst>
          </p:cNvPr>
          <p:cNvSpPr txBox="1"/>
          <p:nvPr/>
        </p:nvSpPr>
        <p:spPr>
          <a:xfrm>
            <a:off x="1187624" y="1668973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58C7B7D3-307D-576F-AA74-F17FF21204C2}"/>
              </a:ext>
            </a:extLst>
          </p:cNvPr>
          <p:cNvSpPr/>
          <p:nvPr/>
        </p:nvSpPr>
        <p:spPr>
          <a:xfrm>
            <a:off x="1187625" y="1694526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DA541B97-DA64-5736-5452-2026C029178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541814" y="2217106"/>
            <a:ext cx="1354188" cy="7188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856DDBDE-2F45-165D-DEBA-A81530E2183A}"/>
              </a:ext>
            </a:extLst>
          </p:cNvPr>
          <p:cNvSpPr txBox="1"/>
          <p:nvPr/>
        </p:nvSpPr>
        <p:spPr>
          <a:xfrm>
            <a:off x="4083227" y="172278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observable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śledzenia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 wartości właściwości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0957225C-9985-7F55-A7BD-7BC9A5697C07}"/>
              </a:ext>
            </a:extLst>
          </p:cNvPr>
          <p:cNvSpPr/>
          <p:nvPr/>
        </p:nvSpPr>
        <p:spPr>
          <a:xfrm>
            <a:off x="4083228" y="174833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447C5565-B242-273B-6697-4F71B426B3D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004048" y="2553778"/>
            <a:ext cx="433369" cy="3821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7475CBB5-2B5E-D261-E0CA-71498C028DEE}"/>
              </a:ext>
            </a:extLst>
          </p:cNvPr>
          <p:cNvSpPr txBox="1"/>
          <p:nvPr/>
        </p:nvSpPr>
        <p:spPr>
          <a:xfrm>
            <a:off x="6667777" y="2088860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71ABD5BB-E24B-F2D9-9AA3-41BB6A39A646}"/>
              </a:ext>
            </a:extLst>
          </p:cNvPr>
          <p:cNvSpPr/>
          <p:nvPr/>
        </p:nvSpPr>
        <p:spPr>
          <a:xfrm>
            <a:off x="6978830" y="2114413"/>
            <a:ext cx="2002259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186FEAA1-69C3-0C65-7DAE-7415753BE3D8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960650" y="2427414"/>
            <a:ext cx="2019310" cy="4175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E87B037F-0317-819E-3715-911BD5500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709" y="4407356"/>
            <a:ext cx="5089004" cy="124890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3B47161C-67CE-6A4D-F4D3-2BE1A5D539F6}"/>
              </a:ext>
            </a:extLst>
          </p:cNvPr>
          <p:cNvSpPr txBox="1"/>
          <p:nvPr/>
        </p:nvSpPr>
        <p:spPr>
          <a:xfrm>
            <a:off x="1015331" y="3687928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 każdej zmianie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wykonywana jest funkcja lambda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8476CA5-A481-5551-99D0-9C44A81BC8BB}"/>
              </a:ext>
            </a:extLst>
          </p:cNvPr>
          <p:cNvSpPr/>
          <p:nvPr/>
        </p:nvSpPr>
        <p:spPr>
          <a:xfrm>
            <a:off x="1015332" y="3713481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AA2A96C-B091-7C07-52E3-74A712B3715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369521" y="4518925"/>
            <a:ext cx="1482399" cy="3430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5913ECF6-D808-4EA5-ACC9-C81518580582}"/>
              </a:ext>
            </a:extLst>
          </p:cNvPr>
          <p:cNvCxnSpPr>
            <a:cxnSpLocks/>
          </p:cNvCxnSpPr>
          <p:nvPr/>
        </p:nvCxnSpPr>
        <p:spPr>
          <a:xfrm flipV="1">
            <a:off x="2313318" y="3444408"/>
            <a:ext cx="98442" cy="25717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2CD5CD39-E919-CD75-48EC-81103AF66C95}"/>
              </a:ext>
            </a:extLst>
          </p:cNvPr>
          <p:cNvSpPr txBox="1"/>
          <p:nvPr/>
        </p:nvSpPr>
        <p:spPr>
          <a:xfrm>
            <a:off x="4003071" y="3882978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Nazwa właściwości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7B32D29F-3259-1A75-9471-FEE1D0A6AA71}"/>
              </a:ext>
            </a:extLst>
          </p:cNvPr>
          <p:cNvSpPr/>
          <p:nvPr/>
        </p:nvSpPr>
        <p:spPr>
          <a:xfrm>
            <a:off x="4295606" y="3923060"/>
            <a:ext cx="2249373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DF793C71-3FDC-B05C-6AAD-719E6C2A45B9}"/>
              </a:ext>
            </a:extLst>
          </p:cNvPr>
          <p:cNvCxnSpPr>
            <a:cxnSpLocks/>
          </p:cNvCxnSpPr>
          <p:nvPr/>
        </p:nvCxnSpPr>
        <p:spPr>
          <a:xfrm flipH="1">
            <a:off x="5508104" y="4243939"/>
            <a:ext cx="216024" cy="8988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83E1FE91-97A8-A23C-9392-DA87898A8107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4895927" y="3286631"/>
            <a:ext cx="524366" cy="63642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F96C7D37-3C19-B288-C9CD-D45D48C4B9D8}"/>
              </a:ext>
            </a:extLst>
          </p:cNvPr>
          <p:cNvSpPr txBox="1"/>
          <p:nvPr/>
        </p:nvSpPr>
        <p:spPr>
          <a:xfrm>
            <a:off x="6488719" y="3861806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Wartości właściwości</a:t>
            </a:r>
          </a:p>
        </p:txBody>
      </p:sp>
      <p:sp>
        <p:nvSpPr>
          <p:cNvPr id="36" name="Prostokąt: zaokrąglone rogi 35">
            <a:extLst>
              <a:ext uri="{FF2B5EF4-FFF2-40B4-BE49-F238E27FC236}">
                <a16:creationId xmlns:a16="http://schemas.microsoft.com/office/drawing/2014/main" id="{C79D16D3-0A2E-8D6D-BEF9-95A15C1F638B}"/>
              </a:ext>
            </a:extLst>
          </p:cNvPr>
          <p:cNvSpPr/>
          <p:nvPr/>
        </p:nvSpPr>
        <p:spPr>
          <a:xfrm>
            <a:off x="6711449" y="3892429"/>
            <a:ext cx="2249373" cy="31300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C2E34AA3-B51D-2DFF-7DE5-ABE72193F314}"/>
              </a:ext>
            </a:extLst>
          </p:cNvPr>
          <p:cNvCxnSpPr>
            <a:cxnSpLocks/>
          </p:cNvCxnSpPr>
          <p:nvPr/>
        </p:nvCxnSpPr>
        <p:spPr>
          <a:xfrm flipH="1" flipV="1">
            <a:off x="6791605" y="3353477"/>
            <a:ext cx="517715" cy="52668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C438FE47-7917-3ECD-F981-E5BF51A1A861}"/>
              </a:ext>
            </a:extLst>
          </p:cNvPr>
          <p:cNvCxnSpPr>
            <a:cxnSpLocks/>
          </p:cNvCxnSpPr>
          <p:nvPr/>
        </p:nvCxnSpPr>
        <p:spPr>
          <a:xfrm flipH="1" flipV="1">
            <a:off x="7836135" y="3280872"/>
            <a:ext cx="187346" cy="58267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Łącznik prosty ze strzałką 40">
            <a:extLst>
              <a:ext uri="{FF2B5EF4-FFF2-40B4-BE49-F238E27FC236}">
                <a16:creationId xmlns:a16="http://schemas.microsoft.com/office/drawing/2014/main" id="{6AE891A7-8AC5-8CB8-20EB-2F850254F3DF}"/>
              </a:ext>
            </a:extLst>
          </p:cNvPr>
          <p:cNvCxnSpPr>
            <a:cxnSpLocks/>
          </p:cNvCxnSpPr>
          <p:nvPr/>
        </p:nvCxnSpPr>
        <p:spPr>
          <a:xfrm flipH="1">
            <a:off x="7071794" y="4169435"/>
            <a:ext cx="169219" cy="97338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Łącznik prosty ze strzałką 44">
            <a:extLst>
              <a:ext uri="{FF2B5EF4-FFF2-40B4-BE49-F238E27FC236}">
                <a16:creationId xmlns:a16="http://schemas.microsoft.com/office/drawing/2014/main" id="{4B2CBE60-3D4B-5A2B-9F14-029949F521EE}"/>
              </a:ext>
            </a:extLst>
          </p:cNvPr>
          <p:cNvCxnSpPr>
            <a:cxnSpLocks/>
          </p:cNvCxnSpPr>
          <p:nvPr/>
        </p:nvCxnSpPr>
        <p:spPr>
          <a:xfrm>
            <a:off x="8057612" y="4217695"/>
            <a:ext cx="71056" cy="9251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70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CC67D-FA85-523D-27E6-177F97BC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30F7DE-A2E0-7EDE-192B-648535A7BB2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wetowalny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E45E469-AE7A-6AA3-4D96-FB23184DF7B9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Delegat </a:t>
            </a:r>
            <a:r>
              <a:rPr lang="pl-PL" sz="1600" b="1" dirty="0" err="1"/>
              <a:t>Delegates.vetoable</a:t>
            </a:r>
            <a:r>
              <a:rPr lang="pl-PL" sz="1600" dirty="0"/>
              <a:t> umożliwia kontrolowanie </a:t>
            </a:r>
            <a:r>
              <a:rPr lang="pl-PL" sz="1600" b="1" dirty="0"/>
              <a:t>zmiany wartości </a:t>
            </a:r>
            <a:r>
              <a:rPr lang="pl-PL" sz="1600" dirty="0"/>
              <a:t>właściwości. Każda zmiana jest </a:t>
            </a:r>
            <a:r>
              <a:rPr lang="pl-PL" sz="1600" b="1" dirty="0"/>
              <a:t>poprzedzona wywołaniem bloku kodu</a:t>
            </a:r>
            <a:r>
              <a:rPr lang="pl-PL" sz="1600" dirty="0"/>
              <a:t>, w którym możemy sprawdzić, czy nowa wartość spełnia określone warunki.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573B086E-9A27-8155-5FD9-80D71EF9B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019126"/>
            <a:ext cx="5766526" cy="185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41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7EECE-D6DE-0BC2-5B22-CC38888D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BCEE26-27C5-771E-C018-280198CB50A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wetowalny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81282B9-4536-D17E-9568-2A86D504B1B7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Delegat </a:t>
            </a:r>
            <a:r>
              <a:rPr lang="pl-PL" sz="1600" b="1" dirty="0" err="1"/>
              <a:t>Delegates.vetoable</a:t>
            </a:r>
            <a:r>
              <a:rPr lang="pl-PL" sz="1600" dirty="0"/>
              <a:t> umożliwia kontrolowanie </a:t>
            </a:r>
            <a:r>
              <a:rPr lang="pl-PL" sz="1600" b="1" dirty="0"/>
              <a:t>zmiany wartości </a:t>
            </a:r>
            <a:r>
              <a:rPr lang="pl-PL" sz="1600" dirty="0"/>
              <a:t>właściwości. Każda zmiana jest </a:t>
            </a:r>
            <a:r>
              <a:rPr lang="pl-PL" sz="1600" b="1" dirty="0"/>
              <a:t>poprzedzona wywołaniem bloku kodu</a:t>
            </a:r>
            <a:r>
              <a:rPr lang="pl-PL" sz="1600" dirty="0"/>
              <a:t>, w którym możemy sprawdzić, czy nowa wartość spełnia określone warunki.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6D1FBAD-8606-AD23-9CF5-CD4528EC1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019126"/>
            <a:ext cx="5766526" cy="185035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5C49821-6844-9DAC-14AA-E438BC33B998}"/>
              </a:ext>
            </a:extLst>
          </p:cNvPr>
          <p:cNvSpPr txBox="1"/>
          <p:nvPr/>
        </p:nvSpPr>
        <p:spPr>
          <a:xfrm>
            <a:off x="1306810" y="1999846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23FB1D22-6A36-75A4-B546-9415F774B75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661000" y="2541993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9F7F1545-CB75-E409-C1B4-FDC627D40E80}"/>
              </a:ext>
            </a:extLst>
          </p:cNvPr>
          <p:cNvSpPr/>
          <p:nvPr/>
        </p:nvSpPr>
        <p:spPr>
          <a:xfrm>
            <a:off x="1306811" y="2019413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1BFB1D7-8CB7-461F-0D5F-D6634E3BA4D5}"/>
              </a:ext>
            </a:extLst>
          </p:cNvPr>
          <p:cNvSpPr txBox="1"/>
          <p:nvPr/>
        </p:nvSpPr>
        <p:spPr>
          <a:xfrm>
            <a:off x="4254944" y="1917056"/>
            <a:ext cx="1973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vetoable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zmiany wartości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C40C3D75-B5AA-03CD-D009-66EE276E4658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>
            <a:off x="5241565" y="2748053"/>
            <a:ext cx="845546" cy="27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490D6DFB-BB25-6B5F-DB54-270B2C661C19}"/>
              </a:ext>
            </a:extLst>
          </p:cNvPr>
          <p:cNvSpPr/>
          <p:nvPr/>
        </p:nvSpPr>
        <p:spPr>
          <a:xfrm>
            <a:off x="4326953" y="1889173"/>
            <a:ext cx="1829224" cy="8588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E57DD308-7726-351F-CA79-1ED92A7D49BE}"/>
              </a:ext>
            </a:extLst>
          </p:cNvPr>
          <p:cNvSpPr txBox="1"/>
          <p:nvPr/>
        </p:nvSpPr>
        <p:spPr>
          <a:xfrm>
            <a:off x="6228185" y="1598289"/>
            <a:ext cx="2088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Wartość domyślna</a:t>
            </a:r>
          </a:p>
        </p:txBody>
      </p: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79746FD1-31E2-90E9-799C-16331FB5E3F0}"/>
              </a:ext>
            </a:extLst>
          </p:cNvPr>
          <p:cNvSpPr/>
          <p:nvPr/>
        </p:nvSpPr>
        <p:spPr>
          <a:xfrm>
            <a:off x="6300194" y="1570406"/>
            <a:ext cx="1944214" cy="36643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4BC31981-F937-7416-20D1-B260CF190AE7}"/>
              </a:ext>
            </a:extLst>
          </p:cNvPr>
          <p:cNvCxnSpPr>
            <a:cxnSpLocks/>
          </p:cNvCxnSpPr>
          <p:nvPr/>
        </p:nvCxnSpPr>
        <p:spPr>
          <a:xfrm flipH="1">
            <a:off x="6588224" y="1964726"/>
            <a:ext cx="48170" cy="10851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Łącznik prosty ze strzałką 49">
            <a:extLst>
              <a:ext uri="{FF2B5EF4-FFF2-40B4-BE49-F238E27FC236}">
                <a16:creationId xmlns:a16="http://schemas.microsoft.com/office/drawing/2014/main" id="{DAAA2878-E3AD-F12F-58E0-84A75691BD0F}"/>
              </a:ext>
            </a:extLst>
          </p:cNvPr>
          <p:cNvCxnSpPr>
            <a:cxnSpLocks/>
          </p:cNvCxnSpPr>
          <p:nvPr/>
        </p:nvCxnSpPr>
        <p:spPr>
          <a:xfrm flipH="1">
            <a:off x="6996433" y="2850410"/>
            <a:ext cx="825696" cy="1994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39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3A42B-A342-5B42-4160-7A052445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4E22F-CF53-D1D9-BBD7-FB03667B956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wetowalny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3EC6E83-754C-2623-C550-E2990CDE4AC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Delegat </a:t>
            </a:r>
            <a:r>
              <a:rPr lang="pl-PL" sz="1600" b="1" dirty="0" err="1"/>
              <a:t>Delegates.vetoable</a:t>
            </a:r>
            <a:r>
              <a:rPr lang="pl-PL" sz="1600" dirty="0"/>
              <a:t> umożliwia kontrolowanie </a:t>
            </a:r>
            <a:r>
              <a:rPr lang="pl-PL" sz="1600" b="1" dirty="0"/>
              <a:t>zmiany wartości </a:t>
            </a:r>
            <a:r>
              <a:rPr lang="pl-PL" sz="1600" dirty="0"/>
              <a:t>właściwości. Każda zmiana jest </a:t>
            </a:r>
            <a:r>
              <a:rPr lang="pl-PL" sz="1600" b="1" dirty="0"/>
              <a:t>poprzedzona wywołaniem bloku kodu</a:t>
            </a:r>
            <a:r>
              <a:rPr lang="pl-PL" sz="1600" dirty="0"/>
              <a:t>, w którym możemy sprawdzić, czy nowa wartość spełnia określone warunki.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398223A-2F4F-54C6-A175-FEA524E5B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019126"/>
            <a:ext cx="5766526" cy="185035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911F0C4-3896-691E-28DF-9C5F0BCC3ADC}"/>
              </a:ext>
            </a:extLst>
          </p:cNvPr>
          <p:cNvSpPr txBox="1"/>
          <p:nvPr/>
        </p:nvSpPr>
        <p:spPr>
          <a:xfrm>
            <a:off x="1306810" y="1999846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3103B0E0-0C12-F7F3-556E-8681D0DA901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661000" y="2541993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41CAFCC-195E-7633-EB3C-B5CC535705C9}"/>
              </a:ext>
            </a:extLst>
          </p:cNvPr>
          <p:cNvSpPr/>
          <p:nvPr/>
        </p:nvSpPr>
        <p:spPr>
          <a:xfrm>
            <a:off x="1306811" y="2019413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E7A926AA-2B3F-B224-135E-B0C450B53610}"/>
              </a:ext>
            </a:extLst>
          </p:cNvPr>
          <p:cNvSpPr txBox="1"/>
          <p:nvPr/>
        </p:nvSpPr>
        <p:spPr>
          <a:xfrm>
            <a:off x="4254944" y="1917056"/>
            <a:ext cx="1973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vetoable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zmiany wartości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1357003E-F9A2-2902-B699-0DB2411C7671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>
            <a:off x="5241565" y="2748053"/>
            <a:ext cx="845546" cy="27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C6BA8B9D-39B6-71BA-AF9C-D45F7997828B}"/>
              </a:ext>
            </a:extLst>
          </p:cNvPr>
          <p:cNvSpPr/>
          <p:nvPr/>
        </p:nvSpPr>
        <p:spPr>
          <a:xfrm>
            <a:off x="4326953" y="1889173"/>
            <a:ext cx="1829224" cy="8588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39CFCBE6-3951-27DC-89AE-BC2F59A7BEEC}"/>
              </a:ext>
            </a:extLst>
          </p:cNvPr>
          <p:cNvSpPr txBox="1"/>
          <p:nvPr/>
        </p:nvSpPr>
        <p:spPr>
          <a:xfrm>
            <a:off x="6228185" y="1598289"/>
            <a:ext cx="2088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Wartość domyślna</a:t>
            </a:r>
          </a:p>
        </p:txBody>
      </p: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E511A0FE-8F38-EDA1-4F7C-D2F791630838}"/>
              </a:ext>
            </a:extLst>
          </p:cNvPr>
          <p:cNvSpPr/>
          <p:nvPr/>
        </p:nvSpPr>
        <p:spPr>
          <a:xfrm>
            <a:off x="6300194" y="1570406"/>
            <a:ext cx="1944214" cy="36643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047AC532-8432-0EEE-3857-E529238C92B6}"/>
              </a:ext>
            </a:extLst>
          </p:cNvPr>
          <p:cNvCxnSpPr>
            <a:cxnSpLocks/>
          </p:cNvCxnSpPr>
          <p:nvPr/>
        </p:nvCxnSpPr>
        <p:spPr>
          <a:xfrm flipH="1">
            <a:off x="6588224" y="1964726"/>
            <a:ext cx="48170" cy="10851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pole tekstowe 47">
            <a:extLst>
              <a:ext uri="{FF2B5EF4-FFF2-40B4-BE49-F238E27FC236}">
                <a16:creationId xmlns:a16="http://schemas.microsoft.com/office/drawing/2014/main" id="{F2FE47B1-FBE2-42B6-3E83-9E0AF29C8CA8}"/>
              </a:ext>
            </a:extLst>
          </p:cNvPr>
          <p:cNvSpPr txBox="1"/>
          <p:nvPr/>
        </p:nvSpPr>
        <p:spPr>
          <a:xfrm>
            <a:off x="6777468" y="1980809"/>
            <a:ext cx="2016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pole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wykorzystywane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można zastąpić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_</a:t>
            </a:r>
          </a:p>
        </p:txBody>
      </p: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8A313291-6C69-CDEE-FFC6-034DC4AB1029}"/>
              </a:ext>
            </a:extLst>
          </p:cNvPr>
          <p:cNvSpPr/>
          <p:nvPr/>
        </p:nvSpPr>
        <p:spPr>
          <a:xfrm>
            <a:off x="6850022" y="2019413"/>
            <a:ext cx="1944214" cy="830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0" name="Łącznik prosty ze strzałką 49">
            <a:extLst>
              <a:ext uri="{FF2B5EF4-FFF2-40B4-BE49-F238E27FC236}">
                <a16:creationId xmlns:a16="http://schemas.microsoft.com/office/drawing/2014/main" id="{E058E8F4-88D3-2E8B-A3B4-4CB40AFAC8B7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6996433" y="2850410"/>
            <a:ext cx="825696" cy="1994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26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E7C44-0E25-A690-9979-69885653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4D78D2-76E0-99C2-1EC0-16EB0866066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wetowalny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A8821E7-6A82-5944-3431-DBD6F6C99B5F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Delegat </a:t>
            </a:r>
            <a:r>
              <a:rPr lang="pl-PL" sz="1600" b="1" dirty="0" err="1"/>
              <a:t>Delegates.vetoable</a:t>
            </a:r>
            <a:r>
              <a:rPr lang="pl-PL" sz="1600" dirty="0"/>
              <a:t> umożliwia kontrolowanie </a:t>
            </a:r>
            <a:r>
              <a:rPr lang="pl-PL" sz="1600" b="1" dirty="0"/>
              <a:t>zmiany wartości </a:t>
            </a:r>
            <a:r>
              <a:rPr lang="pl-PL" sz="1600" dirty="0"/>
              <a:t>właściwości. Każda zmiana jest </a:t>
            </a:r>
            <a:r>
              <a:rPr lang="pl-PL" sz="1600" b="1" dirty="0"/>
              <a:t>poprzedzona wywołaniem bloku kodu</a:t>
            </a:r>
            <a:r>
              <a:rPr lang="pl-PL" sz="1600" dirty="0"/>
              <a:t>, w którym możemy sprawdzić, czy nowa wartość spełnia określone warunki.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0A4D51AF-FA7D-570D-0D2E-C06C9FACE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019126"/>
            <a:ext cx="5766526" cy="185035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5F62120-535C-D81C-5CBD-A9C1FCBA6147}"/>
              </a:ext>
            </a:extLst>
          </p:cNvPr>
          <p:cNvSpPr txBox="1"/>
          <p:nvPr/>
        </p:nvSpPr>
        <p:spPr>
          <a:xfrm>
            <a:off x="1306810" y="1999846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DAF2AA62-F2EA-07E3-083F-3AB8325C042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661000" y="2541993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7EC08FE5-6860-CE38-6E18-CE8114B14DA3}"/>
              </a:ext>
            </a:extLst>
          </p:cNvPr>
          <p:cNvSpPr/>
          <p:nvPr/>
        </p:nvSpPr>
        <p:spPr>
          <a:xfrm>
            <a:off x="1306811" y="2019413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F23D873F-4D09-5F86-997B-6EE2E67F2E98}"/>
              </a:ext>
            </a:extLst>
          </p:cNvPr>
          <p:cNvSpPr txBox="1"/>
          <p:nvPr/>
        </p:nvSpPr>
        <p:spPr>
          <a:xfrm>
            <a:off x="4254944" y="1917056"/>
            <a:ext cx="1973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vetoable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zmiany wartości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5338294-FBFB-A0C7-3E0F-904AE5505E1C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>
            <a:off x="5241565" y="2748053"/>
            <a:ext cx="845546" cy="27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B77A4640-15E9-A692-8B95-DD53240995EC}"/>
              </a:ext>
            </a:extLst>
          </p:cNvPr>
          <p:cNvSpPr/>
          <p:nvPr/>
        </p:nvSpPr>
        <p:spPr>
          <a:xfrm>
            <a:off x="4326953" y="1889173"/>
            <a:ext cx="1829224" cy="8588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A3DDA688-617A-A283-07EC-AA6E55AEB02E}"/>
              </a:ext>
            </a:extLst>
          </p:cNvPr>
          <p:cNvSpPr txBox="1"/>
          <p:nvPr/>
        </p:nvSpPr>
        <p:spPr>
          <a:xfrm>
            <a:off x="6228185" y="1598289"/>
            <a:ext cx="2088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Wartość domyślna</a:t>
            </a:r>
          </a:p>
        </p:txBody>
      </p: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5C1BE13C-38E0-1FE5-EEE4-64B62EC1774B}"/>
              </a:ext>
            </a:extLst>
          </p:cNvPr>
          <p:cNvSpPr/>
          <p:nvPr/>
        </p:nvSpPr>
        <p:spPr>
          <a:xfrm>
            <a:off x="6300194" y="1570406"/>
            <a:ext cx="1944214" cy="36643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DA10E06E-0269-9B9A-55BF-1138E9DF6D5C}"/>
              </a:ext>
            </a:extLst>
          </p:cNvPr>
          <p:cNvCxnSpPr>
            <a:cxnSpLocks/>
          </p:cNvCxnSpPr>
          <p:nvPr/>
        </p:nvCxnSpPr>
        <p:spPr>
          <a:xfrm flipH="1">
            <a:off x="6588224" y="1964726"/>
            <a:ext cx="48170" cy="10851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pole tekstowe 47">
            <a:extLst>
              <a:ext uri="{FF2B5EF4-FFF2-40B4-BE49-F238E27FC236}">
                <a16:creationId xmlns:a16="http://schemas.microsoft.com/office/drawing/2014/main" id="{E6F36141-48F4-9531-7727-BCE36F539D79}"/>
              </a:ext>
            </a:extLst>
          </p:cNvPr>
          <p:cNvSpPr txBox="1"/>
          <p:nvPr/>
        </p:nvSpPr>
        <p:spPr>
          <a:xfrm>
            <a:off x="6777468" y="1980809"/>
            <a:ext cx="2016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pole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wykorzystywane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można zastąpić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_</a:t>
            </a:r>
          </a:p>
        </p:txBody>
      </p: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8389CCEA-1DAD-F74B-8125-AAC04332C325}"/>
              </a:ext>
            </a:extLst>
          </p:cNvPr>
          <p:cNvSpPr/>
          <p:nvPr/>
        </p:nvSpPr>
        <p:spPr>
          <a:xfrm>
            <a:off x="6850022" y="2019413"/>
            <a:ext cx="1944214" cy="830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0" name="Łącznik prosty ze strzałką 49">
            <a:extLst>
              <a:ext uri="{FF2B5EF4-FFF2-40B4-BE49-F238E27FC236}">
                <a16:creationId xmlns:a16="http://schemas.microsoft.com/office/drawing/2014/main" id="{C94CEE90-61F2-40DB-2004-29867E3810EB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6996433" y="2850410"/>
            <a:ext cx="825696" cy="1994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Nawias klamrowy otwierający 53">
            <a:extLst>
              <a:ext uri="{FF2B5EF4-FFF2-40B4-BE49-F238E27FC236}">
                <a16:creationId xmlns:a16="http://schemas.microsoft.com/office/drawing/2014/main" id="{C20F1070-FB8D-1B18-E36D-A062C6693D8A}"/>
              </a:ext>
            </a:extLst>
          </p:cNvPr>
          <p:cNvSpPr/>
          <p:nvPr/>
        </p:nvSpPr>
        <p:spPr>
          <a:xfrm>
            <a:off x="3521785" y="3314214"/>
            <a:ext cx="309711" cy="126018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8764B036-A1B0-8492-14B3-E82E05D6441E}"/>
              </a:ext>
            </a:extLst>
          </p:cNvPr>
          <p:cNvSpPr txBox="1"/>
          <p:nvPr/>
        </p:nvSpPr>
        <p:spPr>
          <a:xfrm>
            <a:off x="1070129" y="3326960"/>
            <a:ext cx="2451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Jeśli blok kodu zwróci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true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zaakceptowana;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jeśli zwróci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false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odrzucona.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" name="Prostokąt: zaokrąglone rogi 55">
            <a:extLst>
              <a:ext uri="{FF2B5EF4-FFF2-40B4-BE49-F238E27FC236}">
                <a16:creationId xmlns:a16="http://schemas.microsoft.com/office/drawing/2014/main" id="{0F61A32F-7C9B-5EE6-6AF9-3F0D54836C47}"/>
              </a:ext>
            </a:extLst>
          </p:cNvPr>
          <p:cNvSpPr/>
          <p:nvPr/>
        </p:nvSpPr>
        <p:spPr>
          <a:xfrm>
            <a:off x="1151245" y="3301305"/>
            <a:ext cx="2253045" cy="134049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8224D614-84AD-0084-FD8D-D42842F4A1D8}"/>
              </a:ext>
            </a:extLst>
          </p:cNvPr>
          <p:cNvSpPr txBox="1"/>
          <p:nvPr/>
        </p:nvSpPr>
        <p:spPr>
          <a:xfrm>
            <a:off x="6258923" y="3301379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 akceptacji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2" name="Prostokąt: zaokrąglone rogi 61">
            <a:extLst>
              <a:ext uri="{FF2B5EF4-FFF2-40B4-BE49-F238E27FC236}">
                <a16:creationId xmlns:a16="http://schemas.microsoft.com/office/drawing/2014/main" id="{0AC77718-BAB6-1564-BC26-9888C8819A7A}"/>
              </a:ext>
            </a:extLst>
          </p:cNvPr>
          <p:cNvSpPr/>
          <p:nvPr/>
        </p:nvSpPr>
        <p:spPr>
          <a:xfrm>
            <a:off x="6588225" y="3320946"/>
            <a:ext cx="2088232" cy="33855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63" name="Łącznik prosty ze strzałką 62">
            <a:extLst>
              <a:ext uri="{FF2B5EF4-FFF2-40B4-BE49-F238E27FC236}">
                <a16:creationId xmlns:a16="http://schemas.microsoft.com/office/drawing/2014/main" id="{74F9116A-3A62-9C2C-4F69-E1AB5A3AB099}"/>
              </a:ext>
            </a:extLst>
          </p:cNvPr>
          <p:cNvCxnSpPr>
            <a:cxnSpLocks/>
          </p:cNvCxnSpPr>
          <p:nvPr/>
        </p:nvCxnSpPr>
        <p:spPr>
          <a:xfrm flipH="1" flipV="1">
            <a:off x="5949212" y="3429000"/>
            <a:ext cx="650968" cy="553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830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EF914-583A-2674-6C42-E80E37BB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BC071A-853C-2470-9A6A-38D8F95CC05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wetowalny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60C1AB8-A99B-D67F-EFAD-D2C90E392E9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Delegat </a:t>
            </a:r>
            <a:r>
              <a:rPr lang="pl-PL" sz="1600" b="1" dirty="0" err="1"/>
              <a:t>Delegates.vetoable</a:t>
            </a:r>
            <a:r>
              <a:rPr lang="pl-PL" sz="1600" dirty="0"/>
              <a:t> umożliwia kontrolowanie </a:t>
            </a:r>
            <a:r>
              <a:rPr lang="pl-PL" sz="1600" b="1" dirty="0"/>
              <a:t>zmiany wartości </a:t>
            </a:r>
            <a:r>
              <a:rPr lang="pl-PL" sz="1600" dirty="0"/>
              <a:t>właściwości. Każda zmiana jest </a:t>
            </a:r>
            <a:r>
              <a:rPr lang="pl-PL" sz="1600" b="1" dirty="0"/>
              <a:t>poprzedzona wywołaniem bloku kodu</a:t>
            </a:r>
            <a:r>
              <a:rPr lang="pl-PL" sz="1600" dirty="0"/>
              <a:t>, w którym możemy sprawdzić, czy nowa wartość spełnia określone warunki.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4B744F3-C52D-A48B-C4A3-5B2DB3AA9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3019126"/>
            <a:ext cx="5766526" cy="1850358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C88E69A-18E5-E3D2-8F03-BB70599A2794}"/>
              </a:ext>
            </a:extLst>
          </p:cNvPr>
          <p:cNvSpPr txBox="1"/>
          <p:nvPr/>
        </p:nvSpPr>
        <p:spPr>
          <a:xfrm>
            <a:off x="1306810" y="1999846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E0C351AF-2925-2A3B-BF5E-480585242F1D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661000" y="2541993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04B24E8-952A-2E39-8150-D3CD3FDFBC94}"/>
              </a:ext>
            </a:extLst>
          </p:cNvPr>
          <p:cNvSpPr/>
          <p:nvPr/>
        </p:nvSpPr>
        <p:spPr>
          <a:xfrm>
            <a:off x="1306811" y="2019413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5053982A-B155-09D6-920B-433D4CD61374}"/>
              </a:ext>
            </a:extLst>
          </p:cNvPr>
          <p:cNvSpPr txBox="1"/>
          <p:nvPr/>
        </p:nvSpPr>
        <p:spPr>
          <a:xfrm>
            <a:off x="4254944" y="1917056"/>
            <a:ext cx="1973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Delegat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vetoable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kontroluje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zmiany wartości 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E1E303D-1C5D-7096-47F5-AFF83B0C1EBF}"/>
              </a:ext>
            </a:extLst>
          </p:cNvPr>
          <p:cNvCxnSpPr>
            <a:cxnSpLocks/>
            <a:stCxn id="31" idx="2"/>
            <a:endCxn id="9" idx="0"/>
          </p:cNvCxnSpPr>
          <p:nvPr/>
        </p:nvCxnSpPr>
        <p:spPr>
          <a:xfrm>
            <a:off x="5241565" y="2748053"/>
            <a:ext cx="845546" cy="27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8D854DFE-AA89-C8A5-91DE-4832B64D2F9F}"/>
              </a:ext>
            </a:extLst>
          </p:cNvPr>
          <p:cNvSpPr/>
          <p:nvPr/>
        </p:nvSpPr>
        <p:spPr>
          <a:xfrm>
            <a:off x="4326953" y="1889173"/>
            <a:ext cx="1829224" cy="8588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A2BA98A0-66AB-BD19-3991-40C5EF491A04}"/>
              </a:ext>
            </a:extLst>
          </p:cNvPr>
          <p:cNvSpPr txBox="1"/>
          <p:nvPr/>
        </p:nvSpPr>
        <p:spPr>
          <a:xfrm>
            <a:off x="6228185" y="1598289"/>
            <a:ext cx="2088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Wartość domyślna</a:t>
            </a:r>
          </a:p>
        </p:txBody>
      </p: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35688C82-47E5-3C23-01A5-E40C7F6F824A}"/>
              </a:ext>
            </a:extLst>
          </p:cNvPr>
          <p:cNvSpPr/>
          <p:nvPr/>
        </p:nvSpPr>
        <p:spPr>
          <a:xfrm>
            <a:off x="6300194" y="1570406"/>
            <a:ext cx="1944214" cy="36643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C06F5AAB-FD3B-78A1-4E24-B71D443213AA}"/>
              </a:ext>
            </a:extLst>
          </p:cNvPr>
          <p:cNvCxnSpPr>
            <a:cxnSpLocks/>
          </p:cNvCxnSpPr>
          <p:nvPr/>
        </p:nvCxnSpPr>
        <p:spPr>
          <a:xfrm flipH="1">
            <a:off x="6588224" y="1964726"/>
            <a:ext cx="48170" cy="10851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pole tekstowe 47">
            <a:extLst>
              <a:ext uri="{FF2B5EF4-FFF2-40B4-BE49-F238E27FC236}">
                <a16:creationId xmlns:a16="http://schemas.microsoft.com/office/drawing/2014/main" id="{0F9E1CB7-D82D-EC2B-08D7-11FBC160C0A9}"/>
              </a:ext>
            </a:extLst>
          </p:cNvPr>
          <p:cNvSpPr txBox="1"/>
          <p:nvPr/>
        </p:nvSpPr>
        <p:spPr>
          <a:xfrm>
            <a:off x="6777468" y="1980809"/>
            <a:ext cx="2016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Jeżeli pole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wykorzystywane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można zastąpić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_</a:t>
            </a:r>
          </a:p>
        </p:txBody>
      </p: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3F1008C1-3C82-F05F-BBA1-4694D76A006D}"/>
              </a:ext>
            </a:extLst>
          </p:cNvPr>
          <p:cNvSpPr/>
          <p:nvPr/>
        </p:nvSpPr>
        <p:spPr>
          <a:xfrm>
            <a:off x="6850022" y="2019413"/>
            <a:ext cx="1944214" cy="830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0" name="Łącznik prosty ze strzałką 49">
            <a:extLst>
              <a:ext uri="{FF2B5EF4-FFF2-40B4-BE49-F238E27FC236}">
                <a16:creationId xmlns:a16="http://schemas.microsoft.com/office/drawing/2014/main" id="{5987CEE0-1CD1-179D-7555-C30E652F9E5E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6996433" y="2850410"/>
            <a:ext cx="825696" cy="1994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Nawias klamrowy otwierający 53">
            <a:extLst>
              <a:ext uri="{FF2B5EF4-FFF2-40B4-BE49-F238E27FC236}">
                <a16:creationId xmlns:a16="http://schemas.microsoft.com/office/drawing/2014/main" id="{8CD5F887-455C-5469-A208-DB4CD16F9B33}"/>
              </a:ext>
            </a:extLst>
          </p:cNvPr>
          <p:cNvSpPr/>
          <p:nvPr/>
        </p:nvSpPr>
        <p:spPr>
          <a:xfrm>
            <a:off x="3521785" y="3314214"/>
            <a:ext cx="309711" cy="126018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F038922E-9273-8520-0987-880AEAB5D682}"/>
              </a:ext>
            </a:extLst>
          </p:cNvPr>
          <p:cNvSpPr txBox="1"/>
          <p:nvPr/>
        </p:nvSpPr>
        <p:spPr>
          <a:xfrm>
            <a:off x="1070129" y="3326960"/>
            <a:ext cx="2451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Jeśli blok kodu zwróci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true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zaakceptowana;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jeśli zwróci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false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zostanie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odrzucona.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" name="Prostokąt: zaokrąglone rogi 55">
            <a:extLst>
              <a:ext uri="{FF2B5EF4-FFF2-40B4-BE49-F238E27FC236}">
                <a16:creationId xmlns:a16="http://schemas.microsoft.com/office/drawing/2014/main" id="{27EC0B86-E97D-F166-3D3B-16BCE0B1F611}"/>
              </a:ext>
            </a:extLst>
          </p:cNvPr>
          <p:cNvSpPr/>
          <p:nvPr/>
        </p:nvSpPr>
        <p:spPr>
          <a:xfrm>
            <a:off x="1151245" y="3301305"/>
            <a:ext cx="2253045" cy="134049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8" name="Obraz 57">
            <a:extLst>
              <a:ext uri="{FF2B5EF4-FFF2-40B4-BE49-F238E27FC236}">
                <a16:creationId xmlns:a16="http://schemas.microsoft.com/office/drawing/2014/main" id="{E574AD7D-5A1A-A297-94F7-FE30C2BD1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4893229"/>
            <a:ext cx="3485353" cy="1893348"/>
          </a:xfrm>
          <a:prstGeom prst="rect">
            <a:avLst/>
          </a:prstGeom>
        </p:spPr>
      </p:pic>
      <p:sp>
        <p:nvSpPr>
          <p:cNvPr id="59" name="pole tekstowe 58">
            <a:extLst>
              <a:ext uri="{FF2B5EF4-FFF2-40B4-BE49-F238E27FC236}">
                <a16:creationId xmlns:a16="http://schemas.microsoft.com/office/drawing/2014/main" id="{D3EC8DA8-6DC8-E8DD-777A-333447F5E135}"/>
              </a:ext>
            </a:extLst>
          </p:cNvPr>
          <p:cNvSpPr txBox="1"/>
          <p:nvPr/>
        </p:nvSpPr>
        <p:spPr>
          <a:xfrm>
            <a:off x="837070" y="5097614"/>
            <a:ext cx="2451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 spełniony</a:t>
            </a:r>
          </a:p>
        </p:txBody>
      </p:sp>
      <p:sp>
        <p:nvSpPr>
          <p:cNvPr id="60" name="Prostokąt: zaokrąglone rogi 59">
            <a:extLst>
              <a:ext uri="{FF2B5EF4-FFF2-40B4-BE49-F238E27FC236}">
                <a16:creationId xmlns:a16="http://schemas.microsoft.com/office/drawing/2014/main" id="{32345CBC-3A31-1699-CBB8-46431443A0C6}"/>
              </a:ext>
            </a:extLst>
          </p:cNvPr>
          <p:cNvSpPr/>
          <p:nvPr/>
        </p:nvSpPr>
        <p:spPr>
          <a:xfrm>
            <a:off x="1065965" y="5097614"/>
            <a:ext cx="1993867" cy="37728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81EC9A67-9BC5-6A5F-3330-0E6D0D40C110}"/>
              </a:ext>
            </a:extLst>
          </p:cNvPr>
          <p:cNvSpPr txBox="1"/>
          <p:nvPr/>
        </p:nvSpPr>
        <p:spPr>
          <a:xfrm>
            <a:off x="6258923" y="3301379"/>
            <a:ext cx="2708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 akceptacji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2" name="Prostokąt: zaokrąglone rogi 61">
            <a:extLst>
              <a:ext uri="{FF2B5EF4-FFF2-40B4-BE49-F238E27FC236}">
                <a16:creationId xmlns:a16="http://schemas.microsoft.com/office/drawing/2014/main" id="{9F681031-26CE-5BCD-A41E-0B1639FCA9E2}"/>
              </a:ext>
            </a:extLst>
          </p:cNvPr>
          <p:cNvSpPr/>
          <p:nvPr/>
        </p:nvSpPr>
        <p:spPr>
          <a:xfrm>
            <a:off x="6588225" y="3320946"/>
            <a:ext cx="2088232" cy="33855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63" name="Łącznik prosty ze strzałką 62">
            <a:extLst>
              <a:ext uri="{FF2B5EF4-FFF2-40B4-BE49-F238E27FC236}">
                <a16:creationId xmlns:a16="http://schemas.microsoft.com/office/drawing/2014/main" id="{5CAFD82E-E1D5-0543-C3EB-3124D6C26569}"/>
              </a:ext>
            </a:extLst>
          </p:cNvPr>
          <p:cNvCxnSpPr>
            <a:cxnSpLocks/>
          </p:cNvCxnSpPr>
          <p:nvPr/>
        </p:nvCxnSpPr>
        <p:spPr>
          <a:xfrm flipH="1" flipV="1">
            <a:off x="5949212" y="3429000"/>
            <a:ext cx="650968" cy="5537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Łącznik prosty ze strzałką 64">
            <a:extLst>
              <a:ext uri="{FF2B5EF4-FFF2-40B4-BE49-F238E27FC236}">
                <a16:creationId xmlns:a16="http://schemas.microsoft.com/office/drawing/2014/main" id="{1377CD90-F705-4377-5112-E24FBEE0A3C4}"/>
              </a:ext>
            </a:extLst>
          </p:cNvPr>
          <p:cNvCxnSpPr>
            <a:cxnSpLocks/>
          </p:cNvCxnSpPr>
          <p:nvPr/>
        </p:nvCxnSpPr>
        <p:spPr>
          <a:xfrm flipV="1">
            <a:off x="3059832" y="5120916"/>
            <a:ext cx="457789" cy="1933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Łącznik prosty ze strzałką 66">
            <a:extLst>
              <a:ext uri="{FF2B5EF4-FFF2-40B4-BE49-F238E27FC236}">
                <a16:creationId xmlns:a16="http://schemas.microsoft.com/office/drawing/2014/main" id="{4CECB8CB-C1B0-BCF5-ABEB-129DC9A72E06}"/>
              </a:ext>
            </a:extLst>
          </p:cNvPr>
          <p:cNvCxnSpPr>
            <a:cxnSpLocks/>
          </p:cNvCxnSpPr>
          <p:nvPr/>
        </p:nvCxnSpPr>
        <p:spPr>
          <a:xfrm>
            <a:off x="3059832" y="5322652"/>
            <a:ext cx="616808" cy="93807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pole tekstowe 68">
            <a:extLst>
              <a:ext uri="{FF2B5EF4-FFF2-40B4-BE49-F238E27FC236}">
                <a16:creationId xmlns:a16="http://schemas.microsoft.com/office/drawing/2014/main" id="{D7B69A38-7FF1-FD31-94BC-8901A1C38BA0}"/>
              </a:ext>
            </a:extLst>
          </p:cNvPr>
          <p:cNvSpPr txBox="1"/>
          <p:nvPr/>
        </p:nvSpPr>
        <p:spPr>
          <a:xfrm>
            <a:off x="5463223" y="5441597"/>
            <a:ext cx="2161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Warunek nie spełniony</a:t>
            </a:r>
          </a:p>
        </p:txBody>
      </p:sp>
      <p:sp>
        <p:nvSpPr>
          <p:cNvPr id="70" name="Prostokąt: zaokrąglone rogi 69">
            <a:extLst>
              <a:ext uri="{FF2B5EF4-FFF2-40B4-BE49-F238E27FC236}">
                <a16:creationId xmlns:a16="http://schemas.microsoft.com/office/drawing/2014/main" id="{B1523689-20B7-BD07-50E9-E1A7C4B1CDEB}"/>
              </a:ext>
            </a:extLst>
          </p:cNvPr>
          <p:cNvSpPr/>
          <p:nvPr/>
        </p:nvSpPr>
        <p:spPr>
          <a:xfrm>
            <a:off x="5824955" y="5441597"/>
            <a:ext cx="1413380" cy="58477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1" name="Łącznik prosty ze strzałką 70">
            <a:extLst>
              <a:ext uri="{FF2B5EF4-FFF2-40B4-BE49-F238E27FC236}">
                <a16:creationId xmlns:a16="http://schemas.microsoft.com/office/drawing/2014/main" id="{2A4DA60F-4B71-B081-799C-6605EE911D41}"/>
              </a:ext>
            </a:extLst>
          </p:cNvPr>
          <p:cNvCxnSpPr>
            <a:cxnSpLocks/>
          </p:cNvCxnSpPr>
          <p:nvPr/>
        </p:nvCxnSpPr>
        <p:spPr>
          <a:xfrm flipH="1">
            <a:off x="4442393" y="5711866"/>
            <a:ext cx="1382562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Łącznik prosty ze strzałką 72">
            <a:extLst>
              <a:ext uri="{FF2B5EF4-FFF2-40B4-BE49-F238E27FC236}">
                <a16:creationId xmlns:a16="http://schemas.microsoft.com/office/drawing/2014/main" id="{DB770F79-A2D6-9376-44B0-BAB4EB03B5F9}"/>
              </a:ext>
            </a:extLst>
          </p:cNvPr>
          <p:cNvCxnSpPr>
            <a:cxnSpLocks/>
          </p:cNvCxnSpPr>
          <p:nvPr/>
        </p:nvCxnSpPr>
        <p:spPr>
          <a:xfrm flipH="1">
            <a:off x="5133674" y="5713917"/>
            <a:ext cx="691281" cy="6674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Łącznik prosty ze strzałką 74">
            <a:extLst>
              <a:ext uri="{FF2B5EF4-FFF2-40B4-BE49-F238E27FC236}">
                <a16:creationId xmlns:a16="http://schemas.microsoft.com/office/drawing/2014/main" id="{7C2B7A8E-AD85-471D-CCBE-36C9E4464077}"/>
              </a:ext>
            </a:extLst>
          </p:cNvPr>
          <p:cNvCxnSpPr>
            <a:cxnSpLocks/>
          </p:cNvCxnSpPr>
          <p:nvPr/>
        </p:nvCxnSpPr>
        <p:spPr>
          <a:xfrm flipV="1">
            <a:off x="6600180" y="4149080"/>
            <a:ext cx="0" cy="128395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741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656CA-162D-1E63-74A6-C5BF5326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1A82B0-206C-7485-F031-EDC30B897EC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do mapy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DD741A6-048D-CC73-5CF2-BFF86FB3C94B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delegacie </a:t>
            </a:r>
            <a:r>
              <a:rPr lang="pl-PL" sz="1600" b="1" dirty="0"/>
              <a:t>do mapy</a:t>
            </a:r>
            <a:r>
              <a:rPr lang="pl-PL" sz="1600" dirty="0"/>
              <a:t> wartości właściwości klasy są </a:t>
            </a:r>
            <a:r>
              <a:rPr lang="pl-PL" sz="1600" b="1" dirty="0"/>
              <a:t>pobierane z mapy </a:t>
            </a:r>
            <a:r>
              <a:rPr lang="pl-PL" sz="1600" dirty="0"/>
              <a:t>na podstawie ich </a:t>
            </a:r>
            <a:r>
              <a:rPr lang="pl-PL" sz="1600" b="1" dirty="0"/>
              <a:t>nazw jako kluczy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21BFF73-982B-37DF-E2D2-C827909A5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5" y="2924274"/>
            <a:ext cx="4797763" cy="244467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63576B5D-FE65-F827-BC75-07B9E22B5E0C}"/>
              </a:ext>
            </a:extLst>
          </p:cNvPr>
          <p:cNvSpPr txBox="1"/>
          <p:nvPr/>
        </p:nvSpPr>
        <p:spPr>
          <a:xfrm>
            <a:off x="2987823" y="181927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Konstruktor główny posiada jedno pole typu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Map&lt;String,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Any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?&gt;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E9168BC4-8D31-3AE0-53FC-869EB92DD561}"/>
              </a:ext>
            </a:extLst>
          </p:cNvPr>
          <p:cNvSpPr/>
          <p:nvPr/>
        </p:nvSpPr>
        <p:spPr>
          <a:xfrm>
            <a:off x="2987824" y="184482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25BB1010-816F-6110-B2BA-F30FE49B9E95}"/>
              </a:ext>
            </a:extLst>
          </p:cNvPr>
          <p:cNvCxnSpPr>
            <a:cxnSpLocks/>
          </p:cNvCxnSpPr>
          <p:nvPr/>
        </p:nvCxnSpPr>
        <p:spPr>
          <a:xfrm>
            <a:off x="4984427" y="2663023"/>
            <a:ext cx="1482399" cy="3430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308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694BC-9AF1-7BE8-1F3A-92C183A9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73E3B3-8640-2263-7854-272C6F5503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do mapy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FE19E38-BBA2-468B-AD1C-0BE99AA03622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delegacie </a:t>
            </a:r>
            <a:r>
              <a:rPr lang="pl-PL" sz="1600" b="1" dirty="0"/>
              <a:t>do mapy</a:t>
            </a:r>
            <a:r>
              <a:rPr lang="pl-PL" sz="1600" dirty="0"/>
              <a:t> wartości właściwości klasy są </a:t>
            </a:r>
            <a:r>
              <a:rPr lang="pl-PL" sz="1600" b="1" dirty="0"/>
              <a:t>pobierane z mapy </a:t>
            </a:r>
            <a:r>
              <a:rPr lang="pl-PL" sz="1600" dirty="0"/>
              <a:t>na podstawie ich </a:t>
            </a:r>
            <a:r>
              <a:rPr lang="pl-PL" sz="1600" b="1" dirty="0"/>
              <a:t>nazw jako kluczy</a:t>
            </a:r>
            <a:r>
              <a:rPr lang="pl-PL" sz="1600" dirty="0"/>
              <a:t>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76299DB-4DCC-7437-E2F0-90D50C2F3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5" y="2924274"/>
            <a:ext cx="4797763" cy="244467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6249B76-9B27-6210-F4A1-83DD40A8E90C}"/>
              </a:ext>
            </a:extLst>
          </p:cNvPr>
          <p:cNvSpPr txBox="1"/>
          <p:nvPr/>
        </p:nvSpPr>
        <p:spPr>
          <a:xfrm>
            <a:off x="2987823" y="1819271"/>
            <a:ext cx="270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Konstruktor główny posiada jedno pole typu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Map&lt;String,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Any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?&gt;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90C5A5E0-6051-3615-B069-F2B2EB6EB3FE}"/>
              </a:ext>
            </a:extLst>
          </p:cNvPr>
          <p:cNvSpPr/>
          <p:nvPr/>
        </p:nvSpPr>
        <p:spPr>
          <a:xfrm>
            <a:off x="2987824" y="1844824"/>
            <a:ext cx="2708377" cy="80544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3B905647-55D2-0A9B-DABE-FE9DD0799F44}"/>
              </a:ext>
            </a:extLst>
          </p:cNvPr>
          <p:cNvCxnSpPr>
            <a:cxnSpLocks/>
          </p:cNvCxnSpPr>
          <p:nvPr/>
        </p:nvCxnSpPr>
        <p:spPr>
          <a:xfrm>
            <a:off x="4984427" y="2663023"/>
            <a:ext cx="1482399" cy="3430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967F36F-8165-37AA-A76E-E956969E86AE}"/>
              </a:ext>
            </a:extLst>
          </p:cNvPr>
          <p:cNvSpPr txBox="1"/>
          <p:nvPr/>
        </p:nvSpPr>
        <p:spPr>
          <a:xfrm>
            <a:off x="1114293" y="3770122"/>
            <a:ext cx="29523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właściwości zostaną pobrane z mapy. Mapa używana jako źródło danych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musi zawierać klucze zgodne z nazwami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4578C762-0415-3BF6-3761-2E3AF44E3619}"/>
              </a:ext>
            </a:extLst>
          </p:cNvPr>
          <p:cNvSpPr/>
          <p:nvPr/>
        </p:nvSpPr>
        <p:spPr>
          <a:xfrm>
            <a:off x="1115616" y="3717032"/>
            <a:ext cx="2952329" cy="137653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E4882B1D-75C7-85A6-9E75-158FF7C7B351}"/>
              </a:ext>
            </a:extLst>
          </p:cNvPr>
          <p:cNvCxnSpPr>
            <a:cxnSpLocks/>
          </p:cNvCxnSpPr>
          <p:nvPr/>
        </p:nvCxnSpPr>
        <p:spPr>
          <a:xfrm flipV="1">
            <a:off x="4050185" y="3441645"/>
            <a:ext cx="737839" cy="4103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B0EFF0E9-87A9-69AE-3DB4-ECFE5C22EBD1}"/>
              </a:ext>
            </a:extLst>
          </p:cNvPr>
          <p:cNvCxnSpPr>
            <a:cxnSpLocks/>
          </p:cNvCxnSpPr>
          <p:nvPr/>
        </p:nvCxnSpPr>
        <p:spPr>
          <a:xfrm>
            <a:off x="4097123" y="4603476"/>
            <a:ext cx="690901" cy="12166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90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6CB17-E054-D269-FEDB-0730962D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D04FE-0AA5-1BA6-CCEA-CF6EC00EDBB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leniwa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6EC760A-045D-00F9-6540-90A17658248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Inicjalizacja leniwa </a:t>
            </a:r>
            <a:r>
              <a:rPr lang="pl-PL" sz="1600" dirty="0"/>
              <a:t>to technika, która pozwala na </a:t>
            </a:r>
            <a:r>
              <a:rPr lang="pl-PL" sz="1600" b="1" dirty="0"/>
              <a:t>opóźnienie zainicjalizowania </a:t>
            </a:r>
            <a:r>
              <a:rPr lang="pl-PL" sz="1600" dirty="0"/>
              <a:t>właściwości aż do momentu, gdy zostanie ona </a:t>
            </a:r>
            <a:r>
              <a:rPr lang="pl-PL" sz="1600" b="1" dirty="0"/>
              <a:t>po raz pierwszy użyta</a:t>
            </a:r>
            <a:r>
              <a:rPr lang="pl-PL" sz="1600" dirty="0"/>
              <a:t>. Realizuje się to za pomocą </a:t>
            </a:r>
            <a:r>
              <a:rPr lang="pl-PL" sz="1600" dirty="0" err="1"/>
              <a:t>delegatu</a:t>
            </a:r>
            <a:r>
              <a:rPr lang="pl-PL" sz="1600" dirty="0"/>
              <a:t> </a:t>
            </a:r>
            <a:r>
              <a:rPr lang="pl-PL" sz="1600" b="1" dirty="0" err="1"/>
              <a:t>lazy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7F6AB19-6FF9-8FFC-9F1D-278772B83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708920"/>
            <a:ext cx="3885094" cy="306970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4A3879F-44C0-DB77-826C-BB9FDE896381}"/>
              </a:ext>
            </a:extLst>
          </p:cNvPr>
          <p:cNvSpPr txBox="1"/>
          <p:nvPr/>
        </p:nvSpPr>
        <p:spPr>
          <a:xfrm>
            <a:off x="1403647" y="1897265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DD149B45-D8C5-348F-A751-E91B439E4AF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757837" y="2439412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DEBC243-42AF-7DE8-6CE7-C17DD9B1BF41}"/>
              </a:ext>
            </a:extLst>
          </p:cNvPr>
          <p:cNvSpPr/>
          <p:nvPr/>
        </p:nvSpPr>
        <p:spPr>
          <a:xfrm>
            <a:off x="1403648" y="1916832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973DA64-3747-CA76-A59A-E7971EEE21DA}"/>
              </a:ext>
            </a:extLst>
          </p:cNvPr>
          <p:cNvSpPr txBox="1"/>
          <p:nvPr/>
        </p:nvSpPr>
        <p:spPr>
          <a:xfrm>
            <a:off x="4572000" y="169927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Inicjalizacja leniwa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BAF75700-0213-7FB0-6EC7-668AF0D4C2BF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292080" y="2052279"/>
            <a:ext cx="324037" cy="8950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670FB0FA-FCF5-20C4-2D8D-4798F4F8DE4F}"/>
              </a:ext>
            </a:extLst>
          </p:cNvPr>
          <p:cNvSpPr/>
          <p:nvPr/>
        </p:nvSpPr>
        <p:spPr>
          <a:xfrm>
            <a:off x="4572001" y="1743686"/>
            <a:ext cx="2088231" cy="30859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633CBD23-D451-2DC7-5A55-A4A10C6ECD30}"/>
              </a:ext>
            </a:extLst>
          </p:cNvPr>
          <p:cNvSpPr txBox="1"/>
          <p:nvPr/>
        </p:nvSpPr>
        <p:spPr>
          <a:xfrm>
            <a:off x="6350508" y="2796955"/>
            <a:ext cx="2088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wykonywany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pierwszym dostępie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pola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7174344B-0C4D-5107-FD69-BF478C5E19BA}"/>
              </a:ext>
            </a:extLst>
          </p:cNvPr>
          <p:cNvSpPr/>
          <p:nvPr/>
        </p:nvSpPr>
        <p:spPr>
          <a:xfrm>
            <a:off x="6449805" y="2820346"/>
            <a:ext cx="186661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Nawias klamrowy otwierający 28">
            <a:extLst>
              <a:ext uri="{FF2B5EF4-FFF2-40B4-BE49-F238E27FC236}">
                <a16:creationId xmlns:a16="http://schemas.microsoft.com/office/drawing/2014/main" id="{F2C8D747-6A43-30BF-2436-63701383B4A1}"/>
              </a:ext>
            </a:extLst>
          </p:cNvPr>
          <p:cNvSpPr/>
          <p:nvPr/>
        </p:nvSpPr>
        <p:spPr>
          <a:xfrm rot="10800000">
            <a:off x="6140093" y="2983590"/>
            <a:ext cx="309711" cy="7334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1976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DDD7D-5251-0AB4-53C4-957C48B6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A73B8E-DD86-239F-135B-04D699CB9CE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Inicjalizacja leniwa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B4BE4A1-0FAF-7418-5F8A-12F0A05DDCF0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Inicjalizacja leniwa </a:t>
            </a:r>
            <a:r>
              <a:rPr lang="pl-PL" sz="1600" dirty="0"/>
              <a:t>to technika, która pozwala na </a:t>
            </a:r>
            <a:r>
              <a:rPr lang="pl-PL" sz="1600" b="1" dirty="0"/>
              <a:t>opóźnienie zainicjalizowania </a:t>
            </a:r>
            <a:r>
              <a:rPr lang="pl-PL" sz="1600" dirty="0"/>
              <a:t>właściwości aż do momentu, gdy zostanie ona </a:t>
            </a:r>
            <a:r>
              <a:rPr lang="pl-PL" sz="1600" b="1" dirty="0"/>
              <a:t>po raz pierwszy użyta</a:t>
            </a:r>
            <a:r>
              <a:rPr lang="pl-PL" sz="1600" dirty="0"/>
              <a:t>. Realizuje się to za pomocą </a:t>
            </a:r>
            <a:r>
              <a:rPr lang="pl-PL" sz="1600" dirty="0" err="1"/>
              <a:t>delegatu</a:t>
            </a:r>
            <a:r>
              <a:rPr lang="pl-PL" sz="1600" dirty="0"/>
              <a:t> </a:t>
            </a:r>
            <a:r>
              <a:rPr lang="pl-PL" sz="1600" b="1" dirty="0" err="1"/>
              <a:t>lazy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D586A13-DCCD-C804-75B4-95F201541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708920"/>
            <a:ext cx="3885094" cy="306970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7D3131AF-3525-29CC-35F1-A0F9E663328F}"/>
              </a:ext>
            </a:extLst>
          </p:cNvPr>
          <p:cNvSpPr txBox="1"/>
          <p:nvPr/>
        </p:nvSpPr>
        <p:spPr>
          <a:xfrm>
            <a:off x="1403647" y="1897265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FC152571-0FAC-C40D-9E3E-D102CD48BC97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757837" y="2439412"/>
            <a:ext cx="2031282" cy="507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A8565A77-BC29-3EF6-85CA-DFBC26073F35}"/>
              </a:ext>
            </a:extLst>
          </p:cNvPr>
          <p:cNvSpPr/>
          <p:nvPr/>
        </p:nvSpPr>
        <p:spPr>
          <a:xfrm>
            <a:off x="1403648" y="1916832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FF9A7D5-E848-BDD0-D5FB-5E4BB5815E18}"/>
              </a:ext>
            </a:extLst>
          </p:cNvPr>
          <p:cNvSpPr txBox="1"/>
          <p:nvPr/>
        </p:nvSpPr>
        <p:spPr>
          <a:xfrm>
            <a:off x="4572000" y="1699270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Inicjalizacja leniwa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BC5ACC85-6124-8CC0-0557-33848F644A44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292080" y="2052279"/>
            <a:ext cx="324037" cy="8950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01857049-BA14-100A-DB9E-7A811B4F3EE8}"/>
              </a:ext>
            </a:extLst>
          </p:cNvPr>
          <p:cNvSpPr/>
          <p:nvPr/>
        </p:nvSpPr>
        <p:spPr>
          <a:xfrm>
            <a:off x="4572001" y="1743686"/>
            <a:ext cx="2088231" cy="30859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5C6CA3C-EC79-8F27-DC12-2ACDF8DFE24D}"/>
              </a:ext>
            </a:extLst>
          </p:cNvPr>
          <p:cNvSpPr txBox="1"/>
          <p:nvPr/>
        </p:nvSpPr>
        <p:spPr>
          <a:xfrm>
            <a:off x="6350508" y="2796955"/>
            <a:ext cx="2088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Blok kodu wykonywany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pierwszym dostępie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 pola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B22A416E-3AD3-D230-7203-40B8DEE0D6C4}"/>
              </a:ext>
            </a:extLst>
          </p:cNvPr>
          <p:cNvSpPr/>
          <p:nvPr/>
        </p:nvSpPr>
        <p:spPr>
          <a:xfrm>
            <a:off x="6449805" y="2820346"/>
            <a:ext cx="1866612" cy="107721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Nawias klamrowy otwierający 28">
            <a:extLst>
              <a:ext uri="{FF2B5EF4-FFF2-40B4-BE49-F238E27FC236}">
                <a16:creationId xmlns:a16="http://schemas.microsoft.com/office/drawing/2014/main" id="{B8C4D49A-4EE7-3003-7B0A-F058270728EE}"/>
              </a:ext>
            </a:extLst>
          </p:cNvPr>
          <p:cNvSpPr/>
          <p:nvPr/>
        </p:nvSpPr>
        <p:spPr>
          <a:xfrm rot="10800000">
            <a:off x="6140093" y="2983590"/>
            <a:ext cx="309711" cy="7334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80230965-5C14-5411-32C9-D5061958A7F3}"/>
              </a:ext>
            </a:extLst>
          </p:cNvPr>
          <p:cNvSpPr txBox="1"/>
          <p:nvPr/>
        </p:nvSpPr>
        <p:spPr>
          <a:xfrm>
            <a:off x="1057570" y="4239528"/>
            <a:ext cx="1426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Pierwsze wywołanie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275A88A3-B269-436D-84C5-CF50F81BFDC2}"/>
              </a:ext>
            </a:extLst>
          </p:cNvPr>
          <p:cNvSpPr/>
          <p:nvPr/>
        </p:nvSpPr>
        <p:spPr>
          <a:xfrm>
            <a:off x="1057571" y="4259094"/>
            <a:ext cx="1426197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4BAECD58-0B12-4B2A-DB92-E43451F47766}"/>
              </a:ext>
            </a:extLst>
          </p:cNvPr>
          <p:cNvCxnSpPr>
            <a:cxnSpLocks/>
          </p:cNvCxnSpPr>
          <p:nvPr/>
        </p:nvCxnSpPr>
        <p:spPr>
          <a:xfrm flipV="1">
            <a:off x="2483768" y="3427999"/>
            <a:ext cx="432048" cy="9079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F924310A-2354-4633-76AC-E6F366F86115}"/>
              </a:ext>
            </a:extLst>
          </p:cNvPr>
          <p:cNvCxnSpPr>
            <a:cxnSpLocks/>
          </p:cNvCxnSpPr>
          <p:nvPr/>
        </p:nvCxnSpPr>
        <p:spPr>
          <a:xfrm flipV="1">
            <a:off x="2510595" y="4259094"/>
            <a:ext cx="333213" cy="36329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79527640-D5AD-CF5E-D751-3EDADEDC8489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478584" y="4816953"/>
            <a:ext cx="171671" cy="34510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ole tekstowe 37">
            <a:extLst>
              <a:ext uri="{FF2B5EF4-FFF2-40B4-BE49-F238E27FC236}">
                <a16:creationId xmlns:a16="http://schemas.microsoft.com/office/drawing/2014/main" id="{A75596DB-8EAD-0E38-242F-A3CFEC91806B}"/>
              </a:ext>
            </a:extLst>
          </p:cNvPr>
          <p:cNvSpPr txBox="1"/>
          <p:nvPr/>
        </p:nvSpPr>
        <p:spPr>
          <a:xfrm>
            <a:off x="5234033" y="4493530"/>
            <a:ext cx="2417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drugim wywołaniu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bezpośredni dostęp do wartości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9" name="Prostokąt: zaokrąglone rogi 38">
            <a:extLst>
              <a:ext uri="{FF2B5EF4-FFF2-40B4-BE49-F238E27FC236}">
                <a16:creationId xmlns:a16="http://schemas.microsoft.com/office/drawing/2014/main" id="{C892BA43-07C3-EE66-FC8E-8FD66D8F4FC2}"/>
              </a:ext>
            </a:extLst>
          </p:cNvPr>
          <p:cNvSpPr/>
          <p:nvPr/>
        </p:nvSpPr>
        <p:spPr>
          <a:xfrm>
            <a:off x="5234035" y="4513096"/>
            <a:ext cx="2417007" cy="830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2754092F-138E-76C5-4848-25EF9D0F462D}"/>
              </a:ext>
            </a:extLst>
          </p:cNvPr>
          <p:cNvCxnSpPr>
            <a:cxnSpLocks/>
          </p:cNvCxnSpPr>
          <p:nvPr/>
        </p:nvCxnSpPr>
        <p:spPr>
          <a:xfrm flipH="1" flipV="1">
            <a:off x="4403724" y="4493530"/>
            <a:ext cx="830309" cy="20121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715C0CEA-06C9-AF31-A86D-3077535063F6}"/>
              </a:ext>
            </a:extLst>
          </p:cNvPr>
          <p:cNvCxnSpPr>
            <a:cxnSpLocks/>
          </p:cNvCxnSpPr>
          <p:nvPr/>
        </p:nvCxnSpPr>
        <p:spPr>
          <a:xfrm flipH="1">
            <a:off x="4141784" y="5169668"/>
            <a:ext cx="1042915" cy="34756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wias klamrowy otwierający 43">
            <a:extLst>
              <a:ext uri="{FF2B5EF4-FFF2-40B4-BE49-F238E27FC236}">
                <a16:creationId xmlns:a16="http://schemas.microsoft.com/office/drawing/2014/main" id="{1B0EBFAB-4154-E59B-01A8-E2F84FBCBC2B}"/>
              </a:ext>
            </a:extLst>
          </p:cNvPr>
          <p:cNvSpPr/>
          <p:nvPr/>
        </p:nvSpPr>
        <p:spPr>
          <a:xfrm>
            <a:off x="2650255" y="4941224"/>
            <a:ext cx="309711" cy="441661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5588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44FD7-DD4D-99CD-48DC-B06A60D0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4CD010-F9C5-35FB-885E-D4100CA8011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lateinit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vs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lazy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6FCA95-D665-0C20-71A1-B150A61BB90E}"/>
              </a:ext>
            </a:extLst>
          </p:cNvPr>
          <p:cNvSpPr txBox="1"/>
          <p:nvPr/>
        </p:nvSpPr>
        <p:spPr>
          <a:xfrm>
            <a:off x="1033752" y="796886"/>
            <a:ext cx="8110247" cy="607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lateinit</a:t>
            </a:r>
            <a:r>
              <a:rPr lang="pl-PL" sz="1600" dirty="0"/>
              <a:t> i </a:t>
            </a:r>
            <a:r>
              <a:rPr lang="pl-PL" sz="1600" b="1" dirty="0" err="1"/>
              <a:t>lazy</a:t>
            </a:r>
            <a:r>
              <a:rPr lang="pl-PL" sz="1600" dirty="0"/>
              <a:t> to </a:t>
            </a:r>
            <a:r>
              <a:rPr lang="pl-PL" sz="1600" b="1" dirty="0"/>
              <a:t>mechanizmy opóźnionej inicjalizacji </a:t>
            </a:r>
            <a:r>
              <a:rPr lang="pl-PL" sz="1600" dirty="0"/>
              <a:t>w Kotlinie, które różnią się w kontekście ich użycia, typów danych oraz mechaniki działania.</a:t>
            </a:r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lateinit</a:t>
            </a:r>
            <a:r>
              <a:rPr lang="pl-PL" sz="1600" b="1" dirty="0"/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Jest używane do </a:t>
            </a:r>
            <a:r>
              <a:rPr lang="pl-PL" sz="1600" b="1" dirty="0"/>
              <a:t>deklaracji właściwości</a:t>
            </a:r>
            <a:r>
              <a:rPr lang="pl-PL" sz="1600" dirty="0"/>
              <a:t> które nie są inicjalizowane w momencie ich stworzenia.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Nie można ich stosować z typami prymitywnymi</a:t>
            </a:r>
            <a:r>
              <a:rPr lang="pl-PL" sz="1600" dirty="0"/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Zmienne te muszą być zadeklarowane jako </a:t>
            </a:r>
            <a:r>
              <a:rPr lang="pl-PL" sz="1600" b="1" dirty="0" err="1"/>
              <a:t>var</a:t>
            </a:r>
            <a:r>
              <a:rPr lang="pl-PL" sz="1600" dirty="0"/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Brak inicjalizacji przed pierwszym użyciem wywoła wyjątek </a:t>
            </a:r>
            <a:r>
              <a:rPr lang="pl-PL" sz="1600" b="1" dirty="0" err="1"/>
              <a:t>UninitializedPropertyAccessException</a:t>
            </a:r>
            <a:r>
              <a:rPr lang="pl-PL" sz="1600" dirty="0"/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Właściwości nie mogą być deklarowane jako </a:t>
            </a:r>
            <a:r>
              <a:rPr lang="pl-PL" sz="1600" b="1" dirty="0" err="1"/>
              <a:t>nullable</a:t>
            </a:r>
            <a:r>
              <a:rPr lang="pl-PL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/>
              <a:t>lazy</a:t>
            </a:r>
            <a:r>
              <a:rPr lang="pl-PL" sz="1600" dirty="0"/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Służy do inicjalizacji właściwości </a:t>
            </a:r>
            <a:r>
              <a:rPr lang="pl-PL" sz="1600" b="1" dirty="0" err="1"/>
              <a:t>val</a:t>
            </a:r>
            <a:r>
              <a:rPr lang="pl-PL" sz="1600" dirty="0"/>
              <a:t>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Inicjalizacja następuje dopiero w momencie pierwszego dostępu do właściwości.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Działa na </a:t>
            </a:r>
            <a:r>
              <a:rPr lang="pl-PL" sz="1600" b="1" dirty="0"/>
              <a:t>wszystkich typach danych</a:t>
            </a:r>
            <a:r>
              <a:rPr lang="pl-PL" sz="1600" dirty="0"/>
              <a:t>, w tym również na </a:t>
            </a:r>
            <a:r>
              <a:rPr lang="pl-PL" sz="1600" b="1" dirty="0"/>
              <a:t>typach prymitywnych</a:t>
            </a:r>
            <a:r>
              <a:rPr lang="pl-PL" sz="1600" dirty="0"/>
              <a:t>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właściwość może być zarówno </a:t>
            </a:r>
            <a:r>
              <a:rPr lang="pl-PL" sz="1600" b="1" dirty="0" err="1"/>
              <a:t>nullable</a:t>
            </a:r>
            <a:r>
              <a:rPr lang="pl-PL" sz="1600" dirty="0"/>
              <a:t> (</a:t>
            </a:r>
            <a:r>
              <a:rPr lang="pl-PL" sz="1600" b="1" dirty="0"/>
              <a:t>String?</a:t>
            </a:r>
            <a:r>
              <a:rPr lang="pl-PL" sz="1600" dirty="0"/>
              <a:t>), jak i </a:t>
            </a:r>
            <a:r>
              <a:rPr lang="pl-PL" sz="1600" b="1" dirty="0"/>
              <a:t>non-</a:t>
            </a:r>
            <a:r>
              <a:rPr lang="pl-PL" sz="1600" b="1" dirty="0" err="1"/>
              <a:t>nullable</a:t>
            </a:r>
            <a:r>
              <a:rPr lang="pl-PL" sz="1600" dirty="0"/>
              <a:t> (</a:t>
            </a:r>
            <a:r>
              <a:rPr lang="pl-PL" sz="1600" b="1" dirty="0"/>
              <a:t>String</a:t>
            </a:r>
            <a:r>
              <a:rPr lang="pl-PL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0009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06447-10FB-854A-C0C0-9348EDF4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88FDB-60CD-8AC7-0D92-0A9C335901B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Delegat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notNull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9DE2D3B-A3C0-298A-9A45-FB389F164906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Jeżeli zachodzi potrzeba </a:t>
            </a:r>
            <a:r>
              <a:rPr lang="pl-PL" sz="1600" b="1" dirty="0"/>
              <a:t>późnej inicjalizacji </a:t>
            </a:r>
            <a:r>
              <a:rPr lang="pl-PL" sz="1600" dirty="0"/>
              <a:t>zmiennej (</a:t>
            </a:r>
            <a:r>
              <a:rPr lang="pl-PL" sz="1600" b="1" dirty="0" err="1"/>
              <a:t>var</a:t>
            </a:r>
            <a:r>
              <a:rPr lang="pl-PL" sz="1600" dirty="0"/>
              <a:t>) z </a:t>
            </a:r>
            <a:r>
              <a:rPr lang="pl-PL" sz="1600" b="1" dirty="0"/>
              <a:t>typem prymitywnym</a:t>
            </a:r>
            <a:r>
              <a:rPr lang="pl-PL" sz="1600" dirty="0"/>
              <a:t>, możemy wykorzystać delegat </a:t>
            </a:r>
            <a:r>
              <a:rPr lang="pl-PL" sz="1600" b="1" dirty="0" err="1"/>
              <a:t>notnull</a:t>
            </a:r>
            <a:r>
              <a:rPr lang="pl-PL" sz="1600" b="1" dirty="0"/>
              <a:t>. </a:t>
            </a:r>
            <a:r>
              <a:rPr lang="pl-PL" sz="1600" dirty="0"/>
              <a:t>Zapobiega przypisaniu wartości </a:t>
            </a:r>
            <a:r>
              <a:rPr lang="pl-PL" sz="1600" b="1" dirty="0" err="1"/>
              <a:t>null</a:t>
            </a:r>
            <a:r>
              <a:rPr lang="pl-PL" sz="1600" dirty="0"/>
              <a:t> do właściwości.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9A41714-0B20-8F42-2773-A166CB074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068960"/>
            <a:ext cx="3879855" cy="2635771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EFD1D64-09F5-14BA-607B-62F0D2BB3D05}"/>
              </a:ext>
            </a:extLst>
          </p:cNvPr>
          <p:cNvSpPr txBox="1"/>
          <p:nvPr/>
        </p:nvSpPr>
        <p:spPr>
          <a:xfrm>
            <a:off x="1412998" y="2485897"/>
            <a:ext cx="2708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Delegowanie właściwości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 innego obiektu 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7EE655C3-59FA-9361-A8D0-8A93179F1518}"/>
              </a:ext>
            </a:extLst>
          </p:cNvPr>
          <p:cNvCxnSpPr>
            <a:cxnSpLocks/>
          </p:cNvCxnSpPr>
          <p:nvPr/>
        </p:nvCxnSpPr>
        <p:spPr>
          <a:xfrm>
            <a:off x="4121376" y="2749333"/>
            <a:ext cx="666648" cy="33919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ECE7A4AC-EE49-AE4B-5EC1-B14CAAC856A8}"/>
              </a:ext>
            </a:extLst>
          </p:cNvPr>
          <p:cNvSpPr/>
          <p:nvPr/>
        </p:nvSpPr>
        <p:spPr>
          <a:xfrm>
            <a:off x="1414570" y="2503752"/>
            <a:ext cx="2708377" cy="52258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0FBA43E-D1CA-5C14-4ED8-5F3B93589469}"/>
              </a:ext>
            </a:extLst>
          </p:cNvPr>
          <p:cNvSpPr txBox="1"/>
          <p:nvPr/>
        </p:nvSpPr>
        <p:spPr>
          <a:xfrm>
            <a:off x="5056752" y="1801151"/>
            <a:ext cx="3125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Wymaga,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przed pierwszym użyciem przypisać do zmiennej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faktyczną wartość. 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3194EE3D-EAC6-DA9E-BF3A-1A9729D0B4FE}"/>
              </a:ext>
            </a:extLst>
          </p:cNvPr>
          <p:cNvSpPr/>
          <p:nvPr/>
        </p:nvSpPr>
        <p:spPr>
          <a:xfrm>
            <a:off x="5098263" y="1837690"/>
            <a:ext cx="3125036" cy="79445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33D5313E-85DC-B505-8433-6F6B01875DC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362850" y="2632148"/>
            <a:ext cx="297931" cy="4892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19204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84067</TotalTime>
  <Pages>0</Pages>
  <Words>1991</Words>
  <Characters>0</Characters>
  <Application>Microsoft Office PowerPoint</Application>
  <PresentationFormat>Pokaz na ekranie (4:3)</PresentationFormat>
  <Lines>0</Lines>
  <Paragraphs>250</Paragraphs>
  <Slides>35</Slides>
  <Notes>35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1266</cp:revision>
  <dcterms:modified xsi:type="dcterms:W3CDTF">2025-01-10T16:40:52Z</dcterms:modified>
  <cp:category/>
</cp:coreProperties>
</file>