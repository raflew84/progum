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66"/>
  </p:notesMasterIdLst>
  <p:handoutMasterIdLst>
    <p:handoutMasterId r:id="rId67"/>
  </p:handoutMasterIdLst>
  <p:sldIdLst>
    <p:sldId id="346" r:id="rId2"/>
    <p:sldId id="516" r:id="rId3"/>
    <p:sldId id="517" r:id="rId4"/>
    <p:sldId id="518" r:id="rId5"/>
    <p:sldId id="519" r:id="rId6"/>
    <p:sldId id="520" r:id="rId7"/>
    <p:sldId id="521" r:id="rId8"/>
    <p:sldId id="522" r:id="rId9"/>
    <p:sldId id="523" r:id="rId10"/>
    <p:sldId id="524" r:id="rId11"/>
    <p:sldId id="549" r:id="rId12"/>
    <p:sldId id="551" r:id="rId13"/>
    <p:sldId id="552" r:id="rId14"/>
    <p:sldId id="553" r:id="rId15"/>
    <p:sldId id="525" r:id="rId16"/>
    <p:sldId id="555" r:id="rId17"/>
    <p:sldId id="554" r:id="rId18"/>
    <p:sldId id="556" r:id="rId19"/>
    <p:sldId id="526" r:id="rId20"/>
    <p:sldId id="564" r:id="rId21"/>
    <p:sldId id="565" r:id="rId22"/>
    <p:sldId id="527" r:id="rId23"/>
    <p:sldId id="558" r:id="rId24"/>
    <p:sldId id="559" r:id="rId25"/>
    <p:sldId id="560" r:id="rId26"/>
    <p:sldId id="562" r:id="rId27"/>
    <p:sldId id="528" r:id="rId28"/>
    <p:sldId id="563" r:id="rId29"/>
    <p:sldId id="529" r:id="rId30"/>
    <p:sldId id="566" r:id="rId31"/>
    <p:sldId id="567" r:id="rId32"/>
    <p:sldId id="568" r:id="rId33"/>
    <p:sldId id="569" r:id="rId34"/>
    <p:sldId id="570" r:id="rId35"/>
    <p:sldId id="530" r:id="rId36"/>
    <p:sldId id="531" r:id="rId37"/>
    <p:sldId id="571" r:id="rId38"/>
    <p:sldId id="572" r:id="rId39"/>
    <p:sldId id="573" r:id="rId40"/>
    <p:sldId id="574" r:id="rId41"/>
    <p:sldId id="532" r:id="rId42"/>
    <p:sldId id="533" r:id="rId43"/>
    <p:sldId id="575" r:id="rId44"/>
    <p:sldId id="576" r:id="rId45"/>
    <p:sldId id="577" r:id="rId46"/>
    <p:sldId id="578" r:id="rId47"/>
    <p:sldId id="534" r:id="rId48"/>
    <p:sldId id="579" r:id="rId49"/>
    <p:sldId id="580" r:id="rId50"/>
    <p:sldId id="581" r:id="rId51"/>
    <p:sldId id="535" r:id="rId52"/>
    <p:sldId id="536" r:id="rId53"/>
    <p:sldId id="537" r:id="rId54"/>
    <p:sldId id="538" r:id="rId55"/>
    <p:sldId id="539" r:id="rId56"/>
    <p:sldId id="540" r:id="rId57"/>
    <p:sldId id="541" r:id="rId58"/>
    <p:sldId id="542" r:id="rId59"/>
    <p:sldId id="543" r:id="rId60"/>
    <p:sldId id="544" r:id="rId61"/>
    <p:sldId id="545" r:id="rId62"/>
    <p:sldId id="546" r:id="rId63"/>
    <p:sldId id="547" r:id="rId64"/>
    <p:sldId id="548" r:id="rId6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FFFF"/>
    <a:srgbClr val="FF00FF"/>
    <a:srgbClr val="006600"/>
    <a:srgbClr val="BCE29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892" autoAdjust="0"/>
  </p:normalViewPr>
  <p:slideViewPr>
    <p:cSldViewPr>
      <p:cViewPr varScale="1">
        <p:scale>
          <a:sx n="66" d="100"/>
          <a:sy n="66" d="100"/>
        </p:scale>
        <p:origin x="123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E63E-51AE-8E56-92D3-0FA3F515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26546-AE07-ABB9-9F00-908A5DA8A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71C31-F8C3-03FB-590D-8838B74AA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B1B93-038A-88A3-D212-D56A804A9C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1928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FC15-A038-FFEC-C858-68480A07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F77AB-BD1D-37C3-FFC6-CD018A2F0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C89D2-98C4-25E3-982D-971E9DE4C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E0617-BE89-D35D-A493-3350F6903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3612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EE18B-B41E-1B55-8019-769983B4D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35E88-3164-A443-DE7A-DDF82C0D2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00C11-E302-F5D0-4686-8B802B34D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4580F-338C-E07C-E607-145F05187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7338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16C3-C066-F1E4-4E69-D7AC86CF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BEE4B-9C2A-BB52-1D3A-ACFFE88A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29381-5BED-551C-3AEF-1479D7631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87DE5-BA95-FF12-7955-EEF7D06064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6571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E1398-37C3-FB0F-4F73-1AFC7F10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27390D-BA61-F9AA-D7DF-98F82976D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77913-B682-3BF9-7E58-69C1D96B3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FD5AC-680D-93E9-0F88-5D5F505694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7191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0436-EC55-BA89-D521-51FCAEB6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4B7BD-AB38-8EB8-83B8-FC951609C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0CEEC-3210-B2CE-B706-BBA51C55D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ECBE3-A4B3-9785-12E0-D16782262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860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B1A84-7E4B-8000-E345-C2C57DFF5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6ABA3-C199-2C41-F522-33A08F10C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0CF78-B0FC-89CC-22AE-F815C62AD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EAB6C-A6F6-63CD-809D-63021F8F91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1294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568C5-890F-59C7-7A54-FF7D09975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E09AB-E2C3-4BF1-AE4A-585955488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E1F20-1F6A-C7F8-F9A3-A2E9F5448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4695-13E7-E271-4245-455BEF623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2851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A331A-9B07-7DA6-C9FC-03600FF4C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04200-574D-7471-ABFE-C611733E7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6E7D7-4DC3-0DD3-311B-631F02C83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F2A36-BAC1-6B32-64BF-69CBDC44E3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3923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0256-6C5C-1AFE-8570-7A6E091DA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7ECAF-5BB9-B469-9CCC-85CE434A5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563E9-4C46-D257-CBA5-846F0B905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0ED03-1779-B530-1A19-CE8CDAB3D5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1340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A205-6094-F36D-2ACE-727ED273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AB5A1-0272-560D-C8F0-610BDA404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A806F-663F-0689-B901-9AF2CDF7B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88EFC-B10B-A3B7-EDFF-719D1471E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52589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E121-6E71-F019-2482-D897E8452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0B6F5-F4B7-1D72-7243-858033BC2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4A531-4D58-7C64-AD4B-88A08CDC4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9BC97-5CE2-F491-5596-DA7860DE88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05366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DEA4B-B66B-CCEE-3DE1-545FADE8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1C485-3BAE-6454-616F-5B49A3221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D7D76-F5AF-48D1-84CD-EB5DEAB21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DDE95-5C0E-F4E9-5227-03C014D2A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9094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8A63-54DD-082F-1593-DB905E55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3831A-2FB2-7D2A-C9A7-C8342C047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A2EAB-5F17-9A7B-5A6E-A52C32899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B83B-6147-B095-17D2-2EB2E0E0E9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2963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A167E-B658-53C9-3930-DCC87527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9A521-6034-BA56-B08A-0B692347E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0D973-59A7-4B35-8360-95A9CE811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569E4-C107-12E8-532E-282E52F6D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2657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E61E7-2138-2C7A-36F6-9CFC321B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EE554-02B0-33C9-6279-7990C0190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F89A0-5E2C-B77B-FF68-750CC3257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B3792-BE04-953C-FAA6-02AE3BF42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5557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207C7-E7A2-65EA-8519-D9CACB16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BE153-8E45-4635-BB24-9211662D8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C4AC1-B097-10A9-79B9-7FB4AFD24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FB9B9-2906-68FB-5BDD-8AFF9DB729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2844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7616-F373-8765-0C06-EC1C889D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61543-39A2-DB33-F68B-53C72CD5E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B8064A-CFEE-72FC-D6C9-D06D819B9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DEDD9-5D1D-ECD8-2B28-4644CBA5B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2734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3CC80-1320-BA92-DF32-4688893D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73DE5-910A-EBCA-F606-679E3F9DA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5D8F4-71C7-0B6E-42B6-11C5B5870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0AEFE-6908-5BB7-3C4C-FCC2EBD7B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36503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1494F-4F4F-4F8E-BAF5-85864B40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E3A5C-31EC-867C-27EE-847D86A9A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49254-D9EE-92A8-BE4E-75E222D93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1DA81-AB78-B959-F18E-751C45BAA0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07182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E6586-8920-1C29-FBB4-362E6BD9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F8FBB-80AD-AD00-1435-C51F0F1E9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92DD0-DAEF-DA1F-086A-C2A980C24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587E6-19B1-AA7C-C17B-A6AA3279E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50055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B6128-3DD8-A028-9D23-1059A02AD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B033C-B0CB-D416-B252-2C0E9DF72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A32FD-1927-17FB-A257-E242EB15A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B9774-77FD-0154-D922-035FBD096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84804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FACC3-DB04-EEDC-7795-1DEEE731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6D8A5-7821-3A62-57E0-AE3537BDA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4D6B3-7364-5E20-FDB9-0E2F0E878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A5F75-9B04-5C53-3BDB-577690E11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7412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2EECA-E16E-F991-A041-4FF53FA4C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04997-FAF4-2335-E036-2F57F402F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BE307-4E46-44C7-F40A-6713C7CDD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FC639-56FF-E73A-8A85-F118DD3A33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1473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A86E-E5BF-951E-6932-0D1BCED8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44453-1761-F9FD-B3F7-FD5259598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2865B-A1CA-40D7-AA49-D5A0FA761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3A4BA-88E5-8101-F36D-7FD4981B5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81854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64256-44DD-5FD5-B058-AE85B97EB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038B6-A8D8-FB78-E086-F7185E4EC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E812C-B158-2D14-BB78-080796D8C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0E4E4-01B5-74F2-DD38-487062770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438823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AB521-58D4-371F-C105-AD2AC889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244D0-DD80-07C2-2CBF-CA868CCB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35F1F-4BE0-5483-E9DD-16EF034E3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3C0AE-DB99-56D2-CDB6-44591BDFC2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4484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405B-A7BE-147E-341C-AFBF62C5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0D2AA-13D3-36AF-D738-F6825080A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A128A-F7E0-450E-6301-7EEF7B010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88B87-0841-0600-469A-96343D130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1091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C10D-4B30-DB6F-8CCD-74AF7C82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4D2E9-615B-C27A-DC6D-1AD8302A8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1AE73-5E5D-B6CA-B6E0-0EEC413BE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361CB-8640-E920-C1FB-B5FAAB260C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79087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0C54E-0B80-2B7A-0498-F5263BAA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129B9-37FA-608B-B8F1-861FA259C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89D5D-CB89-2B43-AADB-36261FA81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61B55-44A9-C006-9038-E68857FF0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77743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62AA-4CC1-F0DF-1B9E-9C2984C9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6BB34-6976-FA29-6D05-76FD9D662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DA091-B4CB-0ED6-8A18-84C307E26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4E7D9-BCF6-6CA6-1DDC-C9269E923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04213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3FAAD-05E3-2AD2-3796-DBAF6046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F82DA-7E23-02EF-C1F7-16E1B5701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509C1-C580-7C29-031A-E6B9C0BD5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DBFAF-FBD8-195B-AF4C-2FF68ECF0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26635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5E02-C4A7-C661-5F56-1B2C9CCEA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FD759-CDE8-095A-1174-04271F1FA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1C5CB-7EF9-E170-2458-12717D23D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AE889-9911-570E-AB15-433A89B8C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14614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3E3D8-3591-9CDD-881D-E3700272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0189B-00ED-63D5-A79B-7BBE81C4A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5A19A-2C6A-8400-CFE0-EE819903D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6DCA0-1C5E-5ABF-134F-7623F0564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63660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40E0-8CAD-C741-AFF2-4BEC22377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6984B-21F9-5306-8613-8F16A9A2B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0280C-547E-F6DF-A51F-CD67C754E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5A543-BEA0-8BAB-B654-33760C0D8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23287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F0BDE-654C-C412-D302-7ACBEB8D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4A7B0-0BAF-C358-0D2B-E22AC4114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1707F-79DA-170B-78E5-F0FEA99B7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8F607-A10E-DF06-9D0F-3893C43D0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17205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3953F-18BD-4E5E-9DCC-4B913D61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7395F-7C97-7A5A-33C5-7376C8879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D4208-BB80-B6B6-B88A-8217FF558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482E9-091F-5117-BF12-0CB45FECB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2971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2A4ED-8BC1-549F-1307-BE23C5EBA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35587-151D-0796-1481-C3BD894F4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E8D4D-37BB-36A0-A816-25978BD9F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31D7F-805F-75C9-B1DC-5D0DF4C0D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02845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6FB3-92F8-14BA-C271-C69F15122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857E7-09FC-96A3-DC01-8F212D384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C9758-2864-9250-07F3-FA373B0F6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C7C65-EDF4-FB11-1536-C65F4A3C94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97477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DB4E-0C75-8798-1645-B28BF0ABF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B39C2-7480-6BB9-929F-DF1CBFA63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B2693-D3FC-BA95-503D-829E98AC2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6DBEF-E2CB-927C-3D85-934D2F014F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09326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0425-6E19-1108-5D4C-1C1312030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41B7F-64F9-2B01-4C3F-53731CDFF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15E75-6B4B-521D-9528-919BE707C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C1950-B758-E205-36E6-7E9A79202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48246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1E1AC-02A1-835F-A43D-71DC3CE9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8E452-2F00-1708-99A0-DD90EA3E4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B3A34-2D6C-1A38-63D9-09B86690B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77184-2AC1-8A49-4143-7A368DAF63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38277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0AE5-4DE6-A83D-B1D6-79D29B7E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23B63-CE12-3CF5-B50A-24D431FE4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D8D01-92DD-6504-28DF-D520AC3ED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1F51A-A283-6D55-082A-027E23205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76215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466C9-6432-FACF-4E12-BF94B445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903FC-B530-8787-ACE9-D52354B6D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492BE-592E-FC07-218C-0D606AAE1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1912-BF09-4EB9-A92C-D71AD93DC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052204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005B-E3D8-0E72-A91F-8691B424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1CDEE-4342-D75F-CEDC-C1787E416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5FB12-89CF-9723-DF78-3BA3AC2BF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36619-3C4E-CEAB-E65F-FCD8F73D6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345542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256C5-0A20-1F9F-02D3-6D6ECBF61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D577D-A4D9-F6BC-446C-1FAF20AD2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C2C0E-4116-8AD4-0354-CC409B0A1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FA147-3140-F224-7DC1-095DA91953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17249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1EB1-C642-2B16-DC38-8C315321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C2D0F-09B0-B5DB-CCBA-2489C394C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34916-351D-9529-ACE9-90879032B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9AB16-11D2-572F-8058-F6760A043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07995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0FB1-E88A-BDA3-9007-E032749C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62EDF-F5A4-20AC-B52B-FAD03F8AB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3BC33-2B0E-2734-76BE-E39C613EC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A6B3A-5B97-0EF9-05C0-E5A2EEC7E8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107703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490BA-9CF6-3F34-A056-5B0654B6C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88139-ADCC-F72D-F8C2-609E050F9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5913C-FB4A-291C-D3DE-A4EAB4768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549E0-B4AB-7801-5032-C3B2D1160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00386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73D7E-79AA-2845-260B-3CBE5D18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D0655-B98F-EB93-44B0-99F6F99DA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AB8A8-00B4-DA76-6984-27B7D39D7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5133B-0CDE-B5F0-2FFF-8AE8DC6B5B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34510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A2658-9D79-4EB3-D1F0-7652EC6F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65E3C-1495-FCE4-CDEA-788BF89A4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CDEE2-E489-8457-50D4-344C992F1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C02A8-C4A0-37F2-CE50-DBE8406A79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69079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13DA-2B95-D34A-753C-089F7F12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99506-C488-5A70-C8D2-4852554E8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9B296-1FB1-9EB0-B2B5-1E58B08E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7E5D5-D13C-0DC3-6EC8-9C76916186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84106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B6B1-6B4D-909D-0ED7-FBC4F50F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4FB54-CAA2-BD1F-2638-69DCE6D06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5FF33-38ED-32A2-02BE-29F336600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F73BF-DED2-D578-6338-61A8CC192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44779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C7093-F1BD-0A57-1F5A-0F67843D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E9FA1-FAB3-CCBD-E96B-1DC9C346E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B13BD-775D-EF07-AC18-096806852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8D62-F442-EA06-62E7-267222598B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869611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5BC72-3589-3595-AE39-86F08D45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C5C13-7244-9580-6328-BD156569C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87E15-5CD5-7012-D6C5-D6A1B3B89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F8261-28D3-2F62-4F56-C1361952A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060359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6049F-D82F-AAD2-E980-1EA4005E4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E52DA-BDA8-2F2D-2BDE-7ACE84FC4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582D2-BF41-56A7-504E-68D64DE2D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33A78-6DCA-08D7-F18A-DEB7B5D1E4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090064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CA9F5-CE6F-7184-3375-0C0176561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E8696-71F2-2552-ECA1-533D00F06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F23C0-425F-B371-E6C4-22573CC7B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EBBDC-6A17-0356-8CF8-5ABAF44948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080126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A244-431B-F25F-76BD-EACAE6BB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A1E3A-2773-3AB1-4803-97BF6FA63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BB89D-F6BF-D408-4DF6-D2485B15A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1921E-0C95-557A-2762-1AD34E88E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6239503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FA9AC-727C-743E-C4D0-BD7EC19F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04C9C-1EDD-A50D-C198-61150B9D1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E4B7D-7154-4CB2-5FF4-5E4F8A7FA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B86DE-6040-0CE0-ECD9-786F35F9B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082851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4510-9F71-231A-6758-4135D491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1975E-AFA3-8709-00E7-B761D94AE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D60C3-2D63-6D74-07BD-F77FAC1A1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0C5F1-735A-665D-D17F-311D40C06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490243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91E12-5EB1-42DB-8DC0-7FD21AA9C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72AEF-9628-F1DA-3712-080073662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E5231-402D-D29B-3DE0-B4F3A2ACA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9D1C0-913A-701C-14A7-859504F32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666865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4379D-1345-414D-187F-FEE80F22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7940B-C6F6-67C5-D767-1CF73631D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62DAB-BD70-B153-5D60-68A46DE8B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77C99-1442-063E-5A25-FB405E3D0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94442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AA781-5F6B-E9A3-1360-E36BEF670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B4061-93D7-BD99-B9AE-8EC9C5AFA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8BE23-6890-A61D-1E3C-621518607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2F4C3-C1BF-5D0D-6A0C-8E1F444EEA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7975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04.03.2025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251520" y="3789040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1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16266" y="4767535"/>
            <a:ext cx="5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Podstawy Języka Kotlin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Typy Danych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Pętle, Wyrażenia, Instrukcje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2D6DF-51DB-FB6B-00B6-232DF6D28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7D6279-B549-C348-CAC1-FEF5CD0BA52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danych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DA26863-2C26-0E89-9437-59CC73BFE439}"/>
              </a:ext>
            </a:extLst>
          </p:cNvPr>
          <p:cNvSpPr txBox="1"/>
          <p:nvPr/>
        </p:nvSpPr>
        <p:spPr>
          <a:xfrm>
            <a:off x="1043608" y="836712"/>
            <a:ext cx="8100392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dirty="0" err="1"/>
              <a:t>Any</a:t>
            </a:r>
            <a:r>
              <a:rPr lang="pl-PL" sz="1800" dirty="0"/>
              <a:t> - pełni rolę </a:t>
            </a:r>
            <a:r>
              <a:rPr lang="pl-PL" sz="1800" i="1" dirty="0"/>
              <a:t>korzenia</a:t>
            </a:r>
            <a:r>
              <a:rPr lang="pl-PL" sz="1800" dirty="0"/>
              <a:t> hierarchii klas w tym języku. Jest to nadrzędna klasa wszystkich typów, które nie dopuszczają wartości </a:t>
            </a:r>
            <a:r>
              <a:rPr lang="pl-PL" sz="1800" b="1" dirty="0" err="1"/>
              <a:t>null</a:t>
            </a:r>
            <a:r>
              <a:rPr lang="pl-PL" sz="1800" dirty="0"/>
              <a:t>. Każda klasa w Kotlinie automatycznie dziedziczy po klasie </a:t>
            </a:r>
            <a:r>
              <a:rPr lang="pl-PL" sz="1800" b="1" dirty="0" err="1"/>
              <a:t>Any</a:t>
            </a:r>
            <a:r>
              <a:rPr lang="pl-PL" sz="1800" dirty="0"/>
              <a:t>. Umożliwia to uniwersalne podejście do operacji na obiektach, niezależnie od ich konkretnych typów. 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F1C8D08D-75BC-022A-DF33-A65B62BD4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2628213"/>
            <a:ext cx="7095070" cy="404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2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151C3-301E-28E6-18F5-0BC6C437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277741-7A64-9E13-EAF7-6DEBD57AF86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danych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6A20BAD-9804-02E1-12E5-5EADA11272ED}"/>
              </a:ext>
            </a:extLst>
          </p:cNvPr>
          <p:cNvSpPr txBox="1"/>
          <p:nvPr/>
        </p:nvSpPr>
        <p:spPr>
          <a:xfrm>
            <a:off x="1043608" y="836712"/>
            <a:ext cx="8100392" cy="502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dirty="0" err="1"/>
              <a:t>Nothing</a:t>
            </a:r>
            <a:r>
              <a:rPr lang="pl-PL" sz="1800" dirty="0"/>
              <a:t> - jest szczególnym typem w Kotlinie, który wskazuje na brak możliwości zwrócenia wartości. 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/>
              <a:t>Wszelkie wywołania funkcji zwracających </a:t>
            </a:r>
            <a:r>
              <a:rPr lang="pl-PL" sz="1800" b="1" dirty="0" err="1"/>
              <a:t>Nothing</a:t>
            </a:r>
            <a:r>
              <a:rPr lang="pl-PL" sz="1800" dirty="0"/>
              <a:t> nie prowadzą do kontynuacji kodu. 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/>
              <a:t>W hierarchii typów, jest podtypem każdego innego typu. Dzięki temu może być używany w sytuacjach, gdzie typ musi być określony, ale wiemy, że wartość nigdy nie będzie istniała. 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/>
              <a:t>Nie ma żadnych instancji. 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/>
              <a:t>Nie można stworzyć obiektu ani zmiennej typu </a:t>
            </a:r>
            <a:r>
              <a:rPr lang="pl-PL" sz="1800" b="1" dirty="0" err="1"/>
              <a:t>Nothing</a:t>
            </a:r>
            <a:r>
              <a:rPr lang="pl-PL" sz="1800" dirty="0"/>
              <a:t>.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dirty="0" err="1"/>
              <a:t>Nothing</a:t>
            </a:r>
            <a:r>
              <a:rPr lang="pl-PL" sz="1800" dirty="0"/>
              <a:t> to narzędzie, które pomaga wyrażać w kodzie koncepcję </a:t>
            </a:r>
            <a:r>
              <a:rPr lang="pl-PL" sz="1800" i="1" dirty="0"/>
              <a:t>braku wartości</a:t>
            </a:r>
            <a:r>
              <a:rPr lang="pl-PL" sz="1800" dirty="0"/>
              <a:t> w sytuacjach, gdzie program nie może kontynuować swojego działania w sposób standardowy.</a:t>
            </a:r>
          </a:p>
        </p:txBody>
      </p:sp>
    </p:spTree>
    <p:extLst>
      <p:ext uri="{BB962C8B-B14F-4D97-AF65-F5344CB8AC3E}">
        <p14:creationId xmlns:p14="http://schemas.microsoft.com/office/powerpoint/2010/main" val="368976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49842D-FC5D-A850-D36A-89C5FD167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81C2B3-158E-6184-1F99-A27AD73FB0C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danych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9F390D0-184B-C7E3-18D4-029084504AED}"/>
              </a:ext>
            </a:extLst>
          </p:cNvPr>
          <p:cNvSpPr txBox="1"/>
          <p:nvPr/>
        </p:nvSpPr>
        <p:spPr>
          <a:xfrm>
            <a:off x="1043608" y="836712"/>
            <a:ext cx="8100392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dirty="0" err="1"/>
              <a:t>Nothing</a:t>
            </a:r>
            <a:r>
              <a:rPr lang="pl-PL" sz="1800" dirty="0"/>
              <a:t> - jest szczególnym typem w Kotlinie, który wskazuje na brak możliwości zwrócenia wartości.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DBFD438-CD05-0B6F-EA53-DF88AD19E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338" y="1852762"/>
            <a:ext cx="7308924" cy="157623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859FF7B3-6B08-1C3B-2EF7-4FAB3E91B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38" y="3933056"/>
            <a:ext cx="8051923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69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FA4DA-1EF0-0B10-B55C-69951235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B5A8F8-A8AD-F175-263A-138DE97B676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danych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670DF6C-B8E4-7235-1093-9BC522A5AC63}"/>
              </a:ext>
            </a:extLst>
          </p:cNvPr>
          <p:cNvSpPr txBox="1"/>
          <p:nvPr/>
        </p:nvSpPr>
        <p:spPr>
          <a:xfrm>
            <a:off x="1043608" y="836712"/>
            <a:ext cx="8100392" cy="585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dirty="0"/>
              <a:t>Unit</a:t>
            </a:r>
            <a:r>
              <a:rPr lang="pl-PL" sz="1800" dirty="0"/>
              <a:t> - jest szczególnym typem w Kotlinie, który wskazuje na brak możliwości zwrócenia wartości. 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/>
              <a:t>Głównym celem wprowadzenia typu </a:t>
            </a:r>
            <a:r>
              <a:rPr lang="pl-PL" sz="1800" b="1" dirty="0"/>
              <a:t>Unit</a:t>
            </a:r>
            <a:r>
              <a:rPr lang="pl-PL" sz="1800" dirty="0"/>
              <a:t> było zapewnienie spójnego podejścia do funkcji w paradygmacie programowania obiektowego i funkcyjnego. W Kotlinie wszystko jest bardziej zunifikowane, a nawet funkcje </a:t>
            </a:r>
            <a:r>
              <a:rPr lang="pl-PL" sz="1800" i="1" dirty="0"/>
              <a:t>nic niezwracające</a:t>
            </a:r>
            <a:r>
              <a:rPr lang="pl-PL" sz="1800" dirty="0"/>
              <a:t> są traktowane jako zwracające konkretny obiekt, czyli </a:t>
            </a:r>
            <a:r>
              <a:rPr lang="pl-PL" sz="1800" b="1" dirty="0"/>
              <a:t>Unit</a:t>
            </a:r>
            <a:r>
              <a:rPr lang="pl-PL" sz="18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pl-PL" sz="1800" dirty="0"/>
              <a:t>Cechy: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/>
              <a:t>singleton - posiada tylko jedną instancję. Funkcje nieposiadające jawnie określonego typu zwracanego, zwracają instancję typu </a:t>
            </a:r>
            <a:r>
              <a:rPr lang="pl-PL" sz="1800" b="1" dirty="0"/>
              <a:t>Unit</a:t>
            </a:r>
            <a:r>
              <a:rPr lang="pl-PL" sz="1800" dirty="0"/>
              <a:t>.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/>
              <a:t>niezmienność stanu - Każdorazowe wywołanie funkcji zwracającej </a:t>
            </a:r>
            <a:r>
              <a:rPr lang="pl-PL" sz="1800" b="1" dirty="0"/>
              <a:t>Unit</a:t>
            </a:r>
            <a:r>
              <a:rPr lang="pl-PL" sz="1800" dirty="0"/>
              <a:t> zawsze zwraca tą samą instancję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/>
              <a:t>domyślny typ zwracany - Jeśli funkcja nie deklaruje jawnie typu zwracanego, domyślnie zwracany jest typ </a:t>
            </a:r>
            <a:r>
              <a:rPr lang="pl-PL" sz="1800" b="1" dirty="0"/>
              <a:t>Unit</a:t>
            </a:r>
            <a:endParaRPr lang="pl-PL" sz="1800" dirty="0"/>
          </a:p>
        </p:txBody>
      </p:sp>
    </p:spTree>
    <p:extLst>
      <p:ext uri="{BB962C8B-B14F-4D97-AF65-F5344CB8AC3E}">
        <p14:creationId xmlns:p14="http://schemas.microsoft.com/office/powerpoint/2010/main" val="3127182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13C53-C243-4F4F-836F-ABC4C87C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C07ACC-E4F5-3EB4-8452-982C0C0908D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danych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B01A3CF-7324-3C86-2CFB-5D6E7BF7DFC7}"/>
              </a:ext>
            </a:extLst>
          </p:cNvPr>
          <p:cNvSpPr txBox="1"/>
          <p:nvPr/>
        </p:nvSpPr>
        <p:spPr>
          <a:xfrm>
            <a:off x="1043608" y="836712"/>
            <a:ext cx="8100392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dirty="0"/>
              <a:t>Unit</a:t>
            </a:r>
            <a:r>
              <a:rPr lang="pl-PL" sz="1800" dirty="0"/>
              <a:t> - jest szczególnym typem w Kotlinie, który wskazuje na brak możliwości zwrócenia wartości.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92515EA-4B0C-411B-0A01-FA718126E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1747870"/>
            <a:ext cx="6351662" cy="492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89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4F6EF-F187-8EB4-951A-8805D3F4D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A94DED-51E8-7424-3CAD-16A7C75544F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F6F256D-7584-6C78-B558-951D9BD26F86}"/>
              </a:ext>
            </a:extLst>
          </p:cNvPr>
          <p:cNvSpPr txBox="1"/>
          <p:nvPr/>
        </p:nvSpPr>
        <p:spPr>
          <a:xfrm>
            <a:off x="1043608" y="908720"/>
            <a:ext cx="7992888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800" dirty="0"/>
              <a:t> Niektóre różnice między </a:t>
            </a:r>
            <a:r>
              <a:rPr lang="pl-PL" sz="1800" b="1" dirty="0" err="1"/>
              <a:t>Nothing</a:t>
            </a:r>
            <a:r>
              <a:rPr lang="pl-PL" sz="1800" dirty="0"/>
              <a:t> i </a:t>
            </a:r>
            <a:r>
              <a:rPr lang="pl-PL" sz="1800" b="1" dirty="0"/>
              <a:t>Unit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l-PL" sz="1800" b="1" dirty="0"/>
              <a:t>Unit</a:t>
            </a:r>
            <a:r>
              <a:rPr lang="pl-PL" sz="1800" dirty="0"/>
              <a:t> oznacza </a:t>
            </a:r>
            <a:r>
              <a:rPr lang="pl-PL" sz="1800" b="1" dirty="0"/>
              <a:t>brak użytecznej wartości zwracanej</a:t>
            </a:r>
            <a:r>
              <a:rPr lang="pl-PL" sz="1800" dirty="0"/>
              <a:t>..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l-PL" sz="1800" b="1" dirty="0" err="1"/>
              <a:t>Nothing</a:t>
            </a:r>
            <a:r>
              <a:rPr lang="pl-PL" sz="1800" dirty="0"/>
              <a:t> oznacza </a:t>
            </a:r>
            <a:r>
              <a:rPr lang="pl-PL" sz="1800" b="1" dirty="0"/>
              <a:t>brak możliwości zwrócenia wartości</a:t>
            </a:r>
            <a:r>
              <a:rPr lang="pl-PL" sz="1800" dirty="0"/>
              <a:t>..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algn="just">
              <a:lnSpc>
                <a:spcPct val="150000"/>
              </a:lnSpc>
            </a:pPr>
            <a:r>
              <a:rPr lang="pl-PL" sz="1800" dirty="0"/>
              <a:t>- </a:t>
            </a:r>
            <a:r>
              <a:rPr lang="pl-PL" sz="1800" b="1" dirty="0"/>
              <a:t>Unit</a:t>
            </a:r>
            <a:r>
              <a:rPr lang="pl-PL" sz="1800" dirty="0"/>
              <a:t> ma jedną instancję. </a:t>
            </a:r>
            <a:r>
              <a:rPr lang="pl-PL" sz="1800" b="1" dirty="0" err="1"/>
              <a:t>Nothing</a:t>
            </a:r>
            <a:r>
              <a:rPr lang="pl-PL" sz="1800" dirty="0"/>
              <a:t> nie ma żadnych instancji.  </a:t>
            </a:r>
          </a:p>
        </p:txBody>
      </p:sp>
    </p:spTree>
    <p:extLst>
      <p:ext uri="{BB962C8B-B14F-4D97-AF65-F5344CB8AC3E}">
        <p14:creationId xmlns:p14="http://schemas.microsoft.com/office/powerpoint/2010/main" val="2409912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E26AB-EE52-477A-0FA7-2DEA1F23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1B4AE7-23FB-4212-43AF-BB159532105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danych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4792BFF-CF95-FB6E-9EA0-BAEB0FA10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8" y="1124744"/>
            <a:ext cx="9144000" cy="430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86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507DC-23CA-D15A-F6F9-11437E6D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BFD66A-9186-D558-E4A8-FEB3BB848CC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415ED8D-2D29-26EE-4FC7-77D11D03C103}"/>
              </a:ext>
            </a:extLst>
          </p:cNvPr>
          <p:cNvSpPr txBox="1"/>
          <p:nvPr/>
        </p:nvSpPr>
        <p:spPr>
          <a:xfrm>
            <a:off x="1043608" y="908720"/>
            <a:ext cx="8100392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800" dirty="0"/>
              <a:t>W Kotlinie słowa kluczowe </a:t>
            </a:r>
            <a:r>
              <a:rPr lang="pl-PL" sz="1800" b="1" dirty="0" err="1"/>
              <a:t>val</a:t>
            </a:r>
            <a:r>
              <a:rPr lang="pl-PL" sz="1800" dirty="0"/>
              <a:t> (ang. </a:t>
            </a:r>
            <a:r>
              <a:rPr lang="pl-PL" sz="1800" i="1" dirty="0" err="1"/>
              <a:t>value</a:t>
            </a:r>
            <a:r>
              <a:rPr lang="pl-PL" sz="1800" dirty="0"/>
              <a:t>) i </a:t>
            </a:r>
            <a:r>
              <a:rPr lang="pl-PL" sz="1800" b="1" dirty="0" err="1"/>
              <a:t>var</a:t>
            </a:r>
            <a:r>
              <a:rPr lang="pl-PL" sz="1800" dirty="0"/>
              <a:t> (ang. </a:t>
            </a:r>
            <a:r>
              <a:rPr lang="pl-PL" sz="1800" i="1" dirty="0" err="1"/>
              <a:t>variable</a:t>
            </a:r>
            <a:r>
              <a:rPr lang="pl-PL" sz="1800" dirty="0"/>
              <a:t>) są używane do deklaracji zmiennych, różniąc się pod względem cech </a:t>
            </a:r>
            <a:r>
              <a:rPr lang="pl-PL" sz="1800" b="1" dirty="0" err="1"/>
              <a:t>mutowalności</a:t>
            </a:r>
            <a:r>
              <a:rPr lang="pl-PL" sz="1800" dirty="0"/>
              <a:t> (zmienności).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algn="just">
              <a:lnSpc>
                <a:spcPct val="150000"/>
              </a:lnSpc>
            </a:pPr>
            <a:r>
              <a:rPr lang="pl-PL" sz="1800" dirty="0"/>
              <a:t>Słowo kluczowe </a:t>
            </a:r>
            <a:r>
              <a:rPr lang="pl-PL" sz="1800" b="1" dirty="0" err="1"/>
              <a:t>val</a:t>
            </a:r>
            <a:r>
              <a:rPr lang="pl-PL" sz="1800" dirty="0"/>
              <a:t>, oznacza </a:t>
            </a:r>
            <a:r>
              <a:rPr lang="pl-PL" sz="1800" b="1" dirty="0"/>
              <a:t>referencję</a:t>
            </a:r>
            <a:r>
              <a:rPr lang="pl-PL" sz="1800" dirty="0"/>
              <a:t> </a:t>
            </a:r>
            <a:r>
              <a:rPr lang="pl-PL" sz="1800" dirty="0" err="1"/>
              <a:t>niemutowalną</a:t>
            </a:r>
            <a:r>
              <a:rPr lang="pl-PL" sz="1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pl-PL" sz="1800" dirty="0"/>
              <a:t>Oznacza to, że po przypisaniu wartości do zmiennej </a:t>
            </a:r>
            <a:r>
              <a:rPr lang="pl-PL" sz="1800" b="1" dirty="0" err="1"/>
              <a:t>val</a:t>
            </a:r>
            <a:r>
              <a:rPr lang="pl-PL" sz="1800" dirty="0"/>
              <a:t> nie można jej ponownie przypisać. Jednak </a:t>
            </a:r>
            <a:r>
              <a:rPr lang="pl-PL" sz="1800" b="1" dirty="0"/>
              <a:t>stan obiektu, na który wskazuje ta referencja, nadal może ulec zmianie</a:t>
            </a:r>
            <a:r>
              <a:rPr lang="pl-PL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0937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9C525-254F-9FBC-36F8-0762B558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C61C8A-A3F4-D1D1-E419-044FF8998DD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B055E90-62FE-CBDE-794B-36B882895426}"/>
              </a:ext>
            </a:extLst>
          </p:cNvPr>
          <p:cNvSpPr txBox="1"/>
          <p:nvPr/>
        </p:nvSpPr>
        <p:spPr>
          <a:xfrm>
            <a:off x="1043608" y="908720"/>
            <a:ext cx="8100392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800" b="1" dirty="0" err="1"/>
              <a:t>val</a:t>
            </a:r>
            <a:r>
              <a:rPr lang="pl-PL" sz="1800" dirty="0"/>
              <a:t> (ang. </a:t>
            </a:r>
            <a:r>
              <a:rPr lang="pl-PL" sz="1800" i="1" dirty="0" err="1"/>
              <a:t>value</a:t>
            </a:r>
            <a:r>
              <a:rPr lang="pl-PL" sz="1800" dirty="0"/>
              <a:t>) i </a:t>
            </a:r>
            <a:r>
              <a:rPr lang="pl-PL" sz="1800" b="1" dirty="0" err="1"/>
              <a:t>var</a:t>
            </a:r>
            <a:r>
              <a:rPr lang="pl-PL" sz="1800" dirty="0"/>
              <a:t> (ang. </a:t>
            </a:r>
            <a:r>
              <a:rPr lang="pl-PL" sz="1800" i="1" dirty="0" err="1"/>
              <a:t>variable</a:t>
            </a:r>
            <a:r>
              <a:rPr lang="pl-PL" sz="1800" dirty="0"/>
              <a:t>)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C5CF86A2-0DD7-304B-07E2-BFE35C007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749" y="1380666"/>
            <a:ext cx="8100392" cy="1724479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48E4594F-4B80-6077-8F62-2D4B89B97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749" y="3337403"/>
            <a:ext cx="22383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11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22C1F-9788-4E62-0B79-DDAE577DB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B01F3F-4A73-7406-BEB7-EBFC52AFAD6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091CD29A-49AA-FF82-0A55-628A0821F3DF}"/>
              </a:ext>
            </a:extLst>
          </p:cNvPr>
          <p:cNvSpPr/>
          <p:nvPr/>
        </p:nvSpPr>
        <p:spPr>
          <a:xfrm>
            <a:off x="4932040" y="933110"/>
            <a:ext cx="4046980" cy="5592233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DB24AB19-C57E-40DD-9C6E-972F10E80025}"/>
              </a:ext>
            </a:extLst>
          </p:cNvPr>
          <p:cNvSpPr/>
          <p:nvPr/>
        </p:nvSpPr>
        <p:spPr>
          <a:xfrm>
            <a:off x="2123728" y="3645024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846DBA4-D871-2A15-3772-B10C727D5648}"/>
              </a:ext>
            </a:extLst>
          </p:cNvPr>
          <p:cNvSpPr txBox="1"/>
          <p:nvPr/>
        </p:nvSpPr>
        <p:spPr>
          <a:xfrm>
            <a:off x="5244261" y="1029797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5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3D62A37A-AF9F-7CC9-21AA-BB5DF6EE25AA}"/>
              </a:ext>
            </a:extLst>
          </p:cNvPr>
          <p:cNvSpPr/>
          <p:nvPr/>
        </p:nvSpPr>
        <p:spPr>
          <a:xfrm>
            <a:off x="4932040" y="933110"/>
            <a:ext cx="1065588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7BF0505-78CD-4246-C4D1-8EDA0DF51761}"/>
              </a:ext>
            </a:extLst>
          </p:cNvPr>
          <p:cNvSpPr txBox="1"/>
          <p:nvPr/>
        </p:nvSpPr>
        <p:spPr>
          <a:xfrm>
            <a:off x="2659239" y="381772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>
                <a:solidFill>
                  <a:schemeClr val="accent4">
                    <a:lumMod val="75000"/>
                  </a:schemeClr>
                </a:solidFill>
              </a:rPr>
              <a:t>a</a:t>
            </a: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B63CD962-FE43-C825-A8D2-DDEDAEFC0269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3635896" y="1352963"/>
            <a:ext cx="1296144" cy="2787932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Obraz 23">
            <a:extLst>
              <a:ext uri="{FF2B5EF4-FFF2-40B4-BE49-F238E27FC236}">
                <a16:creationId xmlns:a16="http://schemas.microsoft.com/office/drawing/2014/main" id="{E8435228-9AEC-794F-82B7-A2681929E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297" y="928911"/>
            <a:ext cx="2448272" cy="65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78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A045E-33E8-F29F-5F76-FB96BC9AD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64AF80-32CD-BFAC-A9D2-A0A567D9D40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E1723ADC-79E0-14BA-69B4-33189CB52C30}"/>
              </a:ext>
            </a:extLst>
          </p:cNvPr>
          <p:cNvSpPr/>
          <p:nvPr/>
        </p:nvSpPr>
        <p:spPr>
          <a:xfrm>
            <a:off x="4932040" y="933110"/>
            <a:ext cx="4046980" cy="5592233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08E78B22-BA30-7431-3ACC-68AA6002328C}"/>
              </a:ext>
            </a:extLst>
          </p:cNvPr>
          <p:cNvSpPr/>
          <p:nvPr/>
        </p:nvSpPr>
        <p:spPr>
          <a:xfrm>
            <a:off x="2123728" y="3645024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8D137D4-29C7-2AF6-F1BD-6CF008566ACE}"/>
              </a:ext>
            </a:extLst>
          </p:cNvPr>
          <p:cNvSpPr txBox="1"/>
          <p:nvPr/>
        </p:nvSpPr>
        <p:spPr>
          <a:xfrm>
            <a:off x="7337927" y="4461791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2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13D151C1-954A-4F8E-086A-DDFB49A36999}"/>
              </a:ext>
            </a:extLst>
          </p:cNvPr>
          <p:cNvSpPr/>
          <p:nvPr/>
        </p:nvSpPr>
        <p:spPr>
          <a:xfrm>
            <a:off x="7020272" y="4365104"/>
            <a:ext cx="1065588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DCC6B29-B682-9D0F-83E2-735FA2571CCC}"/>
              </a:ext>
            </a:extLst>
          </p:cNvPr>
          <p:cNvSpPr txBox="1"/>
          <p:nvPr/>
        </p:nvSpPr>
        <p:spPr>
          <a:xfrm>
            <a:off x="2659239" y="381772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>
                <a:solidFill>
                  <a:schemeClr val="accent4">
                    <a:lumMod val="75000"/>
                  </a:schemeClr>
                </a:solidFill>
              </a:rPr>
              <a:t>a</a:t>
            </a: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A08CC772-4DDD-2D8D-2965-DBECDB979651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3635896" y="4140895"/>
            <a:ext cx="3384376" cy="644062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Obraz 14">
            <a:extLst>
              <a:ext uri="{FF2B5EF4-FFF2-40B4-BE49-F238E27FC236}">
                <a16:creationId xmlns:a16="http://schemas.microsoft.com/office/drawing/2014/main" id="{3903AE8C-F219-0058-DD6B-5CE4FC0C1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413" y="933110"/>
            <a:ext cx="2799407" cy="11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04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4AC97-0B49-6D34-75F7-4F815DD18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DEF912-51CE-8BD2-D15B-EDE081866A2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5E105EAA-D2F6-8365-94AF-F35CD1C039C9}"/>
              </a:ext>
            </a:extLst>
          </p:cNvPr>
          <p:cNvSpPr/>
          <p:nvPr/>
        </p:nvSpPr>
        <p:spPr>
          <a:xfrm>
            <a:off x="4932040" y="933110"/>
            <a:ext cx="4046980" cy="5592233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C2D09E51-75A6-248D-4080-F2312798825D}"/>
              </a:ext>
            </a:extLst>
          </p:cNvPr>
          <p:cNvSpPr/>
          <p:nvPr/>
        </p:nvSpPr>
        <p:spPr>
          <a:xfrm>
            <a:off x="2123728" y="3645024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9750A4A-182E-4C49-CAD4-09B36BADE412}"/>
              </a:ext>
            </a:extLst>
          </p:cNvPr>
          <p:cNvSpPr txBox="1"/>
          <p:nvPr/>
        </p:nvSpPr>
        <p:spPr>
          <a:xfrm>
            <a:off x="5244261" y="1029797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5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5253BE6B-6E3F-0ADE-8DB4-D220F469CF3B}"/>
              </a:ext>
            </a:extLst>
          </p:cNvPr>
          <p:cNvSpPr/>
          <p:nvPr/>
        </p:nvSpPr>
        <p:spPr>
          <a:xfrm>
            <a:off x="4932040" y="933110"/>
            <a:ext cx="1065588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5941FE6-8B14-AA02-45E7-16512EB274CE}"/>
              </a:ext>
            </a:extLst>
          </p:cNvPr>
          <p:cNvSpPr txBox="1"/>
          <p:nvPr/>
        </p:nvSpPr>
        <p:spPr>
          <a:xfrm>
            <a:off x="2659239" y="381772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>
                <a:solidFill>
                  <a:schemeClr val="accent4">
                    <a:lumMod val="75000"/>
                  </a:schemeClr>
                </a:solidFill>
              </a:rPr>
              <a:t>a</a:t>
            </a: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129EAE04-A462-498E-F660-779591AAAA88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3635896" y="1352963"/>
            <a:ext cx="1296144" cy="2787932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0996BAD7-BCE0-4958-F5DC-466FFD879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823" y="933110"/>
            <a:ext cx="2004692" cy="62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76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C08F7-F340-30A9-660D-D64C0AB38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DE92EA-7DA2-1DDA-ED3E-405FF397EFB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4F209D14-0683-B8CC-C57B-BB13813D95EF}"/>
              </a:ext>
            </a:extLst>
          </p:cNvPr>
          <p:cNvSpPr/>
          <p:nvPr/>
        </p:nvSpPr>
        <p:spPr>
          <a:xfrm>
            <a:off x="4932040" y="933110"/>
            <a:ext cx="4046980" cy="5592233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3C9B49A0-2E64-6ED9-B76F-DB6B92E2D042}"/>
              </a:ext>
            </a:extLst>
          </p:cNvPr>
          <p:cNvSpPr/>
          <p:nvPr/>
        </p:nvSpPr>
        <p:spPr>
          <a:xfrm>
            <a:off x="2123728" y="3645024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C2FF693-9188-428F-D4B4-9059B8DDCD32}"/>
              </a:ext>
            </a:extLst>
          </p:cNvPr>
          <p:cNvSpPr txBox="1"/>
          <p:nvPr/>
        </p:nvSpPr>
        <p:spPr>
          <a:xfrm>
            <a:off x="7140633" y="337187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2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B551675B-582A-BF8C-1DE7-81D60445A749}"/>
              </a:ext>
            </a:extLst>
          </p:cNvPr>
          <p:cNvSpPr/>
          <p:nvPr/>
        </p:nvSpPr>
        <p:spPr>
          <a:xfrm>
            <a:off x="6804248" y="3275185"/>
            <a:ext cx="1065588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273E478-7F6F-5075-F913-3F73BA0B8ADD}"/>
              </a:ext>
            </a:extLst>
          </p:cNvPr>
          <p:cNvSpPr txBox="1"/>
          <p:nvPr/>
        </p:nvSpPr>
        <p:spPr>
          <a:xfrm>
            <a:off x="2659239" y="381772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>
                <a:solidFill>
                  <a:schemeClr val="accent4">
                    <a:lumMod val="75000"/>
                  </a:schemeClr>
                </a:solidFill>
              </a:rPr>
              <a:t>a</a:t>
            </a: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3DA7767A-370D-B34D-5884-2F3CD5A077CD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3635896" y="3695038"/>
            <a:ext cx="3168352" cy="445857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DEDBE825-F706-8920-101A-89116C1DB60C}"/>
              </a:ext>
            </a:extLst>
          </p:cNvPr>
          <p:cNvSpPr txBox="1"/>
          <p:nvPr/>
        </p:nvSpPr>
        <p:spPr>
          <a:xfrm>
            <a:off x="1715184" y="2732865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200" b="1" dirty="0">
                <a:solidFill>
                  <a:srgbClr val="FF0000"/>
                </a:solidFill>
              </a:rPr>
              <a:t>niedozwolone</a:t>
            </a:r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71762484-EFB6-F9BA-094D-799731D8562D}"/>
              </a:ext>
            </a:extLst>
          </p:cNvPr>
          <p:cNvCxnSpPr>
            <a:cxnSpLocks/>
          </p:cNvCxnSpPr>
          <p:nvPr/>
        </p:nvCxnSpPr>
        <p:spPr>
          <a:xfrm flipH="1">
            <a:off x="1927981" y="3040271"/>
            <a:ext cx="6474988" cy="1706848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Obraz 21">
            <a:extLst>
              <a:ext uri="{FF2B5EF4-FFF2-40B4-BE49-F238E27FC236}">
                <a16:creationId xmlns:a16="http://schemas.microsoft.com/office/drawing/2014/main" id="{DBD53C09-ABA7-DB18-7187-35D57B40B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069" y="906002"/>
            <a:ext cx="2272941" cy="1094892"/>
          </a:xfrm>
          <a:prstGeom prst="rect">
            <a:avLst/>
          </a:prstGeom>
        </p:spPr>
      </p:pic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70D709D1-D16D-4941-78FA-AC49B15C5E0E}"/>
              </a:ext>
            </a:extLst>
          </p:cNvPr>
          <p:cNvCxnSpPr>
            <a:cxnSpLocks/>
          </p:cNvCxnSpPr>
          <p:nvPr/>
        </p:nvCxnSpPr>
        <p:spPr>
          <a:xfrm flipH="1">
            <a:off x="1066609" y="1574440"/>
            <a:ext cx="1226930" cy="429819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846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04DBC-F89C-D50A-EFED-959E980E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C33B8C-6A5B-8F04-89B5-EF4832CB741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4F94138-D95F-AF9E-EAFC-ACD14FE42516}"/>
              </a:ext>
            </a:extLst>
          </p:cNvPr>
          <p:cNvSpPr txBox="1"/>
          <p:nvPr/>
        </p:nvSpPr>
        <p:spPr>
          <a:xfrm>
            <a:off x="1043608" y="908720"/>
            <a:ext cx="8100392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800" b="1" dirty="0" err="1"/>
              <a:t>val</a:t>
            </a:r>
            <a:r>
              <a:rPr lang="pl-PL" sz="1800" dirty="0"/>
              <a:t> (ang. </a:t>
            </a:r>
            <a:r>
              <a:rPr lang="pl-PL" sz="1800" i="1" dirty="0" err="1"/>
              <a:t>value</a:t>
            </a:r>
            <a:r>
              <a:rPr lang="pl-PL" sz="1800" dirty="0"/>
              <a:t>) i </a:t>
            </a:r>
            <a:r>
              <a:rPr lang="pl-PL" sz="1800" b="1" dirty="0" err="1"/>
              <a:t>var</a:t>
            </a:r>
            <a:r>
              <a:rPr lang="pl-PL" sz="1800" dirty="0"/>
              <a:t> (ang. </a:t>
            </a:r>
            <a:r>
              <a:rPr lang="pl-PL" sz="1800" i="1" dirty="0" err="1"/>
              <a:t>variable</a:t>
            </a:r>
            <a:r>
              <a:rPr lang="pl-PL" sz="1800" dirty="0"/>
              <a:t>)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A66C39AF-4307-1227-13A4-E4C8B78C2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12776"/>
            <a:ext cx="9144000" cy="308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30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5EDDC-EAD4-FCED-75B8-A39C5DCC3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F1B9DC-BCA5-E04B-D64C-156D581B333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EA721B64-DD4A-F147-B539-A0073E963F0E}"/>
              </a:ext>
            </a:extLst>
          </p:cNvPr>
          <p:cNvSpPr/>
          <p:nvPr/>
        </p:nvSpPr>
        <p:spPr>
          <a:xfrm>
            <a:off x="4171407" y="1976355"/>
            <a:ext cx="4807613" cy="4548988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8FFE1E0F-131E-95F1-209D-CDB638DCADC6}"/>
              </a:ext>
            </a:extLst>
          </p:cNvPr>
          <p:cNvSpPr/>
          <p:nvPr/>
        </p:nvSpPr>
        <p:spPr>
          <a:xfrm>
            <a:off x="1222670" y="4437112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E1F9FA73-329E-31D0-7B9C-B5271B7A22F7}"/>
              </a:ext>
            </a:extLst>
          </p:cNvPr>
          <p:cNvSpPr txBox="1"/>
          <p:nvPr/>
        </p:nvSpPr>
        <p:spPr>
          <a:xfrm>
            <a:off x="5576007" y="2058551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2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3B9DCA79-2CCD-34FA-1568-444A39C2C0A0}"/>
              </a:ext>
            </a:extLst>
          </p:cNvPr>
          <p:cNvSpPr/>
          <p:nvPr/>
        </p:nvSpPr>
        <p:spPr>
          <a:xfrm>
            <a:off x="4177766" y="1979432"/>
            <a:ext cx="3240360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0EB8B00-A7F4-0464-6478-C54E4042FB77}"/>
              </a:ext>
            </a:extLst>
          </p:cNvPr>
          <p:cNvSpPr txBox="1"/>
          <p:nvPr/>
        </p:nvSpPr>
        <p:spPr>
          <a:xfrm>
            <a:off x="1411932" y="4609817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 err="1">
                <a:solidFill>
                  <a:schemeClr val="accent4">
                    <a:lumMod val="75000"/>
                  </a:schemeClr>
                </a:solidFill>
              </a:rPr>
              <a:t>iList</a:t>
            </a:r>
            <a:endParaRPr lang="pl-PL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95C41ACC-F838-DB74-C793-E6951B1DD520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2734838" y="2399285"/>
            <a:ext cx="1442928" cy="2533698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891BBAB8-8125-85B5-A301-D1D4A340ED27}"/>
              </a:ext>
            </a:extLst>
          </p:cNvPr>
          <p:cNvCxnSpPr/>
          <p:nvPr/>
        </p:nvCxnSpPr>
        <p:spPr>
          <a:xfrm>
            <a:off x="5257886" y="1979432"/>
            <a:ext cx="0" cy="804573"/>
          </a:xfrm>
          <a:prstGeom prst="line">
            <a:avLst/>
          </a:prstGeom>
          <a:ln w="889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629C2B92-2920-97C2-3848-AAD4807E03B7}"/>
              </a:ext>
            </a:extLst>
          </p:cNvPr>
          <p:cNvCxnSpPr/>
          <p:nvPr/>
        </p:nvCxnSpPr>
        <p:spPr>
          <a:xfrm>
            <a:off x="6340736" y="1979432"/>
            <a:ext cx="0" cy="804573"/>
          </a:xfrm>
          <a:prstGeom prst="line">
            <a:avLst/>
          </a:prstGeom>
          <a:ln w="889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4B92361E-120C-8B42-8105-ABA1FB605D63}"/>
              </a:ext>
            </a:extLst>
          </p:cNvPr>
          <p:cNvSpPr txBox="1"/>
          <p:nvPr/>
        </p:nvSpPr>
        <p:spPr>
          <a:xfrm>
            <a:off x="4495887" y="205855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1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5C43EEF5-734F-7C52-C1D2-3FCDF9123580}"/>
              </a:ext>
            </a:extLst>
          </p:cNvPr>
          <p:cNvSpPr txBox="1"/>
          <p:nvPr/>
        </p:nvSpPr>
        <p:spPr>
          <a:xfrm>
            <a:off x="6681564" y="207611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3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81D7E1C8-A009-6E8F-213B-95B7E9F8E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915" y="901198"/>
            <a:ext cx="5253821" cy="47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02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407FB7-6040-7D6B-E045-A4BA1A4B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0847F2-F7CC-4523-AD6A-759D88B0E9C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7F519DA-5900-6BBD-9017-99FAE4BB25CA}"/>
              </a:ext>
            </a:extLst>
          </p:cNvPr>
          <p:cNvSpPr/>
          <p:nvPr/>
        </p:nvSpPr>
        <p:spPr>
          <a:xfrm>
            <a:off x="4179898" y="2010257"/>
            <a:ext cx="4807613" cy="4548988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E954D796-DAEE-2551-F382-B2DDBE91F322}"/>
              </a:ext>
            </a:extLst>
          </p:cNvPr>
          <p:cNvSpPr/>
          <p:nvPr/>
        </p:nvSpPr>
        <p:spPr>
          <a:xfrm>
            <a:off x="1222670" y="4437112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2801478-198E-4A9F-4C59-C88B7451A551}"/>
              </a:ext>
            </a:extLst>
          </p:cNvPr>
          <p:cNvSpPr txBox="1"/>
          <p:nvPr/>
        </p:nvSpPr>
        <p:spPr>
          <a:xfrm>
            <a:off x="5600976" y="2089376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2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05277EF4-E2C9-43CD-916E-1C8CFEE384C4}"/>
              </a:ext>
            </a:extLst>
          </p:cNvPr>
          <p:cNvSpPr/>
          <p:nvPr/>
        </p:nvSpPr>
        <p:spPr>
          <a:xfrm>
            <a:off x="4202735" y="2010257"/>
            <a:ext cx="4282665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C653A3A-670D-4306-CA7C-910AC4BE76AB}"/>
              </a:ext>
            </a:extLst>
          </p:cNvPr>
          <p:cNvSpPr txBox="1"/>
          <p:nvPr/>
        </p:nvSpPr>
        <p:spPr>
          <a:xfrm>
            <a:off x="1411932" y="4609817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 err="1">
                <a:solidFill>
                  <a:schemeClr val="accent4">
                    <a:lumMod val="75000"/>
                  </a:schemeClr>
                </a:solidFill>
              </a:rPr>
              <a:t>iList</a:t>
            </a:r>
            <a:endParaRPr lang="pl-PL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D1491E5E-487D-606F-DB0A-E0B8F6E91342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2734838" y="2430110"/>
            <a:ext cx="1467897" cy="2502873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1443EF5A-59ED-2500-3BD8-E8AF32B7A21C}"/>
              </a:ext>
            </a:extLst>
          </p:cNvPr>
          <p:cNvCxnSpPr/>
          <p:nvPr/>
        </p:nvCxnSpPr>
        <p:spPr>
          <a:xfrm>
            <a:off x="5257886" y="2027824"/>
            <a:ext cx="0" cy="804573"/>
          </a:xfrm>
          <a:prstGeom prst="line">
            <a:avLst/>
          </a:prstGeom>
          <a:ln w="889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15A49449-8760-DF09-A81A-BA91B77D9BDD}"/>
              </a:ext>
            </a:extLst>
          </p:cNvPr>
          <p:cNvCxnSpPr/>
          <p:nvPr/>
        </p:nvCxnSpPr>
        <p:spPr>
          <a:xfrm>
            <a:off x="6340736" y="2027824"/>
            <a:ext cx="0" cy="804573"/>
          </a:xfrm>
          <a:prstGeom prst="line">
            <a:avLst/>
          </a:prstGeom>
          <a:ln w="889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2C6243A4-F72C-5765-F43F-49D85B063DAB}"/>
              </a:ext>
            </a:extLst>
          </p:cNvPr>
          <p:cNvSpPr txBox="1"/>
          <p:nvPr/>
        </p:nvSpPr>
        <p:spPr>
          <a:xfrm>
            <a:off x="4520856" y="2089377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1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2E713C5D-227B-E658-181D-6E6576995AC3}"/>
              </a:ext>
            </a:extLst>
          </p:cNvPr>
          <p:cNvSpPr txBox="1"/>
          <p:nvPr/>
        </p:nvSpPr>
        <p:spPr>
          <a:xfrm>
            <a:off x="6689289" y="2089374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3</a:t>
            </a:r>
          </a:p>
        </p:txBody>
      </p:sp>
      <p:cxnSp>
        <p:nvCxnSpPr>
          <p:cNvPr id="28" name="Łącznik prosty 27">
            <a:extLst>
              <a:ext uri="{FF2B5EF4-FFF2-40B4-BE49-F238E27FC236}">
                <a16:creationId xmlns:a16="http://schemas.microsoft.com/office/drawing/2014/main" id="{FC6ABF82-8333-D632-CB8E-0070E91051BE}"/>
              </a:ext>
            </a:extLst>
          </p:cNvPr>
          <p:cNvCxnSpPr/>
          <p:nvPr/>
        </p:nvCxnSpPr>
        <p:spPr>
          <a:xfrm>
            <a:off x="7452320" y="2045390"/>
            <a:ext cx="0" cy="804573"/>
          </a:xfrm>
          <a:prstGeom prst="line">
            <a:avLst/>
          </a:prstGeom>
          <a:ln w="889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4356AF10-4033-2EEE-DD71-C7A55608F1E0}"/>
              </a:ext>
            </a:extLst>
          </p:cNvPr>
          <p:cNvSpPr txBox="1"/>
          <p:nvPr/>
        </p:nvSpPr>
        <p:spPr>
          <a:xfrm>
            <a:off x="7760772" y="2089375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4</a:t>
            </a:r>
          </a:p>
        </p:txBody>
      </p:sp>
      <p:pic>
        <p:nvPicPr>
          <p:cNvPr id="32" name="Obraz 31">
            <a:extLst>
              <a:ext uri="{FF2B5EF4-FFF2-40B4-BE49-F238E27FC236}">
                <a16:creationId xmlns:a16="http://schemas.microsoft.com/office/drawing/2014/main" id="{01B36109-BFB4-25C7-6FE7-32E10782E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887691"/>
            <a:ext cx="5310238" cy="91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12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BCBAC-42A0-FB9B-6EF6-276C5484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E3A0FA-2FC6-17EC-F862-C82DEF8437B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A2776FA2-7E43-A6D2-1830-E0DE74087515}"/>
              </a:ext>
            </a:extLst>
          </p:cNvPr>
          <p:cNvSpPr/>
          <p:nvPr/>
        </p:nvSpPr>
        <p:spPr>
          <a:xfrm>
            <a:off x="4171407" y="1976355"/>
            <a:ext cx="4807613" cy="4548988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2ABE3834-9258-3746-7771-553853F6A6C0}"/>
              </a:ext>
            </a:extLst>
          </p:cNvPr>
          <p:cNvSpPr/>
          <p:nvPr/>
        </p:nvSpPr>
        <p:spPr>
          <a:xfrm>
            <a:off x="1222670" y="4437112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81FC176-82E0-25DA-3B59-FD21F3B26586}"/>
              </a:ext>
            </a:extLst>
          </p:cNvPr>
          <p:cNvSpPr txBox="1"/>
          <p:nvPr/>
        </p:nvSpPr>
        <p:spPr>
          <a:xfrm>
            <a:off x="1411932" y="4609817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 err="1">
                <a:solidFill>
                  <a:schemeClr val="accent4">
                    <a:lumMod val="75000"/>
                  </a:schemeClr>
                </a:solidFill>
              </a:rPr>
              <a:t>iList</a:t>
            </a:r>
            <a:endParaRPr lang="pl-PL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6FE94C77-6715-6551-DA49-BF8D7AAC6236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2734838" y="4384999"/>
            <a:ext cx="1658954" cy="547984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1BC28163-3E07-9AAB-61F5-0436552D20A6}"/>
              </a:ext>
            </a:extLst>
          </p:cNvPr>
          <p:cNvSpPr txBox="1"/>
          <p:nvPr/>
        </p:nvSpPr>
        <p:spPr>
          <a:xfrm>
            <a:off x="4764327" y="4061833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5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262EFB50-CE48-AC2B-1199-44C3FC44AE1B}"/>
              </a:ext>
            </a:extLst>
          </p:cNvPr>
          <p:cNvSpPr/>
          <p:nvPr/>
        </p:nvSpPr>
        <p:spPr>
          <a:xfrm>
            <a:off x="4393792" y="3965146"/>
            <a:ext cx="1182216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65EA0FF7-D202-6452-6198-F06DDF5054A6}"/>
              </a:ext>
            </a:extLst>
          </p:cNvPr>
          <p:cNvCxnSpPr>
            <a:cxnSpLocks/>
          </p:cNvCxnSpPr>
          <p:nvPr/>
        </p:nvCxnSpPr>
        <p:spPr>
          <a:xfrm flipH="1">
            <a:off x="1213388" y="3875829"/>
            <a:ext cx="5662868" cy="1517281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74298F01-717A-43A8-78C7-CB840F7F4F25}"/>
              </a:ext>
            </a:extLst>
          </p:cNvPr>
          <p:cNvSpPr txBox="1"/>
          <p:nvPr/>
        </p:nvSpPr>
        <p:spPr>
          <a:xfrm>
            <a:off x="1222670" y="3291054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200" b="1" dirty="0">
                <a:solidFill>
                  <a:srgbClr val="FF0000"/>
                </a:solidFill>
              </a:rPr>
              <a:t>niedozwolone</a:t>
            </a:r>
          </a:p>
        </p:txBody>
      </p:sp>
      <p:pic>
        <p:nvPicPr>
          <p:cNvPr id="24" name="Obraz 23">
            <a:extLst>
              <a:ext uri="{FF2B5EF4-FFF2-40B4-BE49-F238E27FC236}">
                <a16:creationId xmlns:a16="http://schemas.microsoft.com/office/drawing/2014/main" id="{6071B231-9348-5F79-F9F8-29A0E0254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802735"/>
            <a:ext cx="4032448" cy="510999"/>
          </a:xfrm>
          <a:prstGeom prst="rect">
            <a:avLst/>
          </a:prstGeom>
        </p:spPr>
      </p:pic>
      <p:pic>
        <p:nvPicPr>
          <p:cNvPr id="25" name="Obraz 24">
            <a:extLst>
              <a:ext uri="{FF2B5EF4-FFF2-40B4-BE49-F238E27FC236}">
                <a16:creationId xmlns:a16="http://schemas.microsoft.com/office/drawing/2014/main" id="{28196D3B-86E0-EA18-D9F7-F483CD160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887691"/>
            <a:ext cx="5310238" cy="915958"/>
          </a:xfrm>
          <a:prstGeom prst="rect">
            <a:avLst/>
          </a:prstGeom>
        </p:spPr>
      </p:pic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3DA0D0C1-746A-B7EE-6E8C-98EE178328FF}"/>
              </a:ext>
            </a:extLst>
          </p:cNvPr>
          <p:cNvCxnSpPr>
            <a:cxnSpLocks/>
          </p:cNvCxnSpPr>
          <p:nvPr/>
        </p:nvCxnSpPr>
        <p:spPr>
          <a:xfrm flipH="1">
            <a:off x="1055532" y="1849377"/>
            <a:ext cx="4149131" cy="38744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rostokąt 28">
            <a:extLst>
              <a:ext uri="{FF2B5EF4-FFF2-40B4-BE49-F238E27FC236}">
                <a16:creationId xmlns:a16="http://schemas.microsoft.com/office/drawing/2014/main" id="{16C9DAF1-BCFB-F952-5066-3985E14ADC68}"/>
              </a:ext>
            </a:extLst>
          </p:cNvPr>
          <p:cNvSpPr/>
          <p:nvPr/>
        </p:nvSpPr>
        <p:spPr>
          <a:xfrm>
            <a:off x="5570564" y="3965145"/>
            <a:ext cx="1182216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8D19FAF1-336A-CA8A-E89B-548830F68975}"/>
              </a:ext>
            </a:extLst>
          </p:cNvPr>
          <p:cNvSpPr txBox="1"/>
          <p:nvPr/>
        </p:nvSpPr>
        <p:spPr>
          <a:xfrm>
            <a:off x="5941099" y="406183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97990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A4CE2-288A-88C3-66F6-CAB18866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CC07B0-5CDC-8A6D-6EDE-9A085048997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</a:t>
            </a:r>
            <a:r>
              <a:rPr lang="pl-PL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C3A7DED-58A0-90AB-AE9A-1616BF1D8056}"/>
              </a:ext>
            </a:extLst>
          </p:cNvPr>
          <p:cNvSpPr txBox="1"/>
          <p:nvPr/>
        </p:nvSpPr>
        <p:spPr>
          <a:xfrm>
            <a:off x="1043608" y="908720"/>
            <a:ext cx="7920880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800" b="1" dirty="0" err="1"/>
              <a:t>const</a:t>
            </a:r>
            <a:r>
              <a:rPr lang="pl-PL" sz="1800" b="1" dirty="0"/>
              <a:t> </a:t>
            </a:r>
            <a:r>
              <a:rPr lang="pl-PL" sz="1800" b="1" dirty="0" err="1"/>
              <a:t>val</a:t>
            </a:r>
            <a:r>
              <a:rPr lang="pl-PL" sz="1800" dirty="0"/>
              <a:t> i </a:t>
            </a:r>
            <a:r>
              <a:rPr lang="pl-PL" sz="1800" b="1" dirty="0" err="1"/>
              <a:t>val</a:t>
            </a:r>
            <a:r>
              <a:rPr lang="pl-PL" sz="1800" dirty="0"/>
              <a:t> mają różne zasady dotyczące przypisywania wartości.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algn="just">
              <a:lnSpc>
                <a:spcPct val="150000"/>
              </a:lnSpc>
            </a:pPr>
            <a:r>
              <a:rPr lang="pl-PL" sz="1800" dirty="0"/>
              <a:t>Wartość stałej </a:t>
            </a:r>
            <a:r>
              <a:rPr lang="pl-PL" sz="1800" b="1" dirty="0" err="1"/>
              <a:t>const</a:t>
            </a:r>
            <a:r>
              <a:rPr lang="pl-PL" sz="1800" dirty="0"/>
              <a:t> </a:t>
            </a:r>
            <a:r>
              <a:rPr lang="pl-PL" sz="1800" b="1" dirty="0" err="1"/>
              <a:t>val</a:t>
            </a:r>
            <a:r>
              <a:rPr lang="pl-PL" sz="1800" dirty="0"/>
              <a:t> musi zostać przypisana w momencie kompilacji, co oznacza, że jej wartość musi być znana i ustalona już podczas kompilowania programu, a nie w czasie jego wykonywania.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</p:txBody>
      </p:sp>
    </p:spTree>
    <p:extLst>
      <p:ext uri="{BB962C8B-B14F-4D97-AF65-F5344CB8AC3E}">
        <p14:creationId xmlns:p14="http://schemas.microsoft.com/office/powerpoint/2010/main" val="440381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6EC60-BA27-1776-B1D7-50F93BEB8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7196F7-16A9-B647-C407-2FB585A9C06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</a:t>
            </a:r>
            <a:r>
              <a:rPr lang="pl-PL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C7157BA-91B8-2D90-2E24-4DA4C56E89A7}"/>
              </a:ext>
            </a:extLst>
          </p:cNvPr>
          <p:cNvSpPr txBox="1"/>
          <p:nvPr/>
        </p:nvSpPr>
        <p:spPr>
          <a:xfrm>
            <a:off x="1043608" y="908720"/>
            <a:ext cx="7920880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800" b="1" dirty="0" err="1"/>
              <a:t>const</a:t>
            </a:r>
            <a:r>
              <a:rPr lang="pl-PL" sz="1800" b="1" dirty="0"/>
              <a:t> </a:t>
            </a:r>
            <a:r>
              <a:rPr lang="pl-PL" sz="1800" b="1" dirty="0" err="1"/>
              <a:t>val</a:t>
            </a:r>
            <a:r>
              <a:rPr lang="pl-PL" sz="1800" dirty="0"/>
              <a:t> i </a:t>
            </a:r>
            <a:r>
              <a:rPr lang="pl-PL" sz="1800" b="1" dirty="0" err="1"/>
              <a:t>val</a:t>
            </a:r>
            <a:r>
              <a:rPr lang="pl-PL" sz="1800" dirty="0"/>
              <a:t> mają różne zasady dotyczące przypisywania wartości.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algn="just">
              <a:lnSpc>
                <a:spcPct val="150000"/>
              </a:lnSpc>
            </a:pPr>
            <a:r>
              <a:rPr lang="pl-PL" sz="1800" dirty="0"/>
              <a:t>Wartość stałej </a:t>
            </a:r>
            <a:r>
              <a:rPr lang="pl-PL" sz="1800" b="1" dirty="0" err="1"/>
              <a:t>const</a:t>
            </a:r>
            <a:r>
              <a:rPr lang="pl-PL" sz="1800" dirty="0"/>
              <a:t> </a:t>
            </a:r>
            <a:r>
              <a:rPr lang="pl-PL" sz="1800" b="1" dirty="0" err="1"/>
              <a:t>val</a:t>
            </a:r>
            <a:r>
              <a:rPr lang="pl-PL" sz="1800" dirty="0"/>
              <a:t> musi zostać przypisana w momencie kompilacji, co oznacza, że jej wartość musi być znana i ustalona już podczas kompilowania programu, a nie w czasie jego wykonywania.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algn="just">
              <a:lnSpc>
                <a:spcPct val="150000"/>
              </a:lnSpc>
            </a:pPr>
            <a:r>
              <a:rPr lang="pl-PL" sz="1800" dirty="0"/>
              <a:t>Stała </a:t>
            </a:r>
            <a:r>
              <a:rPr lang="pl-PL" sz="1800" b="1" dirty="0" err="1"/>
              <a:t>const</a:t>
            </a:r>
            <a:r>
              <a:rPr lang="pl-PL" sz="1800" dirty="0"/>
              <a:t> </a:t>
            </a:r>
            <a:r>
              <a:rPr lang="pl-PL" sz="1800" b="1" dirty="0" err="1"/>
              <a:t>val</a:t>
            </a:r>
            <a:r>
              <a:rPr lang="pl-PL" sz="1800" dirty="0"/>
              <a:t> może przechowywać tylko wartości typu </a:t>
            </a:r>
            <a:r>
              <a:rPr lang="pl-PL" sz="1800" b="1" dirty="0"/>
              <a:t>String</a:t>
            </a:r>
            <a:r>
              <a:rPr lang="pl-PL" sz="1800" dirty="0"/>
              <a:t> lub typy </a:t>
            </a:r>
            <a:r>
              <a:rPr lang="pl-PL" sz="1800" i="1" dirty="0"/>
              <a:t>prymitywne</a:t>
            </a:r>
            <a:r>
              <a:rPr lang="pl-PL" sz="1800" dirty="0"/>
              <a:t> (np. </a:t>
            </a:r>
            <a:r>
              <a:rPr lang="pl-PL" sz="1800" b="1" dirty="0" err="1"/>
              <a:t>Int</a:t>
            </a:r>
            <a:r>
              <a:rPr lang="pl-PL" sz="1800" dirty="0"/>
              <a:t>, </a:t>
            </a:r>
            <a:r>
              <a:rPr lang="pl-PL" sz="1800" b="1" dirty="0" err="1"/>
              <a:t>Double</a:t>
            </a:r>
            <a:r>
              <a:rPr lang="pl-PL" sz="1800" dirty="0"/>
              <a:t>, </a:t>
            </a:r>
            <a:r>
              <a:rPr lang="pl-PL" sz="1800" b="1" dirty="0" err="1"/>
              <a:t>Boolean</a:t>
            </a:r>
            <a:r>
              <a:rPr lang="pl-PL" sz="1800" dirty="0"/>
              <a:t> itp.). Zatem nie może być przypisana do obiektu, funkcji, czy konstruktorów klas.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</p:txBody>
      </p:sp>
    </p:spTree>
    <p:extLst>
      <p:ext uri="{BB962C8B-B14F-4D97-AF65-F5344CB8AC3E}">
        <p14:creationId xmlns:p14="http://schemas.microsoft.com/office/powerpoint/2010/main" val="820825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419A3-5033-2001-08CF-9F085E52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9E400C-04F9-2130-6025-E8850D1B1CB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</a:t>
            </a:r>
            <a:r>
              <a:rPr lang="pl-PL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FA09D7E-1D14-B3DF-704F-2AB25DDC231C}"/>
              </a:ext>
            </a:extLst>
          </p:cNvPr>
          <p:cNvSpPr txBox="1"/>
          <p:nvPr/>
        </p:nvSpPr>
        <p:spPr>
          <a:xfrm>
            <a:off x="1043608" y="908720"/>
            <a:ext cx="7920880" cy="585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800" b="1" dirty="0" err="1"/>
              <a:t>const</a:t>
            </a:r>
            <a:r>
              <a:rPr lang="pl-PL" sz="1800" b="1" dirty="0"/>
              <a:t> </a:t>
            </a:r>
            <a:r>
              <a:rPr lang="pl-PL" sz="1800" b="1" dirty="0" err="1"/>
              <a:t>val</a:t>
            </a:r>
            <a:r>
              <a:rPr lang="pl-PL" sz="1800" dirty="0"/>
              <a:t> i </a:t>
            </a:r>
            <a:r>
              <a:rPr lang="pl-PL" sz="1800" b="1" dirty="0" err="1"/>
              <a:t>val</a:t>
            </a:r>
            <a:r>
              <a:rPr lang="pl-PL" sz="1800" dirty="0"/>
              <a:t> mają różne zasady dotyczące przypisywania wartości.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algn="just">
              <a:lnSpc>
                <a:spcPct val="150000"/>
              </a:lnSpc>
            </a:pPr>
            <a:r>
              <a:rPr lang="pl-PL" sz="1800" dirty="0"/>
              <a:t>Wartość stałej </a:t>
            </a:r>
            <a:r>
              <a:rPr lang="pl-PL" sz="1800" b="1" dirty="0" err="1"/>
              <a:t>const</a:t>
            </a:r>
            <a:r>
              <a:rPr lang="pl-PL" sz="1800" dirty="0"/>
              <a:t> </a:t>
            </a:r>
            <a:r>
              <a:rPr lang="pl-PL" sz="1800" b="1" dirty="0" err="1"/>
              <a:t>val</a:t>
            </a:r>
            <a:r>
              <a:rPr lang="pl-PL" sz="1800" dirty="0"/>
              <a:t> musi zostać przypisana w momencie kompilacji, co oznacza, że jej wartość musi być znana i ustalona już podczas kompilowania programu, a nie w czasie jego wykonywania.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algn="just">
              <a:lnSpc>
                <a:spcPct val="150000"/>
              </a:lnSpc>
            </a:pPr>
            <a:r>
              <a:rPr lang="pl-PL" sz="1800" dirty="0"/>
              <a:t>Stała </a:t>
            </a:r>
            <a:r>
              <a:rPr lang="pl-PL" sz="1800" b="1" dirty="0" err="1"/>
              <a:t>const</a:t>
            </a:r>
            <a:r>
              <a:rPr lang="pl-PL" sz="1800" dirty="0"/>
              <a:t> </a:t>
            </a:r>
            <a:r>
              <a:rPr lang="pl-PL" sz="1800" b="1" dirty="0" err="1"/>
              <a:t>val</a:t>
            </a:r>
            <a:r>
              <a:rPr lang="pl-PL" sz="1800" dirty="0"/>
              <a:t> może przechowywać tylko wartości typu </a:t>
            </a:r>
            <a:r>
              <a:rPr lang="pl-PL" sz="1800" b="1" dirty="0"/>
              <a:t>String</a:t>
            </a:r>
            <a:r>
              <a:rPr lang="pl-PL" sz="1800" dirty="0"/>
              <a:t> lub typy </a:t>
            </a:r>
            <a:r>
              <a:rPr lang="pl-PL" sz="1800" i="1" dirty="0"/>
              <a:t>prymitywne</a:t>
            </a:r>
            <a:r>
              <a:rPr lang="pl-PL" sz="1800" dirty="0"/>
              <a:t> (np. </a:t>
            </a:r>
            <a:r>
              <a:rPr lang="pl-PL" sz="1800" b="1" dirty="0" err="1"/>
              <a:t>Int</a:t>
            </a:r>
            <a:r>
              <a:rPr lang="pl-PL" sz="1800" dirty="0"/>
              <a:t>, </a:t>
            </a:r>
            <a:r>
              <a:rPr lang="pl-PL" sz="1800" b="1" dirty="0" err="1"/>
              <a:t>Double</a:t>
            </a:r>
            <a:r>
              <a:rPr lang="pl-PL" sz="1800" dirty="0"/>
              <a:t>, </a:t>
            </a:r>
            <a:r>
              <a:rPr lang="pl-PL" sz="1800" b="1" dirty="0" err="1"/>
              <a:t>Boolean</a:t>
            </a:r>
            <a:r>
              <a:rPr lang="pl-PL" sz="1800" dirty="0"/>
              <a:t> itp.). Zatem nie może być przypisana do obiektu, funkcji, czy konstruktorów klas.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algn="just">
              <a:lnSpc>
                <a:spcPct val="150000"/>
              </a:lnSpc>
            </a:pPr>
            <a:r>
              <a:rPr lang="pl-PL" sz="1800" dirty="0"/>
              <a:t>Stała </a:t>
            </a:r>
            <a:r>
              <a:rPr lang="pl-PL" sz="1800" b="1" dirty="0" err="1"/>
              <a:t>const</a:t>
            </a:r>
            <a:r>
              <a:rPr lang="pl-PL" sz="1800" b="1" dirty="0"/>
              <a:t> </a:t>
            </a:r>
            <a:r>
              <a:rPr lang="pl-PL" sz="1800" b="1" dirty="0" err="1"/>
              <a:t>val</a:t>
            </a:r>
            <a:r>
              <a:rPr lang="pl-PL" sz="1800" dirty="0"/>
              <a:t> może być zadeklarowana na poziomie </a:t>
            </a:r>
            <a:r>
              <a:rPr lang="pl-PL" sz="1800" b="1" dirty="0"/>
              <a:t>globalnym</a:t>
            </a:r>
            <a:r>
              <a:rPr lang="pl-PL" sz="1800" dirty="0"/>
              <a:t>, czyli poza wszystkimi klasami, funkcjami czy innymi blokami kodu. Może być zadeklarowana również w obiekcie nazwanym (czyli klasyczny obiekt w Kotlinie) lub  w obiekcie towarzyszącym (</a:t>
            </a:r>
            <a:r>
              <a:rPr lang="pl-PL" sz="1800" b="1" dirty="0" err="1"/>
              <a:t>companion</a:t>
            </a:r>
            <a:r>
              <a:rPr lang="pl-PL" sz="1800" b="1" dirty="0"/>
              <a:t> </a:t>
            </a:r>
            <a:r>
              <a:rPr lang="pl-PL" sz="1800" b="1" dirty="0" err="1"/>
              <a:t>object</a:t>
            </a:r>
            <a:r>
              <a:rPr lang="pl-PL" sz="18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863740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37C1F-E4E5-BAEE-305D-16E02D1A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40E6BF-DC4E-5047-4E69-DAAD86D3C13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</a:t>
            </a:r>
            <a:r>
              <a:rPr lang="pl-PL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61C4112-7DD3-8BD6-3FA4-72295D154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2852936"/>
            <a:ext cx="5457304" cy="2837130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AEFF9624-587D-53E1-2907-CE8B23BA4186}"/>
              </a:ext>
            </a:extLst>
          </p:cNvPr>
          <p:cNvSpPr txBox="1"/>
          <p:nvPr/>
        </p:nvSpPr>
        <p:spPr>
          <a:xfrm>
            <a:off x="4283968" y="1915742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Obiekt stowarzyszony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CC58275E-6EAD-C6CA-1B01-0B70788B97B6}"/>
              </a:ext>
            </a:extLst>
          </p:cNvPr>
          <p:cNvSpPr/>
          <p:nvPr/>
        </p:nvSpPr>
        <p:spPr>
          <a:xfrm>
            <a:off x="4283967" y="1915742"/>
            <a:ext cx="2342315" cy="38941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7913FB79-EEB1-0351-8893-DA5B273E89EC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5436096" y="2305152"/>
            <a:ext cx="19029" cy="8601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0B0496A6-32C9-4749-17FA-1ABB51264F3C}"/>
              </a:ext>
            </a:extLst>
          </p:cNvPr>
          <p:cNvCxnSpPr>
            <a:cxnSpLocks/>
          </p:cNvCxnSpPr>
          <p:nvPr/>
        </p:nvCxnSpPr>
        <p:spPr>
          <a:xfrm>
            <a:off x="3491880" y="3068960"/>
            <a:ext cx="792087" cy="4199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B8EBE0E-ED0F-5D16-CC23-83344BB2E193}"/>
              </a:ext>
            </a:extLst>
          </p:cNvPr>
          <p:cNvSpPr txBox="1"/>
          <p:nvPr/>
        </p:nvSpPr>
        <p:spPr>
          <a:xfrm>
            <a:off x="1099043" y="1595675"/>
            <a:ext cx="23547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const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val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używana, gdy wartość 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stała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niezmienna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przez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cały czas życia programu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znana na etapie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kompilacji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CA0256E9-A5E5-18EA-25B2-3A5B11D9584F}"/>
              </a:ext>
            </a:extLst>
          </p:cNvPr>
          <p:cNvSpPr/>
          <p:nvPr/>
        </p:nvSpPr>
        <p:spPr>
          <a:xfrm>
            <a:off x="1125626" y="1551619"/>
            <a:ext cx="2328198" cy="170023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90629DA9-4F37-E289-01EC-C89111F0EDEF}"/>
              </a:ext>
            </a:extLst>
          </p:cNvPr>
          <p:cNvCxnSpPr>
            <a:cxnSpLocks/>
          </p:cNvCxnSpPr>
          <p:nvPr/>
        </p:nvCxnSpPr>
        <p:spPr>
          <a:xfrm flipV="1">
            <a:off x="3491880" y="3908950"/>
            <a:ext cx="1115116" cy="12778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E5D3CCE6-99BD-614C-5AF9-F1802500BA3A}"/>
              </a:ext>
            </a:extLst>
          </p:cNvPr>
          <p:cNvSpPr/>
          <p:nvPr/>
        </p:nvSpPr>
        <p:spPr>
          <a:xfrm>
            <a:off x="791983" y="3499283"/>
            <a:ext cx="2680869" cy="136749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DE36E22-EDAA-F4B0-723B-3D946E2ECB3C}"/>
              </a:ext>
            </a:extLst>
          </p:cNvPr>
          <p:cNvSpPr txBox="1"/>
          <p:nvPr/>
        </p:nvSpPr>
        <p:spPr>
          <a:xfrm>
            <a:off x="779161" y="3499283"/>
            <a:ext cx="2707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generuje nazwę pliku na podstawie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losowej wartości.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FILENAME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niemutowalny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jest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read-only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9542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0E0978-2151-DF14-07CA-C61C4A94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20DC9A-C6B3-9059-4B4C-0BB7E0D3D89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61218CC8-3E86-BAB6-0614-09058351C0BA}"/>
              </a:ext>
            </a:extLst>
          </p:cNvPr>
          <p:cNvSpPr/>
          <p:nvPr/>
        </p:nvSpPr>
        <p:spPr>
          <a:xfrm>
            <a:off x="4171407" y="1976355"/>
            <a:ext cx="4807613" cy="4548988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5EA3202E-B828-30DA-3040-E7E9197AA670}"/>
              </a:ext>
            </a:extLst>
          </p:cNvPr>
          <p:cNvSpPr/>
          <p:nvPr/>
        </p:nvSpPr>
        <p:spPr>
          <a:xfrm>
            <a:off x="1222670" y="4437112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68722E3A-BD45-C863-9A9C-FB98FFE59526}"/>
              </a:ext>
            </a:extLst>
          </p:cNvPr>
          <p:cNvSpPr/>
          <p:nvPr/>
        </p:nvSpPr>
        <p:spPr>
          <a:xfrm>
            <a:off x="4177767" y="1979432"/>
            <a:ext cx="1080120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4CA88A8-605B-E4AE-50A7-20D5C12F9307}"/>
              </a:ext>
            </a:extLst>
          </p:cNvPr>
          <p:cNvSpPr txBox="1"/>
          <p:nvPr/>
        </p:nvSpPr>
        <p:spPr>
          <a:xfrm>
            <a:off x="1745357" y="4609817"/>
            <a:ext cx="466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8C767D6F-5DE3-DCB0-3AF9-6D0FA047762E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2734838" y="2399285"/>
            <a:ext cx="1442929" cy="2533698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59D4D13D-C28C-8BFD-6E29-0217B3BF9BA3}"/>
              </a:ext>
            </a:extLst>
          </p:cNvPr>
          <p:cNvSpPr txBox="1"/>
          <p:nvPr/>
        </p:nvSpPr>
        <p:spPr>
          <a:xfrm>
            <a:off x="4351004" y="205854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18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7BCD7A7B-8143-39BB-2B58-2AA563CFD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82276"/>
            <a:ext cx="44291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26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703ED-2449-3DC4-757E-1C91F0FE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raz 20">
            <a:extLst>
              <a:ext uri="{FF2B5EF4-FFF2-40B4-BE49-F238E27FC236}">
                <a16:creationId xmlns:a16="http://schemas.microsoft.com/office/drawing/2014/main" id="{69A820FF-11F5-32C9-C412-DF16D8614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1166209"/>
            <a:ext cx="4429125" cy="10572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706C40-B474-6A52-5CFF-B6E9979B047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2A964B90-CE1E-D4AD-A7C9-0E0DF7ADFC70}"/>
              </a:ext>
            </a:extLst>
          </p:cNvPr>
          <p:cNvSpPr/>
          <p:nvPr/>
        </p:nvSpPr>
        <p:spPr>
          <a:xfrm>
            <a:off x="4171407" y="1976355"/>
            <a:ext cx="4807613" cy="4548988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18535F57-009E-4B93-585C-D1EF262E253B}"/>
              </a:ext>
            </a:extLst>
          </p:cNvPr>
          <p:cNvSpPr/>
          <p:nvPr/>
        </p:nvSpPr>
        <p:spPr>
          <a:xfrm>
            <a:off x="1222670" y="4437112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983FF41C-7BA2-3982-2361-3A22CC4E7132}"/>
              </a:ext>
            </a:extLst>
          </p:cNvPr>
          <p:cNvSpPr/>
          <p:nvPr/>
        </p:nvSpPr>
        <p:spPr>
          <a:xfrm>
            <a:off x="4177767" y="1979432"/>
            <a:ext cx="1080120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EE89F30-C961-727B-1F0F-80B58981FD73}"/>
              </a:ext>
            </a:extLst>
          </p:cNvPr>
          <p:cNvSpPr txBox="1"/>
          <p:nvPr/>
        </p:nvSpPr>
        <p:spPr>
          <a:xfrm>
            <a:off x="1745357" y="4609817"/>
            <a:ext cx="466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66E843F8-4F3E-7543-A6F2-101C64DCA827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2734838" y="2399285"/>
            <a:ext cx="1442929" cy="2533698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85758E25-1DAF-AE9E-A016-4AB250D92004}"/>
              </a:ext>
            </a:extLst>
          </p:cNvPr>
          <p:cNvSpPr txBox="1"/>
          <p:nvPr/>
        </p:nvSpPr>
        <p:spPr>
          <a:xfrm>
            <a:off x="4351004" y="205854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85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DE4F66B-0B72-13AA-CA67-4F4C2903FEFC}"/>
              </a:ext>
            </a:extLst>
          </p:cNvPr>
          <p:cNvSpPr txBox="1"/>
          <p:nvPr/>
        </p:nvSpPr>
        <p:spPr>
          <a:xfrm>
            <a:off x="1139444" y="2540636"/>
            <a:ext cx="2581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b="1" dirty="0" err="1">
                <a:solidFill>
                  <a:srgbClr val="FF0000"/>
                </a:solidFill>
              </a:rPr>
              <a:t>niemutowalny</a:t>
            </a:r>
            <a:endParaRPr lang="pl-PL" b="1" dirty="0">
              <a:solidFill>
                <a:srgbClr val="FF0000"/>
              </a:solidFill>
            </a:endParaRPr>
          </a:p>
        </p:txBody>
      </p: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07D585F2-E407-BB86-E473-0FA6D38811B4}"/>
              </a:ext>
            </a:extLst>
          </p:cNvPr>
          <p:cNvCxnSpPr>
            <a:cxnSpLocks/>
          </p:cNvCxnSpPr>
          <p:nvPr/>
        </p:nvCxnSpPr>
        <p:spPr>
          <a:xfrm flipH="1">
            <a:off x="1222670" y="2592529"/>
            <a:ext cx="2302363" cy="47132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Obraz 18">
            <a:extLst>
              <a:ext uri="{FF2B5EF4-FFF2-40B4-BE49-F238E27FC236}">
                <a16:creationId xmlns:a16="http://schemas.microsoft.com/office/drawing/2014/main" id="{37CEC0E5-BA99-9B05-8B4A-3DDF34EEA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56884"/>
            <a:ext cx="44291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7EFDC-CC01-E03B-39A4-B099672F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>
            <a:extLst>
              <a:ext uri="{FF2B5EF4-FFF2-40B4-BE49-F238E27FC236}">
                <a16:creationId xmlns:a16="http://schemas.microsoft.com/office/drawing/2014/main" id="{8F30AC9C-7F9D-162E-CC64-A375800B5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1166209"/>
            <a:ext cx="4429125" cy="1057275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EA524BFB-E143-EDEA-4317-8708A934D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56884"/>
            <a:ext cx="4429125" cy="10572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546035-69F4-A4BA-BE4C-2C7F9C5C36B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EF555A25-1D0D-1807-1351-23A0732D4B97}"/>
              </a:ext>
            </a:extLst>
          </p:cNvPr>
          <p:cNvSpPr/>
          <p:nvPr/>
        </p:nvSpPr>
        <p:spPr>
          <a:xfrm>
            <a:off x="4171407" y="1976355"/>
            <a:ext cx="4807613" cy="4548988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B01330FD-7DF5-B4AB-5ECF-EA2888E2795F}"/>
              </a:ext>
            </a:extLst>
          </p:cNvPr>
          <p:cNvSpPr/>
          <p:nvPr/>
        </p:nvSpPr>
        <p:spPr>
          <a:xfrm>
            <a:off x="1222670" y="4437112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0BBEFEF3-D682-1315-17E2-0E66B7760877}"/>
              </a:ext>
            </a:extLst>
          </p:cNvPr>
          <p:cNvSpPr/>
          <p:nvPr/>
        </p:nvSpPr>
        <p:spPr>
          <a:xfrm>
            <a:off x="4177767" y="1979432"/>
            <a:ext cx="1080120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6BD3E57-1B1E-CA38-A17A-DE580F86AF7E}"/>
              </a:ext>
            </a:extLst>
          </p:cNvPr>
          <p:cNvSpPr txBox="1"/>
          <p:nvPr/>
        </p:nvSpPr>
        <p:spPr>
          <a:xfrm>
            <a:off x="1745357" y="4609817"/>
            <a:ext cx="466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FD6F4C0B-60EC-7518-C2A5-E00B0A43539D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2734838" y="2399285"/>
            <a:ext cx="1442929" cy="2533698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D056B43C-0FB7-D5EE-4F2E-3DE4B0C4B0BB}"/>
              </a:ext>
            </a:extLst>
          </p:cNvPr>
          <p:cNvSpPr txBox="1"/>
          <p:nvPr/>
        </p:nvSpPr>
        <p:spPr>
          <a:xfrm>
            <a:off x="4351004" y="205854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85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DF9D1D2-EE82-3A7A-1294-0996316A7277}"/>
              </a:ext>
            </a:extLst>
          </p:cNvPr>
          <p:cNvSpPr txBox="1"/>
          <p:nvPr/>
        </p:nvSpPr>
        <p:spPr>
          <a:xfrm>
            <a:off x="962510" y="2560875"/>
            <a:ext cx="25811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800" b="1" dirty="0" err="1">
                <a:solidFill>
                  <a:srgbClr val="FF0000"/>
                </a:solidFill>
              </a:rPr>
              <a:t>niemutowalna</a:t>
            </a:r>
            <a:endParaRPr lang="pl-PL" sz="2800" b="1" dirty="0">
              <a:solidFill>
                <a:srgbClr val="FF0000"/>
              </a:solidFill>
            </a:endParaRPr>
          </a:p>
          <a:p>
            <a:pPr algn="ctr"/>
            <a:r>
              <a:rPr lang="pl-PL" sz="2800" b="1" dirty="0">
                <a:solidFill>
                  <a:srgbClr val="FF0000"/>
                </a:solidFill>
              </a:rPr>
              <a:t>referencja</a:t>
            </a:r>
            <a:endParaRPr lang="pl-P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163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B6F55-9656-84B6-90B7-35FF2847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az 13">
            <a:extLst>
              <a:ext uri="{FF2B5EF4-FFF2-40B4-BE49-F238E27FC236}">
                <a16:creationId xmlns:a16="http://schemas.microsoft.com/office/drawing/2014/main" id="{F5268187-58CC-B83D-99CF-572078895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1166209"/>
            <a:ext cx="4429125" cy="1057275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A9EA700C-34DC-FB87-1893-25AA23273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56884"/>
            <a:ext cx="4429125" cy="10572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CA9F15-D44D-E53D-A122-42646C2657E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1A6845FB-9B9F-53FB-63AC-89CAD366C7B6}"/>
              </a:ext>
            </a:extLst>
          </p:cNvPr>
          <p:cNvSpPr/>
          <p:nvPr/>
        </p:nvSpPr>
        <p:spPr>
          <a:xfrm>
            <a:off x="4171407" y="1976355"/>
            <a:ext cx="4807613" cy="4548988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0D31F51B-D3CB-E4FC-04B5-6F2D8355A055}"/>
              </a:ext>
            </a:extLst>
          </p:cNvPr>
          <p:cNvSpPr/>
          <p:nvPr/>
        </p:nvSpPr>
        <p:spPr>
          <a:xfrm>
            <a:off x="1222670" y="4437112"/>
            <a:ext cx="1512168" cy="991742"/>
          </a:xfrm>
          <a:prstGeom prst="roundRect">
            <a:avLst/>
          </a:prstGeom>
          <a:noFill/>
          <a:ln w="889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E8AA5231-B8D5-1C28-67A7-7AB92AB4C4AF}"/>
              </a:ext>
            </a:extLst>
          </p:cNvPr>
          <p:cNvSpPr/>
          <p:nvPr/>
        </p:nvSpPr>
        <p:spPr>
          <a:xfrm>
            <a:off x="4177767" y="1979432"/>
            <a:ext cx="1080120" cy="83970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50E126A-6676-FC93-6909-F26CBB10DFAB}"/>
              </a:ext>
            </a:extLst>
          </p:cNvPr>
          <p:cNvSpPr txBox="1"/>
          <p:nvPr/>
        </p:nvSpPr>
        <p:spPr>
          <a:xfrm>
            <a:off x="1745357" y="4609817"/>
            <a:ext cx="466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</a:p>
        </p:txBody>
      </p:sp>
      <p:cxnSp>
        <p:nvCxnSpPr>
          <p:cNvPr id="16" name="Łącznik: zakrzywiony 15">
            <a:extLst>
              <a:ext uri="{FF2B5EF4-FFF2-40B4-BE49-F238E27FC236}">
                <a16:creationId xmlns:a16="http://schemas.microsoft.com/office/drawing/2014/main" id="{4F3851C3-2C7C-8940-6671-2FB0BE2D6688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2734838" y="2399285"/>
            <a:ext cx="1442929" cy="2533698"/>
          </a:xfrm>
          <a:prstGeom prst="curvedConnector3">
            <a:avLst/>
          </a:prstGeom>
          <a:ln w="793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9BBC459E-99CE-CF19-ED30-4899EF7315CF}"/>
              </a:ext>
            </a:extLst>
          </p:cNvPr>
          <p:cNvSpPr txBox="1"/>
          <p:nvPr/>
        </p:nvSpPr>
        <p:spPr>
          <a:xfrm>
            <a:off x="4351004" y="205854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85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A81C045-AFFF-3450-72A0-DA4301A61FF5}"/>
              </a:ext>
            </a:extLst>
          </p:cNvPr>
          <p:cNvSpPr txBox="1"/>
          <p:nvPr/>
        </p:nvSpPr>
        <p:spPr>
          <a:xfrm>
            <a:off x="962510" y="2560875"/>
            <a:ext cx="25811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800" b="1" dirty="0" err="1">
                <a:solidFill>
                  <a:srgbClr val="FF0000"/>
                </a:solidFill>
              </a:rPr>
              <a:t>niemutowalna</a:t>
            </a:r>
            <a:endParaRPr lang="pl-PL" sz="2800" b="1" dirty="0">
              <a:solidFill>
                <a:srgbClr val="FF0000"/>
              </a:solidFill>
            </a:endParaRPr>
          </a:p>
          <a:p>
            <a:pPr algn="ctr"/>
            <a:r>
              <a:rPr lang="pl-PL" sz="2800" b="1" dirty="0">
                <a:solidFill>
                  <a:srgbClr val="FF0000"/>
                </a:solidFill>
              </a:rPr>
              <a:t>referencja</a:t>
            </a:r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3844037-7CC4-CE38-127B-6B9028751B6B}"/>
              </a:ext>
            </a:extLst>
          </p:cNvPr>
          <p:cNvSpPr txBox="1"/>
          <p:nvPr/>
        </p:nvSpPr>
        <p:spPr>
          <a:xfrm>
            <a:off x="1351238" y="3700762"/>
            <a:ext cx="1803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800" b="1" dirty="0" err="1">
                <a:solidFill>
                  <a:srgbClr val="FF0000"/>
                </a:solidFill>
              </a:rPr>
              <a:t>read-only</a:t>
            </a:r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3A42760-A4AB-B3EB-7735-54AF63FFC3B7}"/>
              </a:ext>
            </a:extLst>
          </p:cNvPr>
          <p:cNvSpPr txBox="1"/>
          <p:nvPr/>
        </p:nvSpPr>
        <p:spPr>
          <a:xfrm>
            <a:off x="1878784" y="332141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800" b="1" dirty="0">
                <a:solidFill>
                  <a:srgbClr val="FF0000"/>
                </a:solidFill>
              </a:rPr>
              <a:t>==</a:t>
            </a:r>
            <a:endParaRPr lang="pl-P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50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F90CB-FB87-08BC-E456-EB0A905E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0BEEA6-5EDB-CB7A-5B14-F7FD1FF1DE6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76CAB20-4327-C982-B9FE-B5B11BAEE368}"/>
              </a:ext>
            </a:extLst>
          </p:cNvPr>
          <p:cNvSpPr txBox="1"/>
          <p:nvPr/>
        </p:nvSpPr>
        <p:spPr>
          <a:xfrm>
            <a:off x="1037975" y="836712"/>
            <a:ext cx="7632848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800" dirty="0"/>
              <a:t>W Kotlinie bezpieczeństwo związane z </a:t>
            </a:r>
            <a:r>
              <a:rPr lang="pl-PL" sz="1800" b="1" dirty="0" err="1"/>
              <a:t>null</a:t>
            </a:r>
            <a:r>
              <a:rPr lang="pl-PL" sz="1800" dirty="0"/>
              <a:t> (ang. </a:t>
            </a:r>
            <a:r>
              <a:rPr lang="pl-PL" sz="1800" i="1" dirty="0" err="1"/>
              <a:t>null</a:t>
            </a:r>
            <a:r>
              <a:rPr lang="pl-PL" sz="1800" i="1" dirty="0"/>
              <a:t> </a:t>
            </a:r>
            <a:r>
              <a:rPr lang="pl-PL" sz="1800" i="1" dirty="0" err="1"/>
              <a:t>safety</a:t>
            </a:r>
            <a:r>
              <a:rPr lang="pl-PL" sz="1800" dirty="0"/>
              <a:t>) to kluczowa cecha, która została wprowadzona w celu minimalizacji błędów związanych z </a:t>
            </a:r>
            <a:r>
              <a:rPr lang="pl-PL" sz="1800" dirty="0" err="1"/>
              <a:t>odwołaniami</a:t>
            </a:r>
            <a:r>
              <a:rPr lang="pl-PL" sz="1800" dirty="0"/>
              <a:t> do </a:t>
            </a:r>
            <a:r>
              <a:rPr lang="pl-PL" sz="1800" b="1" dirty="0" err="1"/>
              <a:t>null</a:t>
            </a:r>
            <a:r>
              <a:rPr lang="pl-PL" sz="1800" dirty="0"/>
              <a:t>. Funkcjonalność ta zmniejsza ryzyko wystąpienia wyjątków </a:t>
            </a:r>
            <a:r>
              <a:rPr lang="pl-PL" sz="1800" b="1" dirty="0" err="1"/>
              <a:t>NullPointerException</a:t>
            </a:r>
            <a:r>
              <a:rPr lang="pl-PL" sz="1800" dirty="0"/>
              <a:t>.</a:t>
            </a:r>
          </a:p>
          <a:p>
            <a:pPr algn="just">
              <a:lnSpc>
                <a:spcPct val="150000"/>
              </a:lnSpc>
            </a:pPr>
            <a:endParaRPr lang="pl-PL" sz="1800" dirty="0"/>
          </a:p>
          <a:p>
            <a:pPr algn="just">
              <a:lnSpc>
                <a:spcPct val="150000"/>
              </a:lnSpc>
            </a:pPr>
            <a:r>
              <a:rPr lang="pl-PL" sz="1800" dirty="0"/>
              <a:t>Typ w Kotlinie może być oznaczony jako </a:t>
            </a:r>
            <a:r>
              <a:rPr lang="pl-PL" sz="1800" b="1" dirty="0" err="1"/>
              <a:t>nullable</a:t>
            </a:r>
            <a:r>
              <a:rPr lang="pl-PL" sz="1800" dirty="0"/>
              <a:t>, jeśli może przyjmować wartość </a:t>
            </a:r>
            <a:r>
              <a:rPr lang="pl-PL" sz="1800" b="1" dirty="0" err="1"/>
              <a:t>null</a:t>
            </a:r>
            <a:r>
              <a:rPr lang="pl-PL" sz="1800" dirty="0"/>
              <a:t>. Aby to zrobić, dodajemy znak </a:t>
            </a:r>
            <a:r>
              <a:rPr lang="pl-PL" sz="1800" b="1" dirty="0"/>
              <a:t>?</a:t>
            </a:r>
            <a:r>
              <a:rPr lang="pl-PL" sz="1800" dirty="0"/>
              <a:t> po nazwie typu.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86DC4DE-8D1A-029F-518B-56F08A923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75" y="3922118"/>
            <a:ext cx="7730827" cy="98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22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547B7-1B16-2E39-D632-2339D17F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306436-9015-2155-755B-1BA9B01D63B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D758AE-C58A-2EF6-DD03-9D8077338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60" y="1556792"/>
            <a:ext cx="8345240" cy="414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B2BD1F10-58BF-1E99-27AC-3646CB984931}"/>
              </a:ext>
            </a:extLst>
          </p:cNvPr>
          <p:cNvSpPr txBox="1"/>
          <p:nvPr/>
        </p:nvSpPr>
        <p:spPr>
          <a:xfrm>
            <a:off x="1043608" y="6434747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https://zsmb.co/images/typical-kotlin/typical_nothing.png</a:t>
            </a:r>
          </a:p>
        </p:txBody>
      </p:sp>
    </p:spTree>
    <p:extLst>
      <p:ext uri="{BB962C8B-B14F-4D97-AF65-F5344CB8AC3E}">
        <p14:creationId xmlns:p14="http://schemas.microsoft.com/office/powerpoint/2010/main" val="1784134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DE155-4162-C4E7-D094-DF877F1C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B1913C-00D2-6D1D-1E4A-F0C17F85EFF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AF7A29E-875F-B240-BDE1-27881A74F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2132856"/>
            <a:ext cx="3551857" cy="1663008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F9DDF568-1C43-0229-EF05-5F53A5E2F04D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979673" y="2137212"/>
            <a:ext cx="740679" cy="2923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AD98776-131B-2B4E-C341-379B4A2F5CD2}"/>
              </a:ext>
            </a:extLst>
          </p:cNvPr>
          <p:cNvSpPr txBox="1"/>
          <p:nvPr/>
        </p:nvSpPr>
        <p:spPr>
          <a:xfrm>
            <a:off x="1128064" y="1844824"/>
            <a:ext cx="182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nullable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zainicjowana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6A348500-4953-5AAA-93C4-EEAEC30F085E}"/>
              </a:ext>
            </a:extLst>
          </p:cNvPr>
          <p:cNvSpPr/>
          <p:nvPr/>
        </p:nvSpPr>
        <p:spPr>
          <a:xfrm>
            <a:off x="1156747" y="1844824"/>
            <a:ext cx="1822926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8695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47F87-A55B-774A-E2C8-5E370AF3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2396EA-B3FB-2DAB-369A-73F928DE289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23610D5-34E5-BCC9-1383-51B6E9F68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2132856"/>
            <a:ext cx="3551857" cy="1663008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E572561F-7100-2A18-3975-B321C1D87D59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979673" y="2137212"/>
            <a:ext cx="740679" cy="2923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5754680-135C-285C-3A71-B16C8581AAEC}"/>
              </a:ext>
            </a:extLst>
          </p:cNvPr>
          <p:cNvSpPr txBox="1"/>
          <p:nvPr/>
        </p:nvSpPr>
        <p:spPr>
          <a:xfrm>
            <a:off x="1128064" y="1844824"/>
            <a:ext cx="182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nullable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zainicjowana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A23CB87E-CE74-2164-72B0-454C0EF36961}"/>
              </a:ext>
            </a:extLst>
          </p:cNvPr>
          <p:cNvSpPr/>
          <p:nvPr/>
        </p:nvSpPr>
        <p:spPr>
          <a:xfrm>
            <a:off x="1156747" y="1844824"/>
            <a:ext cx="1822926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8F120C3-22DC-F725-4AB1-ECAB745C60AA}"/>
              </a:ext>
            </a:extLst>
          </p:cNvPr>
          <p:cNvSpPr txBox="1"/>
          <p:nvPr/>
        </p:nvSpPr>
        <p:spPr>
          <a:xfrm>
            <a:off x="4211961" y="908068"/>
            <a:ext cx="4104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Operator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bezpiecznego wywołania,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sprawdza, czy obiekt jest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Jeśli jest, operacja zostanie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pominięta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a wynik zwróci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"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".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8CFDADAB-92C7-469F-E2A6-71F954A709E5}"/>
              </a:ext>
            </a:extLst>
          </p:cNvPr>
          <p:cNvCxnSpPr>
            <a:cxnSpLocks/>
          </p:cNvCxnSpPr>
          <p:nvPr/>
        </p:nvCxnSpPr>
        <p:spPr>
          <a:xfrm flipH="1">
            <a:off x="5936479" y="2128500"/>
            <a:ext cx="147689" cy="4880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6B5EFD69-273D-A57E-429E-9256743F4B88}"/>
              </a:ext>
            </a:extLst>
          </p:cNvPr>
          <p:cNvSpPr/>
          <p:nvPr/>
        </p:nvSpPr>
        <p:spPr>
          <a:xfrm>
            <a:off x="4211960" y="935308"/>
            <a:ext cx="4104455" cy="117739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2596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B0329-2A9F-37CB-22ED-61B8EAD5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9EB45E-382E-0CFB-FDD7-20F47261E8D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E96EA06-D8AA-0973-D222-8AB74966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2132856"/>
            <a:ext cx="3551857" cy="1663008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B5B2CF35-AB00-0F06-DE97-B165BBADB93C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979673" y="2137212"/>
            <a:ext cx="740679" cy="2923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2AA21DF-B46F-6007-79A2-94A2A5E8DC01}"/>
              </a:ext>
            </a:extLst>
          </p:cNvPr>
          <p:cNvSpPr txBox="1"/>
          <p:nvPr/>
        </p:nvSpPr>
        <p:spPr>
          <a:xfrm>
            <a:off x="1128064" y="1844824"/>
            <a:ext cx="182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nullable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zainicjowana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618AC0A3-E199-7C96-8192-8E39907993E4}"/>
              </a:ext>
            </a:extLst>
          </p:cNvPr>
          <p:cNvSpPr/>
          <p:nvPr/>
        </p:nvSpPr>
        <p:spPr>
          <a:xfrm>
            <a:off x="1156747" y="1844824"/>
            <a:ext cx="1822926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44972B2E-21C1-4A6B-C73F-FAC297AA7D18}"/>
              </a:ext>
            </a:extLst>
          </p:cNvPr>
          <p:cNvSpPr txBox="1"/>
          <p:nvPr/>
        </p:nvSpPr>
        <p:spPr>
          <a:xfrm>
            <a:off x="4211961" y="908068"/>
            <a:ext cx="4104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Operator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bezpiecznego wywołania,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sprawdza, czy obiekt jest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Jeśli jest, operacja zostanie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pominięta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a wynik zwróci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"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".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765600C7-EBD9-A4A3-47A9-BD7C3BD2BD11}"/>
              </a:ext>
            </a:extLst>
          </p:cNvPr>
          <p:cNvCxnSpPr>
            <a:cxnSpLocks/>
          </p:cNvCxnSpPr>
          <p:nvPr/>
        </p:nvCxnSpPr>
        <p:spPr>
          <a:xfrm flipH="1">
            <a:off x="5936479" y="2128500"/>
            <a:ext cx="147689" cy="4880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F2BF9F3C-76D4-E3A0-F851-21417314CD7F}"/>
              </a:ext>
            </a:extLst>
          </p:cNvPr>
          <p:cNvSpPr/>
          <p:nvPr/>
        </p:nvSpPr>
        <p:spPr>
          <a:xfrm>
            <a:off x="4211960" y="935308"/>
            <a:ext cx="4104455" cy="117739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14709C68-928D-A301-E0F4-9B905F192427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6380662" y="2762781"/>
            <a:ext cx="711618" cy="41502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0630D7B8-C42E-A1F5-FC68-D06B987AF252}"/>
              </a:ext>
            </a:extLst>
          </p:cNvPr>
          <p:cNvSpPr txBox="1"/>
          <p:nvPr/>
        </p:nvSpPr>
        <p:spPr>
          <a:xfrm>
            <a:off x="7063596" y="2639197"/>
            <a:ext cx="20804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Próba dostępu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właściwości obiektu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zainicjowanego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zwróci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„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F9E5D63D-1058-C229-9129-0E157ADD0164}"/>
              </a:ext>
            </a:extLst>
          </p:cNvPr>
          <p:cNvSpPr/>
          <p:nvPr/>
        </p:nvSpPr>
        <p:spPr>
          <a:xfrm>
            <a:off x="7092280" y="2639197"/>
            <a:ext cx="2051720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0272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AA358-2D99-2646-732C-CF176A6B9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36757E-2385-9271-BFFA-0FADD6E2DF5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995A1F8A-6264-6C87-0166-B91943CCE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855090"/>
            <a:ext cx="5095321" cy="1447851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7E4D2ED4-CDF3-06A9-2E24-82D5608B9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72" y="2132856"/>
            <a:ext cx="3551857" cy="1663008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889FE53A-A723-4B1B-C43A-DC5F329A3807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979673" y="2137212"/>
            <a:ext cx="740679" cy="2923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AEBD9E3-415B-4769-836A-E3E702B1ED92}"/>
              </a:ext>
            </a:extLst>
          </p:cNvPr>
          <p:cNvSpPr txBox="1"/>
          <p:nvPr/>
        </p:nvSpPr>
        <p:spPr>
          <a:xfrm>
            <a:off x="1128064" y="1844824"/>
            <a:ext cx="182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nullable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zainicjowana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2E59388-87D4-DF82-7E01-8B50153A558B}"/>
              </a:ext>
            </a:extLst>
          </p:cNvPr>
          <p:cNvSpPr/>
          <p:nvPr/>
        </p:nvSpPr>
        <p:spPr>
          <a:xfrm>
            <a:off x="1156747" y="1844824"/>
            <a:ext cx="1822926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E2FD51B-8089-6717-D1B8-97C2D5FE70B4}"/>
              </a:ext>
            </a:extLst>
          </p:cNvPr>
          <p:cNvSpPr txBox="1"/>
          <p:nvPr/>
        </p:nvSpPr>
        <p:spPr>
          <a:xfrm>
            <a:off x="4211961" y="908068"/>
            <a:ext cx="4104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Operator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bezpiecznego wywołania,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sprawdza, czy obiekt jest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Jeśli jest, operacja zostanie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pominięta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a wynik zwróci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"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".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9CE24161-C3B5-49CE-2C52-1B81C829B7AA}"/>
              </a:ext>
            </a:extLst>
          </p:cNvPr>
          <p:cNvCxnSpPr>
            <a:cxnSpLocks/>
          </p:cNvCxnSpPr>
          <p:nvPr/>
        </p:nvCxnSpPr>
        <p:spPr>
          <a:xfrm flipH="1">
            <a:off x="5936479" y="2128500"/>
            <a:ext cx="147689" cy="4880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2CD729C1-7B87-BD35-B364-D3E4A655C93B}"/>
              </a:ext>
            </a:extLst>
          </p:cNvPr>
          <p:cNvSpPr/>
          <p:nvPr/>
        </p:nvSpPr>
        <p:spPr>
          <a:xfrm>
            <a:off x="4211960" y="935308"/>
            <a:ext cx="4104455" cy="117739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CD93973B-BDEC-205A-828A-8EF1B844D485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6380662" y="2762781"/>
            <a:ext cx="711618" cy="41502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11BB4839-A869-B37C-676F-880F77911B27}"/>
              </a:ext>
            </a:extLst>
          </p:cNvPr>
          <p:cNvSpPr txBox="1"/>
          <p:nvPr/>
        </p:nvSpPr>
        <p:spPr>
          <a:xfrm>
            <a:off x="7063596" y="2639197"/>
            <a:ext cx="20804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Próba dostępu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właściwości obiektu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zainicjowanego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zwróci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„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47632545-014D-2FBD-51A1-35D097B4CE76}"/>
              </a:ext>
            </a:extLst>
          </p:cNvPr>
          <p:cNvSpPr/>
          <p:nvPr/>
        </p:nvSpPr>
        <p:spPr>
          <a:xfrm>
            <a:off x="7092280" y="2639197"/>
            <a:ext cx="2051720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45F1A6AC-D093-5B45-10C2-399C0CA01D7E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2891175" y="4567804"/>
            <a:ext cx="672713" cy="44537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EAD7F471-737E-B3FC-1CC5-F85302BDF04E}"/>
              </a:ext>
            </a:extLst>
          </p:cNvPr>
          <p:cNvSpPr txBox="1"/>
          <p:nvPr/>
        </p:nvSpPr>
        <p:spPr>
          <a:xfrm>
            <a:off x="1039566" y="4275416"/>
            <a:ext cx="182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nullable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zainicjowana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79C7EE94-5F52-503F-6751-59DE8770E826}"/>
              </a:ext>
            </a:extLst>
          </p:cNvPr>
          <p:cNvSpPr/>
          <p:nvPr/>
        </p:nvSpPr>
        <p:spPr>
          <a:xfrm>
            <a:off x="1068249" y="4275416"/>
            <a:ext cx="1822926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570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C364B-87CD-B363-580B-BE096655C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E502D7-4303-3405-A40A-76C314D9AD6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E10647E-2F24-65D6-9E63-8F2D89B29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855090"/>
            <a:ext cx="5095321" cy="1447851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41208312-ECCD-2A70-FF9D-3999ACB30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72" y="2132856"/>
            <a:ext cx="3551857" cy="1663008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3762471A-E379-4427-913D-6DACDE3A868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979673" y="2137212"/>
            <a:ext cx="740679" cy="2923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B4989F6-0001-7A76-6D55-4EE86DCEC7C9}"/>
              </a:ext>
            </a:extLst>
          </p:cNvPr>
          <p:cNvSpPr txBox="1"/>
          <p:nvPr/>
        </p:nvSpPr>
        <p:spPr>
          <a:xfrm>
            <a:off x="1128064" y="1844824"/>
            <a:ext cx="182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nullable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zainicjowana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303DBA8B-7047-A235-7ECA-CB8F7BB50C82}"/>
              </a:ext>
            </a:extLst>
          </p:cNvPr>
          <p:cNvSpPr/>
          <p:nvPr/>
        </p:nvSpPr>
        <p:spPr>
          <a:xfrm>
            <a:off x="1156747" y="1844824"/>
            <a:ext cx="1822926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20BD0D0A-AF51-D95C-535C-CF57DB9C67EF}"/>
              </a:ext>
            </a:extLst>
          </p:cNvPr>
          <p:cNvSpPr txBox="1"/>
          <p:nvPr/>
        </p:nvSpPr>
        <p:spPr>
          <a:xfrm>
            <a:off x="4211961" y="908068"/>
            <a:ext cx="4104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Operator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bezpiecznego wywołania,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sprawdza, czy obiekt jest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Jeśli jest, operacja zostanie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pominięta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a wynik zwróci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"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".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5AC8A557-37AE-4C5F-F8BB-EEC7F403EBD3}"/>
              </a:ext>
            </a:extLst>
          </p:cNvPr>
          <p:cNvCxnSpPr>
            <a:cxnSpLocks/>
          </p:cNvCxnSpPr>
          <p:nvPr/>
        </p:nvCxnSpPr>
        <p:spPr>
          <a:xfrm flipH="1">
            <a:off x="5936479" y="2128500"/>
            <a:ext cx="147689" cy="4880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8DE5F834-8386-4637-20AC-698EF0A6AE95}"/>
              </a:ext>
            </a:extLst>
          </p:cNvPr>
          <p:cNvSpPr/>
          <p:nvPr/>
        </p:nvSpPr>
        <p:spPr>
          <a:xfrm>
            <a:off x="4211960" y="935308"/>
            <a:ext cx="4104455" cy="117739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E60DC5A5-A9E4-A941-62EB-F10446F1EE34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6380662" y="2762781"/>
            <a:ext cx="711618" cy="41502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A78A3969-E528-3B21-4B7F-3A4B6C1A9E97}"/>
              </a:ext>
            </a:extLst>
          </p:cNvPr>
          <p:cNvSpPr txBox="1"/>
          <p:nvPr/>
        </p:nvSpPr>
        <p:spPr>
          <a:xfrm>
            <a:off x="7063596" y="2639197"/>
            <a:ext cx="20804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Próba dostępu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właściwości obiektu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zainicjowanego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zwróci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„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80624C7A-13E9-DB35-4FDB-86DCA2773FB6}"/>
              </a:ext>
            </a:extLst>
          </p:cNvPr>
          <p:cNvSpPr/>
          <p:nvPr/>
        </p:nvSpPr>
        <p:spPr>
          <a:xfrm>
            <a:off x="7092280" y="2639197"/>
            <a:ext cx="2051720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FCFBAC5F-00DA-E572-A09E-49CDE8501E79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2891175" y="4567804"/>
            <a:ext cx="672713" cy="44537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2C44AC83-7216-6A7B-C884-C0571C1DFCFC}"/>
              </a:ext>
            </a:extLst>
          </p:cNvPr>
          <p:cNvSpPr txBox="1"/>
          <p:nvPr/>
        </p:nvSpPr>
        <p:spPr>
          <a:xfrm>
            <a:off x="1039566" y="4275416"/>
            <a:ext cx="182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nullable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zainicjowana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0F8324B2-9DCB-B8B5-F14C-C9E46E85CA78}"/>
              </a:ext>
            </a:extLst>
          </p:cNvPr>
          <p:cNvSpPr/>
          <p:nvPr/>
        </p:nvSpPr>
        <p:spPr>
          <a:xfrm>
            <a:off x="1068249" y="4275416"/>
            <a:ext cx="1822926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20019FAA-91AB-3AC7-68EE-21D789ED43C2}"/>
              </a:ext>
            </a:extLst>
          </p:cNvPr>
          <p:cNvSpPr txBox="1"/>
          <p:nvPr/>
        </p:nvSpPr>
        <p:spPr>
          <a:xfrm>
            <a:off x="3753144" y="4021426"/>
            <a:ext cx="4104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Operator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!!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wymusza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 kompilatorze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założenie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że obiekt na pewno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3DC38415-D672-27DE-9A3E-1B4555F03EE8}"/>
              </a:ext>
            </a:extLst>
          </p:cNvPr>
          <p:cNvCxnSpPr>
            <a:cxnSpLocks/>
          </p:cNvCxnSpPr>
          <p:nvPr/>
        </p:nvCxnSpPr>
        <p:spPr>
          <a:xfrm flipH="1">
            <a:off x="4355976" y="4879911"/>
            <a:ext cx="959409" cy="32361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CCB1C8D3-BA9D-3DEF-D7E7-A5A31E736A73}"/>
              </a:ext>
            </a:extLst>
          </p:cNvPr>
          <p:cNvSpPr/>
          <p:nvPr/>
        </p:nvSpPr>
        <p:spPr>
          <a:xfrm>
            <a:off x="3720352" y="4040873"/>
            <a:ext cx="4104455" cy="79575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3200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51E58-5A29-7630-829B-2D47DF7C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27FF10-A814-5D40-696E-95987CEF80B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D8200BA-C689-0D85-CFE1-C4A044DDF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855090"/>
            <a:ext cx="5095321" cy="1447851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C90DBE7A-E324-5E1B-DD44-F6930C090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72" y="2132856"/>
            <a:ext cx="3551857" cy="1663008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D599670B-BD64-B148-C665-FEA477000487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979673" y="2137212"/>
            <a:ext cx="740679" cy="2923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0FF6047-161A-EA5D-A16A-94CBB0A9AE39}"/>
              </a:ext>
            </a:extLst>
          </p:cNvPr>
          <p:cNvSpPr txBox="1"/>
          <p:nvPr/>
        </p:nvSpPr>
        <p:spPr>
          <a:xfrm>
            <a:off x="1128064" y="1844824"/>
            <a:ext cx="182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nullable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zainicjowana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0D83512C-1C06-0A26-D62C-D43A71A7ECA3}"/>
              </a:ext>
            </a:extLst>
          </p:cNvPr>
          <p:cNvSpPr/>
          <p:nvPr/>
        </p:nvSpPr>
        <p:spPr>
          <a:xfrm>
            <a:off x="1156747" y="1844824"/>
            <a:ext cx="1822926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47077720-976D-74C3-E0C4-04ACC82C2CDB}"/>
              </a:ext>
            </a:extLst>
          </p:cNvPr>
          <p:cNvSpPr txBox="1"/>
          <p:nvPr/>
        </p:nvSpPr>
        <p:spPr>
          <a:xfrm>
            <a:off x="4211961" y="908068"/>
            <a:ext cx="4104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Operator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bezpiecznego wywołania,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sprawdza, czy obiekt jest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Jeśli jest, operacja zostanie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pominięta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a wynik zwróci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"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".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70586892-FFA3-BF18-47F0-CF738E62B1ED}"/>
              </a:ext>
            </a:extLst>
          </p:cNvPr>
          <p:cNvCxnSpPr>
            <a:cxnSpLocks/>
          </p:cNvCxnSpPr>
          <p:nvPr/>
        </p:nvCxnSpPr>
        <p:spPr>
          <a:xfrm flipH="1">
            <a:off x="5936479" y="2128500"/>
            <a:ext cx="147689" cy="4880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1C527D18-E9B1-4E3E-6697-2A44060F0AC9}"/>
              </a:ext>
            </a:extLst>
          </p:cNvPr>
          <p:cNvSpPr/>
          <p:nvPr/>
        </p:nvSpPr>
        <p:spPr>
          <a:xfrm>
            <a:off x="4211960" y="935308"/>
            <a:ext cx="4104455" cy="117739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C1BC95CB-5E85-B98E-3835-7327C2057F98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6380662" y="2762781"/>
            <a:ext cx="711618" cy="41502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33EE01CC-BCFB-DEF1-679A-5FD5087570B6}"/>
              </a:ext>
            </a:extLst>
          </p:cNvPr>
          <p:cNvSpPr txBox="1"/>
          <p:nvPr/>
        </p:nvSpPr>
        <p:spPr>
          <a:xfrm>
            <a:off x="7063596" y="2639197"/>
            <a:ext cx="20804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Próba dostępu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właściwości obiektu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zainicjowanego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zwróci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„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08626758-AC43-A5ED-6674-1DC644CBDD59}"/>
              </a:ext>
            </a:extLst>
          </p:cNvPr>
          <p:cNvSpPr/>
          <p:nvPr/>
        </p:nvSpPr>
        <p:spPr>
          <a:xfrm>
            <a:off x="7092280" y="2639197"/>
            <a:ext cx="2051720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FBEF45B1-871B-25C0-65BB-EF144E4B27C0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2891175" y="4567804"/>
            <a:ext cx="672713" cy="44537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658CC1A0-CCF9-7183-464B-0276CC47F93E}"/>
              </a:ext>
            </a:extLst>
          </p:cNvPr>
          <p:cNvSpPr txBox="1"/>
          <p:nvPr/>
        </p:nvSpPr>
        <p:spPr>
          <a:xfrm>
            <a:off x="1039566" y="4275416"/>
            <a:ext cx="182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nullable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zainicjowana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F18C52DC-E613-4BFE-FA27-FFB68965C464}"/>
              </a:ext>
            </a:extLst>
          </p:cNvPr>
          <p:cNvSpPr/>
          <p:nvPr/>
        </p:nvSpPr>
        <p:spPr>
          <a:xfrm>
            <a:off x="1068249" y="4275416"/>
            <a:ext cx="1822926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1F62193F-1E38-B8B6-044D-EAF9BC782B52}"/>
              </a:ext>
            </a:extLst>
          </p:cNvPr>
          <p:cNvSpPr txBox="1"/>
          <p:nvPr/>
        </p:nvSpPr>
        <p:spPr>
          <a:xfrm>
            <a:off x="3753144" y="4021426"/>
            <a:ext cx="4104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Operator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!!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wymusza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 kompilatorze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założenie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że obiekt na pewno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CEE4AD6A-9451-0DCA-B1DF-6838B8BF2684}"/>
              </a:ext>
            </a:extLst>
          </p:cNvPr>
          <p:cNvCxnSpPr>
            <a:cxnSpLocks/>
          </p:cNvCxnSpPr>
          <p:nvPr/>
        </p:nvCxnSpPr>
        <p:spPr>
          <a:xfrm flipH="1">
            <a:off x="4355976" y="4879911"/>
            <a:ext cx="959409" cy="32361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8679E78E-779F-3A50-C738-A605AB5CF232}"/>
              </a:ext>
            </a:extLst>
          </p:cNvPr>
          <p:cNvSpPr/>
          <p:nvPr/>
        </p:nvSpPr>
        <p:spPr>
          <a:xfrm>
            <a:off x="3720352" y="4040873"/>
            <a:ext cx="4104455" cy="79575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D4ED3C85-5F22-1ECA-B9D6-061D1E058C87}"/>
              </a:ext>
            </a:extLst>
          </p:cNvPr>
          <p:cNvCxnSpPr>
            <a:cxnSpLocks/>
          </p:cNvCxnSpPr>
          <p:nvPr/>
        </p:nvCxnSpPr>
        <p:spPr>
          <a:xfrm flipH="1" flipV="1">
            <a:off x="5004048" y="5340836"/>
            <a:ext cx="1224136" cy="31790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2105569B-66C1-550F-9C0D-E4F1A420B7DC}"/>
              </a:ext>
            </a:extLst>
          </p:cNvPr>
          <p:cNvSpPr txBox="1"/>
          <p:nvPr/>
        </p:nvSpPr>
        <p:spPr>
          <a:xfrm>
            <a:off x="6084168" y="5674530"/>
            <a:ext cx="30598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Próba dostępu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właściwości obiektu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zainicjowanego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null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zakońcy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się rzuceniem wyjątku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3" name="Prostokąt: zaokrąglone rogi 32">
            <a:extLst>
              <a:ext uri="{FF2B5EF4-FFF2-40B4-BE49-F238E27FC236}">
                <a16:creationId xmlns:a16="http://schemas.microsoft.com/office/drawing/2014/main" id="{A06043B2-37B2-1944-697C-4F9E540F9832}"/>
              </a:ext>
            </a:extLst>
          </p:cNvPr>
          <p:cNvSpPr/>
          <p:nvPr/>
        </p:nvSpPr>
        <p:spPr>
          <a:xfrm>
            <a:off x="6084168" y="5661410"/>
            <a:ext cx="3031148" cy="92881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71352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15CD4-1159-B088-EBCC-1F95C20C4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5AD67F-3C99-6565-5BC3-8C84DC3CBA8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A049D313-741D-5434-3294-582DE1B23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96491"/>
            <a:ext cx="2838450" cy="2676525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EEDA7378-6FDE-1395-DA77-FB2F24642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2058" y="891575"/>
            <a:ext cx="4991100" cy="264795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A5BCDCE5-1801-7B69-31D7-DF1445B00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974989"/>
            <a:ext cx="2838450" cy="2676525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65C7782F-C4DC-7D6D-8978-B493066E4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6977" y="3941498"/>
            <a:ext cx="52387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36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29155-4C00-8D71-25CF-9288A571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9E5936-CD95-698F-1EB5-32E5E4BC765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3FC9897-4089-4F5E-D999-82A38B0AD5EF}"/>
              </a:ext>
            </a:extLst>
          </p:cNvPr>
          <p:cNvSpPr txBox="1"/>
          <p:nvPr/>
        </p:nvSpPr>
        <p:spPr>
          <a:xfrm>
            <a:off x="1132657" y="908720"/>
            <a:ext cx="8011343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800" dirty="0"/>
              <a:t> Podsumowanie: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- </a:t>
            </a:r>
            <a:r>
              <a:rPr lang="pl-PL" sz="1800" b="1" dirty="0" err="1"/>
              <a:t>Null</a:t>
            </a:r>
            <a:r>
              <a:rPr lang="pl-PL" sz="1800" b="1" dirty="0"/>
              <a:t> </a:t>
            </a:r>
            <a:r>
              <a:rPr lang="pl-PL" sz="1800" b="1" dirty="0" err="1"/>
              <a:t>safety</a:t>
            </a:r>
            <a:r>
              <a:rPr lang="pl-PL" sz="1800" dirty="0"/>
              <a:t> w Kotlinie eliminuje błędy związane z </a:t>
            </a:r>
            <a:r>
              <a:rPr lang="pl-PL" sz="1800" b="1" dirty="0" err="1"/>
              <a:t>null</a:t>
            </a:r>
            <a:r>
              <a:rPr lang="pl-PL" sz="1800" dirty="0"/>
              <a:t> poprzez wymuszenie obsługi zmiennych </a:t>
            </a:r>
            <a:r>
              <a:rPr lang="pl-PL" sz="1800" i="1" dirty="0" err="1"/>
              <a:t>nullable</a:t>
            </a:r>
            <a:r>
              <a:rPr lang="pl-PL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05583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D0ECC-18D8-7DA2-819F-4C0950C9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44C2E0-8DF4-6460-4611-64AC27C9144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6F39A9C-8C35-7E34-1F79-9CCAAB067F44}"/>
              </a:ext>
            </a:extLst>
          </p:cNvPr>
          <p:cNvSpPr txBox="1"/>
          <p:nvPr/>
        </p:nvSpPr>
        <p:spPr>
          <a:xfrm>
            <a:off x="1132657" y="908720"/>
            <a:ext cx="8011343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800" dirty="0"/>
              <a:t> Podsumowanie: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- </a:t>
            </a:r>
            <a:r>
              <a:rPr lang="pl-PL" sz="1800" b="1" dirty="0" err="1"/>
              <a:t>Null</a:t>
            </a:r>
            <a:r>
              <a:rPr lang="pl-PL" sz="1800" b="1" dirty="0"/>
              <a:t> </a:t>
            </a:r>
            <a:r>
              <a:rPr lang="pl-PL" sz="1800" b="1" dirty="0" err="1"/>
              <a:t>safety</a:t>
            </a:r>
            <a:r>
              <a:rPr lang="pl-PL" sz="1800" dirty="0"/>
              <a:t> w Kotlinie eliminuje błędy związane z </a:t>
            </a:r>
            <a:r>
              <a:rPr lang="pl-PL" sz="1800" b="1" dirty="0" err="1"/>
              <a:t>null</a:t>
            </a:r>
            <a:r>
              <a:rPr lang="pl-PL" sz="1800" dirty="0"/>
              <a:t> poprzez wymuszenie obsługi zmiennych </a:t>
            </a:r>
            <a:r>
              <a:rPr lang="pl-PL" sz="1800" i="1" dirty="0" err="1"/>
              <a:t>nullable</a:t>
            </a:r>
            <a:r>
              <a:rPr lang="pl-PL" sz="1800" dirty="0"/>
              <a:t>.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- Bezpieczne wywołanie (</a:t>
            </a:r>
            <a:r>
              <a:rPr lang="pl-PL" sz="1800" b="1" dirty="0"/>
              <a:t>?.</a:t>
            </a:r>
            <a:r>
              <a:rPr lang="pl-PL" sz="1800" dirty="0"/>
              <a:t>) umożliwia bezpieczne operacje na zmiennych </a:t>
            </a:r>
            <a:r>
              <a:rPr lang="pl-PL" sz="1800" i="1" dirty="0" err="1"/>
              <a:t>nullable</a:t>
            </a:r>
            <a:r>
              <a:rPr lang="pl-PL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75163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17FB8-A8B8-DFA4-97D8-83142A85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22D52E-2465-F4D8-12D7-741F2278A7D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8EB1E72-850D-018D-BCE0-4764B9A4BF1C}"/>
              </a:ext>
            </a:extLst>
          </p:cNvPr>
          <p:cNvSpPr txBox="1"/>
          <p:nvPr/>
        </p:nvSpPr>
        <p:spPr>
          <a:xfrm>
            <a:off x="1132657" y="908720"/>
            <a:ext cx="8011343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800" dirty="0"/>
              <a:t> Podsumowanie: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- </a:t>
            </a:r>
            <a:r>
              <a:rPr lang="pl-PL" sz="1800" b="1" dirty="0" err="1"/>
              <a:t>Null</a:t>
            </a:r>
            <a:r>
              <a:rPr lang="pl-PL" sz="1800" b="1" dirty="0"/>
              <a:t> </a:t>
            </a:r>
            <a:r>
              <a:rPr lang="pl-PL" sz="1800" b="1" dirty="0" err="1"/>
              <a:t>safety</a:t>
            </a:r>
            <a:r>
              <a:rPr lang="pl-PL" sz="1800" dirty="0"/>
              <a:t> w Kotlinie eliminuje błędy związane z </a:t>
            </a:r>
            <a:r>
              <a:rPr lang="pl-PL" sz="1800" b="1" dirty="0" err="1"/>
              <a:t>null</a:t>
            </a:r>
            <a:r>
              <a:rPr lang="pl-PL" sz="1800" dirty="0"/>
              <a:t> poprzez wymuszenie obsługi zmiennych </a:t>
            </a:r>
            <a:r>
              <a:rPr lang="pl-PL" sz="1800" i="1" dirty="0" err="1"/>
              <a:t>nullable</a:t>
            </a:r>
            <a:r>
              <a:rPr lang="pl-PL" sz="1800" dirty="0"/>
              <a:t>.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- Bezpieczne wywołanie (</a:t>
            </a:r>
            <a:r>
              <a:rPr lang="pl-PL" sz="1800" b="1" dirty="0"/>
              <a:t>?.</a:t>
            </a:r>
            <a:r>
              <a:rPr lang="pl-PL" sz="1800" dirty="0"/>
              <a:t>) umożliwia bezpieczne operacje na zmiennych </a:t>
            </a:r>
            <a:r>
              <a:rPr lang="pl-PL" sz="1800" i="1" dirty="0" err="1"/>
              <a:t>nullable</a:t>
            </a:r>
            <a:r>
              <a:rPr lang="pl-PL" sz="18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l-PL" sz="1800" dirty="0"/>
              <a:t>Operator Elvis (</a:t>
            </a:r>
            <a:r>
              <a:rPr lang="pl-PL" sz="1800" b="1" dirty="0"/>
              <a:t>?:</a:t>
            </a:r>
            <a:r>
              <a:rPr lang="pl-PL" sz="1800" dirty="0"/>
              <a:t>) pozwala ustawić wartość domyślną w przypadku </a:t>
            </a:r>
            <a:r>
              <a:rPr lang="pl-PL" sz="1800" b="1" dirty="0" err="1"/>
              <a:t>null</a:t>
            </a:r>
            <a:r>
              <a:rPr lang="pl-PL" sz="18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pl-PL" sz="18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A862CB41-C155-4A5C-2188-218376F38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3501008"/>
            <a:ext cx="45910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953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49DA7-AE4F-0518-DA3B-F32B8895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E411C-E80F-B987-DD57-AF1C256DCE7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8426229-C2D0-5273-393C-E8E75D303671}"/>
              </a:ext>
            </a:extLst>
          </p:cNvPr>
          <p:cNvSpPr txBox="1"/>
          <p:nvPr/>
        </p:nvSpPr>
        <p:spPr>
          <a:xfrm>
            <a:off x="1132657" y="908720"/>
            <a:ext cx="8011343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800" dirty="0"/>
              <a:t> Podsumowanie: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- </a:t>
            </a:r>
            <a:r>
              <a:rPr lang="pl-PL" sz="1800" b="1" dirty="0" err="1"/>
              <a:t>Null</a:t>
            </a:r>
            <a:r>
              <a:rPr lang="pl-PL" sz="1800" b="1" dirty="0"/>
              <a:t> </a:t>
            </a:r>
            <a:r>
              <a:rPr lang="pl-PL" sz="1800" b="1" dirty="0" err="1"/>
              <a:t>safety</a:t>
            </a:r>
            <a:r>
              <a:rPr lang="pl-PL" sz="1800" dirty="0"/>
              <a:t> w Kotlinie eliminuje błędy związane z </a:t>
            </a:r>
            <a:r>
              <a:rPr lang="pl-PL" sz="1800" b="1" dirty="0" err="1"/>
              <a:t>null</a:t>
            </a:r>
            <a:r>
              <a:rPr lang="pl-PL" sz="1800" dirty="0"/>
              <a:t> poprzez wymuszenie obsługi zmiennych </a:t>
            </a:r>
            <a:r>
              <a:rPr lang="pl-PL" sz="1800" i="1" dirty="0" err="1"/>
              <a:t>nullable</a:t>
            </a:r>
            <a:r>
              <a:rPr lang="pl-PL" sz="1800" dirty="0"/>
              <a:t>.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- Bezpieczne wywołanie (</a:t>
            </a:r>
            <a:r>
              <a:rPr lang="pl-PL" sz="1800" b="1" dirty="0"/>
              <a:t>?.</a:t>
            </a:r>
            <a:r>
              <a:rPr lang="pl-PL" sz="1800" dirty="0"/>
              <a:t>) umożliwia bezpieczne operacje na zmiennych </a:t>
            </a:r>
            <a:r>
              <a:rPr lang="pl-PL" sz="1800" i="1" dirty="0" err="1"/>
              <a:t>nullable</a:t>
            </a:r>
            <a:r>
              <a:rPr lang="pl-PL" sz="18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l-PL" sz="1800" dirty="0"/>
              <a:t>Operator Elvis (</a:t>
            </a:r>
            <a:r>
              <a:rPr lang="pl-PL" sz="1800" b="1" dirty="0"/>
              <a:t>?:</a:t>
            </a:r>
            <a:r>
              <a:rPr lang="pl-PL" sz="1800" dirty="0"/>
              <a:t>) pozwala ustawić wartość domyślną w przypadku </a:t>
            </a:r>
            <a:r>
              <a:rPr lang="pl-PL" sz="1800" b="1" dirty="0" err="1"/>
              <a:t>null</a:t>
            </a:r>
            <a:r>
              <a:rPr lang="pl-PL" sz="18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pl-PL" sz="18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l-PL" sz="1800" dirty="0"/>
              <a:t>Rzutowanie bezpieczne (</a:t>
            </a:r>
            <a:r>
              <a:rPr lang="pl-PL" sz="1800" b="1" dirty="0"/>
              <a:t>as?</a:t>
            </a:r>
            <a:r>
              <a:rPr lang="pl-PL" sz="1800" dirty="0"/>
              <a:t>) zwraca </a:t>
            </a:r>
            <a:r>
              <a:rPr lang="pl-PL" sz="1800" b="1" dirty="0" err="1"/>
              <a:t>null</a:t>
            </a:r>
            <a:r>
              <a:rPr lang="pl-PL" sz="1800" dirty="0"/>
              <a:t> w przypadku nieudanego rzutowania.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pl-PL" sz="18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20388715-A8CE-9E43-833E-492781C5B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3501008"/>
            <a:ext cx="4591050" cy="314325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47A2BFE4-9B12-120F-B304-E5F9810C6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65" y="4699322"/>
            <a:ext cx="45720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56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7A4A9-EB3F-3366-E7F3-26DA8386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B7103C-9802-501B-DD27-61C23A31E20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nullable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D3F2CA2-CE0C-5998-BD5D-BA48D1BF3560}"/>
              </a:ext>
            </a:extLst>
          </p:cNvPr>
          <p:cNvSpPr txBox="1"/>
          <p:nvPr/>
        </p:nvSpPr>
        <p:spPr>
          <a:xfrm>
            <a:off x="1132657" y="908720"/>
            <a:ext cx="8011343" cy="502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800" dirty="0"/>
              <a:t> Podsumowanie: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- </a:t>
            </a:r>
            <a:r>
              <a:rPr lang="pl-PL" sz="1800" b="1" dirty="0" err="1"/>
              <a:t>Null</a:t>
            </a:r>
            <a:r>
              <a:rPr lang="pl-PL" sz="1800" b="1" dirty="0"/>
              <a:t> </a:t>
            </a:r>
            <a:r>
              <a:rPr lang="pl-PL" sz="1800" b="1" dirty="0" err="1"/>
              <a:t>safety</a:t>
            </a:r>
            <a:r>
              <a:rPr lang="pl-PL" sz="1800" dirty="0"/>
              <a:t> w Kotlinie eliminuje błędy związane z </a:t>
            </a:r>
            <a:r>
              <a:rPr lang="pl-PL" sz="1800" b="1" dirty="0" err="1"/>
              <a:t>null</a:t>
            </a:r>
            <a:r>
              <a:rPr lang="pl-PL" sz="1800" dirty="0"/>
              <a:t> poprzez wymuszenie obsługi zmiennych </a:t>
            </a:r>
            <a:r>
              <a:rPr lang="pl-PL" sz="1800" i="1" dirty="0" err="1"/>
              <a:t>nullable</a:t>
            </a:r>
            <a:r>
              <a:rPr lang="pl-PL" sz="1800" dirty="0"/>
              <a:t>.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- Bezpieczne wywołanie (</a:t>
            </a:r>
            <a:r>
              <a:rPr lang="pl-PL" sz="1800" b="1" dirty="0"/>
              <a:t>?.</a:t>
            </a:r>
            <a:r>
              <a:rPr lang="pl-PL" sz="1800" dirty="0"/>
              <a:t>) umożliwia bezpieczne operacje na zmiennych </a:t>
            </a:r>
            <a:r>
              <a:rPr lang="pl-PL" sz="1800" i="1" dirty="0" err="1"/>
              <a:t>nullable</a:t>
            </a:r>
            <a:r>
              <a:rPr lang="pl-PL" sz="18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l-PL" sz="1800" dirty="0"/>
              <a:t>Operator Elvis (</a:t>
            </a:r>
            <a:r>
              <a:rPr lang="pl-PL" sz="1800" b="1" dirty="0"/>
              <a:t>?:</a:t>
            </a:r>
            <a:r>
              <a:rPr lang="pl-PL" sz="1800" dirty="0"/>
              <a:t>) pozwala ustawić wartość domyślną w przypadku </a:t>
            </a:r>
            <a:r>
              <a:rPr lang="pl-PL" sz="1800" b="1" dirty="0" err="1"/>
              <a:t>null</a:t>
            </a:r>
            <a:r>
              <a:rPr lang="pl-PL" sz="18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pl-PL" sz="18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l-PL" sz="1800" dirty="0"/>
              <a:t>Rzutowanie bezpieczne (</a:t>
            </a:r>
            <a:r>
              <a:rPr lang="pl-PL" sz="1800" b="1" dirty="0"/>
              <a:t>as?</a:t>
            </a:r>
            <a:r>
              <a:rPr lang="pl-PL" sz="1800" dirty="0"/>
              <a:t>) zwraca </a:t>
            </a:r>
            <a:r>
              <a:rPr lang="pl-PL" sz="1800" b="1" dirty="0" err="1"/>
              <a:t>null</a:t>
            </a:r>
            <a:r>
              <a:rPr lang="pl-PL" sz="1800" dirty="0"/>
              <a:t> w przypadku nieudanego rzutowania.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pl-PL" sz="1800" dirty="0"/>
          </a:p>
          <a:p>
            <a:pPr>
              <a:lnSpc>
                <a:spcPct val="150000"/>
              </a:lnSpc>
            </a:pPr>
            <a:r>
              <a:rPr lang="pl-PL" sz="1800" dirty="0"/>
              <a:t>- Wymuszenie </a:t>
            </a:r>
            <a:r>
              <a:rPr lang="pl-PL" sz="1800" i="1" dirty="0"/>
              <a:t>nie-</a:t>
            </a:r>
            <a:r>
              <a:rPr lang="pl-PL" sz="1800" i="1" dirty="0" err="1"/>
              <a:t>null</a:t>
            </a:r>
            <a:r>
              <a:rPr lang="pl-PL" sz="1800" dirty="0"/>
              <a:t> (</a:t>
            </a:r>
            <a:r>
              <a:rPr lang="pl-PL" sz="1800" b="1" dirty="0"/>
              <a:t>!!</a:t>
            </a:r>
            <a:r>
              <a:rPr lang="pl-PL" sz="1800" dirty="0"/>
              <a:t>) powinno być używane ostrożnie, ponieważ może prowadzić do wyjątków.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76DD7CA9-EA45-ECC3-3753-32A146B8F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3501008"/>
            <a:ext cx="4591050" cy="314325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1AC949DC-99DD-1E37-E0CC-6D2CB9F9E2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65" y="4699322"/>
            <a:ext cx="45720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245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09648-9C3B-919B-5184-F0B224B1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E6C7E-C4E8-C270-55FA-7BF1F0175AA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5B65534-91F3-D48A-2E3D-F577C81328DC}"/>
              </a:ext>
            </a:extLst>
          </p:cNvPr>
          <p:cNvSpPr txBox="1"/>
          <p:nvPr/>
        </p:nvSpPr>
        <p:spPr>
          <a:xfrm>
            <a:off x="1043608" y="849890"/>
            <a:ext cx="8100392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W Kotlinie instrukcja </a:t>
            </a:r>
            <a:r>
              <a:rPr lang="pl-PL" sz="1600" b="1" dirty="0" err="1"/>
              <a:t>if</a:t>
            </a:r>
            <a:r>
              <a:rPr lang="pl-PL" sz="1600" dirty="0"/>
              <a:t> działa podobnie jak w wielu innych językach programowania, ale ma jedną istotną różnicę: jest </a:t>
            </a:r>
            <a:r>
              <a:rPr lang="pl-PL" sz="1600" b="1" dirty="0"/>
              <a:t>wyrażeniem</a:t>
            </a:r>
            <a:r>
              <a:rPr lang="pl-PL" sz="1600" dirty="0"/>
              <a:t>, co oznacza, że może zwracać wartość. Dzięki temu może być używane zarówno jako standardowa instrukcja warunkowa (z ciałem blokowym), jak i jako element przypisania lub wyrażenie (ciało wyrażeniowe). </a:t>
            </a:r>
          </a:p>
        </p:txBody>
      </p:sp>
    </p:spTree>
    <p:extLst>
      <p:ext uri="{BB962C8B-B14F-4D97-AF65-F5344CB8AC3E}">
        <p14:creationId xmlns:p14="http://schemas.microsoft.com/office/powerpoint/2010/main" val="41617620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EC714-34B3-77A3-E4E3-14AE4B926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C1B768-8573-C1CC-81B8-659ED46C5FA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5142D36-1F34-6524-EF48-079F87604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186" y="1340768"/>
            <a:ext cx="5772731" cy="4005064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0A8F06A7-3EC5-6DE2-EB7E-AE98F3FE672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010550" y="1663142"/>
            <a:ext cx="625346" cy="25369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0C8273E-B135-A50A-B1DC-A8E10C66C574}"/>
              </a:ext>
            </a:extLst>
          </p:cNvPr>
          <p:cNvSpPr txBox="1"/>
          <p:nvPr/>
        </p:nvSpPr>
        <p:spPr>
          <a:xfrm>
            <a:off x="1619672" y="1489720"/>
            <a:ext cx="1822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Warunek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74FEAEB6-A1A6-E641-0874-2AA132DD9845}"/>
              </a:ext>
            </a:extLst>
          </p:cNvPr>
          <p:cNvSpPr/>
          <p:nvPr/>
        </p:nvSpPr>
        <p:spPr>
          <a:xfrm>
            <a:off x="1187624" y="1498009"/>
            <a:ext cx="1822926" cy="330266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00500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B98F4-59BC-99D4-4BA5-9BB392EF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208A5A-437D-2217-3668-D6BA676D43D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95846F7-6BAE-9FFD-9902-F8E3B44F9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186" y="1340768"/>
            <a:ext cx="5772731" cy="4005064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D91C3C29-DC3B-460A-E112-171C889D3B0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010550" y="1663142"/>
            <a:ext cx="625346" cy="25369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1B71B71-5BA2-28D0-CCEC-5C45687EACB5}"/>
              </a:ext>
            </a:extLst>
          </p:cNvPr>
          <p:cNvSpPr txBox="1"/>
          <p:nvPr/>
        </p:nvSpPr>
        <p:spPr>
          <a:xfrm>
            <a:off x="1619672" y="1489720"/>
            <a:ext cx="1822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Warunek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E6703197-66D4-28DC-1010-060C3B57FE1C}"/>
              </a:ext>
            </a:extLst>
          </p:cNvPr>
          <p:cNvSpPr/>
          <p:nvPr/>
        </p:nvSpPr>
        <p:spPr>
          <a:xfrm>
            <a:off x="1187624" y="1498009"/>
            <a:ext cx="1822926" cy="330266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5B33BA28-B37C-329F-A844-B454C42279E5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442598" y="2212146"/>
            <a:ext cx="553338" cy="25369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6DE4B8B-CF33-9E3A-0B90-8FBBF3B44729}"/>
              </a:ext>
            </a:extLst>
          </p:cNvPr>
          <p:cNvSpPr txBox="1"/>
          <p:nvPr/>
        </p:nvSpPr>
        <p:spPr>
          <a:xfrm>
            <a:off x="959776" y="2150648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Blok kodu wywoływany przy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spełnieniu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warunku</a:t>
            </a: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5330F981-6A1E-6E4B-CD9F-6607BFB666F9}"/>
              </a:ext>
            </a:extLst>
          </p:cNvPr>
          <p:cNvSpPr/>
          <p:nvPr/>
        </p:nvSpPr>
        <p:spPr>
          <a:xfrm>
            <a:off x="1014998" y="2196249"/>
            <a:ext cx="2427600" cy="53917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09549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5EF36-D304-94FB-A5F6-CF6839B68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9F0DCA-1590-FE6D-57F2-603F59EC15E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7666E0D-44FB-F964-2F2F-48913F612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186" y="1340768"/>
            <a:ext cx="5772731" cy="4005064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6C04DDED-DF37-E909-C4B9-E4FB7C4E232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010550" y="1663142"/>
            <a:ext cx="625346" cy="25369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01ECC49-4070-9BAA-0D52-3793D4BFA10C}"/>
              </a:ext>
            </a:extLst>
          </p:cNvPr>
          <p:cNvSpPr txBox="1"/>
          <p:nvPr/>
        </p:nvSpPr>
        <p:spPr>
          <a:xfrm>
            <a:off x="1619672" y="1489720"/>
            <a:ext cx="1822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Warunek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C5042A7E-D3DB-690D-CDFD-E4E804ACB08B}"/>
              </a:ext>
            </a:extLst>
          </p:cNvPr>
          <p:cNvSpPr/>
          <p:nvPr/>
        </p:nvSpPr>
        <p:spPr>
          <a:xfrm>
            <a:off x="1187624" y="1498009"/>
            <a:ext cx="1822926" cy="330266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8CF1F335-58F7-0B3B-DAE6-C1FC751ADB45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442598" y="2212146"/>
            <a:ext cx="553338" cy="25369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B269D85-9D27-4EAC-023B-8CE397D6439B}"/>
              </a:ext>
            </a:extLst>
          </p:cNvPr>
          <p:cNvSpPr txBox="1"/>
          <p:nvPr/>
        </p:nvSpPr>
        <p:spPr>
          <a:xfrm>
            <a:off x="959776" y="2150648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Blok kodu wywoływany przy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spełnieniu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warunku</a:t>
            </a: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9A234A5B-D4B5-AE7E-E41C-CBFD5F28A866}"/>
              </a:ext>
            </a:extLst>
          </p:cNvPr>
          <p:cNvSpPr/>
          <p:nvPr/>
        </p:nvSpPr>
        <p:spPr>
          <a:xfrm>
            <a:off x="1014998" y="2196249"/>
            <a:ext cx="2427600" cy="53917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8455A2AE-30A0-77E3-21E8-0C28E4A2223A}"/>
              </a:ext>
            </a:extLst>
          </p:cNvPr>
          <p:cNvCxnSpPr>
            <a:cxnSpLocks/>
          </p:cNvCxnSpPr>
          <p:nvPr/>
        </p:nvCxnSpPr>
        <p:spPr>
          <a:xfrm flipV="1">
            <a:off x="3474664" y="2654051"/>
            <a:ext cx="521272" cy="3151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6FE13137-F6F8-38A5-F63A-DAB566D04DAF}"/>
              </a:ext>
            </a:extLst>
          </p:cNvPr>
          <p:cNvSpPr txBox="1"/>
          <p:nvPr/>
        </p:nvSpPr>
        <p:spPr>
          <a:xfrm>
            <a:off x="1005704" y="2923638"/>
            <a:ext cx="2774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Blok kodu wywoływany przy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spełnieniu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warunku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B6CD6E70-E914-D6B4-4FE0-7842984B93AD}"/>
              </a:ext>
            </a:extLst>
          </p:cNvPr>
          <p:cNvSpPr/>
          <p:nvPr/>
        </p:nvSpPr>
        <p:spPr>
          <a:xfrm>
            <a:off x="1060926" y="2969239"/>
            <a:ext cx="2646977" cy="53917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60495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FCA6AD-985D-822E-FC21-1672F13C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3EFD01-A14F-D5ED-2902-07B140E7DDD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5E5EA2B-402A-63D8-F194-D08CBD87F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186" y="1340768"/>
            <a:ext cx="5772731" cy="4005064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CACB80A4-DF97-AF5F-AF50-AE72009EE1B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010550" y="1663142"/>
            <a:ext cx="625346" cy="25369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4B696EC-E5B3-837D-C442-7C89AEE45640}"/>
              </a:ext>
            </a:extLst>
          </p:cNvPr>
          <p:cNvSpPr txBox="1"/>
          <p:nvPr/>
        </p:nvSpPr>
        <p:spPr>
          <a:xfrm>
            <a:off x="1619672" y="1489720"/>
            <a:ext cx="1822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Warunek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FCC12F9C-84C0-0763-A966-4BF2C680FAF1}"/>
              </a:ext>
            </a:extLst>
          </p:cNvPr>
          <p:cNvSpPr/>
          <p:nvPr/>
        </p:nvSpPr>
        <p:spPr>
          <a:xfrm>
            <a:off x="1187624" y="1498009"/>
            <a:ext cx="1822926" cy="330266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C2264B1D-A71B-F2C5-DAAB-A2FC702DFD12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442598" y="2212146"/>
            <a:ext cx="553338" cy="25369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A16A82FE-138D-23C3-84AA-F130E03F546B}"/>
              </a:ext>
            </a:extLst>
          </p:cNvPr>
          <p:cNvSpPr txBox="1"/>
          <p:nvPr/>
        </p:nvSpPr>
        <p:spPr>
          <a:xfrm>
            <a:off x="959776" y="2150648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Blok kodu wywoływany przy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spełnieniu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warunku</a:t>
            </a: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61BF6CA5-777E-D830-94E6-D4E75BC775DB}"/>
              </a:ext>
            </a:extLst>
          </p:cNvPr>
          <p:cNvSpPr/>
          <p:nvPr/>
        </p:nvSpPr>
        <p:spPr>
          <a:xfrm>
            <a:off x="1014998" y="2196249"/>
            <a:ext cx="2427600" cy="53917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9B9E3E0B-0C5E-55C3-B2E8-6CB72D2491C2}"/>
              </a:ext>
            </a:extLst>
          </p:cNvPr>
          <p:cNvCxnSpPr>
            <a:cxnSpLocks/>
          </p:cNvCxnSpPr>
          <p:nvPr/>
        </p:nvCxnSpPr>
        <p:spPr>
          <a:xfrm flipV="1">
            <a:off x="3474664" y="2654051"/>
            <a:ext cx="521272" cy="3151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F320148E-2709-1E2F-08F5-E39DBE21B21E}"/>
              </a:ext>
            </a:extLst>
          </p:cNvPr>
          <p:cNvSpPr txBox="1"/>
          <p:nvPr/>
        </p:nvSpPr>
        <p:spPr>
          <a:xfrm>
            <a:off x="1005704" y="2923638"/>
            <a:ext cx="2774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Blok kodu wywoływany przy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spełnieniu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warunku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5B839D20-0E6C-4364-2139-AE94C0D44EEA}"/>
              </a:ext>
            </a:extLst>
          </p:cNvPr>
          <p:cNvSpPr/>
          <p:nvPr/>
        </p:nvSpPr>
        <p:spPr>
          <a:xfrm>
            <a:off x="1060926" y="2969239"/>
            <a:ext cx="2646977" cy="53917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9D1A2409-BF7C-56E1-4660-FF7995B07BB7}"/>
              </a:ext>
            </a:extLst>
          </p:cNvPr>
          <p:cNvCxnSpPr>
            <a:cxnSpLocks/>
          </p:cNvCxnSpPr>
          <p:nvPr/>
        </p:nvCxnSpPr>
        <p:spPr>
          <a:xfrm flipV="1">
            <a:off x="3245583" y="4322132"/>
            <a:ext cx="521272" cy="3151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4643C02C-8782-190E-161A-EC0667A84F60}"/>
              </a:ext>
            </a:extLst>
          </p:cNvPr>
          <p:cNvSpPr txBox="1"/>
          <p:nvPr/>
        </p:nvSpPr>
        <p:spPr>
          <a:xfrm>
            <a:off x="1322780" y="4591718"/>
            <a:ext cx="2075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Warunek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if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ciałem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wyrażeniowym</a:t>
            </a:r>
          </a:p>
        </p:txBody>
      </p: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1C241E80-B60F-8AA3-6907-EC4FED97FDC3}"/>
              </a:ext>
            </a:extLst>
          </p:cNvPr>
          <p:cNvSpPr/>
          <p:nvPr/>
        </p:nvSpPr>
        <p:spPr>
          <a:xfrm>
            <a:off x="1322780" y="4637319"/>
            <a:ext cx="2075174" cy="53917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41128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347AB8-9535-A568-9D65-07DBC7BCC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37600C-617E-3584-FCA9-87CFF412B8D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8EAEED9-4FA2-C702-6BD5-4CD4AC736926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Wyrażenie </a:t>
            </a:r>
            <a:r>
              <a:rPr lang="pl-PL" sz="1800" b="1" dirty="0" err="1"/>
              <a:t>when</a:t>
            </a:r>
            <a:r>
              <a:rPr lang="pl-PL" sz="1800" dirty="0"/>
              <a:t> w Kotlinie to konstruktor warunkowy, który zastępuje instrukcję </a:t>
            </a:r>
            <a:r>
              <a:rPr lang="pl-PL" sz="1800" b="1" dirty="0" err="1"/>
              <a:t>switch</a:t>
            </a:r>
            <a:r>
              <a:rPr lang="pl-PL" sz="1800" dirty="0"/>
              <a:t> znaną z innych języków.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3392873-FE06-D22E-A7A1-C06B90B8D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2636912"/>
            <a:ext cx="5882089" cy="2544287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DE7330F6-1DB4-6973-CFC8-E61B724165D9}"/>
              </a:ext>
            </a:extLst>
          </p:cNvPr>
          <p:cNvCxnSpPr>
            <a:cxnSpLocks/>
          </p:cNvCxnSpPr>
          <p:nvPr/>
        </p:nvCxnSpPr>
        <p:spPr>
          <a:xfrm flipH="1">
            <a:off x="2366769" y="2408915"/>
            <a:ext cx="1501263" cy="80406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33F060C-D480-26D1-3648-90A94E1A1BE2}"/>
              </a:ext>
            </a:extLst>
          </p:cNvPr>
          <p:cNvSpPr txBox="1"/>
          <p:nvPr/>
        </p:nvSpPr>
        <p:spPr>
          <a:xfrm>
            <a:off x="3285176" y="2083812"/>
            <a:ext cx="2075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Argument</a:t>
            </a: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CF93919F-466F-A075-EA5D-A7065065A538}"/>
              </a:ext>
            </a:extLst>
          </p:cNvPr>
          <p:cNvSpPr/>
          <p:nvPr/>
        </p:nvSpPr>
        <p:spPr>
          <a:xfrm>
            <a:off x="3285176" y="2083812"/>
            <a:ext cx="1241834" cy="32510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8F9E7857-67B3-A00E-EDF1-AA3A083E09F1}"/>
              </a:ext>
            </a:extLst>
          </p:cNvPr>
          <p:cNvSpPr/>
          <p:nvPr/>
        </p:nvSpPr>
        <p:spPr>
          <a:xfrm>
            <a:off x="1377995" y="3399656"/>
            <a:ext cx="315049" cy="86409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D6375801-76FB-FC2D-BEBA-67E4177DFD9E}"/>
              </a:ext>
            </a:extLst>
          </p:cNvPr>
          <p:cNvSpPr/>
          <p:nvPr/>
        </p:nvSpPr>
        <p:spPr>
          <a:xfrm>
            <a:off x="386869" y="3669153"/>
            <a:ext cx="999034" cy="32510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9F82407-0D23-78AD-E06B-C0457BDF0A8D}"/>
              </a:ext>
            </a:extLst>
          </p:cNvPr>
          <p:cNvSpPr txBox="1"/>
          <p:nvPr/>
        </p:nvSpPr>
        <p:spPr>
          <a:xfrm>
            <a:off x="422553" y="3636107"/>
            <a:ext cx="1077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Warunki</a:t>
            </a:r>
          </a:p>
        </p:txBody>
      </p:sp>
    </p:spTree>
    <p:extLst>
      <p:ext uri="{BB962C8B-B14F-4D97-AF65-F5344CB8AC3E}">
        <p14:creationId xmlns:p14="http://schemas.microsoft.com/office/powerpoint/2010/main" val="29932905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5CE83-91B4-EC5A-2E6A-7C5B1CA8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437D2B-623F-0314-7CCC-A951CA0F498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4B0913F-6B51-5724-E30A-5E24F44DA34C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Wyrażenie </a:t>
            </a:r>
            <a:r>
              <a:rPr lang="pl-PL" sz="1800" b="1" dirty="0" err="1"/>
              <a:t>when</a:t>
            </a:r>
            <a:r>
              <a:rPr lang="pl-PL" sz="1800" dirty="0"/>
              <a:t> w Kotlinie to konstruktor warunkowy, który zastępuje instrukcję </a:t>
            </a:r>
            <a:r>
              <a:rPr lang="pl-PL" sz="1800" b="1" dirty="0" err="1"/>
              <a:t>switch</a:t>
            </a:r>
            <a:r>
              <a:rPr lang="pl-PL" sz="1800" dirty="0"/>
              <a:t> znaną z innych języków.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21E9548-78C8-5E9B-68D3-35D516C0D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2636912"/>
            <a:ext cx="5882089" cy="2544287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55FFAE86-A842-CE80-DE28-D6E6E89FDDAB}"/>
              </a:ext>
            </a:extLst>
          </p:cNvPr>
          <p:cNvCxnSpPr>
            <a:cxnSpLocks/>
          </p:cNvCxnSpPr>
          <p:nvPr/>
        </p:nvCxnSpPr>
        <p:spPr>
          <a:xfrm flipH="1">
            <a:off x="2366769" y="2408915"/>
            <a:ext cx="1501263" cy="80406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A77E10B-3519-714C-0342-6720B7E14D27}"/>
              </a:ext>
            </a:extLst>
          </p:cNvPr>
          <p:cNvSpPr txBox="1"/>
          <p:nvPr/>
        </p:nvSpPr>
        <p:spPr>
          <a:xfrm>
            <a:off x="3285176" y="2083812"/>
            <a:ext cx="2075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Argument</a:t>
            </a: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E5713335-98B9-5DC2-8DC1-E5F4BE7AABED}"/>
              </a:ext>
            </a:extLst>
          </p:cNvPr>
          <p:cNvSpPr/>
          <p:nvPr/>
        </p:nvSpPr>
        <p:spPr>
          <a:xfrm>
            <a:off x="3285176" y="2083812"/>
            <a:ext cx="1241834" cy="32510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D14F79A7-4838-78C3-9471-4C20A90A13DF}"/>
              </a:ext>
            </a:extLst>
          </p:cNvPr>
          <p:cNvSpPr/>
          <p:nvPr/>
        </p:nvSpPr>
        <p:spPr>
          <a:xfrm>
            <a:off x="1377995" y="3399656"/>
            <a:ext cx="315049" cy="86409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34810E54-81D0-6B49-6EFC-76AAC6291DD5}"/>
              </a:ext>
            </a:extLst>
          </p:cNvPr>
          <p:cNvSpPr/>
          <p:nvPr/>
        </p:nvSpPr>
        <p:spPr>
          <a:xfrm>
            <a:off x="386869" y="3669153"/>
            <a:ext cx="999034" cy="32510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A754317-A942-117A-9CA2-741D137825DB}"/>
              </a:ext>
            </a:extLst>
          </p:cNvPr>
          <p:cNvSpPr txBox="1"/>
          <p:nvPr/>
        </p:nvSpPr>
        <p:spPr>
          <a:xfrm>
            <a:off x="422553" y="3636107"/>
            <a:ext cx="1077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Warunki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7E35D6A9-18EA-DB37-7932-04C64AE13519}"/>
              </a:ext>
            </a:extLst>
          </p:cNvPr>
          <p:cNvCxnSpPr>
            <a:cxnSpLocks/>
          </p:cNvCxnSpPr>
          <p:nvPr/>
        </p:nvCxnSpPr>
        <p:spPr>
          <a:xfrm flipH="1">
            <a:off x="3774707" y="2937676"/>
            <a:ext cx="943534" cy="4688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A8CFF55A-C8BA-1EBD-F004-4A1BE9CEC5BD}"/>
              </a:ext>
            </a:extLst>
          </p:cNvPr>
          <p:cNvSpPr/>
          <p:nvPr/>
        </p:nvSpPr>
        <p:spPr>
          <a:xfrm>
            <a:off x="4572000" y="2408915"/>
            <a:ext cx="3150559" cy="55005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90C1823-80E0-E0B2-25C6-22FFE5FDC41B}"/>
              </a:ext>
            </a:extLst>
          </p:cNvPr>
          <p:cNvSpPr txBox="1"/>
          <p:nvPr/>
        </p:nvSpPr>
        <p:spPr>
          <a:xfrm>
            <a:off x="4572000" y="2391553"/>
            <a:ext cx="3150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liczba ma 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zostanie wykonany kod po -&gt;</a:t>
            </a:r>
          </a:p>
        </p:txBody>
      </p:sp>
    </p:spTree>
    <p:extLst>
      <p:ext uri="{BB962C8B-B14F-4D97-AF65-F5344CB8AC3E}">
        <p14:creationId xmlns:p14="http://schemas.microsoft.com/office/powerpoint/2010/main" val="2640283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B4158-1466-860C-A625-06B272B5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68855F-013D-FE16-9FDF-D2B78272DB0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4C39910-64A0-1C38-C9E6-D7EB49CE7B9F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Wyrażenie </a:t>
            </a:r>
            <a:r>
              <a:rPr lang="pl-PL" sz="1800" b="1" dirty="0" err="1"/>
              <a:t>when</a:t>
            </a:r>
            <a:r>
              <a:rPr lang="pl-PL" sz="1800" dirty="0"/>
              <a:t> w Kotlinie to konstruktor warunkowy, który zastępuje instrukcję </a:t>
            </a:r>
            <a:r>
              <a:rPr lang="pl-PL" sz="1800" b="1" dirty="0" err="1"/>
              <a:t>switch</a:t>
            </a:r>
            <a:r>
              <a:rPr lang="pl-PL" sz="1800" dirty="0"/>
              <a:t> znaną z innych języków.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EF3556CE-0281-ABCF-0645-1196BED15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2636912"/>
            <a:ext cx="5882089" cy="2544287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09279902-BB80-5152-1504-CD8FF5A57C72}"/>
              </a:ext>
            </a:extLst>
          </p:cNvPr>
          <p:cNvCxnSpPr>
            <a:cxnSpLocks/>
          </p:cNvCxnSpPr>
          <p:nvPr/>
        </p:nvCxnSpPr>
        <p:spPr>
          <a:xfrm flipH="1">
            <a:off x="2366769" y="2408915"/>
            <a:ext cx="1501263" cy="80406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6EFAC20-AD17-DED3-F1DB-94F396EAE56F}"/>
              </a:ext>
            </a:extLst>
          </p:cNvPr>
          <p:cNvSpPr txBox="1"/>
          <p:nvPr/>
        </p:nvSpPr>
        <p:spPr>
          <a:xfrm>
            <a:off x="3285176" y="2083812"/>
            <a:ext cx="2075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Argument</a:t>
            </a: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4729B8D0-38E1-12FD-485C-6FABDCCB9E83}"/>
              </a:ext>
            </a:extLst>
          </p:cNvPr>
          <p:cNvSpPr/>
          <p:nvPr/>
        </p:nvSpPr>
        <p:spPr>
          <a:xfrm>
            <a:off x="3285176" y="2083812"/>
            <a:ext cx="1241834" cy="32510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A50276C9-A65C-B2AC-287F-1035B5A36C4D}"/>
              </a:ext>
            </a:extLst>
          </p:cNvPr>
          <p:cNvSpPr/>
          <p:nvPr/>
        </p:nvSpPr>
        <p:spPr>
          <a:xfrm>
            <a:off x="1377995" y="3399656"/>
            <a:ext cx="315049" cy="86409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3B425E52-BBC2-29B3-448B-B3262FF0E287}"/>
              </a:ext>
            </a:extLst>
          </p:cNvPr>
          <p:cNvSpPr/>
          <p:nvPr/>
        </p:nvSpPr>
        <p:spPr>
          <a:xfrm>
            <a:off x="386869" y="3669153"/>
            <a:ext cx="999034" cy="32510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5949247-E232-084A-425B-6AF82576C868}"/>
              </a:ext>
            </a:extLst>
          </p:cNvPr>
          <p:cNvSpPr txBox="1"/>
          <p:nvPr/>
        </p:nvSpPr>
        <p:spPr>
          <a:xfrm>
            <a:off x="422553" y="3636107"/>
            <a:ext cx="1077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Warunki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7D00FEE9-97D5-6480-F738-3F13465FDC3F}"/>
              </a:ext>
            </a:extLst>
          </p:cNvPr>
          <p:cNvCxnSpPr>
            <a:cxnSpLocks/>
          </p:cNvCxnSpPr>
          <p:nvPr/>
        </p:nvCxnSpPr>
        <p:spPr>
          <a:xfrm flipH="1">
            <a:off x="3774707" y="2937676"/>
            <a:ext cx="943534" cy="4688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8BDE16A8-7E0B-C4F7-6E59-C426D59E5F9A}"/>
              </a:ext>
            </a:extLst>
          </p:cNvPr>
          <p:cNvSpPr/>
          <p:nvPr/>
        </p:nvSpPr>
        <p:spPr>
          <a:xfrm>
            <a:off x="4572000" y="2408915"/>
            <a:ext cx="3150559" cy="55005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EC001A7-39C2-2247-118E-01EAE850D8EC}"/>
              </a:ext>
            </a:extLst>
          </p:cNvPr>
          <p:cNvSpPr txBox="1"/>
          <p:nvPr/>
        </p:nvSpPr>
        <p:spPr>
          <a:xfrm>
            <a:off x="4572000" y="2391553"/>
            <a:ext cx="3150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liczba ma 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zostanie wykonany kod po -&gt;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7C7C863F-11C0-E609-00A5-FBF108406380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788024" y="3382372"/>
            <a:ext cx="896939" cy="27502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0825C48E-D56D-0E61-05FA-7D37827697F0}"/>
              </a:ext>
            </a:extLst>
          </p:cNvPr>
          <p:cNvSpPr/>
          <p:nvPr/>
        </p:nvSpPr>
        <p:spPr>
          <a:xfrm>
            <a:off x="5684963" y="3107346"/>
            <a:ext cx="3150559" cy="55005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72FB9FDD-929D-5CB3-475F-2277E59703C4}"/>
              </a:ext>
            </a:extLst>
          </p:cNvPr>
          <p:cNvSpPr txBox="1"/>
          <p:nvPr/>
        </p:nvSpPr>
        <p:spPr>
          <a:xfrm>
            <a:off x="5684963" y="3089984"/>
            <a:ext cx="3150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liczba ma 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2 lub 3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zostanie wykonany kod po -&gt;</a:t>
            </a:r>
          </a:p>
        </p:txBody>
      </p:sp>
    </p:spTree>
    <p:extLst>
      <p:ext uri="{BB962C8B-B14F-4D97-AF65-F5344CB8AC3E}">
        <p14:creationId xmlns:p14="http://schemas.microsoft.com/office/powerpoint/2010/main" val="39346470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FD816-4890-F077-3F36-3DE68EB2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90D153-72A2-5F3F-D359-668D8C351C3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4F5B5B9-D772-EDA1-D194-BDB8D0CCD1C0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Wyrażenie </a:t>
            </a:r>
            <a:r>
              <a:rPr lang="pl-PL" sz="1800" b="1" dirty="0" err="1"/>
              <a:t>when</a:t>
            </a:r>
            <a:r>
              <a:rPr lang="pl-PL" sz="1800" dirty="0"/>
              <a:t> w Kotlinie to konstruktor warunkowy, który zastępuje instrukcję </a:t>
            </a:r>
            <a:r>
              <a:rPr lang="pl-PL" sz="1800" b="1" dirty="0" err="1"/>
              <a:t>switch</a:t>
            </a:r>
            <a:r>
              <a:rPr lang="pl-PL" sz="1800" dirty="0"/>
              <a:t> znaną z innych języków.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A9A7D927-4243-45AA-AE7E-D8B79E352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2636912"/>
            <a:ext cx="5882089" cy="2544287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0B09CB4B-0FD7-5BF9-5344-1C01FD8A0A84}"/>
              </a:ext>
            </a:extLst>
          </p:cNvPr>
          <p:cNvCxnSpPr>
            <a:cxnSpLocks/>
          </p:cNvCxnSpPr>
          <p:nvPr/>
        </p:nvCxnSpPr>
        <p:spPr>
          <a:xfrm flipH="1">
            <a:off x="2366769" y="2408915"/>
            <a:ext cx="1501263" cy="80406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9F05E9C-462E-6FFF-4A5F-7F643F694D94}"/>
              </a:ext>
            </a:extLst>
          </p:cNvPr>
          <p:cNvSpPr txBox="1"/>
          <p:nvPr/>
        </p:nvSpPr>
        <p:spPr>
          <a:xfrm>
            <a:off x="3285176" y="2083812"/>
            <a:ext cx="2075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Argument</a:t>
            </a: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BFBFD52B-DFA4-F779-689E-D08DF52BC0A0}"/>
              </a:ext>
            </a:extLst>
          </p:cNvPr>
          <p:cNvSpPr/>
          <p:nvPr/>
        </p:nvSpPr>
        <p:spPr>
          <a:xfrm>
            <a:off x="3285176" y="2083812"/>
            <a:ext cx="1241834" cy="32510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75887CC4-0F22-F894-D0D3-C06E214A1119}"/>
              </a:ext>
            </a:extLst>
          </p:cNvPr>
          <p:cNvSpPr/>
          <p:nvPr/>
        </p:nvSpPr>
        <p:spPr>
          <a:xfrm>
            <a:off x="1377995" y="3399656"/>
            <a:ext cx="315049" cy="86409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25BBAEF3-84F0-F3A7-B364-41BF6B0D8589}"/>
              </a:ext>
            </a:extLst>
          </p:cNvPr>
          <p:cNvSpPr/>
          <p:nvPr/>
        </p:nvSpPr>
        <p:spPr>
          <a:xfrm>
            <a:off x="386869" y="3669153"/>
            <a:ext cx="999034" cy="32510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72AE251-F76B-8E26-FEFB-528E20FA762E}"/>
              </a:ext>
            </a:extLst>
          </p:cNvPr>
          <p:cNvSpPr txBox="1"/>
          <p:nvPr/>
        </p:nvSpPr>
        <p:spPr>
          <a:xfrm>
            <a:off x="422553" y="3636107"/>
            <a:ext cx="1077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Warunki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B5B12CB5-8F13-F3FA-F9DC-87F45E873BBD}"/>
              </a:ext>
            </a:extLst>
          </p:cNvPr>
          <p:cNvCxnSpPr>
            <a:cxnSpLocks/>
          </p:cNvCxnSpPr>
          <p:nvPr/>
        </p:nvCxnSpPr>
        <p:spPr>
          <a:xfrm flipH="1">
            <a:off x="3774707" y="2937676"/>
            <a:ext cx="943534" cy="4688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8287E09C-9C8E-6E43-21ED-5665754CB6CD}"/>
              </a:ext>
            </a:extLst>
          </p:cNvPr>
          <p:cNvSpPr/>
          <p:nvPr/>
        </p:nvSpPr>
        <p:spPr>
          <a:xfrm>
            <a:off x="4572000" y="2408915"/>
            <a:ext cx="3150559" cy="55005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C84FA66D-C0B1-E9D0-A4E3-16967CED6F18}"/>
              </a:ext>
            </a:extLst>
          </p:cNvPr>
          <p:cNvSpPr txBox="1"/>
          <p:nvPr/>
        </p:nvSpPr>
        <p:spPr>
          <a:xfrm>
            <a:off x="4572000" y="2391553"/>
            <a:ext cx="3150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liczba ma 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zostanie wykonany kod po -&gt;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86401535-4AAB-8175-0008-190B491E392D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788024" y="3382372"/>
            <a:ext cx="896939" cy="27502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126EAA3F-43B0-EEE5-74F0-CE6F69B43ABB}"/>
              </a:ext>
            </a:extLst>
          </p:cNvPr>
          <p:cNvSpPr/>
          <p:nvPr/>
        </p:nvSpPr>
        <p:spPr>
          <a:xfrm>
            <a:off x="5684963" y="3107346"/>
            <a:ext cx="3150559" cy="55005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7B98E999-811E-41A7-E188-0FC6AB9E7DC2}"/>
              </a:ext>
            </a:extLst>
          </p:cNvPr>
          <p:cNvSpPr txBox="1"/>
          <p:nvPr/>
        </p:nvSpPr>
        <p:spPr>
          <a:xfrm>
            <a:off x="5684963" y="3089984"/>
            <a:ext cx="3150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liczba ma 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2 lub 3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zostanie wykonany kod po -&gt;</a:t>
            </a: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D3DB5040-CD9F-1C40-CD53-2749E96177AD}"/>
              </a:ext>
            </a:extLst>
          </p:cNvPr>
          <p:cNvSpPr/>
          <p:nvPr/>
        </p:nvSpPr>
        <p:spPr>
          <a:xfrm>
            <a:off x="5580112" y="4828332"/>
            <a:ext cx="3438591" cy="55005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A071DF66-3722-17CE-F90F-2C8242550368}"/>
              </a:ext>
            </a:extLst>
          </p:cNvPr>
          <p:cNvSpPr txBox="1"/>
          <p:nvPr/>
        </p:nvSpPr>
        <p:spPr>
          <a:xfrm>
            <a:off x="5580112" y="4810970"/>
            <a:ext cx="3438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liczba jest w zakresie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4 - 10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zostanie wykonany kod po -&gt;</a:t>
            </a:r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5AD8E7E9-4E7A-AA4B-CC9B-5F504F5F522E}"/>
              </a:ext>
            </a:extLst>
          </p:cNvPr>
          <p:cNvCxnSpPr>
            <a:cxnSpLocks/>
          </p:cNvCxnSpPr>
          <p:nvPr/>
        </p:nvCxnSpPr>
        <p:spPr>
          <a:xfrm flipH="1" flipV="1">
            <a:off x="6012160" y="4040828"/>
            <a:ext cx="792088" cy="75278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7336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D4163-A2E7-C0FB-FD3B-2969F88B1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7177CE-ED8E-8BA1-B09E-AFBA92ECF6E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117B0F8-0A95-0614-CD94-2DF48E9A311B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Wyrażenie </a:t>
            </a:r>
            <a:r>
              <a:rPr lang="pl-PL" sz="1800" b="1" dirty="0" err="1"/>
              <a:t>when</a:t>
            </a:r>
            <a:r>
              <a:rPr lang="pl-PL" sz="1800" dirty="0"/>
              <a:t> w Kotlinie to konstruktor warunkowy, który zastępuje instrukcję </a:t>
            </a:r>
            <a:r>
              <a:rPr lang="pl-PL" sz="1800" b="1" dirty="0" err="1"/>
              <a:t>switch</a:t>
            </a:r>
            <a:r>
              <a:rPr lang="pl-PL" sz="1800" dirty="0"/>
              <a:t> znaną z innych języków.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AFFFD6FA-7E7A-BD6D-294D-869FA77C6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2636912"/>
            <a:ext cx="5882089" cy="2544287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FC2F6358-4ACC-7B14-91C1-E2F340A4FE0D}"/>
              </a:ext>
            </a:extLst>
          </p:cNvPr>
          <p:cNvCxnSpPr>
            <a:cxnSpLocks/>
          </p:cNvCxnSpPr>
          <p:nvPr/>
        </p:nvCxnSpPr>
        <p:spPr>
          <a:xfrm flipH="1">
            <a:off x="2366769" y="2408915"/>
            <a:ext cx="1501263" cy="80406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2F1DC11-2106-9EC9-25E9-D76ED19B214D}"/>
              </a:ext>
            </a:extLst>
          </p:cNvPr>
          <p:cNvSpPr txBox="1"/>
          <p:nvPr/>
        </p:nvSpPr>
        <p:spPr>
          <a:xfrm>
            <a:off x="3285176" y="2083812"/>
            <a:ext cx="2075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Argument</a:t>
            </a: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F0D9C6E6-76F0-BEA4-17A3-4F5C61442F91}"/>
              </a:ext>
            </a:extLst>
          </p:cNvPr>
          <p:cNvSpPr/>
          <p:nvPr/>
        </p:nvSpPr>
        <p:spPr>
          <a:xfrm>
            <a:off x="3285176" y="2083812"/>
            <a:ext cx="1241834" cy="32510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0C11EC15-EA93-BE91-CB29-108054B2BB33}"/>
              </a:ext>
            </a:extLst>
          </p:cNvPr>
          <p:cNvSpPr/>
          <p:nvPr/>
        </p:nvSpPr>
        <p:spPr>
          <a:xfrm>
            <a:off x="1377995" y="3399656"/>
            <a:ext cx="315049" cy="86409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7A709C4F-7F3E-DE00-4C8C-6D5BB14954F9}"/>
              </a:ext>
            </a:extLst>
          </p:cNvPr>
          <p:cNvSpPr/>
          <p:nvPr/>
        </p:nvSpPr>
        <p:spPr>
          <a:xfrm>
            <a:off x="386869" y="3669153"/>
            <a:ext cx="999034" cy="32510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18595E1-3898-617C-535D-2DD99EEED833}"/>
              </a:ext>
            </a:extLst>
          </p:cNvPr>
          <p:cNvSpPr txBox="1"/>
          <p:nvPr/>
        </p:nvSpPr>
        <p:spPr>
          <a:xfrm>
            <a:off x="422553" y="3636107"/>
            <a:ext cx="1077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Warunki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E970C09E-980E-8F5A-9E58-EB3A18ADAAB5}"/>
              </a:ext>
            </a:extLst>
          </p:cNvPr>
          <p:cNvCxnSpPr>
            <a:cxnSpLocks/>
          </p:cNvCxnSpPr>
          <p:nvPr/>
        </p:nvCxnSpPr>
        <p:spPr>
          <a:xfrm flipH="1">
            <a:off x="3774707" y="2937676"/>
            <a:ext cx="943534" cy="4688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D58355AC-4E2E-6749-0D0D-4F83DE7AA305}"/>
              </a:ext>
            </a:extLst>
          </p:cNvPr>
          <p:cNvSpPr/>
          <p:nvPr/>
        </p:nvSpPr>
        <p:spPr>
          <a:xfrm>
            <a:off x="4572000" y="2408915"/>
            <a:ext cx="3150559" cy="55005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926765D7-784A-8CD2-5037-F4FAC5D50BB7}"/>
              </a:ext>
            </a:extLst>
          </p:cNvPr>
          <p:cNvSpPr txBox="1"/>
          <p:nvPr/>
        </p:nvSpPr>
        <p:spPr>
          <a:xfrm>
            <a:off x="4572000" y="2391553"/>
            <a:ext cx="3150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liczba ma 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zostanie wykonany kod po -&gt;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06BCC221-62EC-EAEF-1526-345090A530DD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788024" y="3382372"/>
            <a:ext cx="896939" cy="27502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3E2CAA87-AEE1-D2F2-E6E7-3E3A498DD1B3}"/>
              </a:ext>
            </a:extLst>
          </p:cNvPr>
          <p:cNvSpPr/>
          <p:nvPr/>
        </p:nvSpPr>
        <p:spPr>
          <a:xfrm>
            <a:off x="5684963" y="3107346"/>
            <a:ext cx="3150559" cy="55005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071294D5-0951-D6D7-0B20-38701EBA406C}"/>
              </a:ext>
            </a:extLst>
          </p:cNvPr>
          <p:cNvSpPr txBox="1"/>
          <p:nvPr/>
        </p:nvSpPr>
        <p:spPr>
          <a:xfrm>
            <a:off x="5684963" y="3089984"/>
            <a:ext cx="3150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liczba ma 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2 lub 3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zostanie wykonany kod po -&gt;</a:t>
            </a: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965C035E-0444-8CE6-881F-ACFB5341AA44}"/>
              </a:ext>
            </a:extLst>
          </p:cNvPr>
          <p:cNvSpPr/>
          <p:nvPr/>
        </p:nvSpPr>
        <p:spPr>
          <a:xfrm>
            <a:off x="5580112" y="4828332"/>
            <a:ext cx="3438591" cy="55005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DB05F231-B960-159F-02AC-8BD028990162}"/>
              </a:ext>
            </a:extLst>
          </p:cNvPr>
          <p:cNvSpPr txBox="1"/>
          <p:nvPr/>
        </p:nvSpPr>
        <p:spPr>
          <a:xfrm>
            <a:off x="5580112" y="4810970"/>
            <a:ext cx="3438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liczba jest w zakresie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4 - 10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zostanie wykonany kod po -&gt;</a:t>
            </a:r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82FCFEBF-2C25-3708-A561-FD5FEDCAD149}"/>
              </a:ext>
            </a:extLst>
          </p:cNvPr>
          <p:cNvCxnSpPr>
            <a:cxnSpLocks/>
          </p:cNvCxnSpPr>
          <p:nvPr/>
        </p:nvCxnSpPr>
        <p:spPr>
          <a:xfrm flipH="1" flipV="1">
            <a:off x="6012160" y="4040828"/>
            <a:ext cx="792088" cy="75278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AB8EA074-9C76-BB89-D4A1-6E596E789180}"/>
              </a:ext>
            </a:extLst>
          </p:cNvPr>
          <p:cNvSpPr/>
          <p:nvPr/>
        </p:nvSpPr>
        <p:spPr>
          <a:xfrm>
            <a:off x="3270315" y="5604605"/>
            <a:ext cx="2165782" cy="3713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DD7D65FA-61F9-C2D3-668B-E3405563A433}"/>
              </a:ext>
            </a:extLst>
          </p:cNvPr>
          <p:cNvSpPr txBox="1"/>
          <p:nvPr/>
        </p:nvSpPr>
        <p:spPr>
          <a:xfrm>
            <a:off x="3270314" y="5587243"/>
            <a:ext cx="3438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Każdy inny przypadek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2F91D7A3-F2B8-1B5C-D854-40948869EB20}"/>
              </a:ext>
            </a:extLst>
          </p:cNvPr>
          <p:cNvCxnSpPr>
            <a:cxnSpLocks/>
          </p:cNvCxnSpPr>
          <p:nvPr/>
        </p:nvCxnSpPr>
        <p:spPr>
          <a:xfrm flipV="1">
            <a:off x="4494450" y="4263752"/>
            <a:ext cx="0" cy="130613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4826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C1292-06BB-9851-8989-76EF07A4E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87201B-E570-1A57-5FB2-F5E1F434021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EE0B1F8-0738-983E-BD3E-44F84EBF2334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Wyrażenie </a:t>
            </a:r>
            <a:r>
              <a:rPr lang="pl-PL" sz="1800" b="1" dirty="0" err="1"/>
              <a:t>when</a:t>
            </a:r>
            <a:r>
              <a:rPr lang="pl-PL" sz="1800" dirty="0"/>
              <a:t> w Kotlinie to konstruktor warunkowy, który zastępuje instrukcję </a:t>
            </a:r>
            <a:r>
              <a:rPr lang="pl-PL" sz="1800" b="1" dirty="0" err="1"/>
              <a:t>switch</a:t>
            </a:r>
            <a:r>
              <a:rPr lang="pl-PL" sz="1800" dirty="0"/>
              <a:t> znaną z innych języków.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AF70513-D41A-B44F-369A-11FE73AB0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20" y="2492896"/>
            <a:ext cx="4260770" cy="3280171"/>
          </a:xfrm>
          <a:prstGeom prst="rect">
            <a:avLst/>
          </a:prstGeom>
        </p:spPr>
      </p:pic>
      <p:sp>
        <p:nvSpPr>
          <p:cNvPr id="12" name="Nawias klamrowy otwierający 11">
            <a:extLst>
              <a:ext uri="{FF2B5EF4-FFF2-40B4-BE49-F238E27FC236}">
                <a16:creationId xmlns:a16="http://schemas.microsoft.com/office/drawing/2014/main" id="{984583FB-8326-1CD9-9067-A40E1995B577}"/>
              </a:ext>
            </a:extLst>
          </p:cNvPr>
          <p:cNvSpPr/>
          <p:nvPr/>
        </p:nvSpPr>
        <p:spPr>
          <a:xfrm>
            <a:off x="3923928" y="3429000"/>
            <a:ext cx="315049" cy="86409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A6A869B1-052D-0529-1F55-EED2A634DBA5}"/>
              </a:ext>
            </a:extLst>
          </p:cNvPr>
          <p:cNvSpPr/>
          <p:nvPr/>
        </p:nvSpPr>
        <p:spPr>
          <a:xfrm>
            <a:off x="2932802" y="3698497"/>
            <a:ext cx="999034" cy="32510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B3B4EBB-5B87-20D5-E84D-B88D83679148}"/>
              </a:ext>
            </a:extLst>
          </p:cNvPr>
          <p:cNvSpPr txBox="1"/>
          <p:nvPr/>
        </p:nvSpPr>
        <p:spPr>
          <a:xfrm>
            <a:off x="2968486" y="3665451"/>
            <a:ext cx="1077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Warunki</a:t>
            </a:r>
          </a:p>
        </p:txBody>
      </p:sp>
    </p:spTree>
    <p:extLst>
      <p:ext uri="{BB962C8B-B14F-4D97-AF65-F5344CB8AC3E}">
        <p14:creationId xmlns:p14="http://schemas.microsoft.com/office/powerpoint/2010/main" val="36382459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1FC20-E382-0035-C294-873ABC053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8B8C21-0360-EC07-476B-E99891F764F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A73B378-CEE1-9208-E5B2-745BE54FC446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Wyrażenie </a:t>
            </a:r>
            <a:r>
              <a:rPr lang="pl-PL" sz="1800" b="1" dirty="0" err="1"/>
              <a:t>when</a:t>
            </a:r>
            <a:r>
              <a:rPr lang="pl-PL" sz="1800" dirty="0"/>
              <a:t> w Kotlinie to konstruktor warunkowy, który zastępuje instrukcję </a:t>
            </a:r>
            <a:r>
              <a:rPr lang="pl-PL" sz="1800" b="1" dirty="0" err="1"/>
              <a:t>switch</a:t>
            </a:r>
            <a:r>
              <a:rPr lang="pl-PL" sz="1800" dirty="0"/>
              <a:t> znaną z innych języków.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18680C3-D653-B518-9698-CE03B58D9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503" y="2866008"/>
            <a:ext cx="5128682" cy="2770237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E8072318-72E4-E2D0-A319-E104685F6074}"/>
              </a:ext>
            </a:extLst>
          </p:cNvPr>
          <p:cNvCxnSpPr>
            <a:cxnSpLocks/>
          </p:cNvCxnSpPr>
          <p:nvPr/>
        </p:nvCxnSpPr>
        <p:spPr>
          <a:xfrm flipH="1">
            <a:off x="4572000" y="2852936"/>
            <a:ext cx="1357247" cy="86409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DE2C810-0B10-95E4-A72F-8EC1428F0A16}"/>
              </a:ext>
            </a:extLst>
          </p:cNvPr>
          <p:cNvSpPr txBox="1"/>
          <p:nvPr/>
        </p:nvSpPr>
        <p:spPr>
          <a:xfrm>
            <a:off x="4919186" y="2268161"/>
            <a:ext cx="1933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Wyrażenie bezargumentowe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4D70DC96-FC49-3524-22A9-2FF851E07A12}"/>
              </a:ext>
            </a:extLst>
          </p:cNvPr>
          <p:cNvSpPr/>
          <p:nvPr/>
        </p:nvSpPr>
        <p:spPr>
          <a:xfrm>
            <a:off x="4860032" y="2268161"/>
            <a:ext cx="208823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Nawias klamrowy otwierający 7">
            <a:extLst>
              <a:ext uri="{FF2B5EF4-FFF2-40B4-BE49-F238E27FC236}">
                <a16:creationId xmlns:a16="http://schemas.microsoft.com/office/drawing/2014/main" id="{5F38DEC2-05EC-3F18-4D27-B86A0FC45CBC}"/>
              </a:ext>
            </a:extLst>
          </p:cNvPr>
          <p:cNvSpPr/>
          <p:nvPr/>
        </p:nvSpPr>
        <p:spPr>
          <a:xfrm>
            <a:off x="3964574" y="3912629"/>
            <a:ext cx="315049" cy="812515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AC63F13-20DF-D450-C8CA-F90D0102A3A2}"/>
              </a:ext>
            </a:extLst>
          </p:cNvPr>
          <p:cNvSpPr/>
          <p:nvPr/>
        </p:nvSpPr>
        <p:spPr>
          <a:xfrm>
            <a:off x="1043609" y="3586198"/>
            <a:ext cx="2906901" cy="162226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036730B-1885-78AE-43C6-3514B5D604BE}"/>
              </a:ext>
            </a:extLst>
          </p:cNvPr>
          <p:cNvSpPr txBox="1"/>
          <p:nvPr/>
        </p:nvSpPr>
        <p:spPr>
          <a:xfrm>
            <a:off x="1029545" y="3614336"/>
            <a:ext cx="29209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Każdy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warunek 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osobne wyrażenie logiczne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Blok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when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sprawdza warunki w kolejności, a kod jest wykonywany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przy pierwszym spełnionym warunku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43921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CA2B46-41CF-714A-07D5-0B706A350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212BA0-DB3C-E300-2E21-A7B77776BFA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99EBCEB-E37D-9D38-BBEE-B740504E67C0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Najczęściej używana jest do iteracji przez zakresy (</a:t>
            </a:r>
            <a:r>
              <a:rPr lang="pl-PL" sz="1800" b="1" dirty="0" err="1"/>
              <a:t>ranges</a:t>
            </a:r>
            <a:r>
              <a:rPr lang="pl-PL" sz="1800" dirty="0"/>
              <a:t>) lub kolekcje (</a:t>
            </a:r>
            <a:r>
              <a:rPr lang="pl-PL" sz="1800" b="1" dirty="0" err="1"/>
              <a:t>collections</a:t>
            </a:r>
            <a:r>
              <a:rPr lang="pl-PL" sz="1800" dirty="0"/>
              <a:t>). Podstawowa składnia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2687B6D-C22F-192C-DAE5-A8600A4D7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636" y="1555051"/>
            <a:ext cx="6552728" cy="170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908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808D5-BDA0-846E-EECA-8836E245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169876-45D5-120E-EB2A-87069592926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694EEB71-A198-E37C-A037-132B1FFF0DD3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Najczęściej używana jest do iteracji przez zakresy (</a:t>
            </a:r>
            <a:r>
              <a:rPr lang="pl-PL" sz="1800" b="1" dirty="0" err="1"/>
              <a:t>ranges</a:t>
            </a:r>
            <a:r>
              <a:rPr lang="pl-PL" sz="1800" dirty="0"/>
              <a:t>) lub kolekcje (</a:t>
            </a:r>
            <a:r>
              <a:rPr lang="pl-PL" sz="1800" b="1" dirty="0" err="1"/>
              <a:t>collections</a:t>
            </a:r>
            <a:r>
              <a:rPr lang="pl-PL" sz="1800" dirty="0"/>
              <a:t>). Podstawowa składnia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914E959-4574-DE27-2DAA-494AA185C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2" y="2996952"/>
            <a:ext cx="4019550" cy="3524250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30ACA6AF-43D0-BE74-8216-FE8FACA3240D}"/>
              </a:ext>
            </a:extLst>
          </p:cNvPr>
          <p:cNvSpPr/>
          <p:nvPr/>
        </p:nvSpPr>
        <p:spPr>
          <a:xfrm>
            <a:off x="3577952" y="2348880"/>
            <a:ext cx="2906901" cy="8031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D506C5A-7497-2611-1571-E18BFEDB847B}"/>
              </a:ext>
            </a:extLst>
          </p:cNvPr>
          <p:cNvSpPr txBox="1"/>
          <p:nvPr/>
        </p:nvSpPr>
        <p:spPr>
          <a:xfrm>
            <a:off x="3586749" y="2417911"/>
            <a:ext cx="2920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Pętla for wykonana od 1 do 5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włącznie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73147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17D0C-932F-A8C5-D4F2-707784E0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AAEB63-439A-5E1E-E8A6-A188EE97751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BBCF26E-5618-7DF2-3063-684982A3E39D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Najczęściej używana jest do iteracji przez zakresy (</a:t>
            </a:r>
            <a:r>
              <a:rPr lang="pl-PL" sz="1800" b="1" dirty="0" err="1"/>
              <a:t>ranges</a:t>
            </a:r>
            <a:r>
              <a:rPr lang="pl-PL" sz="1800" dirty="0"/>
              <a:t>) lub kolekcje (</a:t>
            </a:r>
            <a:r>
              <a:rPr lang="pl-PL" sz="1800" b="1" dirty="0" err="1"/>
              <a:t>collections</a:t>
            </a:r>
            <a:r>
              <a:rPr lang="pl-PL" sz="1800" dirty="0"/>
              <a:t>). Podstawowa składnia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3BD892A-9A0D-4B40-C93D-00E8E644A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16" y="2852936"/>
            <a:ext cx="4381500" cy="3543300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BC148CBF-2DB9-59A3-9C85-55284287F814}"/>
              </a:ext>
            </a:extLst>
          </p:cNvPr>
          <p:cNvSpPr/>
          <p:nvPr/>
        </p:nvSpPr>
        <p:spPr>
          <a:xfrm>
            <a:off x="3635896" y="2204864"/>
            <a:ext cx="2906901" cy="8031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3A2F19B-4899-8B21-F6CB-A8B79BF9D3C5}"/>
              </a:ext>
            </a:extLst>
          </p:cNvPr>
          <p:cNvSpPr txBox="1"/>
          <p:nvPr/>
        </p:nvSpPr>
        <p:spPr>
          <a:xfrm>
            <a:off x="3644693" y="2273895"/>
            <a:ext cx="2920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Pętla for wykonana od 5 do 1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włącznie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2986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3E53F-5223-63E6-7B4F-F5F05C2D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2F183A-391A-7E74-C120-27C5BE8F031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D94C31E-345D-5D50-160D-20B0789A1860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Najczęściej używana jest do iteracji przez zakresy (</a:t>
            </a:r>
            <a:r>
              <a:rPr lang="pl-PL" sz="1800" b="1" dirty="0" err="1"/>
              <a:t>ranges</a:t>
            </a:r>
            <a:r>
              <a:rPr lang="pl-PL" sz="1800" dirty="0"/>
              <a:t>) lub kolekcje (</a:t>
            </a:r>
            <a:r>
              <a:rPr lang="pl-PL" sz="1800" b="1" dirty="0" err="1"/>
              <a:t>collections</a:t>
            </a:r>
            <a:r>
              <a:rPr lang="pl-PL" sz="1800" dirty="0"/>
              <a:t>). Podstawowa składnia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F1AF2A5-0431-1856-00AC-1E572E9A1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2" y="2806319"/>
            <a:ext cx="4762500" cy="3867150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2D851231-72CC-9D3C-DE97-0E71D7B74A2B}"/>
              </a:ext>
            </a:extLst>
          </p:cNvPr>
          <p:cNvSpPr/>
          <p:nvPr/>
        </p:nvSpPr>
        <p:spPr>
          <a:xfrm>
            <a:off x="3779912" y="2003198"/>
            <a:ext cx="2906901" cy="8031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7787B94-63D0-8C5C-CA2B-61C3F684B36F}"/>
              </a:ext>
            </a:extLst>
          </p:cNvPr>
          <p:cNvSpPr txBox="1"/>
          <p:nvPr/>
        </p:nvSpPr>
        <p:spPr>
          <a:xfrm>
            <a:off x="3788709" y="2072229"/>
            <a:ext cx="2920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Pętla for wykonana od 0 do 10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włącznie,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 krokiem 2.</a:t>
            </a:r>
          </a:p>
        </p:txBody>
      </p:sp>
    </p:spTree>
    <p:extLst>
      <p:ext uri="{BB962C8B-B14F-4D97-AF65-F5344CB8AC3E}">
        <p14:creationId xmlns:p14="http://schemas.microsoft.com/office/powerpoint/2010/main" val="12695932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F48EE-315A-42BF-C965-3D3706D5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6EA16E-D4FC-274E-63F9-E06CA64EFA4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E3E23FC-57F7-3A45-2780-C075034AE059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Najczęściej używana jest do iteracji przez zakresy (</a:t>
            </a:r>
            <a:r>
              <a:rPr lang="pl-PL" sz="1800" b="1" dirty="0" err="1"/>
              <a:t>ranges</a:t>
            </a:r>
            <a:r>
              <a:rPr lang="pl-PL" sz="1800" dirty="0"/>
              <a:t>) lub kolekcje (</a:t>
            </a:r>
            <a:r>
              <a:rPr lang="pl-PL" sz="1800" b="1" dirty="0" err="1"/>
              <a:t>collections</a:t>
            </a:r>
            <a:r>
              <a:rPr lang="pl-PL" sz="1800" dirty="0"/>
              <a:t>). Podstawowa składnia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691546E-F13B-83C5-0A6D-E5E76C8F3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3212976"/>
            <a:ext cx="4200525" cy="3314700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46AF11D8-7075-B427-3A99-5B6561F8AC3D}"/>
              </a:ext>
            </a:extLst>
          </p:cNvPr>
          <p:cNvSpPr/>
          <p:nvPr/>
        </p:nvSpPr>
        <p:spPr>
          <a:xfrm>
            <a:off x="4067944" y="2892266"/>
            <a:ext cx="2906901" cy="40375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CCB203A-9EA7-245E-DB76-D38F8FEC314A}"/>
              </a:ext>
            </a:extLst>
          </p:cNvPr>
          <p:cNvSpPr txBox="1"/>
          <p:nvPr/>
        </p:nvSpPr>
        <p:spPr>
          <a:xfrm>
            <a:off x="4089400" y="2892266"/>
            <a:ext cx="29209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Pętla for wykonana od 1 do 5.</a:t>
            </a:r>
          </a:p>
        </p:txBody>
      </p:sp>
    </p:spTree>
    <p:extLst>
      <p:ext uri="{BB962C8B-B14F-4D97-AF65-F5344CB8AC3E}">
        <p14:creationId xmlns:p14="http://schemas.microsoft.com/office/powerpoint/2010/main" val="3990650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AEE76C-414A-876A-1EF5-F8608233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BE1EA2-F576-686D-55AB-7C6B00D60F1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CFFE800-CA3D-1829-FE34-3088C7FCFDDB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Najczęściej używana jest do iteracji przez zakresy (</a:t>
            </a:r>
            <a:r>
              <a:rPr lang="pl-PL" sz="1800" b="1" dirty="0" err="1"/>
              <a:t>ranges</a:t>
            </a:r>
            <a:r>
              <a:rPr lang="pl-PL" sz="1800" dirty="0"/>
              <a:t>) lub kolekcje (</a:t>
            </a:r>
            <a:r>
              <a:rPr lang="pl-PL" sz="1800" b="1" dirty="0" err="1"/>
              <a:t>collections</a:t>
            </a:r>
            <a:r>
              <a:rPr lang="pl-PL" sz="1800" dirty="0"/>
              <a:t>). Podstawowa składnia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7E1F121-7F0E-A47C-39E7-207F07C1A59A}"/>
              </a:ext>
            </a:extLst>
          </p:cNvPr>
          <p:cNvSpPr txBox="1"/>
          <p:nvPr/>
        </p:nvSpPr>
        <p:spPr>
          <a:xfrm>
            <a:off x="1043609" y="1559998"/>
            <a:ext cx="6175088" cy="22398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/>
              <a:t> </a:t>
            </a:r>
            <a:r>
              <a:rPr lang="pl-PL" sz="2400" b="1" dirty="0"/>
              <a:t>1..5 </a:t>
            </a:r>
            <a:r>
              <a:rPr lang="pl-PL" sz="2400" dirty="0"/>
              <a:t>– liczby od 1 do 5.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/>
              <a:t>5 </a:t>
            </a:r>
            <a:r>
              <a:rPr lang="pl-PL" sz="2400" b="1" dirty="0" err="1"/>
              <a:t>downTo</a:t>
            </a:r>
            <a:r>
              <a:rPr lang="pl-PL" sz="2400" b="1" dirty="0"/>
              <a:t> 1</a:t>
            </a:r>
            <a:r>
              <a:rPr lang="pl-PL" sz="2400" dirty="0"/>
              <a:t> – liczby od 5 do 1.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/>
              <a:t>1..10 step 2</a:t>
            </a:r>
            <a:r>
              <a:rPr lang="pl-PL" sz="2400" dirty="0"/>
              <a:t> – liczby od 1 do 10, co drugą.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/>
              <a:t>1 </a:t>
            </a:r>
            <a:r>
              <a:rPr lang="pl-PL" sz="2400" b="1" dirty="0" err="1"/>
              <a:t>until</a:t>
            </a:r>
            <a:r>
              <a:rPr lang="pl-PL" sz="2400" b="1" dirty="0"/>
              <a:t> 5</a:t>
            </a:r>
            <a:r>
              <a:rPr lang="pl-PL" sz="2400" dirty="0"/>
              <a:t> – liczby od 1 do 4 (bez 5).</a:t>
            </a:r>
          </a:p>
        </p:txBody>
      </p:sp>
    </p:spTree>
    <p:extLst>
      <p:ext uri="{BB962C8B-B14F-4D97-AF65-F5344CB8AC3E}">
        <p14:creationId xmlns:p14="http://schemas.microsoft.com/office/powerpoint/2010/main" val="36349702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3FB8D-F69F-99CA-C141-88035D01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B594BF-9D80-EADA-638E-9492E7DEDD2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1A18DAC-7B5F-6501-1EEC-235B47300893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Najczęściej używana jest do iteracji przez zakresy (</a:t>
            </a:r>
            <a:r>
              <a:rPr lang="pl-PL" sz="1800" b="1" dirty="0" err="1"/>
              <a:t>ranges</a:t>
            </a:r>
            <a:r>
              <a:rPr lang="pl-PL" sz="1800" dirty="0"/>
              <a:t>) lub kolekcje (</a:t>
            </a:r>
            <a:r>
              <a:rPr lang="pl-PL" sz="1800" b="1" dirty="0" err="1"/>
              <a:t>collections</a:t>
            </a:r>
            <a:r>
              <a:rPr lang="pl-PL" sz="1800" dirty="0"/>
              <a:t>). Podstawowa składnia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81EFD41-2C9A-2B21-BE87-FB224BD33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782688"/>
            <a:ext cx="73152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821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3561F-9513-4E08-1810-BECE5D9CE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CE0645-66A4-8081-85B4-82FFF8507D3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AF09079-C058-D85C-4A55-336B208A790B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Najczęściej używana jest do iteracji przez zakresy (</a:t>
            </a:r>
            <a:r>
              <a:rPr lang="pl-PL" sz="1800" b="1" dirty="0" err="1"/>
              <a:t>ranges</a:t>
            </a:r>
            <a:r>
              <a:rPr lang="pl-PL" sz="1800" dirty="0"/>
              <a:t>) lub kolekcje (</a:t>
            </a:r>
            <a:r>
              <a:rPr lang="pl-PL" sz="1800" b="1" dirty="0" err="1"/>
              <a:t>collections</a:t>
            </a:r>
            <a:r>
              <a:rPr lang="pl-PL" sz="1800" dirty="0"/>
              <a:t>). Podstawowa składnia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5B537E4-AA23-54C8-9A5A-AD2453286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18" y="1700808"/>
            <a:ext cx="77819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549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4B410-0484-9522-BBC0-7B2BE01E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FAE7ED-AFE1-17E0-57A2-FB52A40E37D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FAB2189-7617-4A2F-B05D-2E8AA066DE47}"/>
              </a:ext>
            </a:extLst>
          </p:cNvPr>
          <p:cNvSpPr txBox="1"/>
          <p:nvPr/>
        </p:nvSpPr>
        <p:spPr>
          <a:xfrm>
            <a:off x="1043609" y="908720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800" dirty="0"/>
              <a:t>Najczęściej używana jest do iteracji przez zakresy (</a:t>
            </a:r>
            <a:r>
              <a:rPr lang="pl-PL" sz="1800" b="1" dirty="0" err="1"/>
              <a:t>ranges</a:t>
            </a:r>
            <a:r>
              <a:rPr lang="pl-PL" sz="1800" dirty="0"/>
              <a:t>) lub kolekcje (</a:t>
            </a:r>
            <a:r>
              <a:rPr lang="pl-PL" sz="1800" b="1" dirty="0" err="1"/>
              <a:t>collections</a:t>
            </a:r>
            <a:r>
              <a:rPr lang="pl-PL" sz="1800" dirty="0"/>
              <a:t>). Podstawowa składnia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579391F-926E-9714-B03F-6383A5C01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9" y="1862137"/>
            <a:ext cx="783907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630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A4467-1B99-3507-5105-60476420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4F5F46-38C3-6FBD-3E43-8BC40B0E64B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161C0A4-1960-27D9-3C0B-C26F05C06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052736"/>
            <a:ext cx="474345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00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70FF0-7FCF-FE0D-4E8C-227E62F3E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A20179-A62F-3C5E-1144-4143C3F900D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51320AF-5D4D-45BB-8BCA-653156A40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1052736"/>
            <a:ext cx="515302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528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195AE-CD64-21AB-7AF0-D83441C3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94D591-068E-CABA-193C-7862B6D975B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Pętle i instrukcje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1EAB827-D4EE-544D-0B69-A41A44CF0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938810"/>
            <a:ext cx="6531083" cy="591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93149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79986</TotalTime>
  <Pages>0</Pages>
  <Words>2140</Words>
  <Characters>0</Characters>
  <Application>Microsoft Office PowerPoint</Application>
  <PresentationFormat>Pokaz na ekranie (4:3)</PresentationFormat>
  <Lines>0</Lines>
  <Paragraphs>322</Paragraphs>
  <Slides>64</Slides>
  <Notes>64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64</vt:i4>
      </vt:variant>
    </vt:vector>
  </HeadingPairs>
  <TitlesOfParts>
    <vt:vector size="69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1134</cp:revision>
  <dcterms:modified xsi:type="dcterms:W3CDTF">2025-03-04T10:26:37Z</dcterms:modified>
  <cp:category/>
</cp:coreProperties>
</file>