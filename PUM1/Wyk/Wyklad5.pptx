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53"/>
  </p:notesMasterIdLst>
  <p:handoutMasterIdLst>
    <p:handoutMasterId r:id="rId54"/>
  </p:handoutMasterIdLst>
  <p:sldIdLst>
    <p:sldId id="346" r:id="rId2"/>
    <p:sldId id="503" r:id="rId3"/>
    <p:sldId id="504" r:id="rId4"/>
    <p:sldId id="507" r:id="rId5"/>
    <p:sldId id="506" r:id="rId6"/>
    <p:sldId id="508" r:id="rId7"/>
    <p:sldId id="550" r:id="rId8"/>
    <p:sldId id="552" r:id="rId9"/>
    <p:sldId id="551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16" r:id="rId18"/>
    <p:sldId id="517" r:id="rId19"/>
    <p:sldId id="518" r:id="rId20"/>
    <p:sldId id="519" r:id="rId21"/>
    <p:sldId id="520" r:id="rId22"/>
    <p:sldId id="521" r:id="rId23"/>
    <p:sldId id="522" r:id="rId24"/>
    <p:sldId id="523" r:id="rId25"/>
    <p:sldId id="524" r:id="rId26"/>
    <p:sldId id="525" r:id="rId27"/>
    <p:sldId id="526" r:id="rId28"/>
    <p:sldId id="527" r:id="rId29"/>
    <p:sldId id="549" r:id="rId30"/>
    <p:sldId id="553" r:id="rId31"/>
    <p:sldId id="528" r:id="rId32"/>
    <p:sldId id="529" r:id="rId33"/>
    <p:sldId id="530" r:id="rId34"/>
    <p:sldId id="531" r:id="rId35"/>
    <p:sldId id="532" r:id="rId36"/>
    <p:sldId id="533" r:id="rId37"/>
    <p:sldId id="534" r:id="rId38"/>
    <p:sldId id="535" r:id="rId39"/>
    <p:sldId id="536" r:id="rId40"/>
    <p:sldId id="537" r:id="rId41"/>
    <p:sldId id="539" r:id="rId42"/>
    <p:sldId id="538" r:id="rId43"/>
    <p:sldId id="541" r:id="rId44"/>
    <p:sldId id="540" r:id="rId45"/>
    <p:sldId id="542" r:id="rId46"/>
    <p:sldId id="543" r:id="rId47"/>
    <p:sldId id="544" r:id="rId48"/>
    <p:sldId id="545" r:id="rId49"/>
    <p:sldId id="546" r:id="rId50"/>
    <p:sldId id="547" r:id="rId51"/>
    <p:sldId id="548" r:id="rId5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66" d="100"/>
          <a:sy n="66" d="100"/>
        </p:scale>
        <p:origin x="12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C2A87-F3BA-6DC2-F6E1-EE0A3062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3D0EB-37E7-C567-F3C7-72BBF701E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C4449-90ED-0CFC-A384-7C795B961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8347E-2DE0-8EF9-0CFE-47CA4EB38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8354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9A715-B98D-ABC8-96C9-51BEFF33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49E2D-DB6C-C187-2A60-DB2D9D142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91AF7-BCAA-2BEE-C3CA-5711F9538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099B0-02D6-64EB-091F-647981333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0704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C37E-2479-75DB-17B5-36056B72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DFAA4-D666-A681-EDE1-DC007D4D0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6E6EDD-6F73-1808-ECD2-E32DBB4F8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63070-92B5-CFED-76E4-50F4317C7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0748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5CB5-F8C3-E8BD-D5FD-63FF23DF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538DB-772D-C2B4-8C7D-58A29EEDC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2DC75-3E2E-9849-F241-00E6E716D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87CE1-365C-C9B4-B9B3-2F0714647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3782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05D3-7FB6-CAA6-5BA5-060BA089D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5F69D-1D1A-1E98-8A60-7A5EA56E9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D39E4-F758-15BD-3937-C54F4676D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B0325-8AD7-B8C8-2A25-908A44A1A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9562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092D-C668-F17A-7C60-E963B388A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CB9C6-495A-88CA-F7C4-DB326DAA7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0B4E3-4885-C8ED-1D63-5F4AA0549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AE79-2FAA-6333-0CE3-39168F2B4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4865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6F21-7AA1-BED4-F4B4-0BBE4070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94036-795C-5189-D9F9-0FFC9F8AF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EC7C8-6210-BCCB-4BD3-6BA25C77F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FDE25-BF9A-38F6-5411-926C2C374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3272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4A9A-B695-F860-5A5E-DA1F203E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13777-571B-597F-E49A-A6A3B0A2A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12BB8-BD28-1A0F-F1F7-76AD48CB2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EAB64-0B8C-D71B-9CF3-6F75B2A6CD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237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39A8-0725-6AE0-3215-FEE46C24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C8268-2646-55BE-5A44-88916B95A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F0BB7-E7FE-1A25-1597-776235781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0F165-7594-84C6-B547-B93322368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5051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C709-20EA-D148-5C28-BC7FB935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E3F3D-1A23-7106-447F-E634782C7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9731A-93D7-3EFD-05F8-A35450526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5EAA0-7498-43C8-3095-AFF9D72B0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5608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22CF-7516-7DFA-3D56-B4ED0A58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99105-3CF6-87A1-9B72-599D04431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4871E-84D3-0E35-BDED-BB0C1A9D8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165F9-0AAC-8B6E-C986-2F6D774FE1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6754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0DC0-3CC1-5FA2-BD66-6659C859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3B7F0-65A6-7108-2593-A67857CF9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249E3-BD50-8B94-ADAC-6C8758E29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5DE40-BE7B-2C71-23E3-08B263653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9997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74574-BAAA-75A9-C093-23E5767A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116C2-CD77-98C8-17DF-2FCB652F4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DE409-8DF6-63B5-56C0-C57612313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3F599-5D40-78D3-7779-F88A83BF20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441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D655-4506-1BD2-A5BB-ABA0E0E83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A9D4C-E3DA-EFEE-B759-4A3407F3E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39FC3-B912-8B5D-053A-661B9B4CC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00AA8-372E-2246-1075-47366D4C6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0476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9FF62-563D-7552-AD66-50E96205E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B5103-3981-7FC2-39A5-2CFB038F8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33EA5-B89A-5A3D-F8B1-F476ABDAC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FCBC8-F015-D53B-9890-5A0E31896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4150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BDA5-AFD9-88F2-615C-2F6A6D84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6EB1F-90AD-D0CF-0DBA-43736307F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3BF45-92BD-CDC2-780D-C82332A1B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365D6-7C51-75AF-8D20-7A6164DE7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9941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438F-EA43-ABC8-4749-EE8C3977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ED1AD-36C0-AE28-40E5-184FEFA21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79DCF-1CF0-77EC-7468-BF3F192AA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B3ABE-5895-736B-8E1A-DE3D941A56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0544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F877-77EE-D427-4CF0-72E934AA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259DA-5C21-6016-A261-2975ADD01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1AE8B-F515-FC9B-FB33-0F7341224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E35FA-2768-4746-89DD-449419218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865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38091-ACF4-2D36-A686-697713DA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08262-3186-6F79-10A5-02A6F3BC7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A2BA1-F7DC-94CF-DA5A-48089AF1B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27C18-C534-91D3-1430-0DFAE7ADC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81653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1F059-9E6D-16D9-9820-F222086BF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68AF5-1DEC-B585-28E6-BD436E2D7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84705-1D25-32AC-453F-59BD5CB6E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6E2B9-4E44-3126-C30F-60A426EC7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44143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6054-1095-602E-D597-EB7DC587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FFAC4-E39A-C51E-0D78-4F0132611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2AC5D-6DBA-9476-A085-4D56252D6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DB14F-10EE-E3E7-12A7-177227C6B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00184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4F794-B7A4-3461-444F-CD11CCFC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6C7EF-C94D-21FB-7AD3-39B330128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9B0D7-1E2E-7CF2-1E73-8C8D6D91D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E5446-91E2-6846-6BAA-9A18D7130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7743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70B9E-52BE-B68F-3C36-DE8C1E20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923E2-CFC3-740E-F2B3-1F3FC331D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EB54B-BCD3-0BD1-125F-DD80BD7E2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4900-84F4-4A3C-7EFC-0E4F047440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57442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5D47E-E4A4-DDB0-D8AE-C7CE6E4D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D5967-7BD4-E0A9-2D9F-B678CCEF7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71DF9-A5F7-E113-4FBA-0464FF708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4306C-8678-DA73-E052-AB0848A765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2826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6CAB-A23D-7016-01DE-7780185D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0E053-D692-D252-9244-E334BE8A0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E58B8-FD5C-E512-EF9A-3A4DAA27A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0DCAC-A661-ACB0-6226-82827DE17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43260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1852B-F8D6-EC98-7C27-A4A6F851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50213-2070-C586-9B98-12E10A3DC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C3E98-A967-A122-42CC-8B2324C62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8B22E-FD7D-C5D1-DBFC-14EEACDB2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0766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78014-C6A1-B853-7C5F-5A956D16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EABB6-A527-1288-C855-A10842B18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7A62C-9153-93F5-CC5A-CFDD6AA7D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219D-EBEA-9E81-3E69-A721DA674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0414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DB8D-07D5-5BE8-008C-2F2B636B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E78FF-E168-7A83-BC0B-913D24EBC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64C68-42C6-63BD-C0EA-7EEB3B689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B6BD7-46E9-EF35-DF7D-16D7C2519C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5171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C171-024E-1640-AAAB-C4748CD1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803F3-11D2-61E5-739B-5A947B48A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80ACE-88D0-1B98-6FDD-FF6897C70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FEC14-6696-ADB8-7A7D-4FF9B0D48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37092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E301-69BD-690D-E625-FCFA34C7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35640-1EC0-5599-6351-8B0D00DC9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E1F76-F111-0755-E408-DC6AC819A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9F48C-63D4-F39C-2B1F-A8E8EDD1BB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63380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818F-B100-0E48-9577-4B55C0438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44E2B-6C5E-91DC-2364-F2728E14A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14B36-0191-A685-D5E1-770CCB3BD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4112A-150E-B13A-803D-3B214BF33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69575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45EC-5EFD-182F-0AE7-7FBE51C1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E19CA-94EE-4FCB-9639-F37E108D8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DB5CE-3574-3158-099D-3F0B2C686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6ED0B-7A01-4700-A99F-9D9D5D235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49596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5A630-A6DB-E9AF-BC98-60D3BC45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4C10E-E6B8-AA80-7F1E-BB04D7B9E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D76D0-044B-819D-59CA-278E3177F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5FF2E-7CAF-A52D-8A81-7E108C76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37040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87AB-643C-8CC6-DC5C-54E4752D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69B0E-5AC1-8927-E9FA-2DEDB82AD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CB1DE-E62B-1B28-F152-5636BD067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A9CB2-098B-A907-1C4C-959C33F13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95757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5D49-D678-354F-EA52-8AB9292C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7188A-FC9B-DF06-A29C-49DAF10D0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49E51-4571-0D31-94D2-010827A48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9AFB6-9C9E-3948-65B8-FBCCC3179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06871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7E4B0-5359-A84C-3B9C-560CE786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4F450-1F44-EAB0-421D-FB10FDEA1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4C45F-8690-B8D9-E4B5-A0FA991E3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1F56F-56CF-7842-42AF-9B2A5EB51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12487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2E9CB-8C4C-7680-840E-994EE532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147D8-35B1-140F-C7B1-09E7C51B9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E96A6-3656-8F74-1135-CD7A4D125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2E47F-DF4A-2481-D5F1-1D857D76E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33767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6C281-7388-E6ED-1DDC-5A358A93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39A45-A421-35DC-D9F0-E479A7630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62D38-3AF5-9928-676E-76850939A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7B4E3-D704-06B6-40F3-9B5F48C7C5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34614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531B-65CB-CCCC-10CB-AAED7C61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68932-DD2F-5775-ABFA-7AB3EE060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4DEA5-2A87-C1F9-218F-55803F180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07530-8B3A-15E5-4E70-B6FB1508D3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42797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5DBD8-6057-AF9F-231F-7B2D997C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D5442-CFFA-C867-A057-A19B0962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54463-2021-C72F-0A15-4DD024D22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67D7E-32A5-73CC-2A5F-703542D06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13629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5F97C-B979-0501-D855-3598AF81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40422-061A-F73E-0FDE-E7A8E6793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635C4-28C4-FAF3-F0DA-BC0236369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51EA4-E26C-C0D9-BFD7-99F9E95FD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14767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20121-F6AF-C39F-1060-97A480441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3A6BD-5690-349D-CD85-D96FDB6C0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FE5D0-3358-DD5A-76E1-6F31E0259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1CB65-C9F5-951A-C786-9F2AE9451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63177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59EC-B6CA-A197-1953-A013698B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68772-68D4-FA3A-EC1E-6640A08C9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8AF1E-B19A-6543-DF81-1662D8732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DE2F3-A36E-340B-9A9C-286A69224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47687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A164B-3483-685C-CDE1-0EECBDA5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8EFDC-88B3-817F-ACEC-565F91FF9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013EC-40CA-E3D2-DF77-4D6F6EA81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20067-82BA-735A-1117-BFEDF6F781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74727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6E78B-057F-7653-81E7-C18FF0A9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D83B9-5C40-01E6-861B-74C56C4EA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68CEB-5F27-C4CA-D2BC-1E343CCB3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DD5F2-18DF-AD8E-29E5-8A3D6FAA9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02252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BC4E4-A9C1-5C12-7308-9616ED9F4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B61D9-B51D-8BA3-9D38-A029D4778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1F6DA-BD1D-8683-9F61-6674A2DB0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579BE-A8FE-30FE-6328-0F6F0AE68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74090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DB5E-5927-B713-4CDC-D620ABB6E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E4081-152F-834C-FA99-1544BC11A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28DF5-FD72-C799-C974-680DB6FFE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18E78-5224-211A-1BD1-C8C19D3B0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43060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D6972-81BE-A29F-CB84-E668DEC6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1A295-DAB0-6AB8-6B1D-7B907E95D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088BB-ECFD-5E02-A676-A819ED0E1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A78D7-1FCD-629F-5B97-D003F121D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73077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ADE3-1287-21B4-B0B1-FB8DE675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EE442-91ED-9581-C256-F03ACA647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86CC0-2EF9-66FC-C82C-9963B3873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187A7-4A58-238D-485E-D47E2B06C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2024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5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Klasy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A4ADCDF7-4250-1D3E-A21C-575455CDA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715" y="1485243"/>
            <a:ext cx="4330381" cy="392677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21B720C-B788-DF92-9E3D-AC0B43E9FAEF}"/>
              </a:ext>
            </a:extLst>
          </p:cNvPr>
          <p:cNvSpPr txBox="1"/>
          <p:nvPr/>
        </p:nvSpPr>
        <p:spPr>
          <a:xfrm>
            <a:off x="1022003" y="923944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Klasa służy jako </a:t>
            </a:r>
            <a:r>
              <a:rPr lang="pl-PL" sz="1600" b="1" dirty="0"/>
              <a:t>szablon</a:t>
            </a:r>
            <a:r>
              <a:rPr lang="pl-PL" sz="1600" dirty="0"/>
              <a:t> do wytwarzania obiektów. Obiekty są </a:t>
            </a:r>
            <a:r>
              <a:rPr lang="pl-PL" sz="1600" b="1" dirty="0"/>
              <a:t>instancjami</a:t>
            </a:r>
            <a:r>
              <a:rPr lang="pl-PL" sz="1600" dirty="0"/>
              <a:t> klasy, które łączą w sobie dane oraz funkcjonalność.</a:t>
            </a: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24F54-089F-D707-079C-8F3C96F6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a 3">
            <a:extLst>
              <a:ext uri="{FF2B5EF4-FFF2-40B4-BE49-F238E27FC236}">
                <a16:creationId xmlns:a16="http://schemas.microsoft.com/office/drawing/2014/main" id="{81D6B2F3-20B0-7263-6CBA-DBBF8CB8D2A6}"/>
              </a:ext>
            </a:extLst>
          </p:cNvPr>
          <p:cNvGrpSpPr/>
          <p:nvPr/>
        </p:nvGrpSpPr>
        <p:grpSpPr>
          <a:xfrm>
            <a:off x="1105716" y="1485243"/>
            <a:ext cx="4402388" cy="3959981"/>
            <a:chOff x="1105715" y="1485243"/>
            <a:chExt cx="3882053" cy="3520231"/>
          </a:xfrm>
        </p:grpSpPr>
        <p:pic>
          <p:nvPicPr>
            <p:cNvPr id="5" name="Obraz 4">
              <a:extLst>
                <a:ext uri="{FF2B5EF4-FFF2-40B4-BE49-F238E27FC236}">
                  <a16:creationId xmlns:a16="http://schemas.microsoft.com/office/drawing/2014/main" id="{E402383E-FB84-4D19-992E-E784BF5DE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5715" y="1485243"/>
              <a:ext cx="3882053" cy="3520231"/>
            </a:xfrm>
            <a:prstGeom prst="rect">
              <a:avLst/>
            </a:prstGeom>
          </p:spPr>
        </p:pic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ED5650B2-6908-A5A6-62C2-F6E7A536778B}"/>
                </a:ext>
              </a:extLst>
            </p:cNvPr>
            <p:cNvSpPr/>
            <p:nvPr/>
          </p:nvSpPr>
          <p:spPr>
            <a:xfrm>
              <a:off x="1897803" y="1908580"/>
              <a:ext cx="1584176" cy="576064"/>
            </a:xfrm>
            <a:prstGeom prst="roundRect">
              <a:avLst/>
            </a:prstGeom>
            <a:noFill/>
            <a:ln w="571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A647E6FA-512B-C76C-D3BD-BA099A81C5BA}"/>
                </a:ext>
              </a:extLst>
            </p:cNvPr>
            <p:cNvSpPr/>
            <p:nvPr/>
          </p:nvSpPr>
          <p:spPr>
            <a:xfrm>
              <a:off x="1825795" y="2669294"/>
              <a:ext cx="3096344" cy="1831574"/>
            </a:xfrm>
            <a:prstGeom prst="roundRect">
              <a:avLst/>
            </a:prstGeom>
            <a:noFill/>
            <a:ln w="571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cxnSp>
        <p:nvCxnSpPr>
          <p:cNvPr id="21" name="Łącznik prosty 20">
            <a:extLst>
              <a:ext uri="{FF2B5EF4-FFF2-40B4-BE49-F238E27FC236}">
                <a16:creationId xmlns:a16="http://schemas.microsoft.com/office/drawing/2014/main" id="{56750A8B-48B2-222F-7EA6-AD52487EBEA5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5433679" y="3847395"/>
            <a:ext cx="362457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2FAFD6DB-335D-F6BE-FF00-DE96A36D9B66}"/>
              </a:ext>
            </a:extLst>
          </p:cNvPr>
          <p:cNvCxnSpPr>
            <a:stCxn id="8" idx="3"/>
            <a:endCxn id="7" idx="1"/>
          </p:cNvCxnSpPr>
          <p:nvPr/>
        </p:nvCxnSpPr>
        <p:spPr>
          <a:xfrm flipV="1">
            <a:off x="3800485" y="2047328"/>
            <a:ext cx="1840410" cy="23814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5689ABA-C3C4-935F-C855-0A7E4AE1A62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EDFC335-9D67-7E25-32F3-D7E6417E9DD1}"/>
              </a:ext>
            </a:extLst>
          </p:cNvPr>
          <p:cNvSpPr txBox="1"/>
          <p:nvPr/>
        </p:nvSpPr>
        <p:spPr>
          <a:xfrm>
            <a:off x="1022003" y="923944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Klasa służy jako </a:t>
            </a:r>
            <a:r>
              <a:rPr lang="pl-PL" sz="1600" b="1" dirty="0"/>
              <a:t>szablon</a:t>
            </a:r>
            <a:r>
              <a:rPr lang="pl-PL" sz="1600" dirty="0"/>
              <a:t> do wytwarzania obiektów. Obiekty są </a:t>
            </a:r>
            <a:r>
              <a:rPr lang="pl-PL" sz="1600" b="1" dirty="0"/>
              <a:t>instancjami</a:t>
            </a:r>
            <a:r>
              <a:rPr lang="pl-PL" sz="1600" dirty="0"/>
              <a:t> klasy, które łączą w sobie dane oraz funkcjonalność.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A73F491-26C2-1D96-815C-411EF1362DEE}"/>
              </a:ext>
            </a:extLst>
          </p:cNvPr>
          <p:cNvSpPr txBox="1"/>
          <p:nvPr/>
        </p:nvSpPr>
        <p:spPr>
          <a:xfrm>
            <a:off x="5640895" y="1520199"/>
            <a:ext cx="31683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 obiektu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reprezentowany jest poprzez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które są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zmiennymi lub wartościami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zdefiniowanymi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 klasy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D7AE5EF6-761A-36A1-0916-5925A4653BA8}"/>
              </a:ext>
            </a:extLst>
          </p:cNvPr>
          <p:cNvSpPr/>
          <p:nvPr/>
        </p:nvSpPr>
        <p:spPr>
          <a:xfrm>
            <a:off x="5640895" y="1508719"/>
            <a:ext cx="3168352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AD93B987-91F2-4C64-CB8B-E2742DEAC557}"/>
              </a:ext>
            </a:extLst>
          </p:cNvPr>
          <p:cNvSpPr/>
          <p:nvPr/>
        </p:nvSpPr>
        <p:spPr>
          <a:xfrm>
            <a:off x="5796136" y="3308786"/>
            <a:ext cx="3168352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7CC97CDF-D99B-00C8-4A33-2BD737025507}"/>
              </a:ext>
            </a:extLst>
          </p:cNvPr>
          <p:cNvSpPr txBox="1"/>
          <p:nvPr/>
        </p:nvSpPr>
        <p:spPr>
          <a:xfrm>
            <a:off x="5779158" y="3340068"/>
            <a:ext cx="3202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Metody definiują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zachowanie klasy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czyli operacje, które można wykonać na obiektach tej klasy.</a:t>
            </a:r>
          </a:p>
        </p:txBody>
      </p:sp>
    </p:spTree>
    <p:extLst>
      <p:ext uri="{BB962C8B-B14F-4D97-AF65-F5344CB8AC3E}">
        <p14:creationId xmlns:p14="http://schemas.microsoft.com/office/powerpoint/2010/main" val="95885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57B1C-4E62-6A90-DBC9-E34089DC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a 3">
            <a:extLst>
              <a:ext uri="{FF2B5EF4-FFF2-40B4-BE49-F238E27FC236}">
                <a16:creationId xmlns:a16="http://schemas.microsoft.com/office/drawing/2014/main" id="{1039F39C-819F-DD22-5F44-4460C6B14E49}"/>
              </a:ext>
            </a:extLst>
          </p:cNvPr>
          <p:cNvGrpSpPr/>
          <p:nvPr/>
        </p:nvGrpSpPr>
        <p:grpSpPr>
          <a:xfrm>
            <a:off x="1105716" y="1485243"/>
            <a:ext cx="4402388" cy="3959981"/>
            <a:chOff x="1105715" y="1485243"/>
            <a:chExt cx="3882053" cy="3520231"/>
          </a:xfrm>
        </p:grpSpPr>
        <p:pic>
          <p:nvPicPr>
            <p:cNvPr id="5" name="Obraz 4">
              <a:extLst>
                <a:ext uri="{FF2B5EF4-FFF2-40B4-BE49-F238E27FC236}">
                  <a16:creationId xmlns:a16="http://schemas.microsoft.com/office/drawing/2014/main" id="{CFD45765-87BC-16D1-10F6-C7CEFBAA3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5715" y="1485243"/>
              <a:ext cx="3882053" cy="3520231"/>
            </a:xfrm>
            <a:prstGeom prst="rect">
              <a:avLst/>
            </a:prstGeom>
          </p:spPr>
        </p:pic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525328CE-69D9-D730-27B5-25BFF8E2EA97}"/>
                </a:ext>
              </a:extLst>
            </p:cNvPr>
            <p:cNvSpPr/>
            <p:nvPr/>
          </p:nvSpPr>
          <p:spPr>
            <a:xfrm>
              <a:off x="1897803" y="1908580"/>
              <a:ext cx="1584176" cy="576064"/>
            </a:xfrm>
            <a:prstGeom prst="roundRect">
              <a:avLst/>
            </a:prstGeom>
            <a:noFill/>
            <a:ln w="571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7F166318-8720-7904-3C76-51ED87CF0C16}"/>
                </a:ext>
              </a:extLst>
            </p:cNvPr>
            <p:cNvSpPr/>
            <p:nvPr/>
          </p:nvSpPr>
          <p:spPr>
            <a:xfrm>
              <a:off x="1825795" y="2669294"/>
              <a:ext cx="3096344" cy="1831574"/>
            </a:xfrm>
            <a:prstGeom prst="roundRect">
              <a:avLst/>
            </a:prstGeom>
            <a:noFill/>
            <a:ln w="571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cxnSp>
        <p:nvCxnSpPr>
          <p:cNvPr id="21" name="Łącznik prosty 20">
            <a:extLst>
              <a:ext uri="{FF2B5EF4-FFF2-40B4-BE49-F238E27FC236}">
                <a16:creationId xmlns:a16="http://schemas.microsoft.com/office/drawing/2014/main" id="{72F3C7D6-98DB-64CE-ECC9-9AA52EBB6FC0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5433679" y="3847395"/>
            <a:ext cx="362457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F793FE4E-B732-4CAD-7832-52C49968FBB1}"/>
              </a:ext>
            </a:extLst>
          </p:cNvPr>
          <p:cNvCxnSpPr>
            <a:stCxn id="8" idx="3"/>
            <a:endCxn id="7" idx="1"/>
          </p:cNvCxnSpPr>
          <p:nvPr/>
        </p:nvCxnSpPr>
        <p:spPr>
          <a:xfrm flipV="1">
            <a:off x="3800485" y="2047328"/>
            <a:ext cx="1840410" cy="23814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AAC2C4-BEF3-8C5E-19D4-68BF1E00B2C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707CB60-60B6-FF55-8C23-539E29E60394}"/>
              </a:ext>
            </a:extLst>
          </p:cNvPr>
          <p:cNvSpPr txBox="1"/>
          <p:nvPr/>
        </p:nvSpPr>
        <p:spPr>
          <a:xfrm>
            <a:off x="1022003" y="923944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Klasa służy jako </a:t>
            </a:r>
            <a:r>
              <a:rPr lang="pl-PL" sz="1600" b="1" dirty="0"/>
              <a:t>szablon</a:t>
            </a:r>
            <a:r>
              <a:rPr lang="pl-PL" sz="1600" dirty="0"/>
              <a:t> do wytwarzania obiektów. Obiekty są </a:t>
            </a:r>
            <a:r>
              <a:rPr lang="pl-PL" sz="1600" b="1" dirty="0"/>
              <a:t>instancjami</a:t>
            </a:r>
            <a:r>
              <a:rPr lang="pl-PL" sz="1600" dirty="0"/>
              <a:t> klasy, które łączą w sobie dane oraz funkcjonalność.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7186309-99AB-033D-E5F7-37A4E6E0B2F4}"/>
              </a:ext>
            </a:extLst>
          </p:cNvPr>
          <p:cNvSpPr txBox="1"/>
          <p:nvPr/>
        </p:nvSpPr>
        <p:spPr>
          <a:xfrm>
            <a:off x="5640895" y="1520199"/>
            <a:ext cx="31683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 obiektu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reprezentowany jest poprzez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które są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zmiennymi lub wartościami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zdefiniowanymi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 klasy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F1C96F7A-5279-6811-047B-C955F0B6DAC2}"/>
              </a:ext>
            </a:extLst>
          </p:cNvPr>
          <p:cNvSpPr/>
          <p:nvPr/>
        </p:nvSpPr>
        <p:spPr>
          <a:xfrm>
            <a:off x="5640895" y="1508719"/>
            <a:ext cx="3168352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AC31612C-00BD-4B49-6A4E-3CE3942A6039}"/>
              </a:ext>
            </a:extLst>
          </p:cNvPr>
          <p:cNvSpPr/>
          <p:nvPr/>
        </p:nvSpPr>
        <p:spPr>
          <a:xfrm>
            <a:off x="5796136" y="3308786"/>
            <a:ext cx="3168352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543867E6-CFF1-7AED-C452-061F7D187845}"/>
              </a:ext>
            </a:extLst>
          </p:cNvPr>
          <p:cNvSpPr txBox="1"/>
          <p:nvPr/>
        </p:nvSpPr>
        <p:spPr>
          <a:xfrm>
            <a:off x="5779158" y="3340068"/>
            <a:ext cx="3202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Metody definiują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zachowanie klasy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czyli operacje, które można wykonać na obiektach tej klasy.</a:t>
            </a:r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81D2D5A4-8F66-3505-A75B-34017D7AC8D9}"/>
              </a:ext>
            </a:extLst>
          </p:cNvPr>
          <p:cNvGrpSpPr/>
          <p:nvPr/>
        </p:nvGrpSpPr>
        <p:grpSpPr>
          <a:xfrm>
            <a:off x="6339233" y="4575937"/>
            <a:ext cx="2086327" cy="2093423"/>
            <a:chOff x="5796136" y="4575937"/>
            <a:chExt cx="2086327" cy="2093423"/>
          </a:xfrm>
        </p:grpSpPr>
        <p:grpSp>
          <p:nvGrpSpPr>
            <p:cNvPr id="10" name="Grupa 9">
              <a:extLst>
                <a:ext uri="{FF2B5EF4-FFF2-40B4-BE49-F238E27FC236}">
                  <a16:creationId xmlns:a16="http://schemas.microsoft.com/office/drawing/2014/main" id="{D9791E1A-5B07-948F-A9B4-81704EE44777}"/>
                </a:ext>
              </a:extLst>
            </p:cNvPr>
            <p:cNvGrpSpPr/>
            <p:nvPr/>
          </p:nvGrpSpPr>
          <p:grpSpPr>
            <a:xfrm>
              <a:off x="5796136" y="4918050"/>
              <a:ext cx="1465311" cy="1751310"/>
              <a:chOff x="1907704" y="1560332"/>
              <a:chExt cx="1609328" cy="1837503"/>
            </a:xfrm>
          </p:grpSpPr>
          <p:sp>
            <p:nvSpPr>
              <p:cNvPr id="16" name="Prostokąt: zaokrąglone rogi 15">
                <a:extLst>
                  <a:ext uri="{FF2B5EF4-FFF2-40B4-BE49-F238E27FC236}">
                    <a16:creationId xmlns:a16="http://schemas.microsoft.com/office/drawing/2014/main" id="{608B7178-A6F4-B6F8-07CE-F3EDED79156D}"/>
                  </a:ext>
                </a:extLst>
              </p:cNvPr>
              <p:cNvSpPr/>
              <p:nvPr/>
            </p:nvSpPr>
            <p:spPr>
              <a:xfrm>
                <a:off x="1907704" y="1560332"/>
                <a:ext cx="1152128" cy="1380303"/>
              </a:xfrm>
              <a:prstGeom prst="roundRect">
                <a:avLst/>
              </a:prstGeom>
              <a:solidFill>
                <a:schemeClr val="lt1"/>
              </a:solidFill>
              <a:ln w="5080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2" name="Prostokąt: zaokrąglone rogi 21">
                <a:extLst>
                  <a:ext uri="{FF2B5EF4-FFF2-40B4-BE49-F238E27FC236}">
                    <a16:creationId xmlns:a16="http://schemas.microsoft.com/office/drawing/2014/main" id="{ED6EC107-E4E4-DCD9-D02E-AFD86D679657}"/>
                  </a:ext>
                </a:extLst>
              </p:cNvPr>
              <p:cNvSpPr/>
              <p:nvPr/>
            </p:nvSpPr>
            <p:spPr>
              <a:xfrm>
                <a:off x="2060104" y="1712732"/>
                <a:ext cx="1152128" cy="1380303"/>
              </a:xfrm>
              <a:prstGeom prst="roundRect">
                <a:avLst/>
              </a:prstGeom>
              <a:solidFill>
                <a:schemeClr val="lt1"/>
              </a:solidFill>
              <a:ln w="5080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3" name="Prostokąt: zaokrąglone rogi 22">
                <a:extLst>
                  <a:ext uri="{FF2B5EF4-FFF2-40B4-BE49-F238E27FC236}">
                    <a16:creationId xmlns:a16="http://schemas.microsoft.com/office/drawing/2014/main" id="{959156D8-7C5D-CA64-E21E-518997521CE5}"/>
                  </a:ext>
                </a:extLst>
              </p:cNvPr>
              <p:cNvSpPr/>
              <p:nvPr/>
            </p:nvSpPr>
            <p:spPr>
              <a:xfrm>
                <a:off x="2212504" y="1865132"/>
                <a:ext cx="1152128" cy="1380303"/>
              </a:xfrm>
              <a:prstGeom prst="roundRect">
                <a:avLst/>
              </a:prstGeom>
              <a:solidFill>
                <a:schemeClr val="lt1"/>
              </a:solidFill>
              <a:ln w="5080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4" name="Prostokąt: zaokrąglone rogi 23">
                <a:extLst>
                  <a:ext uri="{FF2B5EF4-FFF2-40B4-BE49-F238E27FC236}">
                    <a16:creationId xmlns:a16="http://schemas.microsoft.com/office/drawing/2014/main" id="{C8DFA112-8F48-12C6-D104-7A10784F42E4}"/>
                  </a:ext>
                </a:extLst>
              </p:cNvPr>
              <p:cNvSpPr/>
              <p:nvPr/>
            </p:nvSpPr>
            <p:spPr>
              <a:xfrm>
                <a:off x="2364904" y="2017532"/>
                <a:ext cx="1152128" cy="1380303"/>
              </a:xfrm>
              <a:prstGeom prst="roundRect">
                <a:avLst/>
              </a:prstGeom>
              <a:solidFill>
                <a:schemeClr val="lt1"/>
              </a:solidFill>
              <a:ln w="5080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11" name="pole tekstowe 10">
              <a:extLst>
                <a:ext uri="{FF2B5EF4-FFF2-40B4-BE49-F238E27FC236}">
                  <a16:creationId xmlns:a16="http://schemas.microsoft.com/office/drawing/2014/main" id="{7619500E-301E-43CB-35A2-852BA4478520}"/>
                </a:ext>
              </a:extLst>
            </p:cNvPr>
            <p:cNvSpPr txBox="1"/>
            <p:nvPr/>
          </p:nvSpPr>
          <p:spPr>
            <a:xfrm>
              <a:off x="6696414" y="4575937"/>
              <a:ext cx="7697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400" b="1" dirty="0">
                  <a:solidFill>
                    <a:schemeClr val="accent4">
                      <a:lumMod val="50000"/>
                    </a:schemeClr>
                  </a:solidFill>
                </a:rPr>
                <a:t>point 1</a:t>
              </a:r>
              <a:endParaRPr lang="pl-PL" sz="11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2" name="pole tekstowe 11">
              <a:extLst>
                <a:ext uri="{FF2B5EF4-FFF2-40B4-BE49-F238E27FC236}">
                  <a16:creationId xmlns:a16="http://schemas.microsoft.com/office/drawing/2014/main" id="{ACC2553B-7284-47F6-2C42-FE8F30580D9A}"/>
                </a:ext>
              </a:extLst>
            </p:cNvPr>
            <p:cNvSpPr txBox="1"/>
            <p:nvPr/>
          </p:nvSpPr>
          <p:spPr>
            <a:xfrm>
              <a:off x="6835176" y="4748276"/>
              <a:ext cx="7697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400" b="1" dirty="0">
                  <a:solidFill>
                    <a:schemeClr val="accent4">
                      <a:lumMod val="50000"/>
                    </a:schemeClr>
                  </a:solidFill>
                </a:rPr>
                <a:t>point 2</a:t>
              </a:r>
              <a:endParaRPr lang="pl-PL" sz="11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3" name="pole tekstowe 12">
              <a:extLst>
                <a:ext uri="{FF2B5EF4-FFF2-40B4-BE49-F238E27FC236}">
                  <a16:creationId xmlns:a16="http://schemas.microsoft.com/office/drawing/2014/main" id="{58BC13F7-F3D6-5E7C-C6A5-3D3BEF556590}"/>
                </a:ext>
              </a:extLst>
            </p:cNvPr>
            <p:cNvSpPr txBox="1"/>
            <p:nvPr/>
          </p:nvSpPr>
          <p:spPr>
            <a:xfrm>
              <a:off x="6973938" y="4922850"/>
              <a:ext cx="7697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400" b="1" dirty="0">
                  <a:solidFill>
                    <a:schemeClr val="accent4">
                      <a:lumMod val="50000"/>
                    </a:schemeClr>
                  </a:solidFill>
                </a:rPr>
                <a:t>point 3</a:t>
              </a:r>
              <a:endParaRPr lang="pl-PL" sz="11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4" name="pole tekstowe 13">
              <a:extLst>
                <a:ext uri="{FF2B5EF4-FFF2-40B4-BE49-F238E27FC236}">
                  <a16:creationId xmlns:a16="http://schemas.microsoft.com/office/drawing/2014/main" id="{9CA765E2-0437-A3B4-FD9F-F58156D8729A}"/>
                </a:ext>
              </a:extLst>
            </p:cNvPr>
            <p:cNvSpPr txBox="1"/>
            <p:nvPr/>
          </p:nvSpPr>
          <p:spPr>
            <a:xfrm>
              <a:off x="7112700" y="5107450"/>
              <a:ext cx="7697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400" b="1" dirty="0">
                  <a:solidFill>
                    <a:schemeClr val="accent4">
                      <a:lumMod val="50000"/>
                    </a:schemeClr>
                  </a:solidFill>
                </a:rPr>
                <a:t>point 4</a:t>
              </a:r>
              <a:endParaRPr lang="pl-PL" sz="11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pic>
          <p:nvPicPr>
            <p:cNvPr id="15" name="Obraz 14">
              <a:extLst>
                <a:ext uri="{FF2B5EF4-FFF2-40B4-BE49-F238E27FC236}">
                  <a16:creationId xmlns:a16="http://schemas.microsoft.com/office/drawing/2014/main" id="{9DB38DFF-5CA9-7CE0-B407-3F89C9BA3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4400" y="5507843"/>
              <a:ext cx="838285" cy="3757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6580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C53D3-F7BC-5134-B06C-69282522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A3FB04-14B2-FC2C-D91D-6185D9EEB18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76AEE49-0621-7F10-AEEA-A2E4358EFEC4}"/>
              </a:ext>
            </a:extLst>
          </p:cNvPr>
          <p:cNvSpPr txBox="1"/>
          <p:nvPr/>
        </p:nvSpPr>
        <p:spPr>
          <a:xfrm>
            <a:off x="1022003" y="923944"/>
            <a:ext cx="7848872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Konstruktor</a:t>
            </a:r>
            <a:r>
              <a:rPr lang="pl-PL" sz="1600" dirty="0"/>
              <a:t> to specjalna funkcja, która służy do </a:t>
            </a:r>
            <a:r>
              <a:rPr lang="pl-PL" sz="1600" b="1" dirty="0"/>
              <a:t>inicjalizacji obiektów </a:t>
            </a:r>
            <a:r>
              <a:rPr lang="pl-PL" sz="1600" dirty="0"/>
              <a:t>danej klasy. Jest wywoływana </a:t>
            </a:r>
            <a:r>
              <a:rPr lang="pl-PL" sz="1600" b="1" dirty="0"/>
              <a:t>automatycznie</a:t>
            </a:r>
            <a:r>
              <a:rPr lang="pl-PL" sz="1600" dirty="0"/>
              <a:t> w momencie tworzenia nowego obiektu i pozwala na ustawienie początkowego stanu właściwości klasy.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4ECD45C-EE30-4845-1015-20F30F38E427}"/>
              </a:ext>
            </a:extLst>
          </p:cNvPr>
          <p:cNvSpPr txBox="1"/>
          <p:nvPr/>
        </p:nvSpPr>
        <p:spPr>
          <a:xfrm>
            <a:off x="1022003" y="2321480"/>
            <a:ext cx="7848872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Konstruktor główny </a:t>
            </a:r>
            <a:r>
              <a:rPr lang="pl-PL" sz="1600" dirty="0"/>
              <a:t>– jest zintegrowany z definicją klasy.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Konstruktor drugorzędny </a:t>
            </a:r>
            <a:r>
              <a:rPr lang="pl-PL" sz="1600" dirty="0"/>
              <a:t>– jest definiowany jako osobna funkcja w ciele klasy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AEF2CDE1-8A30-76B1-7FEE-0C287DE46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03" y="3828607"/>
            <a:ext cx="2959865" cy="2683994"/>
          </a:xfrm>
          <a:prstGeom prst="rect">
            <a:avLst/>
          </a:prstGeom>
        </p:spPr>
      </p:pic>
      <p:grpSp>
        <p:nvGrpSpPr>
          <p:cNvPr id="12" name="Grupa 11">
            <a:extLst>
              <a:ext uri="{FF2B5EF4-FFF2-40B4-BE49-F238E27FC236}">
                <a16:creationId xmlns:a16="http://schemas.microsoft.com/office/drawing/2014/main" id="{548781E8-9E7A-0BE0-5DD4-EEFA19E6833C}"/>
              </a:ext>
            </a:extLst>
          </p:cNvPr>
          <p:cNvGrpSpPr/>
          <p:nvPr/>
        </p:nvGrpSpPr>
        <p:grpSpPr>
          <a:xfrm>
            <a:off x="7152646" y="4367575"/>
            <a:ext cx="1465311" cy="1751310"/>
            <a:chOff x="1907704" y="1560332"/>
            <a:chExt cx="1609328" cy="1837503"/>
          </a:xfrm>
        </p:grpSpPr>
        <p:sp>
          <p:nvSpPr>
            <p:cNvPr id="13" name="Prostokąt: zaokrąglone rogi 12">
              <a:extLst>
                <a:ext uri="{FF2B5EF4-FFF2-40B4-BE49-F238E27FC236}">
                  <a16:creationId xmlns:a16="http://schemas.microsoft.com/office/drawing/2014/main" id="{F9817E18-1968-00B9-B91D-81C350AAD9D1}"/>
                </a:ext>
              </a:extLst>
            </p:cNvPr>
            <p:cNvSpPr/>
            <p:nvPr/>
          </p:nvSpPr>
          <p:spPr>
            <a:xfrm>
              <a:off x="1907704" y="1560332"/>
              <a:ext cx="1152128" cy="1380303"/>
            </a:xfrm>
            <a:prstGeom prst="roundRect">
              <a:avLst/>
            </a:prstGeom>
            <a:solidFill>
              <a:schemeClr val="lt1"/>
            </a:solidFill>
            <a:ln w="508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Prostokąt: zaokrąglone rogi 13">
              <a:extLst>
                <a:ext uri="{FF2B5EF4-FFF2-40B4-BE49-F238E27FC236}">
                  <a16:creationId xmlns:a16="http://schemas.microsoft.com/office/drawing/2014/main" id="{AD708640-29B3-5755-7CB4-3B8F2F8C355A}"/>
                </a:ext>
              </a:extLst>
            </p:cNvPr>
            <p:cNvSpPr/>
            <p:nvPr/>
          </p:nvSpPr>
          <p:spPr>
            <a:xfrm>
              <a:off x="2060104" y="1712732"/>
              <a:ext cx="1152128" cy="1380303"/>
            </a:xfrm>
            <a:prstGeom prst="roundRect">
              <a:avLst/>
            </a:prstGeom>
            <a:solidFill>
              <a:schemeClr val="lt1"/>
            </a:solidFill>
            <a:ln w="508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Prostokąt: zaokrąglone rogi 14">
              <a:extLst>
                <a:ext uri="{FF2B5EF4-FFF2-40B4-BE49-F238E27FC236}">
                  <a16:creationId xmlns:a16="http://schemas.microsoft.com/office/drawing/2014/main" id="{C30CACBC-3E74-43B2-E525-1BC3291B5262}"/>
                </a:ext>
              </a:extLst>
            </p:cNvPr>
            <p:cNvSpPr/>
            <p:nvPr/>
          </p:nvSpPr>
          <p:spPr>
            <a:xfrm>
              <a:off x="2212504" y="1865132"/>
              <a:ext cx="1152128" cy="1380303"/>
            </a:xfrm>
            <a:prstGeom prst="roundRect">
              <a:avLst/>
            </a:prstGeom>
            <a:solidFill>
              <a:schemeClr val="lt1"/>
            </a:solidFill>
            <a:ln w="508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6" name="Prostokąt: zaokrąglone rogi 15">
              <a:extLst>
                <a:ext uri="{FF2B5EF4-FFF2-40B4-BE49-F238E27FC236}">
                  <a16:creationId xmlns:a16="http://schemas.microsoft.com/office/drawing/2014/main" id="{8FEAB32B-1DB2-0B4D-99BD-A17259139E04}"/>
                </a:ext>
              </a:extLst>
            </p:cNvPr>
            <p:cNvSpPr/>
            <p:nvPr/>
          </p:nvSpPr>
          <p:spPr>
            <a:xfrm>
              <a:off x="2364904" y="2017532"/>
              <a:ext cx="1152128" cy="1380303"/>
            </a:xfrm>
            <a:prstGeom prst="roundRect">
              <a:avLst/>
            </a:prstGeom>
            <a:solidFill>
              <a:schemeClr val="lt1"/>
            </a:solidFill>
            <a:ln w="508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05EF3CD3-E530-A65D-031A-35EF09DE6C9B}"/>
              </a:ext>
            </a:extLst>
          </p:cNvPr>
          <p:cNvSpPr txBox="1"/>
          <p:nvPr/>
        </p:nvSpPr>
        <p:spPr>
          <a:xfrm>
            <a:off x="6972955" y="3883769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Instancje klasy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F27F8A84-8BD1-AE3B-83A6-8EAC6B0258ED}"/>
              </a:ext>
            </a:extLst>
          </p:cNvPr>
          <p:cNvSpPr txBox="1"/>
          <p:nvPr/>
        </p:nvSpPr>
        <p:spPr>
          <a:xfrm>
            <a:off x="2225790" y="349005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Klasa</a:t>
            </a:r>
          </a:p>
        </p:txBody>
      </p:sp>
      <p:sp>
        <p:nvSpPr>
          <p:cNvPr id="36" name="Strzałka: w prawo 35">
            <a:extLst>
              <a:ext uri="{FF2B5EF4-FFF2-40B4-BE49-F238E27FC236}">
                <a16:creationId xmlns:a16="http://schemas.microsoft.com/office/drawing/2014/main" id="{1F31CC16-6D62-4BA5-1967-35E811997095}"/>
              </a:ext>
            </a:extLst>
          </p:cNvPr>
          <p:cNvSpPr/>
          <p:nvPr/>
        </p:nvSpPr>
        <p:spPr>
          <a:xfrm>
            <a:off x="4399719" y="4672725"/>
            <a:ext cx="2573235" cy="570505"/>
          </a:xfrm>
          <a:prstGeom prst="rightArrow">
            <a:avLst/>
          </a:prstGeom>
          <a:solidFill>
            <a:schemeClr val="lt1"/>
          </a:solidFill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9" name="Obraz 38">
            <a:extLst>
              <a:ext uri="{FF2B5EF4-FFF2-40B4-BE49-F238E27FC236}">
                <a16:creationId xmlns:a16="http://schemas.microsoft.com/office/drawing/2014/main" id="{3946CEB5-7747-91E4-948D-72FCB0D38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60" y="3226900"/>
            <a:ext cx="1673209" cy="1456351"/>
          </a:xfrm>
          <a:prstGeom prst="rect">
            <a:avLst/>
          </a:prstGeom>
        </p:spPr>
      </p:pic>
      <p:pic>
        <p:nvPicPr>
          <p:cNvPr id="41" name="Obraz 40">
            <a:extLst>
              <a:ext uri="{FF2B5EF4-FFF2-40B4-BE49-F238E27FC236}">
                <a16:creationId xmlns:a16="http://schemas.microsoft.com/office/drawing/2014/main" id="{3E35DBAC-5ACB-FA7F-4496-04A49708F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079" y="5428622"/>
            <a:ext cx="2202142" cy="1090023"/>
          </a:xfrm>
          <a:prstGeom prst="rect">
            <a:avLst/>
          </a:prstGeom>
        </p:spPr>
      </p:pic>
      <p:sp>
        <p:nvSpPr>
          <p:cNvPr id="46" name="pole tekstowe 45">
            <a:extLst>
              <a:ext uri="{FF2B5EF4-FFF2-40B4-BE49-F238E27FC236}">
                <a16:creationId xmlns:a16="http://schemas.microsoft.com/office/drawing/2014/main" id="{39772CCD-CF9E-337B-8B59-71E901FE8AA9}"/>
              </a:ext>
            </a:extLst>
          </p:cNvPr>
          <p:cNvSpPr txBox="1"/>
          <p:nvPr/>
        </p:nvSpPr>
        <p:spPr>
          <a:xfrm>
            <a:off x="7319681" y="6404535"/>
            <a:ext cx="18334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100" dirty="0"/>
              <a:t>pic.onlinewebfonts.com/</a:t>
            </a:r>
            <a:r>
              <a:rPr lang="pl-PL" sz="1100" dirty="0" err="1"/>
              <a:t>thumbnails</a:t>
            </a:r>
            <a:r>
              <a:rPr lang="pl-PL" sz="1100" dirty="0"/>
              <a:t>/icons_38174.svg</a:t>
            </a:r>
          </a:p>
        </p:txBody>
      </p:sp>
    </p:spTree>
    <p:extLst>
      <p:ext uri="{BB962C8B-B14F-4D97-AF65-F5344CB8AC3E}">
        <p14:creationId xmlns:p14="http://schemas.microsoft.com/office/powerpoint/2010/main" val="293189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C8000-73A7-EBAF-B51A-FF2E4A424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8B9E5F-1D0E-C1A4-1CB7-A530DF212FE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główny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11569E7-3A8E-E126-69E9-8191D913C187}"/>
              </a:ext>
            </a:extLst>
          </p:cNvPr>
          <p:cNvSpPr txBox="1"/>
          <p:nvPr/>
        </p:nvSpPr>
        <p:spPr>
          <a:xfrm>
            <a:off x="1022002" y="825529"/>
            <a:ext cx="8131089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Konstruktor główny </a:t>
            </a:r>
            <a:r>
              <a:rPr lang="pl-PL" sz="1600" dirty="0"/>
              <a:t>jest definiowany bezpośrednio po nazwie klasy w nawiasach okrągłych. Może przyjmować parametry, które można wykorzystać do inicjalizacji właściwości klasy.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EBAE409-D24C-3441-F7A1-B2BB161B4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501008"/>
            <a:ext cx="7956376" cy="402289"/>
          </a:xfrm>
          <a:prstGeom prst="rect">
            <a:avLst/>
          </a:prstGeom>
        </p:spPr>
      </p:pic>
      <p:sp>
        <p:nvSpPr>
          <p:cNvPr id="29" name="pole tekstowe 28">
            <a:extLst>
              <a:ext uri="{FF2B5EF4-FFF2-40B4-BE49-F238E27FC236}">
                <a16:creationId xmlns:a16="http://schemas.microsoft.com/office/drawing/2014/main" id="{0E09F2C0-530A-E162-EF10-D65318130C0A}"/>
              </a:ext>
            </a:extLst>
          </p:cNvPr>
          <p:cNvSpPr txBox="1"/>
          <p:nvPr/>
        </p:nvSpPr>
        <p:spPr>
          <a:xfrm>
            <a:off x="1022002" y="6032471"/>
            <a:ext cx="8121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Pozwala na deklarowanie parametrów jako </a:t>
            </a:r>
            <a:r>
              <a:rPr lang="pl-PL" sz="1600" b="1" dirty="0" err="1"/>
              <a:t>val</a:t>
            </a:r>
            <a:r>
              <a:rPr lang="pl-PL" sz="1600" dirty="0"/>
              <a:t> lub </a:t>
            </a:r>
            <a:r>
              <a:rPr lang="pl-PL" sz="1600" b="1" dirty="0" err="1"/>
              <a:t>var</a:t>
            </a:r>
            <a:r>
              <a:rPr lang="pl-PL" sz="1600" dirty="0"/>
              <a:t>, ponieważ parametry te są </a:t>
            </a:r>
            <a:r>
              <a:rPr lang="pl-PL" sz="1600" b="1" dirty="0"/>
              <a:t>automatycznie</a:t>
            </a:r>
            <a:r>
              <a:rPr lang="pl-PL" sz="1600" dirty="0"/>
              <a:t> traktowane jako </a:t>
            </a:r>
            <a:r>
              <a:rPr lang="pl-PL" sz="1600" b="1" dirty="0"/>
              <a:t>właściwości klasy.</a:t>
            </a: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314943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AE3A4-E8B7-4812-DB5A-A8D32E87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6DDB39-0589-1109-6043-FB83B0DFBD5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główny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6FF5A11-FC57-59BB-E42C-EC2F6BEF7DC0}"/>
              </a:ext>
            </a:extLst>
          </p:cNvPr>
          <p:cNvSpPr txBox="1"/>
          <p:nvPr/>
        </p:nvSpPr>
        <p:spPr>
          <a:xfrm>
            <a:off x="1022002" y="825529"/>
            <a:ext cx="8131089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Konstruktor główny </a:t>
            </a:r>
            <a:r>
              <a:rPr lang="pl-PL" sz="1600" dirty="0"/>
              <a:t>jest definiowany bezpośrednio po nazwie klasy w nawiasach okrągłych. Może przyjmować parametry, które można wykorzystać do inicjalizacji właściwości klasy.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0455839-CA5B-90D7-A3D0-83C2FAAB5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501008"/>
            <a:ext cx="7956376" cy="402289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C151FF6D-4696-B2F8-61FA-DC29639E670A}"/>
              </a:ext>
            </a:extLst>
          </p:cNvPr>
          <p:cNvCxnSpPr>
            <a:cxnSpLocks/>
          </p:cNvCxnSpPr>
          <p:nvPr/>
        </p:nvCxnSpPr>
        <p:spPr>
          <a:xfrm flipH="1">
            <a:off x="1410922" y="3051135"/>
            <a:ext cx="136742" cy="4552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57C0BE0-4346-C90D-A8D8-CBFC7EF0A606}"/>
              </a:ext>
            </a:extLst>
          </p:cNvPr>
          <p:cNvSpPr txBox="1"/>
          <p:nvPr/>
        </p:nvSpPr>
        <p:spPr>
          <a:xfrm>
            <a:off x="1022002" y="2331093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7398228-5B5D-D2AA-D9FC-D7B87AE88336}"/>
              </a:ext>
            </a:extLst>
          </p:cNvPr>
          <p:cNvCxnSpPr>
            <a:cxnSpLocks/>
          </p:cNvCxnSpPr>
          <p:nvPr/>
        </p:nvCxnSpPr>
        <p:spPr>
          <a:xfrm flipH="1">
            <a:off x="2399823" y="2638156"/>
            <a:ext cx="227961" cy="8628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0C15376-CD6B-9450-95B2-565993A9FAC2}"/>
              </a:ext>
            </a:extLst>
          </p:cNvPr>
          <p:cNvSpPr txBox="1"/>
          <p:nvPr/>
        </p:nvSpPr>
        <p:spPr>
          <a:xfrm>
            <a:off x="2208556" y="1953706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klasy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3BE2C712-65D8-A904-38B8-E1515842C3C1}"/>
              </a:ext>
            </a:extLst>
          </p:cNvPr>
          <p:cNvCxnSpPr>
            <a:cxnSpLocks/>
          </p:cNvCxnSpPr>
          <p:nvPr/>
        </p:nvCxnSpPr>
        <p:spPr>
          <a:xfrm flipH="1">
            <a:off x="3479943" y="2843056"/>
            <a:ext cx="443985" cy="6018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BC27F83C-E167-D1D5-2764-19267A65534A}"/>
              </a:ext>
            </a:extLst>
          </p:cNvPr>
          <p:cNvSpPr txBox="1"/>
          <p:nvPr/>
        </p:nvSpPr>
        <p:spPr>
          <a:xfrm>
            <a:off x="3149839" y="1920841"/>
            <a:ext cx="165622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  <a:p>
            <a:pPr algn="ctr"/>
            <a:r>
              <a:rPr lang="pl-PL" sz="1400" b="1" dirty="0">
                <a:solidFill>
                  <a:schemeClr val="accent5">
                    <a:lumMod val="75000"/>
                  </a:schemeClr>
                </a:solidFill>
              </a:rPr>
              <a:t>(można pominąć)</a:t>
            </a: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42F0BC86-7A79-2C47-CEE2-F88BA9252D44}"/>
              </a:ext>
            </a:extLst>
          </p:cNvPr>
          <p:cNvSpPr txBox="1"/>
          <p:nvPr/>
        </p:nvSpPr>
        <p:spPr>
          <a:xfrm>
            <a:off x="1022002" y="6032471"/>
            <a:ext cx="8121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Pozwala na deklarowanie parametrów jako </a:t>
            </a:r>
            <a:r>
              <a:rPr lang="pl-PL" sz="1600" b="1" dirty="0" err="1"/>
              <a:t>val</a:t>
            </a:r>
            <a:r>
              <a:rPr lang="pl-PL" sz="1600" dirty="0"/>
              <a:t> lub </a:t>
            </a:r>
            <a:r>
              <a:rPr lang="pl-PL" sz="1600" b="1" dirty="0" err="1"/>
              <a:t>var</a:t>
            </a:r>
            <a:r>
              <a:rPr lang="pl-PL" sz="1600" dirty="0"/>
              <a:t>, ponieważ parametry te są </a:t>
            </a:r>
            <a:r>
              <a:rPr lang="pl-PL" sz="1600" b="1" dirty="0"/>
              <a:t>automatycznie</a:t>
            </a:r>
            <a:r>
              <a:rPr lang="pl-PL" sz="1600" dirty="0"/>
              <a:t> traktowane jako </a:t>
            </a:r>
            <a:r>
              <a:rPr lang="pl-PL" sz="1600" b="1" dirty="0"/>
              <a:t>właściwości klasy.</a:t>
            </a: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19707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4ED9F-45EB-FFAE-EF12-050553CE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21F5DC-1464-4913-C81B-B1C915A72F7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główny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48F048B-73A3-CD4F-8C2A-3E8DD30977C2}"/>
              </a:ext>
            </a:extLst>
          </p:cNvPr>
          <p:cNvSpPr txBox="1"/>
          <p:nvPr/>
        </p:nvSpPr>
        <p:spPr>
          <a:xfrm>
            <a:off x="1022002" y="825529"/>
            <a:ext cx="8131089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Konstruktor główny </a:t>
            </a:r>
            <a:r>
              <a:rPr lang="pl-PL" sz="1600" dirty="0"/>
              <a:t>jest definiowany bezpośrednio po nazwie klasy w nawiasach okrągłych. Może przyjmować parametry, które można wykorzystać do inicjalizacji właściwości klasy.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4D728DC-A74D-7DDA-4E8C-692685A3A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501008"/>
            <a:ext cx="7956376" cy="402289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2201C9F1-0F83-0ECE-B102-BBDE2E389D45}"/>
              </a:ext>
            </a:extLst>
          </p:cNvPr>
          <p:cNvCxnSpPr>
            <a:cxnSpLocks/>
          </p:cNvCxnSpPr>
          <p:nvPr/>
        </p:nvCxnSpPr>
        <p:spPr>
          <a:xfrm flipH="1">
            <a:off x="1410922" y="3051135"/>
            <a:ext cx="136742" cy="4552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066656C-F74A-1917-7286-95268AA71C1B}"/>
              </a:ext>
            </a:extLst>
          </p:cNvPr>
          <p:cNvSpPr txBox="1"/>
          <p:nvPr/>
        </p:nvSpPr>
        <p:spPr>
          <a:xfrm>
            <a:off x="1022002" y="2331093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9742D9A-C735-7F3C-A015-0E8C34BB02B2}"/>
              </a:ext>
            </a:extLst>
          </p:cNvPr>
          <p:cNvCxnSpPr>
            <a:cxnSpLocks/>
          </p:cNvCxnSpPr>
          <p:nvPr/>
        </p:nvCxnSpPr>
        <p:spPr>
          <a:xfrm flipH="1">
            <a:off x="2399823" y="2638156"/>
            <a:ext cx="227961" cy="8628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FF76077-9D14-8B3A-9B36-1091901E3B15}"/>
              </a:ext>
            </a:extLst>
          </p:cNvPr>
          <p:cNvSpPr txBox="1"/>
          <p:nvPr/>
        </p:nvSpPr>
        <p:spPr>
          <a:xfrm>
            <a:off x="2208556" y="1953706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klasy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EE507321-777B-43D8-84C8-662564A24AA9}"/>
              </a:ext>
            </a:extLst>
          </p:cNvPr>
          <p:cNvCxnSpPr>
            <a:cxnSpLocks/>
          </p:cNvCxnSpPr>
          <p:nvPr/>
        </p:nvCxnSpPr>
        <p:spPr>
          <a:xfrm flipH="1">
            <a:off x="3479943" y="2843056"/>
            <a:ext cx="443985" cy="6018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F265C075-766E-8011-0931-ADDFAB5997DD}"/>
              </a:ext>
            </a:extLst>
          </p:cNvPr>
          <p:cNvSpPr txBox="1"/>
          <p:nvPr/>
        </p:nvSpPr>
        <p:spPr>
          <a:xfrm>
            <a:off x="3149839" y="1920841"/>
            <a:ext cx="165622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  <a:p>
            <a:pPr algn="ctr"/>
            <a:r>
              <a:rPr lang="pl-PL" sz="1400" b="1" dirty="0">
                <a:solidFill>
                  <a:schemeClr val="accent5">
                    <a:lumMod val="75000"/>
                  </a:schemeClr>
                </a:solidFill>
              </a:rPr>
              <a:t>(można pominąć)</a:t>
            </a: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19775780-84BB-E098-8C50-118092C8E258}"/>
              </a:ext>
            </a:extLst>
          </p:cNvPr>
          <p:cNvSpPr txBox="1"/>
          <p:nvPr/>
        </p:nvSpPr>
        <p:spPr>
          <a:xfrm>
            <a:off x="1022002" y="6032471"/>
            <a:ext cx="8121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Pozwala na deklarowanie parametrów jako </a:t>
            </a:r>
            <a:r>
              <a:rPr lang="pl-PL" sz="1600" b="1" dirty="0" err="1"/>
              <a:t>val</a:t>
            </a:r>
            <a:r>
              <a:rPr lang="pl-PL" sz="1600" dirty="0"/>
              <a:t> lub </a:t>
            </a:r>
            <a:r>
              <a:rPr lang="pl-PL" sz="1600" b="1" dirty="0" err="1"/>
              <a:t>var</a:t>
            </a:r>
            <a:r>
              <a:rPr lang="pl-PL" sz="1600" dirty="0"/>
              <a:t>, ponieważ parametry te są </a:t>
            </a:r>
            <a:r>
              <a:rPr lang="pl-PL" sz="1600" b="1" dirty="0"/>
              <a:t>automatycznie</a:t>
            </a:r>
            <a:r>
              <a:rPr lang="pl-PL" sz="1600" dirty="0"/>
              <a:t> traktowane jako </a:t>
            </a:r>
            <a:r>
              <a:rPr lang="pl-PL" sz="1600" b="1" dirty="0"/>
              <a:t>właściwości klasy.</a:t>
            </a:r>
            <a:endParaRPr lang="pl-PL" sz="1600" dirty="0"/>
          </a:p>
        </p:txBody>
      </p:sp>
      <p:sp>
        <p:nvSpPr>
          <p:cNvPr id="43" name="Nawias klamrowy otwierający 42">
            <a:extLst>
              <a:ext uri="{FF2B5EF4-FFF2-40B4-BE49-F238E27FC236}">
                <a16:creationId xmlns:a16="http://schemas.microsoft.com/office/drawing/2014/main" id="{929A73B3-5248-BA05-67A0-C74840E67000}"/>
              </a:ext>
            </a:extLst>
          </p:cNvPr>
          <p:cNvSpPr/>
          <p:nvPr/>
        </p:nvSpPr>
        <p:spPr>
          <a:xfrm rot="5400000">
            <a:off x="6124450" y="1043671"/>
            <a:ext cx="495500" cy="432048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1B9137B9-0738-429F-D38E-DA6B438053C3}"/>
              </a:ext>
            </a:extLst>
          </p:cNvPr>
          <p:cNvSpPr txBox="1"/>
          <p:nvPr/>
        </p:nvSpPr>
        <p:spPr>
          <a:xfrm>
            <a:off x="5172141" y="2483997"/>
            <a:ext cx="232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konstruktor główny</a:t>
            </a:r>
          </a:p>
        </p:txBody>
      </p:sp>
      <p:cxnSp>
        <p:nvCxnSpPr>
          <p:cNvPr id="57" name="Łącznik prosty ze strzałką 56">
            <a:extLst>
              <a:ext uri="{FF2B5EF4-FFF2-40B4-BE49-F238E27FC236}">
                <a16:creationId xmlns:a16="http://schemas.microsoft.com/office/drawing/2014/main" id="{F5A72626-FA9E-4EE5-B782-2D6B025B87A8}"/>
              </a:ext>
            </a:extLst>
          </p:cNvPr>
          <p:cNvCxnSpPr>
            <a:cxnSpLocks/>
          </p:cNvCxnSpPr>
          <p:nvPr/>
        </p:nvCxnSpPr>
        <p:spPr>
          <a:xfrm>
            <a:off x="8676456" y="2595468"/>
            <a:ext cx="173543" cy="94466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ole tekstowe 58">
            <a:extLst>
              <a:ext uri="{FF2B5EF4-FFF2-40B4-BE49-F238E27FC236}">
                <a16:creationId xmlns:a16="http://schemas.microsoft.com/office/drawing/2014/main" id="{AE168978-00F9-5283-FCFF-DDF75258CDF1}"/>
              </a:ext>
            </a:extLst>
          </p:cNvPr>
          <p:cNvSpPr txBox="1"/>
          <p:nvPr/>
        </p:nvSpPr>
        <p:spPr>
          <a:xfrm>
            <a:off x="8216404" y="1901316"/>
            <a:ext cx="774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ciało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klasy</a:t>
            </a:r>
          </a:p>
        </p:txBody>
      </p:sp>
    </p:spTree>
    <p:extLst>
      <p:ext uri="{BB962C8B-B14F-4D97-AF65-F5344CB8AC3E}">
        <p14:creationId xmlns:p14="http://schemas.microsoft.com/office/powerpoint/2010/main" val="1974625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78DDA-7A91-208C-13B1-73988F5A1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1B52B1-AE5F-D6BB-EC53-9C6D333BE70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główny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BFA4C0B-7BFA-2C96-F67A-087BEDBF4D5D}"/>
              </a:ext>
            </a:extLst>
          </p:cNvPr>
          <p:cNvSpPr txBox="1"/>
          <p:nvPr/>
        </p:nvSpPr>
        <p:spPr>
          <a:xfrm>
            <a:off x="1022002" y="825529"/>
            <a:ext cx="8131089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Konstruktor główny </a:t>
            </a:r>
            <a:r>
              <a:rPr lang="pl-PL" sz="1600" dirty="0"/>
              <a:t>jest definiowany bezpośrednio po nazwie klasy w nawiasach okrągłych. Może przyjmować parametry, które można wykorzystać do inicjalizacji właściwości klasy.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2A050C0-E636-76B6-49D3-3E56943FF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501008"/>
            <a:ext cx="7956376" cy="402289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F61D65A5-4A3B-3366-5651-7AA802B8EE1D}"/>
              </a:ext>
            </a:extLst>
          </p:cNvPr>
          <p:cNvCxnSpPr>
            <a:cxnSpLocks/>
          </p:cNvCxnSpPr>
          <p:nvPr/>
        </p:nvCxnSpPr>
        <p:spPr>
          <a:xfrm flipH="1">
            <a:off x="1410922" y="3051135"/>
            <a:ext cx="136742" cy="4552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0E6836F-4200-16C6-B7C8-AF5D43755D16}"/>
              </a:ext>
            </a:extLst>
          </p:cNvPr>
          <p:cNvSpPr txBox="1"/>
          <p:nvPr/>
        </p:nvSpPr>
        <p:spPr>
          <a:xfrm>
            <a:off x="1022002" y="2331093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729098A2-0F84-C3F9-ED42-ED079E725E7C}"/>
              </a:ext>
            </a:extLst>
          </p:cNvPr>
          <p:cNvCxnSpPr>
            <a:cxnSpLocks/>
          </p:cNvCxnSpPr>
          <p:nvPr/>
        </p:nvCxnSpPr>
        <p:spPr>
          <a:xfrm flipH="1">
            <a:off x="2399823" y="2638156"/>
            <a:ext cx="227961" cy="8628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A108D6B-B8EA-DD16-1103-1785B3ED09AB}"/>
              </a:ext>
            </a:extLst>
          </p:cNvPr>
          <p:cNvSpPr txBox="1"/>
          <p:nvPr/>
        </p:nvSpPr>
        <p:spPr>
          <a:xfrm>
            <a:off x="2208556" y="1953706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klasy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C2807036-E499-1A25-8D70-21B65027392D}"/>
              </a:ext>
            </a:extLst>
          </p:cNvPr>
          <p:cNvCxnSpPr>
            <a:cxnSpLocks/>
          </p:cNvCxnSpPr>
          <p:nvPr/>
        </p:nvCxnSpPr>
        <p:spPr>
          <a:xfrm flipH="1">
            <a:off x="3479943" y="2843056"/>
            <a:ext cx="443985" cy="6018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24F854BE-9500-3A57-C20B-A5F6B93809CC}"/>
              </a:ext>
            </a:extLst>
          </p:cNvPr>
          <p:cNvSpPr txBox="1"/>
          <p:nvPr/>
        </p:nvSpPr>
        <p:spPr>
          <a:xfrm>
            <a:off x="3149839" y="1920841"/>
            <a:ext cx="165622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  <a:p>
            <a:pPr algn="ctr"/>
            <a:r>
              <a:rPr lang="pl-PL" sz="1400" b="1" dirty="0">
                <a:solidFill>
                  <a:schemeClr val="accent5">
                    <a:lumMod val="75000"/>
                  </a:schemeClr>
                </a:solidFill>
              </a:rPr>
              <a:t>(można pominąć)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7F20B726-5B65-1FD1-BEB1-89DCA92C71FC}"/>
              </a:ext>
            </a:extLst>
          </p:cNvPr>
          <p:cNvCxnSpPr>
            <a:cxnSpLocks/>
          </p:cNvCxnSpPr>
          <p:nvPr/>
        </p:nvCxnSpPr>
        <p:spPr>
          <a:xfrm flipV="1">
            <a:off x="2843808" y="3903297"/>
            <a:ext cx="1512168" cy="91993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B0B3D307-8EA0-421A-CE7E-23CEC99B042D}"/>
              </a:ext>
            </a:extLst>
          </p:cNvPr>
          <p:cNvSpPr txBox="1"/>
          <p:nvPr/>
        </p:nvSpPr>
        <p:spPr>
          <a:xfrm>
            <a:off x="1794528" y="4854057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F5429D80-52B1-859C-F40D-A0E85F566E82}"/>
              </a:ext>
            </a:extLst>
          </p:cNvPr>
          <p:cNvSpPr txBox="1"/>
          <p:nvPr/>
        </p:nvSpPr>
        <p:spPr>
          <a:xfrm>
            <a:off x="1022002" y="6032471"/>
            <a:ext cx="8121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Pozwala na deklarowanie parametrów jako </a:t>
            </a:r>
            <a:r>
              <a:rPr lang="pl-PL" sz="1600" b="1" dirty="0" err="1"/>
              <a:t>val</a:t>
            </a:r>
            <a:r>
              <a:rPr lang="pl-PL" sz="1600" dirty="0"/>
              <a:t> lub </a:t>
            </a:r>
            <a:r>
              <a:rPr lang="pl-PL" sz="1600" b="1" dirty="0" err="1"/>
              <a:t>var</a:t>
            </a:r>
            <a:r>
              <a:rPr lang="pl-PL" sz="1600" dirty="0"/>
              <a:t>, ponieważ parametry te są </a:t>
            </a:r>
            <a:r>
              <a:rPr lang="pl-PL" sz="1600" b="1" dirty="0"/>
              <a:t>automatycznie</a:t>
            </a:r>
            <a:r>
              <a:rPr lang="pl-PL" sz="1600" dirty="0"/>
              <a:t> traktowane jako </a:t>
            </a:r>
            <a:r>
              <a:rPr lang="pl-PL" sz="1600" b="1" dirty="0"/>
              <a:t>właściwości klasy.</a:t>
            </a:r>
            <a:endParaRPr lang="pl-PL" sz="1600" dirty="0"/>
          </a:p>
        </p:txBody>
      </p:sp>
      <p:cxnSp>
        <p:nvCxnSpPr>
          <p:cNvPr id="30" name="Łącznik prosty ze strzałką 29">
            <a:extLst>
              <a:ext uri="{FF2B5EF4-FFF2-40B4-BE49-F238E27FC236}">
                <a16:creationId xmlns:a16="http://schemas.microsoft.com/office/drawing/2014/main" id="{CAD83EF6-3287-CA3B-9734-11DC87203A76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5398322" y="3903297"/>
            <a:ext cx="689095" cy="115321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855A7D6D-AC56-98C8-FD03-50AA21463E91}"/>
              </a:ext>
            </a:extLst>
          </p:cNvPr>
          <p:cNvSpPr txBox="1"/>
          <p:nvPr/>
        </p:nvSpPr>
        <p:spPr>
          <a:xfrm>
            <a:off x="4741732" y="5056515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C25052AF-DC31-2269-E3ED-C535D85D1885}"/>
              </a:ext>
            </a:extLst>
          </p:cNvPr>
          <p:cNvCxnSpPr>
            <a:cxnSpLocks/>
          </p:cNvCxnSpPr>
          <p:nvPr/>
        </p:nvCxnSpPr>
        <p:spPr>
          <a:xfrm flipV="1">
            <a:off x="8324933" y="3903297"/>
            <a:ext cx="0" cy="8628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3B5FDAF0-B709-1141-49FD-F4DBBBC7BE58}"/>
              </a:ext>
            </a:extLst>
          </p:cNvPr>
          <p:cNvSpPr txBox="1"/>
          <p:nvPr/>
        </p:nvSpPr>
        <p:spPr>
          <a:xfrm>
            <a:off x="7668344" y="4845272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5F3EE2D6-AEE8-C8AE-C162-AFA4872746E5}"/>
              </a:ext>
            </a:extLst>
          </p:cNvPr>
          <p:cNvCxnSpPr>
            <a:cxnSpLocks/>
          </p:cNvCxnSpPr>
          <p:nvPr/>
        </p:nvCxnSpPr>
        <p:spPr>
          <a:xfrm flipV="1">
            <a:off x="6647877" y="3903297"/>
            <a:ext cx="342274" cy="61266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B21DC011-7220-800A-7443-DB42523289C4}"/>
              </a:ext>
            </a:extLst>
          </p:cNvPr>
          <p:cNvSpPr txBox="1"/>
          <p:nvPr/>
        </p:nvSpPr>
        <p:spPr>
          <a:xfrm>
            <a:off x="5932185" y="4516147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sp>
        <p:nvSpPr>
          <p:cNvPr id="43" name="Nawias klamrowy otwierający 42">
            <a:extLst>
              <a:ext uri="{FF2B5EF4-FFF2-40B4-BE49-F238E27FC236}">
                <a16:creationId xmlns:a16="http://schemas.microsoft.com/office/drawing/2014/main" id="{6F337BBA-D363-30C4-2678-08BD168380F8}"/>
              </a:ext>
            </a:extLst>
          </p:cNvPr>
          <p:cNvSpPr/>
          <p:nvPr/>
        </p:nvSpPr>
        <p:spPr>
          <a:xfrm rot="5400000">
            <a:off x="6124450" y="1043671"/>
            <a:ext cx="495500" cy="432048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3C69528A-FA1C-7BAA-F0A0-DF82EBB9EF10}"/>
              </a:ext>
            </a:extLst>
          </p:cNvPr>
          <p:cNvSpPr txBox="1"/>
          <p:nvPr/>
        </p:nvSpPr>
        <p:spPr>
          <a:xfrm>
            <a:off x="5172141" y="2483997"/>
            <a:ext cx="232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konstruktor główny</a:t>
            </a:r>
          </a:p>
        </p:txBody>
      </p: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9D7A8733-094E-77F9-0F0A-6BBB696FE1B1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4085239" y="3913708"/>
            <a:ext cx="1128864" cy="96554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pole tekstowe 48">
            <a:extLst>
              <a:ext uri="{FF2B5EF4-FFF2-40B4-BE49-F238E27FC236}">
                <a16:creationId xmlns:a16="http://schemas.microsoft.com/office/drawing/2014/main" id="{74A1844E-4121-9522-9385-B11EB2C644F1}"/>
              </a:ext>
            </a:extLst>
          </p:cNvPr>
          <p:cNvSpPr txBox="1"/>
          <p:nvPr/>
        </p:nvSpPr>
        <p:spPr>
          <a:xfrm>
            <a:off x="3428649" y="487925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53" name="Łącznik prosty ze strzałką 52">
            <a:extLst>
              <a:ext uri="{FF2B5EF4-FFF2-40B4-BE49-F238E27FC236}">
                <a16:creationId xmlns:a16="http://schemas.microsoft.com/office/drawing/2014/main" id="{1B564A97-BD83-E008-6BB9-8E2FC9960A50}"/>
              </a:ext>
            </a:extLst>
          </p:cNvPr>
          <p:cNvCxnSpPr>
            <a:cxnSpLocks/>
          </p:cNvCxnSpPr>
          <p:nvPr/>
        </p:nvCxnSpPr>
        <p:spPr>
          <a:xfrm flipV="1">
            <a:off x="7269576" y="3911443"/>
            <a:ext cx="314822" cy="12510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ole tekstowe 55">
            <a:extLst>
              <a:ext uri="{FF2B5EF4-FFF2-40B4-BE49-F238E27FC236}">
                <a16:creationId xmlns:a16="http://schemas.microsoft.com/office/drawing/2014/main" id="{C3688A88-E6B9-9F8F-2288-DC4240CB4B5E}"/>
              </a:ext>
            </a:extLst>
          </p:cNvPr>
          <p:cNvSpPr txBox="1"/>
          <p:nvPr/>
        </p:nvSpPr>
        <p:spPr>
          <a:xfrm>
            <a:off x="6486184" y="5180474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57" name="Łącznik prosty ze strzałką 56">
            <a:extLst>
              <a:ext uri="{FF2B5EF4-FFF2-40B4-BE49-F238E27FC236}">
                <a16:creationId xmlns:a16="http://schemas.microsoft.com/office/drawing/2014/main" id="{FD053E8C-6240-74B5-2D1C-ED479E0252D1}"/>
              </a:ext>
            </a:extLst>
          </p:cNvPr>
          <p:cNvCxnSpPr>
            <a:cxnSpLocks/>
          </p:cNvCxnSpPr>
          <p:nvPr/>
        </p:nvCxnSpPr>
        <p:spPr>
          <a:xfrm>
            <a:off x="8676456" y="2595468"/>
            <a:ext cx="173543" cy="94466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ole tekstowe 58">
            <a:extLst>
              <a:ext uri="{FF2B5EF4-FFF2-40B4-BE49-F238E27FC236}">
                <a16:creationId xmlns:a16="http://schemas.microsoft.com/office/drawing/2014/main" id="{F36E4E93-CABD-3D1A-FA5A-196AA1F5202B}"/>
              </a:ext>
            </a:extLst>
          </p:cNvPr>
          <p:cNvSpPr txBox="1"/>
          <p:nvPr/>
        </p:nvSpPr>
        <p:spPr>
          <a:xfrm>
            <a:off x="8216404" y="1901316"/>
            <a:ext cx="774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ciało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klasy</a:t>
            </a:r>
          </a:p>
        </p:txBody>
      </p:sp>
    </p:spTree>
    <p:extLst>
      <p:ext uri="{BB962C8B-B14F-4D97-AF65-F5344CB8AC3E}">
        <p14:creationId xmlns:p14="http://schemas.microsoft.com/office/powerpoint/2010/main" val="4175963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42C5C-AFC8-5FCE-223C-AC8750E6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5F14A0-26E3-2A0A-FA15-BE5F3D61A8D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główny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BDBD14E-1164-5BB3-924B-647F57CCC714}"/>
              </a:ext>
            </a:extLst>
          </p:cNvPr>
          <p:cNvSpPr txBox="1"/>
          <p:nvPr/>
        </p:nvSpPr>
        <p:spPr>
          <a:xfrm>
            <a:off x="1022002" y="825529"/>
            <a:ext cx="8131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Konstruktor główny </a:t>
            </a:r>
            <a:r>
              <a:rPr lang="pl-PL" sz="1600" dirty="0"/>
              <a:t>nie może zawierać kodu, </a:t>
            </a:r>
            <a:r>
              <a:rPr lang="pl-PL" sz="1600" b="1" dirty="0"/>
              <a:t>kod inicjacyjny </a:t>
            </a:r>
            <a:r>
              <a:rPr lang="pl-PL" sz="1600" dirty="0"/>
              <a:t>może zostać umieszczony w bloku </a:t>
            </a:r>
            <a:r>
              <a:rPr lang="pl-PL" sz="1600" b="1" dirty="0" err="1"/>
              <a:t>init</a:t>
            </a:r>
            <a:r>
              <a:rPr lang="pl-PL" sz="1600" dirty="0"/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651B54F8-727F-B2CA-4796-BE13E5B06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307" y="1305502"/>
            <a:ext cx="5861021" cy="2600370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3852566-D9D2-BEDF-305E-BC7AA477B1A6}"/>
              </a:ext>
            </a:extLst>
          </p:cNvPr>
          <p:cNvSpPr txBox="1"/>
          <p:nvPr/>
        </p:nvSpPr>
        <p:spPr>
          <a:xfrm>
            <a:off x="1027809" y="4093457"/>
            <a:ext cx="7808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Klasa może posiadać wiele bloków </a:t>
            </a:r>
            <a:r>
              <a:rPr lang="pl-PL" sz="1600" b="1" dirty="0" err="1"/>
              <a:t>init</a:t>
            </a:r>
            <a:r>
              <a:rPr lang="pl-PL" sz="1600" dirty="0"/>
              <a:t>, są one wykonywane w kolejności umieszczenia w klasie i wywołane w momencie wywołania konstruktora głównego.</a:t>
            </a:r>
          </a:p>
        </p:txBody>
      </p:sp>
    </p:spTree>
    <p:extLst>
      <p:ext uri="{BB962C8B-B14F-4D97-AF65-F5344CB8AC3E}">
        <p14:creationId xmlns:p14="http://schemas.microsoft.com/office/powerpoint/2010/main" val="1569809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1758B-7BE1-B0AC-7432-6892786F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AA8510-100D-CF4E-9CB4-DB85725697D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główny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093B8AC-701F-A148-8CD2-63FE04B4102F}"/>
              </a:ext>
            </a:extLst>
          </p:cNvPr>
          <p:cNvSpPr txBox="1"/>
          <p:nvPr/>
        </p:nvSpPr>
        <p:spPr>
          <a:xfrm>
            <a:off x="1022002" y="825529"/>
            <a:ext cx="8131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Konstruktor główny </a:t>
            </a:r>
            <a:r>
              <a:rPr lang="pl-PL" sz="1600" dirty="0"/>
              <a:t>nie może zawierać kodu, </a:t>
            </a:r>
            <a:r>
              <a:rPr lang="pl-PL" sz="1600" b="1" dirty="0"/>
              <a:t>kod inicjacyjny </a:t>
            </a:r>
            <a:r>
              <a:rPr lang="pl-PL" sz="1600" dirty="0"/>
              <a:t>może zostać umieszczony w bloku </a:t>
            </a:r>
            <a:r>
              <a:rPr lang="pl-PL" sz="1600" b="1" dirty="0" err="1"/>
              <a:t>init</a:t>
            </a:r>
            <a:r>
              <a:rPr lang="pl-PL" sz="1600" dirty="0"/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8A5C53F-0919-85DF-A3B5-39DADB948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307" y="1305502"/>
            <a:ext cx="5861021" cy="2600370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07E916C7-FD31-70E7-AD6A-BBA5BFACB468}"/>
              </a:ext>
            </a:extLst>
          </p:cNvPr>
          <p:cNvSpPr txBox="1"/>
          <p:nvPr/>
        </p:nvSpPr>
        <p:spPr>
          <a:xfrm>
            <a:off x="1027809" y="4093457"/>
            <a:ext cx="7808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Klasa może posiadać wiele bloków </a:t>
            </a:r>
            <a:r>
              <a:rPr lang="pl-PL" sz="1600" b="1" dirty="0" err="1"/>
              <a:t>init</a:t>
            </a:r>
            <a:r>
              <a:rPr lang="pl-PL" sz="1600" dirty="0"/>
              <a:t>, są one wykonywane w kolejności umieszczenia w klasie  i wywołane w momencie wywołania konstruktora głównego.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A737B93B-611E-B992-0061-E093F2F23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811" y="5160784"/>
            <a:ext cx="3194246" cy="1417197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0F0D8ECC-DE6E-FEEB-532E-385614186435}"/>
              </a:ext>
            </a:extLst>
          </p:cNvPr>
          <p:cNvSpPr txBox="1"/>
          <p:nvPr/>
        </p:nvSpPr>
        <p:spPr>
          <a:xfrm>
            <a:off x="7293690" y="4563609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Instancje klasy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A6B5A57F-8CD4-66EC-43B0-3696D826146D}"/>
              </a:ext>
            </a:extLst>
          </p:cNvPr>
          <p:cNvSpPr txBox="1"/>
          <p:nvPr/>
        </p:nvSpPr>
        <p:spPr>
          <a:xfrm>
            <a:off x="1805401" y="469654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Klasa</a:t>
            </a:r>
          </a:p>
        </p:txBody>
      </p:sp>
      <p:sp>
        <p:nvSpPr>
          <p:cNvPr id="16" name="Strzałka: w prawo 15">
            <a:extLst>
              <a:ext uri="{FF2B5EF4-FFF2-40B4-BE49-F238E27FC236}">
                <a16:creationId xmlns:a16="http://schemas.microsoft.com/office/drawing/2014/main" id="{17733431-A076-401A-AB4C-1942CBA04F9E}"/>
              </a:ext>
            </a:extLst>
          </p:cNvPr>
          <p:cNvSpPr/>
          <p:nvPr/>
        </p:nvSpPr>
        <p:spPr>
          <a:xfrm>
            <a:off x="4572000" y="5346490"/>
            <a:ext cx="2766101" cy="570505"/>
          </a:xfrm>
          <a:prstGeom prst="rightArrow">
            <a:avLst/>
          </a:prstGeom>
          <a:solidFill>
            <a:schemeClr val="lt1"/>
          </a:solidFill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1" name="Obraz 20">
            <a:extLst>
              <a:ext uri="{FF2B5EF4-FFF2-40B4-BE49-F238E27FC236}">
                <a16:creationId xmlns:a16="http://schemas.microsoft.com/office/drawing/2014/main" id="{F61544F6-54F6-0300-8526-9ED17C6E2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014" y="4678232"/>
            <a:ext cx="824316" cy="717479"/>
          </a:xfrm>
          <a:prstGeom prst="rect">
            <a:avLst/>
          </a:prstGeom>
        </p:spPr>
      </p:pic>
      <p:sp>
        <p:nvSpPr>
          <p:cNvPr id="22" name="pole tekstowe 21">
            <a:extLst>
              <a:ext uri="{FF2B5EF4-FFF2-40B4-BE49-F238E27FC236}">
                <a16:creationId xmlns:a16="http://schemas.microsoft.com/office/drawing/2014/main" id="{236B1C11-A52A-E7F8-A464-5497F4614080}"/>
              </a:ext>
            </a:extLst>
          </p:cNvPr>
          <p:cNvSpPr txBox="1"/>
          <p:nvPr/>
        </p:nvSpPr>
        <p:spPr>
          <a:xfrm>
            <a:off x="7319681" y="6404535"/>
            <a:ext cx="18334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100" dirty="0"/>
              <a:t>pic.onlinewebfonts.com/</a:t>
            </a:r>
            <a:r>
              <a:rPr lang="pl-PL" sz="1100" dirty="0" err="1"/>
              <a:t>thumbnails</a:t>
            </a:r>
            <a:r>
              <a:rPr lang="pl-PL" sz="1100" dirty="0"/>
              <a:t>/icons_38174.svg</a:t>
            </a:r>
          </a:p>
        </p:txBody>
      </p:sp>
      <p:pic>
        <p:nvPicPr>
          <p:cNvPr id="24" name="Obraz 23">
            <a:extLst>
              <a:ext uri="{FF2B5EF4-FFF2-40B4-BE49-F238E27FC236}">
                <a16:creationId xmlns:a16="http://schemas.microsoft.com/office/drawing/2014/main" id="{37D260A0-D4E6-9326-8EBE-108F5B2ED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122" y="5916995"/>
            <a:ext cx="3402185" cy="825893"/>
          </a:xfrm>
          <a:prstGeom prst="rect">
            <a:avLst/>
          </a:prstGeom>
        </p:spPr>
      </p:pic>
      <p:grpSp>
        <p:nvGrpSpPr>
          <p:cNvPr id="48" name="Grupa 47">
            <a:extLst>
              <a:ext uri="{FF2B5EF4-FFF2-40B4-BE49-F238E27FC236}">
                <a16:creationId xmlns:a16="http://schemas.microsoft.com/office/drawing/2014/main" id="{E2A33777-D518-9236-164C-AD0520402AC3}"/>
              </a:ext>
            </a:extLst>
          </p:cNvPr>
          <p:cNvGrpSpPr/>
          <p:nvPr/>
        </p:nvGrpSpPr>
        <p:grpSpPr>
          <a:xfrm>
            <a:off x="7700179" y="4986789"/>
            <a:ext cx="792088" cy="1019820"/>
            <a:chOff x="7307345" y="5138318"/>
            <a:chExt cx="792088" cy="1019820"/>
          </a:xfrm>
        </p:grpSpPr>
        <p:sp>
          <p:nvSpPr>
            <p:cNvPr id="25" name="Prostokąt: zaokrąglone rogi 24">
              <a:extLst>
                <a:ext uri="{FF2B5EF4-FFF2-40B4-BE49-F238E27FC236}">
                  <a16:creationId xmlns:a16="http://schemas.microsoft.com/office/drawing/2014/main" id="{FDED2843-3176-2E35-F83C-828357D37105}"/>
                </a:ext>
              </a:extLst>
            </p:cNvPr>
            <p:cNvSpPr/>
            <p:nvPr/>
          </p:nvSpPr>
          <p:spPr>
            <a:xfrm>
              <a:off x="7307345" y="5138318"/>
              <a:ext cx="792088" cy="1019820"/>
            </a:xfrm>
            <a:prstGeom prst="roundRect">
              <a:avLst/>
            </a:prstGeom>
            <a:solidFill>
              <a:schemeClr val="lt1"/>
            </a:solidFill>
            <a:ln w="508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36" name="Obraz 35">
              <a:extLst>
                <a:ext uri="{FF2B5EF4-FFF2-40B4-BE49-F238E27FC236}">
                  <a16:creationId xmlns:a16="http://schemas.microsoft.com/office/drawing/2014/main" id="{0FEB665A-D472-430E-AF10-062DF4D16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71285" y="5307483"/>
              <a:ext cx="622010" cy="284128"/>
            </a:xfrm>
            <a:prstGeom prst="rect">
              <a:avLst/>
            </a:prstGeom>
          </p:spPr>
        </p:pic>
        <p:pic>
          <p:nvPicPr>
            <p:cNvPr id="39" name="Obraz 38">
              <a:extLst>
                <a:ext uri="{FF2B5EF4-FFF2-40B4-BE49-F238E27FC236}">
                  <a16:creationId xmlns:a16="http://schemas.microsoft.com/office/drawing/2014/main" id="{4D1AB5C5-8710-9A43-CE4D-583E842B5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36683" y="5760776"/>
              <a:ext cx="545748" cy="202706"/>
            </a:xfrm>
            <a:prstGeom prst="rect">
              <a:avLst/>
            </a:prstGeom>
          </p:spPr>
        </p:pic>
      </p:grpSp>
      <p:grpSp>
        <p:nvGrpSpPr>
          <p:cNvPr id="46" name="Grupa 45">
            <a:extLst>
              <a:ext uri="{FF2B5EF4-FFF2-40B4-BE49-F238E27FC236}">
                <a16:creationId xmlns:a16="http://schemas.microsoft.com/office/drawing/2014/main" id="{D7E7F098-6038-C77C-8B40-3868F2E8E7FC}"/>
              </a:ext>
            </a:extLst>
          </p:cNvPr>
          <p:cNvGrpSpPr/>
          <p:nvPr/>
        </p:nvGrpSpPr>
        <p:grpSpPr>
          <a:xfrm>
            <a:off x="7889588" y="5143439"/>
            <a:ext cx="792088" cy="1019820"/>
            <a:chOff x="8170648" y="5160784"/>
            <a:chExt cx="792088" cy="1019820"/>
          </a:xfrm>
        </p:grpSpPr>
        <p:sp>
          <p:nvSpPr>
            <p:cNvPr id="27" name="Prostokąt: zaokrąglone rogi 26">
              <a:extLst>
                <a:ext uri="{FF2B5EF4-FFF2-40B4-BE49-F238E27FC236}">
                  <a16:creationId xmlns:a16="http://schemas.microsoft.com/office/drawing/2014/main" id="{D45C1003-7B88-F044-65F5-7DA9FA3E6B05}"/>
                </a:ext>
              </a:extLst>
            </p:cNvPr>
            <p:cNvSpPr/>
            <p:nvPr/>
          </p:nvSpPr>
          <p:spPr>
            <a:xfrm>
              <a:off x="8170648" y="5160784"/>
              <a:ext cx="792088" cy="1019820"/>
            </a:xfrm>
            <a:prstGeom prst="roundRect">
              <a:avLst/>
            </a:prstGeom>
            <a:solidFill>
              <a:schemeClr val="lt1"/>
            </a:solidFill>
            <a:ln w="508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41" name="Obraz 40">
              <a:extLst>
                <a:ext uri="{FF2B5EF4-FFF2-40B4-BE49-F238E27FC236}">
                  <a16:creationId xmlns:a16="http://schemas.microsoft.com/office/drawing/2014/main" id="{B55977A1-A402-AC1B-F434-12A04AC44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93003" y="5339378"/>
              <a:ext cx="564978" cy="237455"/>
            </a:xfrm>
            <a:prstGeom prst="rect">
              <a:avLst/>
            </a:prstGeom>
          </p:spPr>
        </p:pic>
        <p:pic>
          <p:nvPicPr>
            <p:cNvPr id="45" name="Obraz 44">
              <a:extLst>
                <a:ext uri="{FF2B5EF4-FFF2-40B4-BE49-F238E27FC236}">
                  <a16:creationId xmlns:a16="http://schemas.microsoft.com/office/drawing/2014/main" id="{5C7FF201-41E1-0A85-F04A-A22B1FD2C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297097" y="5755320"/>
              <a:ext cx="540395" cy="207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7080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9C112-0860-74DD-8F2A-CC2B8F72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72D9B-F3DC-F217-784C-BEB67891825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główny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EC4EC06-08A2-CF0D-9673-38FAB604C65D}"/>
              </a:ext>
            </a:extLst>
          </p:cNvPr>
          <p:cNvSpPr txBox="1"/>
          <p:nvPr/>
        </p:nvSpPr>
        <p:spPr>
          <a:xfrm>
            <a:off x="1022002" y="825529"/>
            <a:ext cx="8131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Tworzenie obiektów na podstawie szablonu klasy polega na wywołaniu jej konstruktora.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4526F80-F053-58C4-1D9B-3C8A41CD0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1191824"/>
            <a:ext cx="4896544" cy="302222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6A3141F1-0CBD-A01A-A163-21253217FBD2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572000" y="3518575"/>
            <a:ext cx="1584175" cy="5444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01907F00-78FD-EBDD-96A3-99CAD2675FCC}"/>
              </a:ext>
            </a:extLst>
          </p:cNvPr>
          <p:cNvSpPr txBox="1"/>
          <p:nvPr/>
        </p:nvSpPr>
        <p:spPr>
          <a:xfrm>
            <a:off x="6156176" y="3032085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wywołany blok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init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przy wywołaniu konstruktora głównego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92045D15-E64D-A93B-0F2B-98083A99D2CF}"/>
              </a:ext>
            </a:extLst>
          </p:cNvPr>
          <p:cNvSpPr/>
          <p:nvPr/>
        </p:nvSpPr>
        <p:spPr>
          <a:xfrm>
            <a:off x="6156175" y="3032085"/>
            <a:ext cx="2844215" cy="97297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2979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87312-AB86-D44C-568E-21A1B036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459E9D-02BF-5C33-221A-7C50D0C1BFB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główny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3739C6E-41ED-7447-C136-90460DB564FA}"/>
              </a:ext>
            </a:extLst>
          </p:cNvPr>
          <p:cNvSpPr txBox="1"/>
          <p:nvPr/>
        </p:nvSpPr>
        <p:spPr>
          <a:xfrm>
            <a:off x="1022002" y="825529"/>
            <a:ext cx="8131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Tworzenie obiektów na podstawie szablonu klasy polega na wywołaniu jej konstruktora.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2220CCC-553A-E01F-324D-0FA2077EF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1191824"/>
            <a:ext cx="4896544" cy="302222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F75449FB-FFC0-EF89-DDB3-6485DB05D576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572000" y="3518575"/>
            <a:ext cx="1584175" cy="5444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A66BEAC-F162-0F4E-F28D-9C57E3AC574D}"/>
              </a:ext>
            </a:extLst>
          </p:cNvPr>
          <p:cNvSpPr txBox="1"/>
          <p:nvPr/>
        </p:nvSpPr>
        <p:spPr>
          <a:xfrm>
            <a:off x="6156176" y="3032085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wywołany blok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init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przy wywołaniu konstruktora głównego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A46FA310-FEDB-0D3B-120E-57BAACC4B481}"/>
              </a:ext>
            </a:extLst>
          </p:cNvPr>
          <p:cNvSpPr/>
          <p:nvPr/>
        </p:nvSpPr>
        <p:spPr>
          <a:xfrm>
            <a:off x="6156175" y="3032085"/>
            <a:ext cx="2844215" cy="97297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D542AEB-5E0F-C46D-2270-CEC9044A3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632" y="4298344"/>
            <a:ext cx="6553200" cy="254317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FD778F06-659B-C58A-4151-BD5AC841F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0067" y="4968352"/>
            <a:ext cx="3833933" cy="1701008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B76CB94-C7D6-28FA-E621-2BE27AEFAC66}"/>
              </a:ext>
            </a:extLst>
          </p:cNvPr>
          <p:cNvSpPr/>
          <p:nvPr/>
        </p:nvSpPr>
        <p:spPr>
          <a:xfrm>
            <a:off x="5310067" y="4884058"/>
            <a:ext cx="3798437" cy="195746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160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5E393-1B25-372A-65CA-8EB2D6519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3CE8AF-F5CC-55C4-1CB8-3E3EE1DCC53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drugorzędny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0C97CC8-7D62-1A8F-652D-2287F24DED97}"/>
              </a:ext>
            </a:extLst>
          </p:cNvPr>
          <p:cNvSpPr txBox="1"/>
          <p:nvPr/>
        </p:nvSpPr>
        <p:spPr>
          <a:xfrm>
            <a:off x="1022002" y="825529"/>
            <a:ext cx="813108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Przy tworzeniu </a:t>
            </a:r>
            <a:r>
              <a:rPr lang="pl-PL" sz="1600" b="1" dirty="0"/>
              <a:t>drugorzędnych konstruktorów </a:t>
            </a:r>
            <a:r>
              <a:rPr lang="pl-PL" sz="1600" dirty="0"/>
              <a:t>wymagane jest użycie słowa kluczowego </a:t>
            </a:r>
            <a:r>
              <a:rPr lang="pl-PL" sz="1600" b="1" dirty="0" err="1"/>
              <a:t>constructor</a:t>
            </a:r>
            <a:r>
              <a:rPr lang="pl-PL" sz="1600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Jest bardziej elastyczny niż konstruktor główny, </a:t>
            </a:r>
            <a:r>
              <a:rPr lang="pl-PL" sz="1600" b="1" dirty="0"/>
              <a:t>może posiadać ciało.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/>
              <a:t>Nie ma możliwości automatycznego</a:t>
            </a:r>
            <a:r>
              <a:rPr lang="pl-PL" sz="1600" dirty="0"/>
              <a:t> deklarowania właściwości za pomocą </a:t>
            </a:r>
            <a:r>
              <a:rPr lang="pl-PL" sz="1600" b="1" dirty="0" err="1"/>
              <a:t>val</a:t>
            </a:r>
            <a:r>
              <a:rPr lang="pl-PL" sz="1600" dirty="0"/>
              <a:t> lub </a:t>
            </a:r>
            <a:r>
              <a:rPr lang="pl-PL" sz="1600" b="1" dirty="0" err="1"/>
              <a:t>var</a:t>
            </a:r>
            <a:r>
              <a:rPr lang="pl-PL" sz="1600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Parametry konstruktora drugorzędnego są traktowane wyłącznie jako </a:t>
            </a:r>
            <a:r>
              <a:rPr lang="pl-PL" sz="1600" b="1" dirty="0"/>
              <a:t>lokalne zmienne</a:t>
            </a:r>
            <a:r>
              <a:rPr lang="pl-PL" sz="1600" dirty="0"/>
              <a:t> dostępne w jego ciele.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5AD31BF2-CAB8-89F3-B705-2E46B9B20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024" y="2996953"/>
            <a:ext cx="6612891" cy="38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6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05BBF-BB3D-C240-091F-A77E92712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67E90C-E052-F3CC-176D-B34D5D98A16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drugorzędny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1DD4715-F56B-E9B9-E4E8-39229F60A4D0}"/>
              </a:ext>
            </a:extLst>
          </p:cNvPr>
          <p:cNvSpPr txBox="1"/>
          <p:nvPr/>
        </p:nvSpPr>
        <p:spPr>
          <a:xfrm>
            <a:off x="1022002" y="825529"/>
            <a:ext cx="8131089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400" dirty="0"/>
              <a:t>Każda klasa wystawia interfejs (</a:t>
            </a:r>
            <a:r>
              <a:rPr lang="pl-PL" sz="1400" dirty="0" err="1"/>
              <a:t>konstruktory</a:t>
            </a:r>
            <a:r>
              <a:rPr lang="pl-PL" sz="1400" dirty="0"/>
              <a:t>, metody, pola) który jest dostępny z zewnątrz klasy.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b="1" dirty="0"/>
              <a:t>public</a:t>
            </a:r>
            <a:r>
              <a:rPr lang="pl-PL" sz="1400" dirty="0"/>
              <a:t> - pole, metoda lub konstruktor z modyfikatorem publicznym, jest dostępne z każdego miejsca - </a:t>
            </a:r>
            <a:r>
              <a:rPr lang="pl-PL" sz="1400" b="1" dirty="0"/>
              <a:t>modyfikator domyślny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b="1" dirty="0" err="1"/>
              <a:t>protected</a:t>
            </a:r>
            <a:r>
              <a:rPr lang="pl-PL" sz="1400" dirty="0"/>
              <a:t> - pola, metody i </a:t>
            </a:r>
            <a:r>
              <a:rPr lang="pl-PL" sz="1400" dirty="0" err="1"/>
              <a:t>konstruktory</a:t>
            </a:r>
            <a:r>
              <a:rPr lang="pl-PL" sz="1400" dirty="0"/>
              <a:t> klasy oznaczone w ten sposób są dostępne w obrębie klasy oraz we wszystkich podklasach.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b="1" dirty="0" err="1"/>
              <a:t>private</a:t>
            </a:r>
            <a:r>
              <a:rPr lang="pl-PL" sz="1400" dirty="0"/>
              <a:t> - do pól, metod i konstruktorów prywatnych nie można uzyskać dostępu spoza klasy w której się znajdują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b="1" dirty="0" err="1"/>
              <a:t>internal</a:t>
            </a:r>
            <a:r>
              <a:rPr lang="pl-PL" sz="1400" dirty="0"/>
              <a:t> - obiekty widoczne w obrębie modułu lub pakietu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71DED8B-29B5-A087-22ED-FF64FB426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32" y="3394302"/>
            <a:ext cx="8060968" cy="346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6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7830F-4C71-62ED-192F-50998F5C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77BA7A-3C46-F154-313C-58B27703990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 towarzyszący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83008C8-7A17-4E28-1623-EA3157277A89}"/>
              </a:ext>
            </a:extLst>
          </p:cNvPr>
          <p:cNvSpPr txBox="1"/>
          <p:nvPr/>
        </p:nvSpPr>
        <p:spPr>
          <a:xfrm>
            <a:off x="1115616" y="888396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Obiekt stowarzyszony (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r>
              <a:rPr lang="pl-PL" sz="1600" dirty="0"/>
              <a:t>) to sposób na tworzenie </a:t>
            </a:r>
            <a:r>
              <a:rPr lang="pl-PL" sz="1600" b="1" dirty="0"/>
              <a:t>statycznych elementów</a:t>
            </a:r>
            <a:r>
              <a:rPr lang="pl-PL" sz="1600" dirty="0"/>
              <a:t> w klasach.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9A1F94D-49D3-7E20-BF6B-A352A3904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1556792"/>
            <a:ext cx="6084908" cy="2664296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5E545F8-8D81-0E75-5178-9F6172BA8917}"/>
              </a:ext>
            </a:extLst>
          </p:cNvPr>
          <p:cNvSpPr txBox="1"/>
          <p:nvPr/>
        </p:nvSpPr>
        <p:spPr>
          <a:xfrm>
            <a:off x="1115616" y="4226430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Elementy zadeklarowane w obiekcie stowarzyszonym można wywoływać </a:t>
            </a:r>
            <a:r>
              <a:rPr lang="pl-PL" sz="1600" b="1" dirty="0"/>
              <a:t>bez tworzenia instancji klasy.</a:t>
            </a:r>
          </a:p>
        </p:txBody>
      </p:sp>
    </p:spTree>
    <p:extLst>
      <p:ext uri="{BB962C8B-B14F-4D97-AF65-F5344CB8AC3E}">
        <p14:creationId xmlns:p14="http://schemas.microsoft.com/office/powerpoint/2010/main" val="4215101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85EA3-6A27-0DF7-964A-03ED9145E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1E478-13B6-CCAF-6812-56B79CA9649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 towarzyszący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289D161-4A43-A649-0F0A-3CFA432CC455}"/>
              </a:ext>
            </a:extLst>
          </p:cNvPr>
          <p:cNvSpPr txBox="1"/>
          <p:nvPr/>
        </p:nvSpPr>
        <p:spPr>
          <a:xfrm>
            <a:off x="1115616" y="888396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Obiekt stowarzyszony (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r>
              <a:rPr lang="pl-PL" sz="1600" dirty="0"/>
              <a:t>) to sposób na tworzenie </a:t>
            </a:r>
            <a:r>
              <a:rPr lang="pl-PL" sz="1600" b="1" dirty="0"/>
              <a:t>statycznych elementów</a:t>
            </a:r>
            <a:r>
              <a:rPr lang="pl-PL" sz="1600" dirty="0"/>
              <a:t> w klasach.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82D2F15E-181B-DCA0-AAAD-9DA1C3A88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1556792"/>
            <a:ext cx="6084908" cy="2664296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28D70A68-4C15-B16A-827C-F64FF7F18588}"/>
              </a:ext>
            </a:extLst>
          </p:cNvPr>
          <p:cNvSpPr txBox="1"/>
          <p:nvPr/>
        </p:nvSpPr>
        <p:spPr>
          <a:xfrm>
            <a:off x="1115616" y="4226430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Elementy zadeklarowane w obiekcie stowarzyszonym można wywoływać </a:t>
            </a:r>
            <a:r>
              <a:rPr lang="pl-PL" sz="1600" b="1" dirty="0"/>
              <a:t>bez tworzenia instancji klasy.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6796D9F-FBA1-2258-7359-699E4C5A7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06" y="4734892"/>
            <a:ext cx="4144892" cy="207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31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334C8-594A-BEC7-ACC8-5D160C22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E4CE99-4EA4-B84D-5B21-E2CA6501AB5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 towarzyszący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960D16C-FDC8-65BA-E5F0-3F5C45E46397}"/>
              </a:ext>
            </a:extLst>
          </p:cNvPr>
          <p:cNvSpPr txBox="1"/>
          <p:nvPr/>
        </p:nvSpPr>
        <p:spPr>
          <a:xfrm>
            <a:off x="1115616" y="888396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Obiekt stowarzyszony (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r>
              <a:rPr lang="pl-PL" sz="1600" dirty="0"/>
              <a:t>) to sposób na tworzenie </a:t>
            </a:r>
            <a:r>
              <a:rPr lang="pl-PL" sz="1600" b="1" dirty="0"/>
              <a:t>statycznych elementów</a:t>
            </a:r>
            <a:r>
              <a:rPr lang="pl-PL" sz="1600" dirty="0"/>
              <a:t> w klasach.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360AA1C7-8982-6F31-BBC7-D49EFAD5C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1556792"/>
            <a:ext cx="6084908" cy="2664296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25994BA-8EF0-BEA1-776E-318AB89E73D4}"/>
              </a:ext>
            </a:extLst>
          </p:cNvPr>
          <p:cNvSpPr txBox="1"/>
          <p:nvPr/>
        </p:nvSpPr>
        <p:spPr>
          <a:xfrm>
            <a:off x="1115616" y="4226430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Elementy zadeklarowane w obiekcie stowarzyszonym można wywoływać </a:t>
            </a:r>
            <a:r>
              <a:rPr lang="pl-PL" sz="1600" b="1" dirty="0"/>
              <a:t>bez tworzenia instancji klasy.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9F34BE3-5258-9335-B542-3B7D4FFE8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06" y="4734892"/>
            <a:ext cx="4144892" cy="2072446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15D9D53-7618-2BBF-6836-8D8ED2218F7F}"/>
              </a:ext>
            </a:extLst>
          </p:cNvPr>
          <p:cNvSpPr txBox="1"/>
          <p:nvPr/>
        </p:nvSpPr>
        <p:spPr>
          <a:xfrm>
            <a:off x="5368045" y="4597065"/>
            <a:ext cx="36684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/>
              <a:t>Elementy </a:t>
            </a:r>
            <a:r>
              <a:rPr lang="pl-PL" sz="1400" dirty="0" err="1"/>
              <a:t>companion</a:t>
            </a:r>
            <a:r>
              <a:rPr lang="pl-PL" sz="1400" dirty="0"/>
              <a:t> </a:t>
            </a:r>
            <a:r>
              <a:rPr lang="pl-PL" sz="1400" dirty="0" err="1"/>
              <a:t>object</a:t>
            </a:r>
            <a:r>
              <a:rPr lang="pl-PL" sz="1400" dirty="0"/>
              <a:t> są udostępniane na </a:t>
            </a:r>
            <a:r>
              <a:rPr lang="pl-PL" sz="1400" b="1" dirty="0"/>
              <a:t>poziomie klasy, a nie instancji</a:t>
            </a:r>
            <a:r>
              <a:rPr lang="pl-PL" sz="14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/>
              <a:t>Companion </a:t>
            </a:r>
            <a:r>
              <a:rPr lang="pl-PL" sz="1400" dirty="0" err="1"/>
              <a:t>object</a:t>
            </a:r>
            <a:r>
              <a:rPr lang="pl-PL" sz="1400" dirty="0"/>
              <a:t> jest </a:t>
            </a:r>
            <a:r>
              <a:rPr lang="pl-PL" sz="1400" b="1" dirty="0"/>
              <a:t>pojedynczą instancją </a:t>
            </a:r>
            <a:r>
              <a:rPr lang="pl-PL" sz="1400" dirty="0"/>
              <a:t>(</a:t>
            </a:r>
            <a:r>
              <a:rPr lang="pl-PL" sz="1400" b="1" i="1" dirty="0"/>
              <a:t>singletonem</a:t>
            </a:r>
            <a:r>
              <a:rPr lang="pl-PL" sz="1400" dirty="0"/>
              <a:t>) powiązaną z klasą.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/>
              <a:t>Może implementować interfejsy.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/>
              <a:t>Może posiadać nazwę.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6B3CA379-7C8F-1EB4-CB3D-6940D7C08D05}"/>
              </a:ext>
            </a:extLst>
          </p:cNvPr>
          <p:cNvSpPr/>
          <p:nvPr/>
        </p:nvSpPr>
        <p:spPr>
          <a:xfrm>
            <a:off x="5274099" y="4597065"/>
            <a:ext cx="3869902" cy="2210273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447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44A13-E0A1-834B-F90E-C1863C8C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770433-8AA4-FA2B-AB15-0E7195124B6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Porównanie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1AFF5BC-C1D8-4A73-8E9A-BE6B5377D153}"/>
              </a:ext>
            </a:extLst>
          </p:cNvPr>
          <p:cNvSpPr txBox="1"/>
          <p:nvPr/>
        </p:nvSpPr>
        <p:spPr>
          <a:xfrm>
            <a:off x="1115616" y="888396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Kotlinie porównywanie obiektów można przeprowadzać na dwa sposoby: </a:t>
            </a:r>
            <a:r>
              <a:rPr lang="pl-PL" sz="1600" b="1" dirty="0"/>
              <a:t>porównanie strukturalne</a:t>
            </a:r>
            <a:r>
              <a:rPr lang="pl-PL" sz="1600" dirty="0"/>
              <a:t> (operator </a:t>
            </a:r>
            <a:r>
              <a:rPr lang="pl-PL" sz="1600" b="1" dirty="0"/>
              <a:t>==</a:t>
            </a:r>
            <a:r>
              <a:rPr lang="pl-PL" sz="1600" dirty="0"/>
              <a:t>) i </a:t>
            </a:r>
            <a:r>
              <a:rPr lang="pl-PL" sz="1600" b="1" dirty="0"/>
              <a:t>porównanie referencyjne</a:t>
            </a:r>
            <a:r>
              <a:rPr lang="pl-PL" sz="1600" dirty="0"/>
              <a:t> (operator </a:t>
            </a:r>
            <a:r>
              <a:rPr lang="pl-PL" sz="1600" b="1" dirty="0"/>
              <a:t>===</a:t>
            </a:r>
            <a:r>
              <a:rPr lang="pl-PL" sz="1600" dirty="0"/>
              <a:t>).</a:t>
            </a:r>
          </a:p>
          <a:p>
            <a:pPr algn="just"/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</a:t>
            </a:r>
            <a:r>
              <a:rPr lang="pl-PL" sz="1600" dirty="0"/>
              <a:t> porównuje wartości zmiennych.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===</a:t>
            </a:r>
            <a:r>
              <a:rPr lang="pl-PL" sz="1600" dirty="0"/>
              <a:t> sprawdza, czy zmienne wskazują na tę samą lokalizację w pamięci.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4B91C3F1-1C4B-C434-8BB9-F24C39B44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412403"/>
            <a:ext cx="4343400" cy="1333500"/>
          </a:xfrm>
          <a:prstGeom prst="rect">
            <a:avLst/>
          </a:prstGeom>
        </p:spPr>
      </p:pic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A22AFF54-50E7-EC1D-E921-5E2FD5B11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588515"/>
              </p:ext>
            </p:extLst>
          </p:nvPr>
        </p:nvGraphicFramePr>
        <p:xfrm>
          <a:off x="1907704" y="5085184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2081969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8925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6097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249483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2077249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726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Karol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4344"/>
                  </a:ext>
                </a:extLst>
              </a:tr>
            </a:tbl>
          </a:graphicData>
        </a:graphic>
      </p:graphicFrame>
      <p:sp>
        <p:nvSpPr>
          <p:cNvPr id="19" name="pole tekstowe 18">
            <a:extLst>
              <a:ext uri="{FF2B5EF4-FFF2-40B4-BE49-F238E27FC236}">
                <a16:creationId xmlns:a16="http://schemas.microsoft.com/office/drawing/2014/main" id="{D434576A-E2B1-5771-8BAC-0B9FFFE899E1}"/>
              </a:ext>
            </a:extLst>
          </p:cNvPr>
          <p:cNvSpPr txBox="1"/>
          <p:nvPr/>
        </p:nvSpPr>
        <p:spPr>
          <a:xfrm>
            <a:off x="981824" y="4746630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Pamięć</a:t>
            </a:r>
            <a:endParaRPr lang="pl-PL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A6E4EF36-89E4-E8DB-CFFD-B6EE47169E26}"/>
              </a:ext>
            </a:extLst>
          </p:cNvPr>
          <p:cNvSpPr txBox="1"/>
          <p:nvPr/>
        </p:nvSpPr>
        <p:spPr>
          <a:xfrm>
            <a:off x="2339752" y="5566078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0x09ead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FAE13D63-43D7-815A-E48E-FD13CECB8261}"/>
              </a:ext>
            </a:extLst>
          </p:cNvPr>
          <p:cNvSpPr txBox="1"/>
          <p:nvPr/>
        </p:nvSpPr>
        <p:spPr>
          <a:xfrm>
            <a:off x="6012160" y="6291545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0xaa16b</a:t>
            </a:r>
          </a:p>
        </p:txBody>
      </p:sp>
    </p:spTree>
    <p:extLst>
      <p:ext uri="{BB962C8B-B14F-4D97-AF65-F5344CB8AC3E}">
        <p14:creationId xmlns:p14="http://schemas.microsoft.com/office/powerpoint/2010/main" val="1238764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EE98B-0133-2D7D-EF05-785A552A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01993D-E683-50F7-1704-81D0A79D707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Porównanie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25F4AC5-43AB-74BB-BF45-14C15DB08579}"/>
              </a:ext>
            </a:extLst>
          </p:cNvPr>
          <p:cNvSpPr txBox="1"/>
          <p:nvPr/>
        </p:nvSpPr>
        <p:spPr>
          <a:xfrm>
            <a:off x="1115616" y="888396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Kotlinie porównywanie obiektów można przeprowadzać na dwa sposoby: </a:t>
            </a:r>
            <a:r>
              <a:rPr lang="pl-PL" sz="1600" b="1" dirty="0"/>
              <a:t>porównanie strukturalne</a:t>
            </a:r>
            <a:r>
              <a:rPr lang="pl-PL" sz="1600" dirty="0"/>
              <a:t> (operator </a:t>
            </a:r>
            <a:r>
              <a:rPr lang="pl-PL" sz="1600" b="1" dirty="0"/>
              <a:t>==</a:t>
            </a:r>
            <a:r>
              <a:rPr lang="pl-PL" sz="1600" dirty="0"/>
              <a:t>) i </a:t>
            </a:r>
            <a:r>
              <a:rPr lang="pl-PL" sz="1600" b="1" dirty="0"/>
              <a:t>porównanie referencyjne</a:t>
            </a:r>
            <a:r>
              <a:rPr lang="pl-PL" sz="1600" dirty="0"/>
              <a:t> (operator </a:t>
            </a:r>
            <a:r>
              <a:rPr lang="pl-PL" sz="1600" b="1" dirty="0"/>
              <a:t>===</a:t>
            </a:r>
            <a:r>
              <a:rPr lang="pl-PL" sz="1600" dirty="0"/>
              <a:t>).</a:t>
            </a:r>
          </a:p>
          <a:p>
            <a:pPr algn="just"/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</a:t>
            </a:r>
            <a:r>
              <a:rPr lang="pl-PL" sz="1600" dirty="0"/>
              <a:t> porównuje wartości zmiennych.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===</a:t>
            </a:r>
            <a:r>
              <a:rPr lang="pl-PL" sz="1600" dirty="0"/>
              <a:t> sprawdza, czy zmienne wskazują na tę samą lokalizację w pamięci.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16EE4973-01F2-5472-E5AC-A06AD639B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412403"/>
            <a:ext cx="4343400" cy="1333500"/>
          </a:xfrm>
          <a:prstGeom prst="rect">
            <a:avLst/>
          </a:prstGeom>
        </p:spPr>
      </p:pic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1D904447-1329-FD8C-4D37-C03ECA964955}"/>
              </a:ext>
            </a:extLst>
          </p:cNvPr>
          <p:cNvGraphicFramePr>
            <a:graphicFrameLocks noGrp="1"/>
          </p:cNvGraphicFramePr>
          <p:nvPr/>
        </p:nvGraphicFramePr>
        <p:xfrm>
          <a:off x="1907704" y="5085184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2081969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8925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6097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249483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2077249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726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Karol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4344"/>
                  </a:ext>
                </a:extLst>
              </a:tr>
            </a:tbl>
          </a:graphicData>
        </a:graphic>
      </p:graphicFrame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5E668E4-B789-7155-5534-B1CB6CF913C2}"/>
              </a:ext>
            </a:extLst>
          </p:cNvPr>
          <p:cNvSpPr txBox="1"/>
          <p:nvPr/>
        </p:nvSpPr>
        <p:spPr>
          <a:xfrm>
            <a:off x="981824" y="4746630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Pamięć</a:t>
            </a:r>
            <a:endParaRPr lang="pl-PL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2E85F85-0CF6-721E-AA3E-5FF3273A81AC}"/>
              </a:ext>
            </a:extLst>
          </p:cNvPr>
          <p:cNvSpPr txBox="1"/>
          <p:nvPr/>
        </p:nvSpPr>
        <p:spPr>
          <a:xfrm>
            <a:off x="2339752" y="5566078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0x09ead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549A2F33-A72F-1386-81F4-B651240245E8}"/>
              </a:ext>
            </a:extLst>
          </p:cNvPr>
          <p:cNvSpPr txBox="1"/>
          <p:nvPr/>
        </p:nvSpPr>
        <p:spPr>
          <a:xfrm>
            <a:off x="6012160" y="6291545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0xaa16b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CF13705-69A4-6FBD-1483-3808DDA99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47" y="2845928"/>
            <a:ext cx="2286000" cy="390525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F34AF0B7-52FA-AF89-F3F9-B63CE8DBB098}"/>
              </a:ext>
            </a:extLst>
          </p:cNvPr>
          <p:cNvSpPr txBox="1"/>
          <p:nvPr/>
        </p:nvSpPr>
        <p:spPr>
          <a:xfrm>
            <a:off x="6164625" y="2450439"/>
            <a:ext cx="288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porównanie strukturalne</a:t>
            </a:r>
            <a:r>
              <a:rPr lang="pl-PL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80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E9C3A-5C3A-FE2E-B544-E7CCB867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8BBC3E-CB36-3C9B-9F37-34ABE2D1CB3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Porównanie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9C0D5D8-8890-D06C-C702-39D15B047E1E}"/>
              </a:ext>
            </a:extLst>
          </p:cNvPr>
          <p:cNvSpPr txBox="1"/>
          <p:nvPr/>
        </p:nvSpPr>
        <p:spPr>
          <a:xfrm>
            <a:off x="1115616" y="888396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Kotlinie porównywanie obiektów można przeprowadzać na dwa sposoby: </a:t>
            </a:r>
            <a:r>
              <a:rPr lang="pl-PL" sz="1600" b="1" dirty="0"/>
              <a:t>porównanie strukturalne</a:t>
            </a:r>
            <a:r>
              <a:rPr lang="pl-PL" sz="1600" dirty="0"/>
              <a:t> (operator </a:t>
            </a:r>
            <a:r>
              <a:rPr lang="pl-PL" sz="1600" b="1" dirty="0"/>
              <a:t>==</a:t>
            </a:r>
            <a:r>
              <a:rPr lang="pl-PL" sz="1600" dirty="0"/>
              <a:t>) i </a:t>
            </a:r>
            <a:r>
              <a:rPr lang="pl-PL" sz="1600" b="1" dirty="0"/>
              <a:t>porównanie referencyjne</a:t>
            </a:r>
            <a:r>
              <a:rPr lang="pl-PL" sz="1600" dirty="0"/>
              <a:t> (operator </a:t>
            </a:r>
            <a:r>
              <a:rPr lang="pl-PL" sz="1600" b="1" dirty="0"/>
              <a:t>===</a:t>
            </a:r>
            <a:r>
              <a:rPr lang="pl-PL" sz="1600" dirty="0"/>
              <a:t>).</a:t>
            </a:r>
          </a:p>
          <a:p>
            <a:pPr algn="just"/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</a:t>
            </a:r>
            <a:r>
              <a:rPr lang="pl-PL" sz="1600" dirty="0"/>
              <a:t> porównuje wartości zmiennych.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===</a:t>
            </a:r>
            <a:r>
              <a:rPr lang="pl-PL" sz="1600" dirty="0"/>
              <a:t> sprawdza, czy zmienne wskazują na tę samą lokalizację w pamięci.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34ABC0BD-8051-FD1D-CF8E-962C598AE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412403"/>
            <a:ext cx="4343400" cy="1333500"/>
          </a:xfrm>
          <a:prstGeom prst="rect">
            <a:avLst/>
          </a:prstGeom>
        </p:spPr>
      </p:pic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28CF55E2-4DDA-C5C9-6B1A-9313EF92565A}"/>
              </a:ext>
            </a:extLst>
          </p:cNvPr>
          <p:cNvGraphicFramePr>
            <a:graphicFrameLocks noGrp="1"/>
          </p:cNvGraphicFramePr>
          <p:nvPr/>
        </p:nvGraphicFramePr>
        <p:xfrm>
          <a:off x="1907704" y="5085184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2081969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8925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6097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249483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2077249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726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Karol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4344"/>
                  </a:ext>
                </a:extLst>
              </a:tr>
            </a:tbl>
          </a:graphicData>
        </a:graphic>
      </p:graphicFrame>
      <p:sp>
        <p:nvSpPr>
          <p:cNvPr id="19" name="pole tekstowe 18">
            <a:extLst>
              <a:ext uri="{FF2B5EF4-FFF2-40B4-BE49-F238E27FC236}">
                <a16:creationId xmlns:a16="http://schemas.microsoft.com/office/drawing/2014/main" id="{18E76355-F0A9-1DDB-BB4C-4109A13DC2BD}"/>
              </a:ext>
            </a:extLst>
          </p:cNvPr>
          <p:cNvSpPr txBox="1"/>
          <p:nvPr/>
        </p:nvSpPr>
        <p:spPr>
          <a:xfrm>
            <a:off x="981824" y="4746630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Pamięć</a:t>
            </a:r>
            <a:endParaRPr lang="pl-PL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2D3410E7-36C2-7C04-068A-41937EE2F8D5}"/>
              </a:ext>
            </a:extLst>
          </p:cNvPr>
          <p:cNvSpPr txBox="1"/>
          <p:nvPr/>
        </p:nvSpPr>
        <p:spPr>
          <a:xfrm>
            <a:off x="2339752" y="5566078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0x09ead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F747D04B-16BC-454D-8A89-4883EBCA2CE7}"/>
              </a:ext>
            </a:extLst>
          </p:cNvPr>
          <p:cNvSpPr txBox="1"/>
          <p:nvPr/>
        </p:nvSpPr>
        <p:spPr>
          <a:xfrm>
            <a:off x="6012160" y="6291545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0xaa16b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6A094D3-F0B4-F224-A069-17092AF6F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47" y="2845928"/>
            <a:ext cx="2286000" cy="390525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76917C8D-A1CE-FFEB-F535-53FB9ACC0450}"/>
              </a:ext>
            </a:extLst>
          </p:cNvPr>
          <p:cNvSpPr txBox="1"/>
          <p:nvPr/>
        </p:nvSpPr>
        <p:spPr>
          <a:xfrm>
            <a:off x="6164625" y="2450439"/>
            <a:ext cx="288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porównanie strukturalne</a:t>
            </a:r>
            <a:r>
              <a:rPr lang="pl-PL" sz="1600" dirty="0"/>
              <a:t> 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BCF7E98-7EB0-6A7F-61B5-4EA44F2E7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47" y="3353864"/>
            <a:ext cx="2247900" cy="31432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67F757AD-18BB-77B2-E538-90111032A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6559" y="3785431"/>
            <a:ext cx="90487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95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43721-5BE9-3152-42E5-29CDD60BA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D0C0CF-AA8C-84C8-F0FD-9E5C9E2621A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Porównanie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66B5235-EBB3-BAA6-7F4B-EF79525E5772}"/>
              </a:ext>
            </a:extLst>
          </p:cNvPr>
          <p:cNvSpPr txBox="1"/>
          <p:nvPr/>
        </p:nvSpPr>
        <p:spPr>
          <a:xfrm>
            <a:off x="1115616" y="888396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Kotlinie porównywanie obiektów można przeprowadzać na dwa sposoby: </a:t>
            </a:r>
            <a:r>
              <a:rPr lang="pl-PL" sz="1600" b="1" dirty="0"/>
              <a:t>porównanie strukturalne</a:t>
            </a:r>
            <a:r>
              <a:rPr lang="pl-PL" sz="1600" dirty="0"/>
              <a:t> (operator </a:t>
            </a:r>
            <a:r>
              <a:rPr lang="pl-PL" sz="1600" b="1" dirty="0"/>
              <a:t>==</a:t>
            </a:r>
            <a:r>
              <a:rPr lang="pl-PL" sz="1600" dirty="0"/>
              <a:t>) i </a:t>
            </a:r>
            <a:r>
              <a:rPr lang="pl-PL" sz="1600" b="1" dirty="0"/>
              <a:t>porównanie referencyjne</a:t>
            </a:r>
            <a:r>
              <a:rPr lang="pl-PL" sz="1600" dirty="0"/>
              <a:t> (operator </a:t>
            </a:r>
            <a:r>
              <a:rPr lang="pl-PL" sz="1600" b="1" dirty="0"/>
              <a:t>===</a:t>
            </a:r>
            <a:r>
              <a:rPr lang="pl-PL" sz="1600" dirty="0"/>
              <a:t>).</a:t>
            </a:r>
          </a:p>
          <a:p>
            <a:pPr algn="just"/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</a:t>
            </a:r>
            <a:r>
              <a:rPr lang="pl-PL" sz="1600" dirty="0"/>
              <a:t> porównuje wartości zmiennych.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===</a:t>
            </a:r>
            <a:r>
              <a:rPr lang="pl-PL" sz="1600" dirty="0"/>
              <a:t> sprawdza, czy zmienne wskazują na tę samą lokalizację w pamięci.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0B49824E-0848-5731-E296-86BCD51E8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412403"/>
            <a:ext cx="4343400" cy="1333500"/>
          </a:xfrm>
          <a:prstGeom prst="rect">
            <a:avLst/>
          </a:prstGeom>
        </p:spPr>
      </p:pic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E25F8C3C-BE71-9EB6-FCEF-96B60EA4D501}"/>
              </a:ext>
            </a:extLst>
          </p:cNvPr>
          <p:cNvGraphicFramePr>
            <a:graphicFrameLocks noGrp="1"/>
          </p:cNvGraphicFramePr>
          <p:nvPr/>
        </p:nvGraphicFramePr>
        <p:xfrm>
          <a:off x="1907704" y="5085184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2081969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8925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6097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249483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2077249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726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Karol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4344"/>
                  </a:ext>
                </a:extLst>
              </a:tr>
            </a:tbl>
          </a:graphicData>
        </a:graphic>
      </p:graphicFrame>
      <p:sp>
        <p:nvSpPr>
          <p:cNvPr id="19" name="pole tekstowe 18">
            <a:extLst>
              <a:ext uri="{FF2B5EF4-FFF2-40B4-BE49-F238E27FC236}">
                <a16:creationId xmlns:a16="http://schemas.microsoft.com/office/drawing/2014/main" id="{491BBBB7-9C17-9FD3-C92A-2AA0F8FB54FE}"/>
              </a:ext>
            </a:extLst>
          </p:cNvPr>
          <p:cNvSpPr txBox="1"/>
          <p:nvPr/>
        </p:nvSpPr>
        <p:spPr>
          <a:xfrm>
            <a:off x="981824" y="4746630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Pamięć</a:t>
            </a:r>
            <a:endParaRPr lang="pl-PL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59478A9B-9775-91CB-66F0-1DEB2FB53F36}"/>
              </a:ext>
            </a:extLst>
          </p:cNvPr>
          <p:cNvSpPr txBox="1"/>
          <p:nvPr/>
        </p:nvSpPr>
        <p:spPr>
          <a:xfrm>
            <a:off x="2339752" y="5566078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0x09ead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5AE04DE1-0942-5BC2-B73A-76ECDCABF222}"/>
              </a:ext>
            </a:extLst>
          </p:cNvPr>
          <p:cNvSpPr txBox="1"/>
          <p:nvPr/>
        </p:nvSpPr>
        <p:spPr>
          <a:xfrm>
            <a:off x="6012160" y="6291545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0xaa16b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21D7531-841A-E00E-A90F-53CF02E00DA8}"/>
              </a:ext>
            </a:extLst>
          </p:cNvPr>
          <p:cNvSpPr txBox="1"/>
          <p:nvPr/>
        </p:nvSpPr>
        <p:spPr>
          <a:xfrm>
            <a:off x="6164625" y="2450439"/>
            <a:ext cx="288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porównanie referencyjne</a:t>
            </a:r>
            <a:r>
              <a:rPr lang="pl-PL" sz="1600" dirty="0"/>
              <a:t> 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50061CD-10ED-3B9B-9819-A8237F6F1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557" y="3810951"/>
            <a:ext cx="904875" cy="32385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51707CAD-F927-A0E4-D3F1-9D4108CEF2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321" y="2884197"/>
            <a:ext cx="2419350" cy="35242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6CE9BB7-280A-CDFA-910B-53388933B4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6458" y="3329238"/>
            <a:ext cx="25050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9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03220-11F7-8949-0063-9E588487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4854A5-1113-74F9-FC47-6D46B667A3B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Porównanie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7E1E232-C8C3-4DD9-8BDD-969AC5284ADF}"/>
              </a:ext>
            </a:extLst>
          </p:cNvPr>
          <p:cNvSpPr txBox="1"/>
          <p:nvPr/>
        </p:nvSpPr>
        <p:spPr>
          <a:xfrm>
            <a:off x="1115616" y="888396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Kotlinie porównywanie obiektów można przeprowadzać na dwa sposoby: </a:t>
            </a:r>
            <a:r>
              <a:rPr lang="pl-PL" sz="1600" b="1" dirty="0"/>
              <a:t>porównanie strukturalne</a:t>
            </a:r>
            <a:r>
              <a:rPr lang="pl-PL" sz="1600" dirty="0"/>
              <a:t> (operator </a:t>
            </a:r>
            <a:r>
              <a:rPr lang="pl-PL" sz="1600" b="1" dirty="0"/>
              <a:t>==</a:t>
            </a:r>
            <a:r>
              <a:rPr lang="pl-PL" sz="1600" dirty="0"/>
              <a:t>) i </a:t>
            </a:r>
            <a:r>
              <a:rPr lang="pl-PL" sz="1600" b="1" dirty="0"/>
              <a:t>porównanie referencyjne</a:t>
            </a:r>
            <a:r>
              <a:rPr lang="pl-PL" sz="1600" dirty="0"/>
              <a:t> (operator </a:t>
            </a:r>
            <a:r>
              <a:rPr lang="pl-PL" sz="1600" b="1" dirty="0"/>
              <a:t>===</a:t>
            </a:r>
            <a:r>
              <a:rPr lang="pl-PL" sz="1600" dirty="0"/>
              <a:t>).</a:t>
            </a:r>
          </a:p>
          <a:p>
            <a:pPr algn="just"/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</a:t>
            </a:r>
            <a:r>
              <a:rPr lang="pl-PL" sz="1600" dirty="0"/>
              <a:t> porównuje wartości zmiennych.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===</a:t>
            </a:r>
            <a:r>
              <a:rPr lang="pl-PL" sz="1600" dirty="0"/>
              <a:t> sprawdza, czy zmienne wskazują na tę samą lokalizację w pamięci.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1F8B1FC0-93C1-B468-385C-9CE9CD3E9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412403"/>
            <a:ext cx="4343400" cy="1333500"/>
          </a:xfrm>
          <a:prstGeom prst="rect">
            <a:avLst/>
          </a:prstGeom>
        </p:spPr>
      </p:pic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652EA655-6CFA-7902-D2A0-A2584F9B1E04}"/>
              </a:ext>
            </a:extLst>
          </p:cNvPr>
          <p:cNvGraphicFramePr>
            <a:graphicFrameLocks noGrp="1"/>
          </p:cNvGraphicFramePr>
          <p:nvPr/>
        </p:nvGraphicFramePr>
        <p:xfrm>
          <a:off x="1907704" y="5085184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2081969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8925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6097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249483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2077249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726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Karol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4344"/>
                  </a:ext>
                </a:extLst>
              </a:tr>
            </a:tbl>
          </a:graphicData>
        </a:graphic>
      </p:graphicFrame>
      <p:sp>
        <p:nvSpPr>
          <p:cNvPr id="19" name="pole tekstowe 18">
            <a:extLst>
              <a:ext uri="{FF2B5EF4-FFF2-40B4-BE49-F238E27FC236}">
                <a16:creationId xmlns:a16="http://schemas.microsoft.com/office/drawing/2014/main" id="{C9852A3B-5519-F42B-E47A-573962707CF8}"/>
              </a:ext>
            </a:extLst>
          </p:cNvPr>
          <p:cNvSpPr txBox="1"/>
          <p:nvPr/>
        </p:nvSpPr>
        <p:spPr>
          <a:xfrm>
            <a:off x="981824" y="4746630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Pamięć</a:t>
            </a:r>
            <a:endParaRPr lang="pl-PL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6879CC05-6E36-B5A4-2B30-AB7012610B87}"/>
              </a:ext>
            </a:extLst>
          </p:cNvPr>
          <p:cNvSpPr txBox="1"/>
          <p:nvPr/>
        </p:nvSpPr>
        <p:spPr>
          <a:xfrm>
            <a:off x="2339752" y="5566078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0x09ead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2F9FAD87-9120-41DC-80DB-E6B67ED337A1}"/>
              </a:ext>
            </a:extLst>
          </p:cNvPr>
          <p:cNvSpPr txBox="1"/>
          <p:nvPr/>
        </p:nvSpPr>
        <p:spPr>
          <a:xfrm>
            <a:off x="6012160" y="6291545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0xaa16b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C92A3DF-95EB-025E-3654-1E439F4B415F}"/>
              </a:ext>
            </a:extLst>
          </p:cNvPr>
          <p:cNvSpPr txBox="1"/>
          <p:nvPr/>
        </p:nvSpPr>
        <p:spPr>
          <a:xfrm>
            <a:off x="6164625" y="2450439"/>
            <a:ext cx="288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porównanie referencyjne</a:t>
            </a:r>
            <a:r>
              <a:rPr lang="pl-PL" sz="1600" dirty="0"/>
              <a:t> 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22F894DD-FD01-9C32-8415-F921286E2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557" y="3810951"/>
            <a:ext cx="904875" cy="32385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EF0D970C-EE12-5CB7-84E3-0308698FF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321" y="2884197"/>
            <a:ext cx="2419350" cy="35242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B04CD720-9A0C-16B0-5E2F-C5275F8C74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6458" y="3329238"/>
            <a:ext cx="25050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76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BF850-4E8B-9C77-96B7-019CE482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14B43B-4475-B11B-086E-EB06B956124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Porównanie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4DEF96D-67D0-550C-2460-7BF983CAED82}"/>
              </a:ext>
            </a:extLst>
          </p:cNvPr>
          <p:cNvSpPr txBox="1"/>
          <p:nvPr/>
        </p:nvSpPr>
        <p:spPr>
          <a:xfrm>
            <a:off x="1115616" y="888396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Kotlinie porównywanie obiektów można przeprowadzać na dwa sposoby: </a:t>
            </a:r>
            <a:r>
              <a:rPr lang="pl-PL" sz="1600" b="1" dirty="0"/>
              <a:t>porównanie strukturalne</a:t>
            </a:r>
            <a:r>
              <a:rPr lang="pl-PL" sz="1600" dirty="0"/>
              <a:t> (operator </a:t>
            </a:r>
            <a:r>
              <a:rPr lang="pl-PL" sz="1600" b="1" dirty="0"/>
              <a:t>==</a:t>
            </a:r>
            <a:r>
              <a:rPr lang="pl-PL" sz="1600" dirty="0"/>
              <a:t>) i </a:t>
            </a:r>
            <a:r>
              <a:rPr lang="pl-PL" sz="1600" b="1" dirty="0"/>
              <a:t>porównanie referencyjne</a:t>
            </a:r>
            <a:r>
              <a:rPr lang="pl-PL" sz="1600" dirty="0"/>
              <a:t> (operator </a:t>
            </a:r>
            <a:r>
              <a:rPr lang="pl-PL" sz="1600" b="1" dirty="0"/>
              <a:t>===</a:t>
            </a:r>
            <a:r>
              <a:rPr lang="pl-PL" sz="1600" dirty="0"/>
              <a:t>).</a:t>
            </a:r>
          </a:p>
          <a:p>
            <a:pPr algn="just"/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</a:t>
            </a:r>
            <a:r>
              <a:rPr lang="pl-PL" sz="1600" dirty="0"/>
              <a:t> porównuje wartości zmiennych.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===</a:t>
            </a:r>
            <a:r>
              <a:rPr lang="pl-PL" sz="1600" dirty="0"/>
              <a:t> sprawdza, czy zmienne wskazują na tę samą lokalizację w pamięci.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FFD9033E-6BE2-A153-5B4C-FD86429E2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593240"/>
              </p:ext>
            </p:extLst>
          </p:nvPr>
        </p:nvGraphicFramePr>
        <p:xfrm>
          <a:off x="1907704" y="5085184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2081969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8925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6097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249483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2077249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726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4344"/>
                  </a:ext>
                </a:extLst>
              </a:tr>
            </a:tbl>
          </a:graphicData>
        </a:graphic>
      </p:graphicFrame>
      <p:sp>
        <p:nvSpPr>
          <p:cNvPr id="19" name="pole tekstowe 18">
            <a:extLst>
              <a:ext uri="{FF2B5EF4-FFF2-40B4-BE49-F238E27FC236}">
                <a16:creationId xmlns:a16="http://schemas.microsoft.com/office/drawing/2014/main" id="{DFF0F56C-72D1-C84E-5692-09567FC74169}"/>
              </a:ext>
            </a:extLst>
          </p:cNvPr>
          <p:cNvSpPr txBox="1"/>
          <p:nvPr/>
        </p:nvSpPr>
        <p:spPr>
          <a:xfrm>
            <a:off x="981824" y="4746630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Pamięć</a:t>
            </a:r>
            <a:endParaRPr lang="pl-PL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A3F54DAD-5A56-9756-CE90-04A0A3FADB0C}"/>
              </a:ext>
            </a:extLst>
          </p:cNvPr>
          <p:cNvSpPr txBox="1"/>
          <p:nvPr/>
        </p:nvSpPr>
        <p:spPr>
          <a:xfrm>
            <a:off x="2339752" y="5566078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0x09ead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F747F007-1E3C-A38B-9F6C-6C246B34DF47}"/>
              </a:ext>
            </a:extLst>
          </p:cNvPr>
          <p:cNvSpPr txBox="1"/>
          <p:nvPr/>
        </p:nvSpPr>
        <p:spPr>
          <a:xfrm>
            <a:off x="6012160" y="6291545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0xaa16b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20784C8-0EC4-F445-C90C-170E0ED3222C}"/>
              </a:ext>
            </a:extLst>
          </p:cNvPr>
          <p:cNvSpPr txBox="1"/>
          <p:nvPr/>
        </p:nvSpPr>
        <p:spPr>
          <a:xfrm>
            <a:off x="6164625" y="2450439"/>
            <a:ext cx="288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porównanie strukturalne</a:t>
            </a:r>
            <a:r>
              <a:rPr lang="pl-PL" sz="1600" dirty="0"/>
              <a:t>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7AC5417-8AC1-1A8C-3C43-42082111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334272"/>
            <a:ext cx="4429125" cy="136207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E55CC4AD-99F9-7755-EFFA-D887222CA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47" y="2845928"/>
            <a:ext cx="2286000" cy="390525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A50A639E-AF68-77F8-281A-D395136A1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659" y="3324872"/>
            <a:ext cx="20764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38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AE2D5-23A9-9E6C-C609-B4C307EA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472C3C-1B24-6049-A758-6825667824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Porównanie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511592D-9E67-329D-F893-3CB4F05F9DE1}"/>
              </a:ext>
            </a:extLst>
          </p:cNvPr>
          <p:cNvSpPr txBox="1"/>
          <p:nvPr/>
        </p:nvSpPr>
        <p:spPr>
          <a:xfrm>
            <a:off x="1115616" y="888396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Kotlinie porównywanie obiektów można przeprowadzać na dwa sposoby: </a:t>
            </a:r>
            <a:r>
              <a:rPr lang="pl-PL" sz="1600" b="1" dirty="0"/>
              <a:t>porównanie strukturalne</a:t>
            </a:r>
            <a:r>
              <a:rPr lang="pl-PL" sz="1600" dirty="0"/>
              <a:t> (operator </a:t>
            </a:r>
            <a:r>
              <a:rPr lang="pl-PL" sz="1600" b="1" dirty="0"/>
              <a:t>==</a:t>
            </a:r>
            <a:r>
              <a:rPr lang="pl-PL" sz="1600" dirty="0"/>
              <a:t>) i </a:t>
            </a:r>
            <a:r>
              <a:rPr lang="pl-PL" sz="1600" b="1" dirty="0"/>
              <a:t>porównanie referencyjne</a:t>
            </a:r>
            <a:r>
              <a:rPr lang="pl-PL" sz="1600" dirty="0"/>
              <a:t> (operator </a:t>
            </a:r>
            <a:r>
              <a:rPr lang="pl-PL" sz="1600" b="1" dirty="0"/>
              <a:t>===</a:t>
            </a:r>
            <a:r>
              <a:rPr lang="pl-PL" sz="1600" dirty="0"/>
              <a:t>).</a:t>
            </a:r>
          </a:p>
          <a:p>
            <a:pPr algn="just"/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</a:t>
            </a:r>
            <a:r>
              <a:rPr lang="pl-PL" sz="1600" dirty="0"/>
              <a:t> porównuje wartości zmiennych.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===</a:t>
            </a:r>
            <a:r>
              <a:rPr lang="pl-PL" sz="1600" dirty="0"/>
              <a:t> sprawdza, czy zmienne wskazują na tę samą lokalizację w pamięci.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798C3825-603E-D260-54C7-B0F262610B4D}"/>
              </a:ext>
            </a:extLst>
          </p:cNvPr>
          <p:cNvGraphicFramePr>
            <a:graphicFrameLocks noGrp="1"/>
          </p:cNvGraphicFramePr>
          <p:nvPr/>
        </p:nvGraphicFramePr>
        <p:xfrm>
          <a:off x="1907704" y="5085184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2081969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8925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6097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249483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2077249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726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Anna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b="1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4344"/>
                  </a:ext>
                </a:extLst>
              </a:tr>
            </a:tbl>
          </a:graphicData>
        </a:graphic>
      </p:graphicFrame>
      <p:sp>
        <p:nvSpPr>
          <p:cNvPr id="19" name="pole tekstowe 18">
            <a:extLst>
              <a:ext uri="{FF2B5EF4-FFF2-40B4-BE49-F238E27FC236}">
                <a16:creationId xmlns:a16="http://schemas.microsoft.com/office/drawing/2014/main" id="{1635B0BE-7871-7D4F-5117-80DE65A54D44}"/>
              </a:ext>
            </a:extLst>
          </p:cNvPr>
          <p:cNvSpPr txBox="1"/>
          <p:nvPr/>
        </p:nvSpPr>
        <p:spPr>
          <a:xfrm>
            <a:off x="981824" y="4746630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Pamięć</a:t>
            </a:r>
            <a:endParaRPr lang="pl-PL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4F0BB582-9CF4-74BA-6FFA-674684203607}"/>
              </a:ext>
            </a:extLst>
          </p:cNvPr>
          <p:cNvSpPr txBox="1"/>
          <p:nvPr/>
        </p:nvSpPr>
        <p:spPr>
          <a:xfrm>
            <a:off x="2339752" y="5566078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0x09ead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8D1D955C-443C-35E6-C39F-07ADDE0EF7E7}"/>
              </a:ext>
            </a:extLst>
          </p:cNvPr>
          <p:cNvSpPr txBox="1"/>
          <p:nvPr/>
        </p:nvSpPr>
        <p:spPr>
          <a:xfrm>
            <a:off x="6012160" y="6291545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0xaa16b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FE1CBBD-CF8E-B38E-2414-AED97A99CE4D}"/>
              </a:ext>
            </a:extLst>
          </p:cNvPr>
          <p:cNvSpPr txBox="1"/>
          <p:nvPr/>
        </p:nvSpPr>
        <p:spPr>
          <a:xfrm>
            <a:off x="6164625" y="2450439"/>
            <a:ext cx="288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porównanie strukturalne</a:t>
            </a:r>
            <a:r>
              <a:rPr lang="pl-PL" sz="1600" dirty="0"/>
              <a:t> 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629FF531-676D-0F10-52C9-188FEB492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557" y="3810951"/>
            <a:ext cx="904875" cy="32385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CB490CD0-7EDD-8169-610C-2EAB12A12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2334272"/>
            <a:ext cx="4429125" cy="136207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4866C3D-1710-BF57-3ACF-6BB541C9F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47" y="2845928"/>
            <a:ext cx="2286000" cy="390525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A48FB766-7421-9BA4-719E-601BC66C63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659" y="3324872"/>
            <a:ext cx="20764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42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C502A-82E6-F0E9-1C0D-C1607A89E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D0AC92-8F59-1924-46C2-DD525E25A7F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Porównanie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EECEA1F-39C5-DCCC-CD8A-9E3AC5ECB91B}"/>
              </a:ext>
            </a:extLst>
          </p:cNvPr>
          <p:cNvSpPr txBox="1"/>
          <p:nvPr/>
        </p:nvSpPr>
        <p:spPr>
          <a:xfrm>
            <a:off x="1115616" y="888396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Kotlinie porównywanie obiektów można przeprowadzać na dwa sposoby: </a:t>
            </a:r>
            <a:r>
              <a:rPr lang="pl-PL" sz="1600" b="1" dirty="0"/>
              <a:t>porównanie strukturalne</a:t>
            </a:r>
            <a:r>
              <a:rPr lang="pl-PL" sz="1600" dirty="0"/>
              <a:t> (operator </a:t>
            </a:r>
            <a:r>
              <a:rPr lang="pl-PL" sz="1600" b="1" dirty="0"/>
              <a:t>==</a:t>
            </a:r>
            <a:r>
              <a:rPr lang="pl-PL" sz="1600" dirty="0"/>
              <a:t>) i </a:t>
            </a:r>
            <a:r>
              <a:rPr lang="pl-PL" sz="1600" b="1" dirty="0"/>
              <a:t>porównanie referencyjne</a:t>
            </a:r>
            <a:r>
              <a:rPr lang="pl-PL" sz="1600" dirty="0"/>
              <a:t> (operator </a:t>
            </a:r>
            <a:r>
              <a:rPr lang="pl-PL" sz="1600" b="1" dirty="0"/>
              <a:t>===</a:t>
            </a:r>
            <a:r>
              <a:rPr lang="pl-PL" sz="1600" dirty="0"/>
              <a:t>).</a:t>
            </a:r>
          </a:p>
          <a:p>
            <a:pPr algn="just"/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</a:t>
            </a:r>
            <a:r>
              <a:rPr lang="pl-PL" sz="1600" dirty="0"/>
              <a:t> porównuje wartości zmiennych.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Operator </a:t>
            </a:r>
            <a:r>
              <a:rPr lang="pl-PL" sz="1600" b="1" dirty="0"/>
              <a:t>===</a:t>
            </a:r>
            <a:r>
              <a:rPr lang="pl-PL" sz="1600" dirty="0"/>
              <a:t> sprawdza, czy zmienne wskazują na tę samą lokalizację w pamięci.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E8F211E9-6AC0-1E13-F191-77B143E37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437" y="2405910"/>
            <a:ext cx="4448175" cy="3457575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BCC42B27-36F5-869C-CC4D-77647F7E61FF}"/>
              </a:ext>
            </a:extLst>
          </p:cNvPr>
          <p:cNvSpPr txBox="1"/>
          <p:nvPr/>
        </p:nvSpPr>
        <p:spPr>
          <a:xfrm>
            <a:off x="5560612" y="2614450"/>
            <a:ext cx="34758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Przy </a:t>
            </a:r>
            <a:r>
              <a:rPr lang="pl-PL" sz="1600" b="1" dirty="0"/>
              <a:t>porównaniu strukturalnym niejawnie</a:t>
            </a:r>
            <a:r>
              <a:rPr lang="pl-PL" sz="1600" dirty="0"/>
              <a:t> wywoływana jest metoda </a:t>
            </a:r>
            <a:r>
              <a:rPr lang="pl-PL" sz="1600" b="1" dirty="0" err="1"/>
              <a:t>equals</a:t>
            </a:r>
            <a:r>
              <a:rPr lang="pl-PL" sz="1600" dirty="0"/>
              <a:t>. 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b="1" dirty="0"/>
              <a:t>Domyślna implementacja </a:t>
            </a:r>
            <a:r>
              <a:rPr lang="pl-PL" sz="1600" dirty="0"/>
              <a:t>klasy </a:t>
            </a:r>
            <a:r>
              <a:rPr lang="pl-PL" sz="1600" b="1" dirty="0" err="1"/>
              <a:t>Any</a:t>
            </a:r>
            <a:r>
              <a:rPr lang="pl-PL" sz="1600" dirty="0"/>
              <a:t> sprawdza, czy inny obiekt jest </a:t>
            </a:r>
            <a:r>
              <a:rPr lang="pl-PL" sz="1600" b="1" dirty="0"/>
              <a:t>dokładnie tą samą instancją</a:t>
            </a:r>
            <a:r>
              <a:rPr lang="pl-PL" sz="1600" dirty="0"/>
              <a:t> co obiekt sprawdzający. 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b="1" dirty="0"/>
              <a:t>Domyślnie każdy obiekt jest unikalny</a:t>
            </a:r>
            <a:r>
              <a:rPr lang="pl-PL" sz="1600" dirty="0"/>
              <a:t>, dlatego operator </a:t>
            </a:r>
            <a:r>
              <a:rPr lang="pl-PL" sz="1600" b="1" dirty="0"/>
              <a:t>==</a:t>
            </a:r>
            <a:r>
              <a:rPr lang="pl-PL" sz="1600" dirty="0"/>
              <a:t> w tym przypadku zwraca </a:t>
            </a:r>
            <a:r>
              <a:rPr lang="pl-PL" sz="1600" b="1" dirty="0" err="1"/>
              <a:t>false</a:t>
            </a:r>
            <a:r>
              <a:rPr lang="pl-PL" sz="1600" dirty="0"/>
              <a:t>.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97128991-6010-6E35-B9FD-A0BFDA3D87E5}"/>
              </a:ext>
            </a:extLst>
          </p:cNvPr>
          <p:cNvSpPr/>
          <p:nvPr/>
        </p:nvSpPr>
        <p:spPr>
          <a:xfrm>
            <a:off x="5508104" y="2405910"/>
            <a:ext cx="3635896" cy="356369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6242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A100B-BFCB-647F-FF0A-D06B50C7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E5E95B-1DAA-2B9B-A50D-2A3BB1725C7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danych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B121876-89C3-5975-90EE-038C5640CEC3}"/>
              </a:ext>
            </a:extLst>
          </p:cNvPr>
          <p:cNvSpPr txBox="1"/>
          <p:nvPr/>
        </p:nvSpPr>
        <p:spPr>
          <a:xfrm>
            <a:off x="1115616" y="888396"/>
            <a:ext cx="7920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Jeżeli chcemy reprezentować równość obiektów przez ich zawartość, alternatywą są </a:t>
            </a:r>
            <a:r>
              <a:rPr lang="pl-PL" sz="1600" b="1" dirty="0"/>
              <a:t>data </a:t>
            </a:r>
            <a:r>
              <a:rPr lang="pl-PL" sz="1600" b="1" dirty="0" err="1"/>
              <a:t>class</a:t>
            </a:r>
            <a:r>
              <a:rPr lang="pl-PL" sz="1600" dirty="0"/>
              <a:t>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Przy zastosowaniu klas danych porównywane są </a:t>
            </a:r>
            <a:r>
              <a:rPr lang="pl-PL" sz="1600" b="1" dirty="0"/>
              <a:t>pola zawarte w konstruktorze głównym</a:t>
            </a:r>
            <a:r>
              <a:rPr lang="pl-PL" sz="1600" dirty="0"/>
              <a:t>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BFC62E1C-EDB3-BCA6-C97F-BFA00FDD5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4446"/>
            <a:ext cx="4448175" cy="345757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B6C52193-298C-60FE-D1B0-FC060D5EE2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506" y="2331728"/>
            <a:ext cx="46482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79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C333F-6708-9D18-961C-A949021D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731A90-F5EB-97B8-F0AE-532988673FE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danych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2DCD5C3-168C-1EEB-CDF4-8B2B5EA36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872423"/>
            <a:ext cx="5209504" cy="598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07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E31A9-642E-582C-9CF0-EC1BD830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8B0DAD-144D-5A49-3C86-D54B405A611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5FB3E42-4B5A-54E4-4D1B-623C78084C9D}"/>
              </a:ext>
            </a:extLst>
          </p:cNvPr>
          <p:cNvSpPr txBox="1"/>
          <p:nvPr/>
        </p:nvSpPr>
        <p:spPr>
          <a:xfrm>
            <a:off x="1043608" y="836712"/>
            <a:ext cx="81003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Główne cechy klas danych to możliwość szybkiego definiowania klas do przechowywania informacji oraz implementacja metod takich jak:</a:t>
            </a:r>
          </a:p>
          <a:p>
            <a:pPr algn="just"/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toString</a:t>
            </a:r>
            <a:r>
              <a:rPr lang="pl-PL" sz="1600" b="1" dirty="0"/>
              <a:t>() </a:t>
            </a:r>
            <a:r>
              <a:rPr lang="pl-PL" sz="1600" dirty="0"/>
              <a:t>- Zwraca reprezentację tekstową obiektu z wartościami jego właściwości.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equals</a:t>
            </a:r>
            <a:r>
              <a:rPr lang="pl-PL" sz="1600" b="1" dirty="0"/>
              <a:t>() </a:t>
            </a:r>
            <a:r>
              <a:rPr lang="pl-PL" sz="1600" dirty="0"/>
              <a:t>- Sprawdza równość dwóch obiektów na podstawie wartości ich właściwości (porównanie strukturalne)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hashCode</a:t>
            </a:r>
            <a:r>
              <a:rPr lang="pl-PL" sz="1600" b="1" dirty="0"/>
              <a:t>() </a:t>
            </a:r>
            <a:r>
              <a:rPr lang="pl-PL" sz="1600" dirty="0"/>
              <a:t>- Generuje unikalny </a:t>
            </a:r>
            <a:r>
              <a:rPr lang="pl-PL" sz="1600" dirty="0" err="1"/>
              <a:t>hash</a:t>
            </a:r>
            <a:r>
              <a:rPr lang="pl-PL" sz="1600" dirty="0"/>
              <a:t> oparty na wartościach właściwości.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copy</a:t>
            </a:r>
            <a:r>
              <a:rPr lang="pl-PL" sz="1600" b="1" dirty="0"/>
              <a:t>() </a:t>
            </a:r>
            <a:r>
              <a:rPr lang="pl-PL" sz="1600" dirty="0"/>
              <a:t>- Tworzy kopię obiektu z możliwością modyfikacji wybranych właściwości.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componentN</a:t>
            </a:r>
            <a:r>
              <a:rPr lang="pl-PL" sz="1600" b="1" dirty="0"/>
              <a:t>() </a:t>
            </a:r>
            <a:r>
              <a:rPr lang="pl-PL" sz="1600" dirty="0"/>
              <a:t>- Umożliwiają </a:t>
            </a:r>
            <a:r>
              <a:rPr lang="pl-PL" sz="1600" dirty="0" err="1"/>
              <a:t>destrukturyzację</a:t>
            </a:r>
            <a:r>
              <a:rPr lang="pl-PL" sz="1600" dirty="0"/>
              <a:t> obiektów w klasach danych. Każda właściwość głównego konstruktora otrzymuje numerowaną metodę </a:t>
            </a:r>
            <a:r>
              <a:rPr lang="pl-PL" sz="1600" b="1" dirty="0" err="1"/>
              <a:t>componentN</a:t>
            </a:r>
            <a:r>
              <a:rPr lang="pl-PL" sz="1600" b="1" dirty="0"/>
              <a:t>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b="1" dirty="0"/>
          </a:p>
        </p:txBody>
      </p:sp>
    </p:spTree>
    <p:extLst>
      <p:ext uri="{BB962C8B-B14F-4D97-AF65-F5344CB8AC3E}">
        <p14:creationId xmlns:p14="http://schemas.microsoft.com/office/powerpoint/2010/main" val="2079473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4FDBA-0D9E-B87F-94F4-06EEDA3B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C7D844-1D09-F31E-2646-38AA2F5DEFE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43473D9-D95B-3C5A-0FA7-32BF25A77F60}"/>
              </a:ext>
            </a:extLst>
          </p:cNvPr>
          <p:cNvSpPr txBox="1"/>
          <p:nvPr/>
        </p:nvSpPr>
        <p:spPr>
          <a:xfrm>
            <a:off x="1043608" y="836712"/>
            <a:ext cx="810039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Główne cechy klas danych to możliwość szybkiego definiowania klas do przechowywania informacji oraz implementacja metod takich jak:</a:t>
            </a:r>
          </a:p>
          <a:p>
            <a:pPr algn="just"/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toString</a:t>
            </a:r>
            <a:r>
              <a:rPr lang="pl-PL" sz="1600" b="1" dirty="0"/>
              <a:t>() </a:t>
            </a:r>
            <a:r>
              <a:rPr lang="pl-PL" sz="1600" dirty="0"/>
              <a:t>- Zwraca reprezentację tekstową obiektu z wartościami jego właściwości.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equals</a:t>
            </a:r>
            <a:r>
              <a:rPr lang="pl-PL" sz="1600" b="1" dirty="0"/>
              <a:t>() </a:t>
            </a:r>
            <a:r>
              <a:rPr lang="pl-PL" sz="1600" dirty="0"/>
              <a:t>- Sprawdza równość dwóch obiektów na podstawie wartości ich właściwości (porównanie strukturalne)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hashCode</a:t>
            </a:r>
            <a:r>
              <a:rPr lang="pl-PL" sz="1600" b="1" dirty="0"/>
              <a:t>() </a:t>
            </a:r>
            <a:r>
              <a:rPr lang="pl-PL" sz="1600" dirty="0"/>
              <a:t>- Generuje unikalny </a:t>
            </a:r>
            <a:r>
              <a:rPr lang="pl-PL" sz="1600" dirty="0" err="1"/>
              <a:t>hash</a:t>
            </a:r>
            <a:r>
              <a:rPr lang="pl-PL" sz="1600" dirty="0"/>
              <a:t> oparty na wartościach właściwości.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copy</a:t>
            </a:r>
            <a:r>
              <a:rPr lang="pl-PL" sz="1600" b="1" dirty="0"/>
              <a:t>() </a:t>
            </a:r>
            <a:r>
              <a:rPr lang="pl-PL" sz="1600" dirty="0"/>
              <a:t>- Tworzy kopię obiektu z możliwością modyfikacji wybranych właściwości.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componentN</a:t>
            </a:r>
            <a:r>
              <a:rPr lang="pl-PL" sz="1600" b="1" dirty="0"/>
              <a:t>() </a:t>
            </a:r>
            <a:r>
              <a:rPr lang="pl-PL" sz="1600" dirty="0"/>
              <a:t>- Umożliwiają </a:t>
            </a:r>
            <a:r>
              <a:rPr lang="pl-PL" sz="1600" dirty="0" err="1"/>
              <a:t>destrukturyzację</a:t>
            </a:r>
            <a:r>
              <a:rPr lang="pl-PL" sz="1600" dirty="0"/>
              <a:t> obiektów w klasach danych. Każda właściwość głównego konstruktora otrzymuje numerowaną metodę </a:t>
            </a:r>
            <a:r>
              <a:rPr lang="pl-PL" sz="1600" b="1" dirty="0" err="1"/>
              <a:t>componentN</a:t>
            </a:r>
            <a:r>
              <a:rPr lang="pl-PL" sz="1600" b="1" dirty="0"/>
              <a:t>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b="1" dirty="0"/>
          </a:p>
          <a:p>
            <a:pPr algn="just"/>
            <a:r>
              <a:rPr lang="pl-PL" sz="1600" dirty="0"/>
              <a:t>Aby klasa mogła być oznaczona jako </a:t>
            </a:r>
            <a:r>
              <a:rPr lang="pl-PL" sz="1600" b="1" dirty="0"/>
              <a:t>data </a:t>
            </a:r>
            <a:r>
              <a:rPr lang="pl-PL" sz="1600" b="1" dirty="0" err="1"/>
              <a:t>class</a:t>
            </a:r>
            <a:r>
              <a:rPr lang="pl-PL" sz="1600" dirty="0"/>
              <a:t>, musi spełniać kilka zasad:</a:t>
            </a:r>
          </a:p>
          <a:p>
            <a:pPr algn="just"/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Konstruktor główny musi zawierać co najmniej jedną właściwość (oznaczoną jako </a:t>
            </a:r>
            <a:r>
              <a:rPr lang="pl-PL" sz="1600" b="1" dirty="0" err="1"/>
              <a:t>val</a:t>
            </a:r>
            <a:r>
              <a:rPr lang="pl-PL" sz="1600" dirty="0"/>
              <a:t> lub </a:t>
            </a:r>
            <a:r>
              <a:rPr lang="pl-PL" sz="1600" b="1" dirty="0" err="1"/>
              <a:t>var</a:t>
            </a:r>
            <a:r>
              <a:rPr lang="pl-PL" sz="1600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Klasa nie może być oznaczona jako </a:t>
            </a:r>
            <a:r>
              <a:rPr lang="pl-PL" sz="1600" b="1" dirty="0" err="1"/>
              <a:t>abstract</a:t>
            </a:r>
            <a:r>
              <a:rPr lang="pl-PL" sz="1600" dirty="0"/>
              <a:t>, </a:t>
            </a:r>
            <a:r>
              <a:rPr lang="pl-PL" sz="1600" b="1" dirty="0" err="1"/>
              <a:t>sealed</a:t>
            </a:r>
            <a:r>
              <a:rPr lang="pl-PL" sz="1600" dirty="0"/>
              <a:t> lub </a:t>
            </a:r>
            <a:r>
              <a:rPr lang="pl-PL" sz="1600" b="1" dirty="0" err="1"/>
              <a:t>inner</a:t>
            </a:r>
            <a:r>
              <a:rPr lang="pl-PL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Można dodać inne metody i właściwości do klasy, ale właściwości niebędące w konstruktorze głównym nie są uwzględniane w generowanych metodach.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b="1" dirty="0"/>
          </a:p>
        </p:txBody>
      </p:sp>
    </p:spTree>
    <p:extLst>
      <p:ext uri="{BB962C8B-B14F-4D97-AF65-F5344CB8AC3E}">
        <p14:creationId xmlns:p14="http://schemas.microsoft.com/office/powerpoint/2010/main" val="398543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6C218-A1A5-EBFF-7638-C11A8C79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3692A0-2B7C-A5CA-5D1A-BE674950964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Porównywanie obiektów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9953567-68D2-5F37-DFC7-81567BC66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2288711"/>
            <a:ext cx="3124200" cy="3390900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FAAB307B-6CB9-3996-2E07-4B23D6D08158}"/>
              </a:ext>
            </a:extLst>
          </p:cNvPr>
          <p:cNvSpPr txBox="1"/>
          <p:nvPr/>
        </p:nvSpPr>
        <p:spPr>
          <a:xfrm rot="10800000" flipV="1">
            <a:off x="1115616" y="764704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Ponieważ obie zmienne </a:t>
            </a:r>
            <a:r>
              <a:rPr lang="pl-PL" sz="1600" b="1" dirty="0"/>
              <a:t>a</a:t>
            </a:r>
            <a:r>
              <a:rPr lang="pl-PL" sz="1600" dirty="0"/>
              <a:t> i </a:t>
            </a:r>
            <a:r>
              <a:rPr lang="pl-PL" sz="1600" b="1" dirty="0"/>
              <a:t>b</a:t>
            </a:r>
            <a:r>
              <a:rPr lang="pl-PL" sz="1600" dirty="0"/>
              <a:t> przechowują tę samą wartość </a:t>
            </a:r>
            <a:r>
              <a:rPr lang="pl-PL" sz="1600" b="1" dirty="0"/>
              <a:t>1</a:t>
            </a:r>
            <a:r>
              <a:rPr lang="pl-PL" sz="1600" dirty="0"/>
              <a:t>, wynik porównania </a:t>
            </a:r>
            <a:r>
              <a:rPr lang="pl-PL" sz="1600" b="1" dirty="0"/>
              <a:t>==</a:t>
            </a:r>
            <a:r>
              <a:rPr lang="pl-PL" sz="1600" dirty="0"/>
              <a:t> to </a:t>
            </a:r>
            <a:r>
              <a:rPr lang="pl-PL" sz="1600" b="1" dirty="0" err="1"/>
              <a:t>true</a:t>
            </a:r>
            <a:r>
              <a:rPr lang="pl-PL" sz="1600" dirty="0"/>
              <a:t>. W przypadku </a:t>
            </a:r>
            <a:r>
              <a:rPr lang="pl-PL" sz="1600" b="1" dirty="0"/>
              <a:t>typów prymitywnych</a:t>
            </a:r>
            <a:r>
              <a:rPr lang="pl-PL" sz="1600" dirty="0"/>
              <a:t>, takich jak </a:t>
            </a:r>
            <a:r>
              <a:rPr lang="pl-PL" sz="1600" b="1" dirty="0" err="1"/>
              <a:t>Int</a:t>
            </a:r>
            <a:r>
              <a:rPr lang="pl-PL" sz="1600" dirty="0"/>
              <a:t>, Kotlin </a:t>
            </a:r>
            <a:r>
              <a:rPr lang="pl-PL" sz="1600" b="1" dirty="0"/>
              <a:t>automatycznie</a:t>
            </a:r>
            <a:r>
              <a:rPr lang="pl-PL" sz="1600" dirty="0"/>
              <a:t> </a:t>
            </a:r>
            <a:r>
              <a:rPr lang="pl-PL" sz="1600" b="1" dirty="0"/>
              <a:t>internuje</a:t>
            </a:r>
            <a:r>
              <a:rPr lang="pl-PL" sz="1600" dirty="0"/>
              <a:t> (ang. </a:t>
            </a:r>
            <a:r>
              <a:rPr lang="pl-PL" sz="1600" b="1" i="1" dirty="0"/>
              <a:t>Cache</a:t>
            </a:r>
            <a:r>
              <a:rPr lang="pl-PL" sz="1600" dirty="0"/>
              <a:t>) wartości często występujące, w celu poprawy wydajności i oszczędzenia pamięci.</a:t>
            </a:r>
          </a:p>
        </p:txBody>
      </p:sp>
    </p:spTree>
    <p:extLst>
      <p:ext uri="{BB962C8B-B14F-4D97-AF65-F5344CB8AC3E}">
        <p14:creationId xmlns:p14="http://schemas.microsoft.com/office/powerpoint/2010/main" val="95373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1CE66-B63E-8D2D-0BD1-F3DBD109C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73B6B1-DBB6-2952-C51E-B4BF77667E1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Porównywanie obiektów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4022F1D-225F-F4FF-A1AC-6E1A3F8BB682}"/>
              </a:ext>
            </a:extLst>
          </p:cNvPr>
          <p:cNvSpPr txBox="1"/>
          <p:nvPr/>
        </p:nvSpPr>
        <p:spPr>
          <a:xfrm rot="10800000" flipV="1">
            <a:off x="1113075" y="800981"/>
            <a:ext cx="792088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Jeżeli wykorzystamy zmienne </a:t>
            </a:r>
            <a:r>
              <a:rPr lang="pl-PL" sz="1600" b="1" dirty="0" err="1"/>
              <a:t>nullable</a:t>
            </a:r>
            <a:r>
              <a:rPr lang="pl-PL" sz="1600" dirty="0"/>
              <a:t>, dla małych wartości </a:t>
            </a:r>
            <a:r>
              <a:rPr lang="pl-PL" sz="1600" b="1" dirty="0"/>
              <a:t>===</a:t>
            </a:r>
            <a:r>
              <a:rPr lang="pl-PL" sz="1600" dirty="0"/>
              <a:t> dalej zwróci </a:t>
            </a:r>
            <a:r>
              <a:rPr lang="pl-PL" sz="1600" b="1" dirty="0" err="1"/>
              <a:t>true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74A92E8-9C16-A211-4626-286411962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96740"/>
            <a:ext cx="5229225" cy="3219450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EE8ACE1A-E9E5-15D5-EEFE-72AE1237FD15}"/>
              </a:ext>
            </a:extLst>
          </p:cNvPr>
          <p:cNvSpPr/>
          <p:nvPr/>
        </p:nvSpPr>
        <p:spPr>
          <a:xfrm>
            <a:off x="0" y="1396740"/>
            <a:ext cx="5364088" cy="3219450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E32CC00E-C1F6-DD18-6D73-827B0F251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9055" y="3555193"/>
            <a:ext cx="4914900" cy="3267075"/>
          </a:xfrm>
          <a:prstGeom prst="rect">
            <a:avLst/>
          </a:prstGeom>
        </p:spPr>
      </p:pic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4D3AF0B1-7EB0-24A9-F701-3D97B073D7A1}"/>
              </a:ext>
            </a:extLst>
          </p:cNvPr>
          <p:cNvSpPr/>
          <p:nvPr/>
        </p:nvSpPr>
        <p:spPr>
          <a:xfrm>
            <a:off x="4119055" y="3579005"/>
            <a:ext cx="5024945" cy="3219450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34849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DF887-62CE-5611-033F-D8E3AF3D1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DCBBA-7CF2-69B6-9AAD-1428742B750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Porównywanie obiektów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18983B3-76C5-0294-E28D-E9F4C890A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1340768"/>
            <a:ext cx="81248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22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CFA2A-11B3-C889-829B-015EE44B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D2DE47-9B10-47D0-390A-DB39A19E6B6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Dziedziczenie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7721076-0D2A-9DDD-F24C-E67B35AB2E95}"/>
              </a:ext>
            </a:extLst>
          </p:cNvPr>
          <p:cNvSpPr txBox="1"/>
          <p:nvPr/>
        </p:nvSpPr>
        <p:spPr>
          <a:xfrm rot="10800000" flipV="1">
            <a:off x="1115616" y="764704"/>
            <a:ext cx="7920880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Kotlin wspiera dziedziczenie, ale wymaga, aby </a:t>
            </a:r>
            <a:r>
              <a:rPr lang="pl-PL" sz="1600" b="1" dirty="0"/>
              <a:t>klasa bazowa była jawnie otwarta </a:t>
            </a:r>
            <a:r>
              <a:rPr lang="pl-PL" sz="1600" dirty="0"/>
              <a:t>na dziedziczenie przez zastosowanie modyfikatora </a:t>
            </a:r>
            <a:r>
              <a:rPr lang="pl-PL" sz="1600" b="1" dirty="0"/>
              <a:t>open</a:t>
            </a:r>
            <a:r>
              <a:rPr lang="pl-PL" sz="1600" dirty="0"/>
              <a:t>. </a:t>
            </a:r>
            <a:r>
              <a:rPr lang="pl-PL" sz="1600" b="1" dirty="0"/>
              <a:t>Domyślnie</a:t>
            </a:r>
            <a:r>
              <a:rPr lang="pl-PL" sz="1600" dirty="0"/>
              <a:t> klasy, metody i właściwości w Kotlinie są </a:t>
            </a:r>
            <a:r>
              <a:rPr lang="pl-PL" sz="1600" b="1" dirty="0" err="1"/>
              <a:t>final</a:t>
            </a:r>
            <a:r>
              <a:rPr lang="pl-PL" sz="1600" dirty="0"/>
              <a:t>, co oznacza, że nie mogą być dziedziczone ani nadpisywane.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6CFA1970-A663-4697-B41E-5C75BCBE4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268" y="1916831"/>
            <a:ext cx="5291731" cy="4917239"/>
          </a:xfrm>
          <a:prstGeom prst="rect">
            <a:avLst/>
          </a:prstGeom>
        </p:spPr>
      </p:pic>
      <p:grpSp>
        <p:nvGrpSpPr>
          <p:cNvPr id="21" name="Grupa 20">
            <a:extLst>
              <a:ext uri="{FF2B5EF4-FFF2-40B4-BE49-F238E27FC236}">
                <a16:creationId xmlns:a16="http://schemas.microsoft.com/office/drawing/2014/main" id="{3BC06FD8-0FC9-0992-C704-AE118DBEF915}"/>
              </a:ext>
            </a:extLst>
          </p:cNvPr>
          <p:cNvGrpSpPr/>
          <p:nvPr/>
        </p:nvGrpSpPr>
        <p:grpSpPr>
          <a:xfrm>
            <a:off x="2582515" y="2288711"/>
            <a:ext cx="2133502" cy="3156513"/>
            <a:chOff x="2195736" y="2288711"/>
            <a:chExt cx="2592290" cy="3156513"/>
          </a:xfrm>
        </p:grpSpPr>
        <p:cxnSp>
          <p:nvCxnSpPr>
            <p:cNvPr id="12" name="Łącznik prosty ze strzałką 11">
              <a:extLst>
                <a:ext uri="{FF2B5EF4-FFF2-40B4-BE49-F238E27FC236}">
                  <a16:creationId xmlns:a16="http://schemas.microsoft.com/office/drawing/2014/main" id="{8A75A935-DE4D-0ED8-0F42-09DDE1A5C4B2}"/>
                </a:ext>
              </a:extLst>
            </p:cNvPr>
            <p:cNvCxnSpPr/>
            <p:nvPr/>
          </p:nvCxnSpPr>
          <p:spPr>
            <a:xfrm flipV="1">
              <a:off x="2195736" y="2288711"/>
              <a:ext cx="2160240" cy="1212297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ze strzałką 12">
              <a:extLst>
                <a:ext uri="{FF2B5EF4-FFF2-40B4-BE49-F238E27FC236}">
                  <a16:creationId xmlns:a16="http://schemas.microsoft.com/office/drawing/2014/main" id="{573994D9-37B5-31A3-30D2-A5385C3FF7EC}"/>
                </a:ext>
              </a:extLst>
            </p:cNvPr>
            <p:cNvCxnSpPr>
              <a:cxnSpLocks/>
            </p:cNvCxnSpPr>
            <p:nvPr/>
          </p:nvCxnSpPr>
          <p:spPr>
            <a:xfrm>
              <a:off x="2267744" y="3501008"/>
              <a:ext cx="2520282" cy="792088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Łącznik prosty ze strzałką 15">
              <a:extLst>
                <a:ext uri="{FF2B5EF4-FFF2-40B4-BE49-F238E27FC236}">
                  <a16:creationId xmlns:a16="http://schemas.microsoft.com/office/drawing/2014/main" id="{C896BB0F-8D01-2E89-03B2-824DED6DD038}"/>
                </a:ext>
              </a:extLst>
            </p:cNvPr>
            <p:cNvCxnSpPr>
              <a:cxnSpLocks/>
            </p:cNvCxnSpPr>
            <p:nvPr/>
          </p:nvCxnSpPr>
          <p:spPr>
            <a:xfrm>
              <a:off x="2195736" y="3501008"/>
              <a:ext cx="2592290" cy="1944216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5EB5240F-2B0F-B8BD-6B25-6FDF4D73AC01}"/>
              </a:ext>
            </a:extLst>
          </p:cNvPr>
          <p:cNvSpPr txBox="1"/>
          <p:nvPr/>
        </p:nvSpPr>
        <p:spPr>
          <a:xfrm>
            <a:off x="1038587" y="3225934"/>
            <a:ext cx="1620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4">
                    <a:lumMod val="50000"/>
                  </a:schemeClr>
                </a:solidFill>
              </a:rPr>
              <a:t>dostępne do </a:t>
            </a:r>
          </a:p>
          <a:p>
            <a:pPr algn="ctr"/>
            <a:r>
              <a:rPr lang="pl-PL" sz="1800" b="1" dirty="0">
                <a:solidFill>
                  <a:schemeClr val="accent4">
                    <a:lumMod val="50000"/>
                  </a:schemeClr>
                </a:solidFill>
              </a:rPr>
              <a:t>nadpisania</a:t>
            </a: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C9CB5B32-8E67-BEBD-89CF-E88FAFCAF5C1}"/>
              </a:ext>
            </a:extLst>
          </p:cNvPr>
          <p:cNvSpPr/>
          <p:nvPr/>
        </p:nvSpPr>
        <p:spPr>
          <a:xfrm>
            <a:off x="1115616" y="3140968"/>
            <a:ext cx="1466899" cy="79208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37318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F88AC-3834-270F-A562-97BC067B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8D430-E5F3-6191-69BA-792E4701E6E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Dziedziczenie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929DD88-0A80-0D8A-BBAC-AE84B0CFF91F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Konstruktor klasy pochodnej </a:t>
            </a:r>
            <a:r>
              <a:rPr lang="pl-PL" sz="1600" b="1" dirty="0"/>
              <a:t>musi jawnie wywoływać konstruktor</a:t>
            </a:r>
            <a:r>
              <a:rPr lang="pl-PL" sz="1600" dirty="0"/>
              <a:t> klasy bazowej.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C160781-4BA6-74A6-4D58-698A92F5F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1274887"/>
            <a:ext cx="4556974" cy="5417219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DCB9283-80C7-DA7D-9FC3-D7FDB4756203}"/>
              </a:ext>
            </a:extLst>
          </p:cNvPr>
          <p:cNvSpPr txBox="1"/>
          <p:nvPr/>
        </p:nvSpPr>
        <p:spPr>
          <a:xfrm>
            <a:off x="1514914" y="1247602"/>
            <a:ext cx="27510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jawne wywołanie </a:t>
            </a:r>
          </a:p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kontruktora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klasy bazowej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7D56C7A3-D32D-6C8B-5E66-DBD7CCF59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590" y="1836235"/>
            <a:ext cx="2039721" cy="1254737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F5BDB41C-012D-670C-3267-7882F610A3E9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283968" y="2243932"/>
            <a:ext cx="937644" cy="118506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36EEA7A7-1194-50B4-C7C3-C6DBCFB3AE37}"/>
              </a:ext>
            </a:extLst>
          </p:cNvPr>
          <p:cNvSpPr/>
          <p:nvPr/>
        </p:nvSpPr>
        <p:spPr>
          <a:xfrm>
            <a:off x="1514914" y="1274887"/>
            <a:ext cx="2769054" cy="1938089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3773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63F45-20F1-4B2F-9477-BD587ED2E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D8D765-15DD-2550-C968-6A3B8B464D6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Dziedziczenie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7E47463-3332-28E4-59ED-CB3094A7C6EB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Konstruktor klasy pochodnej </a:t>
            </a:r>
            <a:r>
              <a:rPr lang="pl-PL" sz="1600" b="1" dirty="0"/>
              <a:t>musi jawnie wywoływać konstruktor</a:t>
            </a:r>
            <a:r>
              <a:rPr lang="pl-PL" sz="1600" dirty="0"/>
              <a:t> klasy bazowej.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01E4274-423F-96AE-4B30-CF73F58FB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1274887"/>
            <a:ext cx="4556974" cy="5417219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609704C-24E6-AFC6-03D4-57451F28C282}"/>
              </a:ext>
            </a:extLst>
          </p:cNvPr>
          <p:cNvSpPr txBox="1"/>
          <p:nvPr/>
        </p:nvSpPr>
        <p:spPr>
          <a:xfrm>
            <a:off x="1514914" y="1247602"/>
            <a:ext cx="27510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jawne wywołanie </a:t>
            </a:r>
          </a:p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kontruktora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klasy bazowej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D46B2786-7702-D26C-B50F-4A0BD78C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590" y="1836235"/>
            <a:ext cx="2039721" cy="1254737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B8E54FBB-1F5B-CF14-9CAC-223B962163F4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283968" y="2243932"/>
            <a:ext cx="937644" cy="118506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50098D3B-E27A-A5F3-9935-EBD1A8DAB46B}"/>
              </a:ext>
            </a:extLst>
          </p:cNvPr>
          <p:cNvSpPr/>
          <p:nvPr/>
        </p:nvSpPr>
        <p:spPr>
          <a:xfrm>
            <a:off x="1514914" y="1274887"/>
            <a:ext cx="2769054" cy="1938089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A3152284-ECD0-DDE0-B29D-9D264BE1D9E5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4265988" y="3967050"/>
            <a:ext cx="828593" cy="4629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B963C4F4-56BC-5344-31BB-F9B5D9C3AE6A}"/>
              </a:ext>
            </a:extLst>
          </p:cNvPr>
          <p:cNvSpPr txBox="1"/>
          <p:nvPr/>
        </p:nvSpPr>
        <p:spPr>
          <a:xfrm>
            <a:off x="1536400" y="3274591"/>
            <a:ext cx="2636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element nadpisujący jest domyślnie otwarty</a:t>
            </a:r>
          </a:p>
        </p:txBody>
      </p:sp>
      <p:pic>
        <p:nvPicPr>
          <p:cNvPr id="31" name="Obraz 30">
            <a:extLst>
              <a:ext uri="{FF2B5EF4-FFF2-40B4-BE49-F238E27FC236}">
                <a16:creationId xmlns:a16="http://schemas.microsoft.com/office/drawing/2014/main" id="{60ED2759-1175-A6A3-75D9-162DC479EA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251" y="3859366"/>
            <a:ext cx="2938711" cy="799375"/>
          </a:xfrm>
          <a:prstGeom prst="rect">
            <a:avLst/>
          </a:prstGeom>
        </p:spPr>
      </p:pic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3A455F90-8017-F6C1-B44D-2C6864DADD43}"/>
              </a:ext>
            </a:extLst>
          </p:cNvPr>
          <p:cNvSpPr/>
          <p:nvPr/>
        </p:nvSpPr>
        <p:spPr>
          <a:xfrm>
            <a:off x="1354251" y="3274591"/>
            <a:ext cx="2911737" cy="138491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6375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C45AF-8280-30B4-EE07-ABBAC8A4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C0B6EA-68BD-2DF1-DE30-C92E25A55C0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Dziedziczenie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AD3C0B9-495B-107B-8C06-60FC754193CF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Konstruktor klasy pochodnej </a:t>
            </a:r>
            <a:r>
              <a:rPr lang="pl-PL" sz="1600" b="1" dirty="0"/>
              <a:t>musi jawnie wywoływać konstruktor</a:t>
            </a:r>
            <a:r>
              <a:rPr lang="pl-PL" sz="1600" dirty="0"/>
              <a:t> klasy bazowej.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0E45CCE-D135-0D64-E65C-E893EBDFC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1274887"/>
            <a:ext cx="4556974" cy="5417219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21FB219-F340-A625-BC94-8B622694FB94}"/>
              </a:ext>
            </a:extLst>
          </p:cNvPr>
          <p:cNvSpPr txBox="1"/>
          <p:nvPr/>
        </p:nvSpPr>
        <p:spPr>
          <a:xfrm>
            <a:off x="1514914" y="1247602"/>
            <a:ext cx="27510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jawne wywołanie </a:t>
            </a:r>
          </a:p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kontruktora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klasy bazowej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E793D73B-A67E-EB9C-468A-CEE7B52C3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590" y="1836235"/>
            <a:ext cx="2039721" cy="1254737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61492FBA-F1AF-854F-9F31-103F0E8BAA6F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283968" y="2243932"/>
            <a:ext cx="937644" cy="118506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D9977D72-7829-A7F7-9135-4F3CEF92ABEE}"/>
              </a:ext>
            </a:extLst>
          </p:cNvPr>
          <p:cNvSpPr/>
          <p:nvPr/>
        </p:nvSpPr>
        <p:spPr>
          <a:xfrm>
            <a:off x="1514914" y="1274887"/>
            <a:ext cx="2769054" cy="1938089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66A20CBF-236C-CF68-7835-68C3CE1A4F80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4265988" y="3967050"/>
            <a:ext cx="828593" cy="4629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F658BA73-317C-A17C-C480-A10EFAC83174}"/>
              </a:ext>
            </a:extLst>
          </p:cNvPr>
          <p:cNvSpPr txBox="1"/>
          <p:nvPr/>
        </p:nvSpPr>
        <p:spPr>
          <a:xfrm>
            <a:off x="1536400" y="3274591"/>
            <a:ext cx="2636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element nadpisujący jest domyślnie otwarty</a:t>
            </a:r>
          </a:p>
        </p:txBody>
      </p:sp>
      <p:pic>
        <p:nvPicPr>
          <p:cNvPr id="31" name="Obraz 30">
            <a:extLst>
              <a:ext uri="{FF2B5EF4-FFF2-40B4-BE49-F238E27FC236}">
                <a16:creationId xmlns:a16="http://schemas.microsoft.com/office/drawing/2014/main" id="{757A66A9-954C-4CFB-84D8-692F4C7B6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251" y="3859366"/>
            <a:ext cx="2938711" cy="799375"/>
          </a:xfrm>
          <a:prstGeom prst="rect">
            <a:avLst/>
          </a:prstGeom>
        </p:spPr>
      </p:pic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56DE537A-5E2C-210C-DDB7-7DB5A2A72604}"/>
              </a:ext>
            </a:extLst>
          </p:cNvPr>
          <p:cNvSpPr/>
          <p:nvPr/>
        </p:nvSpPr>
        <p:spPr>
          <a:xfrm>
            <a:off x="1354251" y="3274591"/>
            <a:ext cx="2911737" cy="138491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45E27994-53B6-F5C9-CD4C-6DCD25D43A1E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4250026" y="4577331"/>
            <a:ext cx="1186070" cy="44876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F5A8DEFC-C34C-9DD5-32F3-7B812D709AA0}"/>
              </a:ext>
            </a:extLst>
          </p:cNvPr>
          <p:cNvSpPr txBox="1"/>
          <p:nvPr/>
        </p:nvSpPr>
        <p:spPr>
          <a:xfrm>
            <a:off x="1510451" y="4737091"/>
            <a:ext cx="2636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wywołanie metody klasy bazowej</a:t>
            </a:r>
          </a:p>
        </p:txBody>
      </p:sp>
      <p:sp>
        <p:nvSpPr>
          <p:cNvPr id="38" name="Prostokąt: zaokrąglone rogi 37">
            <a:extLst>
              <a:ext uri="{FF2B5EF4-FFF2-40B4-BE49-F238E27FC236}">
                <a16:creationId xmlns:a16="http://schemas.microsoft.com/office/drawing/2014/main" id="{1A0E50A4-C882-BEE5-1F54-A71C0EDFC71A}"/>
              </a:ext>
            </a:extLst>
          </p:cNvPr>
          <p:cNvSpPr/>
          <p:nvPr/>
        </p:nvSpPr>
        <p:spPr>
          <a:xfrm>
            <a:off x="1338289" y="4768437"/>
            <a:ext cx="2911737" cy="51531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00412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9A222-26BD-4A21-7CA4-B5097713A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A570E0-AA07-B66D-094E-0F022AF9F37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Dziedziczenie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23BE64A-7434-4F22-3C8A-211E448BAE7A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Konstruktor klasy pochodnej </a:t>
            </a:r>
            <a:r>
              <a:rPr lang="pl-PL" sz="1600" b="1" dirty="0"/>
              <a:t>musi jawnie wywoływać konstruktor</a:t>
            </a:r>
            <a:r>
              <a:rPr lang="pl-PL" sz="1600" dirty="0"/>
              <a:t> klasy bazowej.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226DFC4-5C5C-8D31-F688-96E3BC183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1274887"/>
            <a:ext cx="4556974" cy="5417219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49B157C-FEA3-CFB3-86FB-A1FD8276874C}"/>
              </a:ext>
            </a:extLst>
          </p:cNvPr>
          <p:cNvSpPr txBox="1"/>
          <p:nvPr/>
        </p:nvSpPr>
        <p:spPr>
          <a:xfrm>
            <a:off x="1514914" y="1247602"/>
            <a:ext cx="27510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jawne wywołanie </a:t>
            </a:r>
          </a:p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kontruktora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klasy bazowej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01A6BCA9-A9CF-F117-310A-3711F123C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590" y="1836235"/>
            <a:ext cx="2039721" cy="1254737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BB45FB83-EBBA-9BD8-D821-5079B25EA4B9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283968" y="2243932"/>
            <a:ext cx="937644" cy="118506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9E69127F-673A-D016-618B-7F72B8064DCF}"/>
              </a:ext>
            </a:extLst>
          </p:cNvPr>
          <p:cNvSpPr/>
          <p:nvPr/>
        </p:nvSpPr>
        <p:spPr>
          <a:xfrm>
            <a:off x="1514914" y="1274887"/>
            <a:ext cx="2769054" cy="1938089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B0F16F65-1115-F357-3BF6-B6DC619BD99F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4265988" y="3967050"/>
            <a:ext cx="828593" cy="4629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A6101A43-AC39-738F-6300-AF1758BF0B19}"/>
              </a:ext>
            </a:extLst>
          </p:cNvPr>
          <p:cNvSpPr txBox="1"/>
          <p:nvPr/>
        </p:nvSpPr>
        <p:spPr>
          <a:xfrm>
            <a:off x="1536400" y="3274591"/>
            <a:ext cx="2636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element nadpisujący jest domyślnie otwarty</a:t>
            </a:r>
          </a:p>
        </p:txBody>
      </p:sp>
      <p:pic>
        <p:nvPicPr>
          <p:cNvPr id="31" name="Obraz 30">
            <a:extLst>
              <a:ext uri="{FF2B5EF4-FFF2-40B4-BE49-F238E27FC236}">
                <a16:creationId xmlns:a16="http://schemas.microsoft.com/office/drawing/2014/main" id="{20B8B153-2C3C-0228-B1C1-6B08E92681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251" y="3859366"/>
            <a:ext cx="2938711" cy="799375"/>
          </a:xfrm>
          <a:prstGeom prst="rect">
            <a:avLst/>
          </a:prstGeom>
        </p:spPr>
      </p:pic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957A0CAF-8357-F45F-7E38-FFC3E1AB449E}"/>
              </a:ext>
            </a:extLst>
          </p:cNvPr>
          <p:cNvSpPr/>
          <p:nvPr/>
        </p:nvSpPr>
        <p:spPr>
          <a:xfrm>
            <a:off x="1354251" y="3274591"/>
            <a:ext cx="2911737" cy="138491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053B3C82-B7B2-E7D5-7CD8-BB02A4533439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4250026" y="4577331"/>
            <a:ext cx="1186070" cy="44876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1F3B1C0B-98C4-57DF-4B75-813392340776}"/>
              </a:ext>
            </a:extLst>
          </p:cNvPr>
          <p:cNvSpPr txBox="1"/>
          <p:nvPr/>
        </p:nvSpPr>
        <p:spPr>
          <a:xfrm>
            <a:off x="1510451" y="4737091"/>
            <a:ext cx="2636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wywołanie metody klasy bazowej</a:t>
            </a:r>
          </a:p>
        </p:txBody>
      </p:sp>
      <p:sp>
        <p:nvSpPr>
          <p:cNvPr id="38" name="Prostokąt: zaokrąglone rogi 37">
            <a:extLst>
              <a:ext uri="{FF2B5EF4-FFF2-40B4-BE49-F238E27FC236}">
                <a16:creationId xmlns:a16="http://schemas.microsoft.com/office/drawing/2014/main" id="{F1B6E032-7645-E478-44EF-8C7AC73FC8D2}"/>
              </a:ext>
            </a:extLst>
          </p:cNvPr>
          <p:cNvSpPr/>
          <p:nvPr/>
        </p:nvSpPr>
        <p:spPr>
          <a:xfrm>
            <a:off x="1338289" y="4768437"/>
            <a:ext cx="2911737" cy="51531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0936FAF-1586-6296-6724-720BD7740F37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4200557" y="5416576"/>
            <a:ext cx="894024" cy="68331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EECE895A-B8E4-DE53-12F1-B41C3468C31F}"/>
              </a:ext>
            </a:extLst>
          </p:cNvPr>
          <p:cNvSpPr txBox="1"/>
          <p:nvPr/>
        </p:nvSpPr>
        <p:spPr>
          <a:xfrm>
            <a:off x="1071591" y="5305131"/>
            <a:ext cx="3128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uniemożliwienie dalsze nadpisywanie w kolejnych klasach pochodnych.</a:t>
            </a:r>
          </a:p>
        </p:txBody>
      </p:sp>
      <p:pic>
        <p:nvPicPr>
          <p:cNvPr id="48" name="Obraz 47">
            <a:extLst>
              <a:ext uri="{FF2B5EF4-FFF2-40B4-BE49-F238E27FC236}">
                <a16:creationId xmlns:a16="http://schemas.microsoft.com/office/drawing/2014/main" id="{AD4E1773-60E9-A737-01C1-32D36418EF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251" y="6100734"/>
            <a:ext cx="2638425" cy="666750"/>
          </a:xfrm>
          <a:prstGeom prst="rect">
            <a:avLst/>
          </a:prstGeom>
        </p:spPr>
      </p:pic>
      <p:sp>
        <p:nvSpPr>
          <p:cNvPr id="49" name="Prostokąt: zaokrąglone rogi 48">
            <a:extLst>
              <a:ext uri="{FF2B5EF4-FFF2-40B4-BE49-F238E27FC236}">
                <a16:creationId xmlns:a16="http://schemas.microsoft.com/office/drawing/2014/main" id="{FB7A4FF1-82FF-85E8-9350-D091296EC65F}"/>
              </a:ext>
            </a:extLst>
          </p:cNvPr>
          <p:cNvSpPr/>
          <p:nvPr/>
        </p:nvSpPr>
        <p:spPr>
          <a:xfrm>
            <a:off x="1259632" y="5341772"/>
            <a:ext cx="2940925" cy="1516227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3708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3E433-3BDF-446E-58A9-4FCDD7C8A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BDD120-43DE-3CB7-F5D8-6E5264E097C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CD544F7-E72C-101F-FC5F-E0F067E9C0C2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Klasy abstrakcyjne </a:t>
            </a:r>
            <a:r>
              <a:rPr lang="pl-PL" sz="1600" dirty="0"/>
              <a:t>pozwalają na definiowanie </a:t>
            </a:r>
            <a:r>
              <a:rPr lang="pl-PL" sz="1600" b="1" dirty="0"/>
              <a:t>wspólnego interfejsu i zachowania</a:t>
            </a:r>
            <a:r>
              <a:rPr lang="pl-PL" sz="1600" dirty="0"/>
              <a:t> dla grupy klas. Słowo kluczowe </a:t>
            </a:r>
            <a:r>
              <a:rPr lang="pl-PL" sz="1600" b="1" dirty="0" err="1"/>
              <a:t>abstract</a:t>
            </a:r>
            <a:r>
              <a:rPr lang="pl-PL" sz="1600" dirty="0"/>
              <a:t> oznacza, że nie można bezpośrednio utworzyć instancji klasy. Służy wyłącznie jako </a:t>
            </a:r>
            <a:r>
              <a:rPr lang="pl-PL" sz="1600" b="1" dirty="0"/>
              <a:t>szablon dla klas pochodnych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5D0D3DE-29B4-7327-464C-E2E30AA21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641" y="1991388"/>
            <a:ext cx="5268359" cy="4866612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82394AA9-8D6C-6620-AA9F-70F9CB52DC13}"/>
              </a:ext>
            </a:extLst>
          </p:cNvPr>
          <p:cNvSpPr txBox="1"/>
          <p:nvPr/>
        </p:nvSpPr>
        <p:spPr>
          <a:xfrm rot="10800000" flipV="1">
            <a:off x="1208413" y="2004508"/>
            <a:ext cx="24719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Metody abstrakcyjne nie mają implementacji. Klasy pochodne są zobowiązane do ich nadpisania.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04A9BB7-A0AF-3BEE-AD80-C2EA91381E37}"/>
              </a:ext>
            </a:extLst>
          </p:cNvPr>
          <p:cNvSpPr/>
          <p:nvPr/>
        </p:nvSpPr>
        <p:spPr>
          <a:xfrm>
            <a:off x="1115616" y="1991388"/>
            <a:ext cx="2564790" cy="96722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4B1346D0-69FE-45EB-9648-A179A5E99AB6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3680406" y="2481562"/>
            <a:ext cx="1179626" cy="58739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118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01DC9-09CA-D528-8FA9-B213285C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FE9B09-1B84-F3D4-AFA2-E6831CF0A99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C7454F9-5967-80C6-362E-E8F412C81581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Klasy abstrakcyjne </a:t>
            </a:r>
            <a:r>
              <a:rPr lang="pl-PL" sz="1600" dirty="0"/>
              <a:t>pozwalają na definiowanie </a:t>
            </a:r>
            <a:r>
              <a:rPr lang="pl-PL" sz="1600" b="1" dirty="0"/>
              <a:t>wspólnego interfejsu i zachowania</a:t>
            </a:r>
            <a:r>
              <a:rPr lang="pl-PL" sz="1600" dirty="0"/>
              <a:t> dla grupy klas. Słowo kluczowe </a:t>
            </a:r>
            <a:r>
              <a:rPr lang="pl-PL" sz="1600" b="1" dirty="0" err="1"/>
              <a:t>abstract</a:t>
            </a:r>
            <a:r>
              <a:rPr lang="pl-PL" sz="1600" dirty="0"/>
              <a:t> oznacza, że nie można bezpośrednio utworzyć instancji klasy. Służy wyłącznie jako </a:t>
            </a:r>
            <a:r>
              <a:rPr lang="pl-PL" sz="1600" b="1" dirty="0"/>
              <a:t>szablon dla klas pochodnych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F0C73FD-982F-185F-8F1D-77907C1C0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641" y="1991388"/>
            <a:ext cx="5268359" cy="4866612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69F0DB0-DB5B-9294-0818-F39E3CF8DFED}"/>
              </a:ext>
            </a:extLst>
          </p:cNvPr>
          <p:cNvSpPr txBox="1"/>
          <p:nvPr/>
        </p:nvSpPr>
        <p:spPr>
          <a:xfrm rot="10800000" flipV="1">
            <a:off x="1208413" y="2004508"/>
            <a:ext cx="24719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/>
              <a:t>Metody abstrakcyjne nie mają implementacji. Klasy pochodne są zobowiązane do ich nadpisania.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E787297D-76E2-DBF8-FBA7-02E51F7B8281}"/>
              </a:ext>
            </a:extLst>
          </p:cNvPr>
          <p:cNvSpPr/>
          <p:nvPr/>
        </p:nvSpPr>
        <p:spPr>
          <a:xfrm>
            <a:off x="1115616" y="1991388"/>
            <a:ext cx="2564790" cy="96722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1AA87E64-B867-598E-2C92-5EF86D984E8A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3680406" y="2481562"/>
            <a:ext cx="1179626" cy="58739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526E128-CFC5-872F-F027-DE8E4757693E}"/>
              </a:ext>
            </a:extLst>
          </p:cNvPr>
          <p:cNvSpPr txBox="1"/>
          <p:nvPr/>
        </p:nvSpPr>
        <p:spPr>
          <a:xfrm rot="10800000" flipV="1">
            <a:off x="1141399" y="3159186"/>
            <a:ext cx="285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Może zawierać również metody i właściwości z domyślną implementacją, które klasy pochodne mogą nadpisywać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F14C7A3D-6C99-3602-B92D-2071003528A5}"/>
              </a:ext>
            </a:extLst>
          </p:cNvPr>
          <p:cNvSpPr/>
          <p:nvPr/>
        </p:nvSpPr>
        <p:spPr>
          <a:xfrm>
            <a:off x="1141398" y="3152626"/>
            <a:ext cx="2854536" cy="96722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24963F3A-684C-A02E-B451-236EE5DD60A5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3995935" y="3636240"/>
            <a:ext cx="864097" cy="15280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723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F2E76-095C-18C9-B5F2-AE7EFC52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B24AF7-519F-8ED2-F82E-DA7F7D7C941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9F8F0B7-B99E-484D-CD8D-2E0DE99AA9A6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Klasy abstrakcyjne </a:t>
            </a:r>
            <a:r>
              <a:rPr lang="pl-PL" sz="1600" dirty="0"/>
              <a:t>pozwalają na definiowanie </a:t>
            </a:r>
            <a:r>
              <a:rPr lang="pl-PL" sz="1600" b="1" dirty="0"/>
              <a:t>wspólnego interfejsu i zachowania</a:t>
            </a:r>
            <a:r>
              <a:rPr lang="pl-PL" sz="1600" dirty="0"/>
              <a:t> dla grupy klas. Słowo kluczowe </a:t>
            </a:r>
            <a:r>
              <a:rPr lang="pl-PL" sz="1600" b="1" dirty="0" err="1"/>
              <a:t>abstract</a:t>
            </a:r>
            <a:r>
              <a:rPr lang="pl-PL" sz="1600" dirty="0"/>
              <a:t> oznacza, że nie można bezpośrednio utworzyć instancji klasy. Służy wyłącznie jako </a:t>
            </a:r>
            <a:r>
              <a:rPr lang="pl-PL" sz="1600" b="1" dirty="0"/>
              <a:t>szablon dla klas pochodnych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45C2E11-40FE-3591-10F5-F9D665221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641" y="1991388"/>
            <a:ext cx="5268359" cy="4866612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E2BE983B-846F-82FA-2AC9-B64E5BF48DF8}"/>
              </a:ext>
            </a:extLst>
          </p:cNvPr>
          <p:cNvSpPr txBox="1"/>
          <p:nvPr/>
        </p:nvSpPr>
        <p:spPr>
          <a:xfrm rot="10800000" flipV="1">
            <a:off x="1208413" y="2004508"/>
            <a:ext cx="24719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Metody abstrakcyjne nie mają implementacji. Klasy pochodne są zobowiązane do ich nadpisania.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9179DA42-AFFC-173B-0D17-B2DBF1E6E74F}"/>
              </a:ext>
            </a:extLst>
          </p:cNvPr>
          <p:cNvSpPr/>
          <p:nvPr/>
        </p:nvSpPr>
        <p:spPr>
          <a:xfrm>
            <a:off x="1115616" y="1991388"/>
            <a:ext cx="2564790" cy="96722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31B33498-3D6C-8D47-D06E-E71217883EE0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3680406" y="2481562"/>
            <a:ext cx="1179626" cy="58739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FAB375D-E06E-F35D-FD81-6A991131866C}"/>
              </a:ext>
            </a:extLst>
          </p:cNvPr>
          <p:cNvSpPr txBox="1"/>
          <p:nvPr/>
        </p:nvSpPr>
        <p:spPr>
          <a:xfrm rot="10800000" flipV="1">
            <a:off x="1141399" y="3159186"/>
            <a:ext cx="285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Może zawierać również metody i właściwości z domyślną implementacją, które klasy pochodne mogą nadpisywać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D8C9AF62-9A15-A4C6-06C5-79364B817B5B}"/>
              </a:ext>
            </a:extLst>
          </p:cNvPr>
          <p:cNvSpPr/>
          <p:nvPr/>
        </p:nvSpPr>
        <p:spPr>
          <a:xfrm>
            <a:off x="1141398" y="3152626"/>
            <a:ext cx="2854536" cy="96722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9D320327-1295-E051-6158-3AACDBF04E03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3995935" y="3636240"/>
            <a:ext cx="864097" cy="15280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BB646BF-32DF-E818-D308-56E23186BF99}"/>
              </a:ext>
            </a:extLst>
          </p:cNvPr>
          <p:cNvSpPr txBox="1"/>
          <p:nvPr/>
        </p:nvSpPr>
        <p:spPr>
          <a:xfrm rot="10800000" flipV="1">
            <a:off x="1174992" y="4546802"/>
            <a:ext cx="285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wymagana implementacja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EA51D67B-9E0D-E5A0-89BB-81E65E97AEB1}"/>
              </a:ext>
            </a:extLst>
          </p:cNvPr>
          <p:cNvSpPr/>
          <p:nvPr/>
        </p:nvSpPr>
        <p:spPr>
          <a:xfrm>
            <a:off x="1159668" y="4436458"/>
            <a:ext cx="2423345" cy="51712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3F3E96AB-3C6E-AEFB-AF81-699780BA1334}"/>
              </a:ext>
            </a:extLst>
          </p:cNvPr>
          <p:cNvCxnSpPr>
            <a:cxnSpLocks/>
          </p:cNvCxnSpPr>
          <p:nvPr/>
        </p:nvCxnSpPr>
        <p:spPr>
          <a:xfrm>
            <a:off x="3583013" y="4695021"/>
            <a:ext cx="1277019" cy="105000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779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94B76-738A-1E7A-A98A-DC84CA773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350DEC-3568-720C-DFAF-1FDEBA893B2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710D6B5-8E67-0D35-88EF-198B9B820A28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Klasy abstrakcyjne </a:t>
            </a:r>
            <a:r>
              <a:rPr lang="pl-PL" sz="1600" dirty="0"/>
              <a:t>pozwalają na definiowanie </a:t>
            </a:r>
            <a:r>
              <a:rPr lang="pl-PL" sz="1600" b="1" dirty="0"/>
              <a:t>wspólnego interfejsu i zachowania</a:t>
            </a:r>
            <a:r>
              <a:rPr lang="pl-PL" sz="1600" dirty="0"/>
              <a:t> dla grupy klas. Słowo kluczowe </a:t>
            </a:r>
            <a:r>
              <a:rPr lang="pl-PL" sz="1600" b="1" dirty="0" err="1"/>
              <a:t>abstract</a:t>
            </a:r>
            <a:r>
              <a:rPr lang="pl-PL" sz="1600" dirty="0"/>
              <a:t> oznacza, że nie można bezpośrednio utworzyć instancji klasy. Służy wyłącznie jako </a:t>
            </a:r>
            <a:r>
              <a:rPr lang="pl-PL" sz="1600" b="1" dirty="0"/>
              <a:t>szablon dla klas pochodnych</a:t>
            </a:r>
            <a:r>
              <a:rPr lang="pl-PL" sz="1600" dirty="0"/>
              <a:t>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CB3DA2E-AA37-E6EF-0628-16D0C4555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641" y="1991388"/>
            <a:ext cx="5268359" cy="4866612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C25EB695-AE67-0A4F-52D6-1CA5412D6753}"/>
              </a:ext>
            </a:extLst>
          </p:cNvPr>
          <p:cNvSpPr txBox="1"/>
          <p:nvPr/>
        </p:nvSpPr>
        <p:spPr>
          <a:xfrm rot="10800000" flipV="1">
            <a:off x="1208413" y="2004508"/>
            <a:ext cx="24719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Metody abstrakcyjne nie mają implementacji. Klasy pochodne są zobowiązane do ich nadpisania.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698B400-E78D-EEE4-AF8B-05FFA3518D86}"/>
              </a:ext>
            </a:extLst>
          </p:cNvPr>
          <p:cNvSpPr/>
          <p:nvPr/>
        </p:nvSpPr>
        <p:spPr>
          <a:xfrm>
            <a:off x="1115616" y="1991388"/>
            <a:ext cx="2564790" cy="96722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B324A169-E890-ACCD-B6E0-B955132111AD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3680406" y="2481562"/>
            <a:ext cx="1179626" cy="58739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5E87A21-0C45-01E3-591B-8F75A4B626A7}"/>
              </a:ext>
            </a:extLst>
          </p:cNvPr>
          <p:cNvSpPr txBox="1"/>
          <p:nvPr/>
        </p:nvSpPr>
        <p:spPr>
          <a:xfrm rot="10800000" flipV="1">
            <a:off x="1141399" y="3159186"/>
            <a:ext cx="285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Może zawierać również metody i właściwości z domyślną implementacją, które klasy pochodne mogą nadpisywać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A9AC595A-4C29-3FB1-CB25-7B288B2A3213}"/>
              </a:ext>
            </a:extLst>
          </p:cNvPr>
          <p:cNvSpPr/>
          <p:nvPr/>
        </p:nvSpPr>
        <p:spPr>
          <a:xfrm>
            <a:off x="1141398" y="3152626"/>
            <a:ext cx="2854536" cy="96722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15F0677F-01AA-1142-B8EC-9074CC1D439F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3995935" y="3636240"/>
            <a:ext cx="864097" cy="15280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36FD7BB0-C7DB-D736-A628-9E57E129CE0A}"/>
              </a:ext>
            </a:extLst>
          </p:cNvPr>
          <p:cNvSpPr txBox="1"/>
          <p:nvPr/>
        </p:nvSpPr>
        <p:spPr>
          <a:xfrm rot="10800000" flipV="1">
            <a:off x="1174992" y="4546802"/>
            <a:ext cx="285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wymagana implementacja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61979F07-5A38-FAB8-7F13-90392FAC9DD0}"/>
              </a:ext>
            </a:extLst>
          </p:cNvPr>
          <p:cNvSpPr/>
          <p:nvPr/>
        </p:nvSpPr>
        <p:spPr>
          <a:xfrm>
            <a:off x="1159668" y="4436458"/>
            <a:ext cx="2423345" cy="51712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176E4B4C-5BA2-B26D-7885-8254BD12798B}"/>
              </a:ext>
            </a:extLst>
          </p:cNvPr>
          <p:cNvCxnSpPr>
            <a:cxnSpLocks/>
          </p:cNvCxnSpPr>
          <p:nvPr/>
        </p:nvCxnSpPr>
        <p:spPr>
          <a:xfrm>
            <a:off x="3583013" y="4695021"/>
            <a:ext cx="1277019" cy="105000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8AE3074-36F8-9FF6-AC85-5DDF23297A8C}"/>
              </a:ext>
            </a:extLst>
          </p:cNvPr>
          <p:cNvSpPr txBox="1"/>
          <p:nvPr/>
        </p:nvSpPr>
        <p:spPr>
          <a:xfrm>
            <a:off x="1118244" y="5101803"/>
            <a:ext cx="266166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b="1" dirty="0" err="1">
                <a:solidFill>
                  <a:schemeClr val="accent4">
                    <a:lumMod val="50000"/>
                  </a:schemeClr>
                </a:solidFill>
              </a:rPr>
              <a:t>final</a:t>
            </a:r>
            <a:r>
              <a:rPr lang="pl-PL" dirty="0">
                <a:solidFill>
                  <a:schemeClr val="accent4">
                    <a:lumMod val="50000"/>
                  </a:schemeClr>
                </a:solidFill>
              </a:rPr>
              <a:t> - domyślny modyfikator, nie można nadpisać</a:t>
            </a:r>
          </a:p>
          <a:p>
            <a:pPr algn="just"/>
            <a:endParaRPr lang="pl-PL" sz="900" dirty="0">
              <a:solidFill>
                <a:schemeClr val="accent4">
                  <a:lumMod val="50000"/>
                </a:schemeClr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chemeClr val="accent4">
                    <a:lumMod val="50000"/>
                  </a:schemeClr>
                </a:solidFill>
              </a:rPr>
              <a:t>open</a:t>
            </a:r>
            <a:r>
              <a:rPr lang="pl-PL" dirty="0">
                <a:solidFill>
                  <a:schemeClr val="accent4">
                    <a:lumMod val="50000"/>
                  </a:schemeClr>
                </a:solidFill>
              </a:rPr>
              <a:t> - </a:t>
            </a:r>
            <a:r>
              <a:rPr lang="pl-PL" b="1" dirty="0">
                <a:solidFill>
                  <a:schemeClr val="accent4">
                    <a:lumMod val="50000"/>
                  </a:schemeClr>
                </a:solidFill>
              </a:rPr>
              <a:t>można</a:t>
            </a:r>
            <a:r>
              <a:rPr lang="pl-PL" dirty="0">
                <a:solidFill>
                  <a:schemeClr val="accent4">
                    <a:lumMod val="50000"/>
                  </a:schemeClr>
                </a:solidFill>
              </a:rPr>
              <a:t> nadpisać</a:t>
            </a:r>
          </a:p>
          <a:p>
            <a:pPr algn="just"/>
            <a:endParaRPr lang="pl-PL" sz="900" dirty="0">
              <a:solidFill>
                <a:schemeClr val="accent4">
                  <a:lumMod val="50000"/>
                </a:schemeClr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b="1" dirty="0" err="1">
                <a:solidFill>
                  <a:schemeClr val="accent4">
                    <a:lumMod val="50000"/>
                  </a:schemeClr>
                </a:solidFill>
              </a:rPr>
              <a:t>abstract</a:t>
            </a:r>
            <a:r>
              <a:rPr lang="pl-PL" dirty="0">
                <a:solidFill>
                  <a:schemeClr val="accent4">
                    <a:lumMod val="50000"/>
                  </a:schemeClr>
                </a:solidFill>
              </a:rPr>
              <a:t> - </a:t>
            </a:r>
            <a:r>
              <a:rPr lang="pl-PL" b="1" dirty="0">
                <a:solidFill>
                  <a:schemeClr val="accent4">
                    <a:lumMod val="50000"/>
                  </a:schemeClr>
                </a:solidFill>
              </a:rPr>
              <a:t>wymagane</a:t>
            </a:r>
            <a:r>
              <a:rPr lang="pl-PL" dirty="0">
                <a:solidFill>
                  <a:schemeClr val="accent4">
                    <a:lumMod val="50000"/>
                  </a:schemeClr>
                </a:solidFill>
              </a:rPr>
              <a:t> nadpisanie</a:t>
            </a:r>
          </a:p>
          <a:p>
            <a:pPr algn="just"/>
            <a:endParaRPr lang="pl-PL" sz="900" dirty="0">
              <a:solidFill>
                <a:schemeClr val="accent4">
                  <a:lumMod val="50000"/>
                </a:schemeClr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l-PL" b="1" dirty="0" err="1">
                <a:solidFill>
                  <a:schemeClr val="accent4">
                    <a:lumMod val="50000"/>
                  </a:schemeClr>
                </a:solidFill>
              </a:rPr>
              <a:t>override</a:t>
            </a:r>
            <a:r>
              <a:rPr lang="pl-PL" dirty="0">
                <a:solidFill>
                  <a:schemeClr val="accent4">
                    <a:lumMod val="50000"/>
                  </a:schemeClr>
                </a:solidFill>
              </a:rPr>
              <a:t> - nadpisuje element klasy nadrzędnej</a:t>
            </a:r>
          </a:p>
        </p:txBody>
      </p: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37C5E922-C158-E7B1-22C3-741DBD72D5D8}"/>
              </a:ext>
            </a:extLst>
          </p:cNvPr>
          <p:cNvSpPr/>
          <p:nvPr/>
        </p:nvSpPr>
        <p:spPr>
          <a:xfrm>
            <a:off x="1066204" y="5080154"/>
            <a:ext cx="2713708" cy="1646820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80414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A8A1E-4320-C627-816C-B68C09E0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E2E3D5-6338-336E-55D2-0561226173F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zagnieżdżone i wewnętrzne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927E1E1-E41F-303E-6131-8F27B51EF812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W Kotlinie klasy mogą być </a:t>
            </a:r>
            <a:r>
              <a:rPr lang="pl-PL" sz="1600" b="1" dirty="0"/>
              <a:t>zagnieżdżane</a:t>
            </a:r>
            <a:r>
              <a:rPr lang="pl-PL" sz="1600" dirty="0"/>
              <a:t> wewnątrz innych klas. Dostępne są dwa rodzaje takich klas: </a:t>
            </a:r>
            <a:r>
              <a:rPr lang="pl-PL" sz="1600" b="1" dirty="0"/>
              <a:t>zagnieżdżone</a:t>
            </a:r>
            <a:r>
              <a:rPr lang="pl-PL" sz="1600" dirty="0"/>
              <a:t> i </a:t>
            </a:r>
            <a:r>
              <a:rPr lang="pl-PL" sz="1600" b="1" dirty="0"/>
              <a:t>wewnętrzne</a:t>
            </a:r>
            <a:r>
              <a:rPr lang="pl-PL" sz="1600" dirty="0"/>
              <a:t>, które różnią się dostępem do elementów klasy zewnętrznej.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2E2E0C2-2784-FEC9-E54E-F2E26688A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20855"/>
            <a:ext cx="5487432" cy="3089938"/>
          </a:xfrm>
          <a:prstGeom prst="rect">
            <a:avLst/>
          </a:prstGeom>
        </p:spPr>
      </p:pic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8984F512-4060-205C-779B-12C16660B360}"/>
              </a:ext>
            </a:extLst>
          </p:cNvPr>
          <p:cNvSpPr/>
          <p:nvPr/>
        </p:nvSpPr>
        <p:spPr>
          <a:xfrm>
            <a:off x="0" y="1991388"/>
            <a:ext cx="5487432" cy="3148872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F42CAC1-423E-BEFF-AA44-0A062D371A43}"/>
              </a:ext>
            </a:extLst>
          </p:cNvPr>
          <p:cNvSpPr txBox="1"/>
          <p:nvPr/>
        </p:nvSpPr>
        <p:spPr>
          <a:xfrm>
            <a:off x="5868144" y="1971674"/>
            <a:ext cx="31683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Klasa </a:t>
            </a:r>
            <a:r>
              <a:rPr lang="pl-PL" sz="1400" b="1" dirty="0"/>
              <a:t>zagnieżdżona</a:t>
            </a:r>
            <a:r>
              <a:rPr lang="pl-PL" sz="1400" dirty="0"/>
              <a:t> to klasa, która jest zadeklarowana wewnątrz innej klasy. Domyślnie klasa zagnieżdżona </a:t>
            </a:r>
            <a:r>
              <a:rPr lang="pl-PL" sz="1400" b="1" dirty="0"/>
              <a:t>nie ma dostępu</a:t>
            </a:r>
            <a:r>
              <a:rPr lang="pl-PL" sz="1400" dirty="0"/>
              <a:t> do elementów klasy zewnętrznej. Jest traktowana jak </a:t>
            </a:r>
            <a:r>
              <a:rPr lang="pl-PL" sz="1400" b="1" dirty="0"/>
              <a:t>niezależny byt</a:t>
            </a:r>
            <a:r>
              <a:rPr lang="pl-PL" sz="1400" dirty="0"/>
              <a:t>.</a:t>
            </a: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85A24401-84B8-2B15-F945-C5C2791834AC}"/>
              </a:ext>
            </a:extLst>
          </p:cNvPr>
          <p:cNvSpPr/>
          <p:nvPr/>
        </p:nvSpPr>
        <p:spPr>
          <a:xfrm>
            <a:off x="5796136" y="1854564"/>
            <a:ext cx="3322392" cy="157443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52FC644E-8943-F073-D153-A4EBF557695D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487432" y="2641782"/>
            <a:ext cx="308704" cy="21115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152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49201-24A2-E55A-AF06-10A534E5E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6DEE5F-F274-11C5-B05D-8305C60E61F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zagnieżdżone i wewnętrzne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6A5D364-0C7B-7D8B-71ED-DAD9C7196A3B}"/>
              </a:ext>
            </a:extLst>
          </p:cNvPr>
          <p:cNvSpPr txBox="1"/>
          <p:nvPr/>
        </p:nvSpPr>
        <p:spPr>
          <a:xfrm rot="10800000" flipV="1">
            <a:off x="1115616" y="836712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W Kotlinie klasy mogą być </a:t>
            </a:r>
            <a:r>
              <a:rPr lang="pl-PL" sz="1600" b="1" dirty="0"/>
              <a:t>zagnieżdżane</a:t>
            </a:r>
            <a:r>
              <a:rPr lang="pl-PL" sz="1600" dirty="0"/>
              <a:t> wewnątrz innych klas. Dostępne są dwa rodzaje takich klas: </a:t>
            </a:r>
            <a:r>
              <a:rPr lang="pl-PL" sz="1600" b="1" dirty="0"/>
              <a:t>zagnieżdżone</a:t>
            </a:r>
            <a:r>
              <a:rPr lang="pl-PL" sz="1600" dirty="0"/>
              <a:t> i </a:t>
            </a:r>
            <a:r>
              <a:rPr lang="pl-PL" sz="1600" b="1" dirty="0"/>
              <a:t>wewnętrzne</a:t>
            </a:r>
            <a:r>
              <a:rPr lang="pl-PL" sz="1600" dirty="0"/>
              <a:t>, które różnią się dostępem do elementów klasy zewnętrznej.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969C28A-92A3-9226-CDA1-216F42875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20855"/>
            <a:ext cx="5487432" cy="3089938"/>
          </a:xfrm>
          <a:prstGeom prst="rect">
            <a:avLst/>
          </a:prstGeom>
        </p:spPr>
      </p:pic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EAB5AC73-A386-E0FF-2331-168997AA1B88}"/>
              </a:ext>
            </a:extLst>
          </p:cNvPr>
          <p:cNvSpPr/>
          <p:nvPr/>
        </p:nvSpPr>
        <p:spPr>
          <a:xfrm>
            <a:off x="0" y="1991388"/>
            <a:ext cx="5487432" cy="3148872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17C2AAA0-F923-AF85-7C8E-716956DB9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0289" y="3768062"/>
            <a:ext cx="5658682" cy="3089938"/>
          </a:xfrm>
          <a:prstGeom prst="rect">
            <a:avLst/>
          </a:prstGeom>
        </p:spPr>
      </p:pic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1B54F6E7-B49C-82F8-B725-BD4B16BAD0CC}"/>
              </a:ext>
            </a:extLst>
          </p:cNvPr>
          <p:cNvSpPr/>
          <p:nvPr/>
        </p:nvSpPr>
        <p:spPr>
          <a:xfrm>
            <a:off x="3510289" y="3768062"/>
            <a:ext cx="5658682" cy="308993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F76D0E0-C130-1A6B-32BC-253BD2A92B67}"/>
              </a:ext>
            </a:extLst>
          </p:cNvPr>
          <p:cNvSpPr txBox="1"/>
          <p:nvPr/>
        </p:nvSpPr>
        <p:spPr>
          <a:xfrm>
            <a:off x="5868144" y="1971674"/>
            <a:ext cx="31683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zagnieżdżona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to klasa, która jest zadeklarowana wewnątrz innej klasy. Domyślnie klasa zagnieżdżona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nie ma dostępu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do elementów klasy zewnętrznej. Jest traktowana jak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niezależny byt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CB82F7D2-86F8-316D-627C-BECDD06C1405}"/>
              </a:ext>
            </a:extLst>
          </p:cNvPr>
          <p:cNvSpPr/>
          <p:nvPr/>
        </p:nvSpPr>
        <p:spPr>
          <a:xfrm>
            <a:off x="5796136" y="1854564"/>
            <a:ext cx="3322392" cy="157443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7E45B2C8-F86D-03AF-B78E-8D2603182CB4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487432" y="2641782"/>
            <a:ext cx="308704" cy="21115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FE98DC33-D30C-04CF-1041-005B564AE3A0}"/>
              </a:ext>
            </a:extLst>
          </p:cNvPr>
          <p:cNvSpPr txBox="1"/>
          <p:nvPr/>
        </p:nvSpPr>
        <p:spPr>
          <a:xfrm>
            <a:off x="125761" y="5301208"/>
            <a:ext cx="3087801" cy="1169551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wewnętrzna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to klasa, która jest zadeklarowana wewnątrz innej klasy 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ma dostęp do jej pól oraz metod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. Należy oznaczyć ją słowem kluczowym </a:t>
            </a: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</a:rPr>
              <a:t>inner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E0EBB98F-4887-2A63-C129-D2E34FDB9A13}"/>
              </a:ext>
            </a:extLst>
          </p:cNvPr>
          <p:cNvSpPr/>
          <p:nvPr/>
        </p:nvSpPr>
        <p:spPr>
          <a:xfrm>
            <a:off x="125760" y="5301208"/>
            <a:ext cx="3037201" cy="1169551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0" name="Łącznik prosty ze strzałką 29">
            <a:extLst>
              <a:ext uri="{FF2B5EF4-FFF2-40B4-BE49-F238E27FC236}">
                <a16:creationId xmlns:a16="http://schemas.microsoft.com/office/drawing/2014/main" id="{C8ED7E12-BEF9-8708-CD11-4A12B8269340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3162961" y="5661248"/>
            <a:ext cx="347328" cy="224736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3363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05928-ABC0-4C72-2F6D-A6D8E9003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2CCC33-48D3-D3D7-8CF6-96307CFEBCB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zapieczętowane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31AFB1C-8FD4-6648-ED0A-1DB8BB6F7ACD}"/>
              </a:ext>
            </a:extLst>
          </p:cNvPr>
          <p:cNvSpPr txBox="1"/>
          <p:nvPr/>
        </p:nvSpPr>
        <p:spPr>
          <a:xfrm rot="10800000" flipV="1">
            <a:off x="1115616" y="764704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Kotlin wprowadza mechanizm </a:t>
            </a:r>
            <a:r>
              <a:rPr lang="pl-PL" sz="1600" b="1" dirty="0"/>
              <a:t>klas zapieczętowanych </a:t>
            </a:r>
            <a:r>
              <a:rPr lang="pl-PL" sz="1600" dirty="0"/>
              <a:t>(</a:t>
            </a:r>
            <a:r>
              <a:rPr lang="pl-PL" sz="1600" b="1" dirty="0" err="1"/>
              <a:t>sealed</a:t>
            </a:r>
            <a:r>
              <a:rPr lang="pl-PL" sz="1600" b="1" dirty="0"/>
              <a:t> </a:t>
            </a:r>
            <a:r>
              <a:rPr lang="pl-PL" sz="1600" b="1" dirty="0" err="1"/>
              <a:t>classes</a:t>
            </a:r>
            <a:r>
              <a:rPr lang="pl-PL" sz="1600" dirty="0"/>
              <a:t>), który jest przydatny w sytuacjach, gdy chcemy </a:t>
            </a:r>
            <a:r>
              <a:rPr lang="pl-PL" sz="1600" b="1" dirty="0"/>
              <a:t>ograniczyć hierarchię dziedziczenia</a:t>
            </a:r>
            <a:r>
              <a:rPr lang="pl-PL" sz="1600" dirty="0"/>
              <a:t> do z góry określonego zbioru klas.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32DD349-EDAA-A3BE-4AF8-A1936F1CB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771" y="1938964"/>
            <a:ext cx="5204725" cy="1637167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86F5CE9A-B42C-7F2D-D9E4-78EDFE9ED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39" y="4478316"/>
            <a:ext cx="5891851" cy="2155555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1E05B159-CC06-312A-7E1A-95BFABACB267}"/>
              </a:ext>
            </a:extLst>
          </p:cNvPr>
          <p:cNvSpPr txBox="1"/>
          <p:nvPr/>
        </p:nvSpPr>
        <p:spPr>
          <a:xfrm>
            <a:off x="1145667" y="1976386"/>
            <a:ext cx="23054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klasa zapieczętowana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C72452BC-0DC0-4CC4-673B-24EB30CDAD2D}"/>
              </a:ext>
            </a:extLst>
          </p:cNvPr>
          <p:cNvSpPr/>
          <p:nvPr/>
        </p:nvSpPr>
        <p:spPr>
          <a:xfrm>
            <a:off x="1145667" y="1911438"/>
            <a:ext cx="2305439" cy="43939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161F7330-A064-310A-0A46-E65AE98CE03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451106" y="2145663"/>
            <a:ext cx="760854" cy="131209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7ACF985-8814-E4A7-7941-2F346CEDF1C2}"/>
              </a:ext>
            </a:extLst>
          </p:cNvPr>
          <p:cNvSpPr txBox="1"/>
          <p:nvPr/>
        </p:nvSpPr>
        <p:spPr>
          <a:xfrm>
            <a:off x="1135565" y="2466314"/>
            <a:ext cx="2686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podklasy mogą być zdefiniowane tylko wewnątrz tego samego pliku, co klasa bazowa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EA891AEA-6EFC-9243-FF2E-F6A531E3C978}"/>
              </a:ext>
            </a:extLst>
          </p:cNvPr>
          <p:cNvSpPr/>
          <p:nvPr/>
        </p:nvSpPr>
        <p:spPr>
          <a:xfrm>
            <a:off x="1125463" y="2481553"/>
            <a:ext cx="2686102" cy="954107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A9229AF9-98EC-7A8D-DE12-FCEF52D2DBB0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3811565" y="2958607"/>
            <a:ext cx="289313" cy="19371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Nawias klamrowy otwierający 23">
            <a:extLst>
              <a:ext uri="{FF2B5EF4-FFF2-40B4-BE49-F238E27FC236}">
                <a16:creationId xmlns:a16="http://schemas.microsoft.com/office/drawing/2014/main" id="{DC07FB44-410D-3B60-707C-48D72F059820}"/>
              </a:ext>
            </a:extLst>
          </p:cNvPr>
          <p:cNvSpPr/>
          <p:nvPr/>
        </p:nvSpPr>
        <p:spPr>
          <a:xfrm>
            <a:off x="4100878" y="2708921"/>
            <a:ext cx="288032" cy="886794"/>
          </a:xfrm>
          <a:prstGeom prst="leftBrac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61436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4EB0C-9ACC-6733-997A-66AC4ADA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A0D7C9-D11B-D7E1-B471-098DC4AA0B5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zapieczętowane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9CA04B0-CBF7-3D89-DE2C-8EAD2D2398A0}"/>
              </a:ext>
            </a:extLst>
          </p:cNvPr>
          <p:cNvSpPr txBox="1"/>
          <p:nvPr/>
        </p:nvSpPr>
        <p:spPr>
          <a:xfrm rot="10800000" flipV="1">
            <a:off x="1115616" y="764704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Kotlin wprowadza mechanizm </a:t>
            </a:r>
            <a:r>
              <a:rPr lang="pl-PL" sz="1600" b="1" dirty="0"/>
              <a:t>klas zapieczętowanych </a:t>
            </a:r>
            <a:r>
              <a:rPr lang="pl-PL" sz="1600" dirty="0"/>
              <a:t>(</a:t>
            </a:r>
            <a:r>
              <a:rPr lang="pl-PL" sz="1600" b="1" dirty="0" err="1"/>
              <a:t>sealed</a:t>
            </a:r>
            <a:r>
              <a:rPr lang="pl-PL" sz="1600" b="1" dirty="0"/>
              <a:t> </a:t>
            </a:r>
            <a:r>
              <a:rPr lang="pl-PL" sz="1600" b="1" dirty="0" err="1"/>
              <a:t>classes</a:t>
            </a:r>
            <a:r>
              <a:rPr lang="pl-PL" sz="1600" dirty="0"/>
              <a:t>), który jest przydatny w sytuacjach, gdy chcemy </a:t>
            </a:r>
            <a:r>
              <a:rPr lang="pl-PL" sz="1600" b="1" dirty="0"/>
              <a:t>ograniczyć hierarchię dziedziczenia</a:t>
            </a:r>
            <a:r>
              <a:rPr lang="pl-PL" sz="1600" dirty="0"/>
              <a:t> do z góry określonego zbioru klas.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16FC037-2DCB-F912-CD1A-A76963F3C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771" y="1938964"/>
            <a:ext cx="5204725" cy="1637167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CD577861-88AD-2A09-E719-4AADDF76C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39" y="4478316"/>
            <a:ext cx="5891851" cy="2155555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95517745-B6CB-A5B7-C887-59982EB4C21A}"/>
              </a:ext>
            </a:extLst>
          </p:cNvPr>
          <p:cNvSpPr txBox="1"/>
          <p:nvPr/>
        </p:nvSpPr>
        <p:spPr>
          <a:xfrm>
            <a:off x="1145667" y="1976386"/>
            <a:ext cx="23054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klasa zapieczętowana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17E7289D-4133-C0A3-8C75-4A525F475CE2}"/>
              </a:ext>
            </a:extLst>
          </p:cNvPr>
          <p:cNvSpPr/>
          <p:nvPr/>
        </p:nvSpPr>
        <p:spPr>
          <a:xfrm>
            <a:off x="1145667" y="1911438"/>
            <a:ext cx="2305439" cy="43939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FFF68B66-0224-58F1-EEFC-D999D626178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451106" y="2145663"/>
            <a:ext cx="760854" cy="131209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498F070F-BE4A-3284-E0EE-261EF26B1D8A}"/>
              </a:ext>
            </a:extLst>
          </p:cNvPr>
          <p:cNvSpPr txBox="1"/>
          <p:nvPr/>
        </p:nvSpPr>
        <p:spPr>
          <a:xfrm>
            <a:off x="1135565" y="2466314"/>
            <a:ext cx="2686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podklasy mogą być zdefiniowane tylko wewnątrz tego samego pliku, co klasa bazowa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392EBF01-C295-077A-B5CF-44FE9BBC3473}"/>
              </a:ext>
            </a:extLst>
          </p:cNvPr>
          <p:cNvSpPr/>
          <p:nvPr/>
        </p:nvSpPr>
        <p:spPr>
          <a:xfrm>
            <a:off x="1125463" y="2481553"/>
            <a:ext cx="2686102" cy="954107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76D5E01A-F886-F148-8A40-9BE72DCB3397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3811565" y="2958607"/>
            <a:ext cx="289313" cy="19371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Nawias klamrowy otwierający 23">
            <a:extLst>
              <a:ext uri="{FF2B5EF4-FFF2-40B4-BE49-F238E27FC236}">
                <a16:creationId xmlns:a16="http://schemas.microsoft.com/office/drawing/2014/main" id="{C35683E0-236D-5705-D150-920464B21122}"/>
              </a:ext>
            </a:extLst>
          </p:cNvPr>
          <p:cNvSpPr/>
          <p:nvPr/>
        </p:nvSpPr>
        <p:spPr>
          <a:xfrm>
            <a:off x="4100878" y="2708921"/>
            <a:ext cx="288032" cy="886794"/>
          </a:xfrm>
          <a:prstGeom prst="leftBrac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5A69AA1D-88B0-7817-F940-729B3990F13E}"/>
              </a:ext>
            </a:extLst>
          </p:cNvPr>
          <p:cNvSpPr txBox="1"/>
          <p:nvPr/>
        </p:nvSpPr>
        <p:spPr>
          <a:xfrm>
            <a:off x="1113936" y="3572357"/>
            <a:ext cx="45560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Mamy trzy możliwe stany: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</a:rPr>
              <a:t>Success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 –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oznacza powodzenie i zawiera dane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Error –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oznacza błąd i zawiera komunikat o błędzie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</a:rPr>
              <a:t>Loading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 –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oznacza trwające ładowanie</a:t>
            </a:r>
          </a:p>
        </p:txBody>
      </p: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AE646258-C027-3EDB-0DE7-2E76088B7D8D}"/>
              </a:ext>
            </a:extLst>
          </p:cNvPr>
          <p:cNvSpPr/>
          <p:nvPr/>
        </p:nvSpPr>
        <p:spPr>
          <a:xfrm>
            <a:off x="1043608" y="3623621"/>
            <a:ext cx="4556055" cy="851577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01707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8E638-26ED-3BDE-66AA-8F5BA5AB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109860-5118-E11D-FE39-C958BAECDFD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zapieczętowane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6386B2E-6A9C-DBE4-C692-C00A0B2A7039}"/>
              </a:ext>
            </a:extLst>
          </p:cNvPr>
          <p:cNvSpPr txBox="1"/>
          <p:nvPr/>
        </p:nvSpPr>
        <p:spPr>
          <a:xfrm rot="10800000" flipV="1">
            <a:off x="1115616" y="764704"/>
            <a:ext cx="7920880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Kotlin wprowadza mechanizm </a:t>
            </a:r>
            <a:r>
              <a:rPr lang="pl-PL" sz="1600" b="1" dirty="0"/>
              <a:t>klas zapieczętowanych </a:t>
            </a:r>
            <a:r>
              <a:rPr lang="pl-PL" sz="1600" dirty="0"/>
              <a:t>(</a:t>
            </a:r>
            <a:r>
              <a:rPr lang="pl-PL" sz="1600" b="1" dirty="0" err="1"/>
              <a:t>sealed</a:t>
            </a:r>
            <a:r>
              <a:rPr lang="pl-PL" sz="1600" b="1" dirty="0"/>
              <a:t> </a:t>
            </a:r>
            <a:r>
              <a:rPr lang="pl-PL" sz="1600" b="1" dirty="0" err="1"/>
              <a:t>classes</a:t>
            </a:r>
            <a:r>
              <a:rPr lang="pl-PL" sz="1600" dirty="0"/>
              <a:t>), który jest przydatny w sytuacjach, gdy chcemy </a:t>
            </a:r>
            <a:r>
              <a:rPr lang="pl-PL" sz="1600" b="1" dirty="0"/>
              <a:t>ograniczyć hierarchię dziedziczenia</a:t>
            </a:r>
            <a:r>
              <a:rPr lang="pl-PL" sz="1600" dirty="0"/>
              <a:t> do z góry określonego zbioru klas.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822FBDC-5703-C43D-9717-E3DB3A485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771" y="1938964"/>
            <a:ext cx="5204725" cy="1637167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81D75BC-616C-823F-A0FE-71ABCC803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39" y="4478316"/>
            <a:ext cx="5891851" cy="2155555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706F1F80-C54F-A13B-95F8-118E3AD5BD42}"/>
              </a:ext>
            </a:extLst>
          </p:cNvPr>
          <p:cNvSpPr txBox="1"/>
          <p:nvPr/>
        </p:nvSpPr>
        <p:spPr>
          <a:xfrm>
            <a:off x="1145667" y="1976386"/>
            <a:ext cx="23054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klasa zapieczętowana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4866B795-0393-CEFE-5D0F-9B11DE8E2302}"/>
              </a:ext>
            </a:extLst>
          </p:cNvPr>
          <p:cNvSpPr/>
          <p:nvPr/>
        </p:nvSpPr>
        <p:spPr>
          <a:xfrm>
            <a:off x="1145667" y="1911438"/>
            <a:ext cx="2305439" cy="43939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807EEF1B-C9A9-36D9-8A9E-EAAECAC50159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451106" y="2145663"/>
            <a:ext cx="760854" cy="131209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B9938092-BBB1-50E1-82DE-C2C94F7A3FC3}"/>
              </a:ext>
            </a:extLst>
          </p:cNvPr>
          <p:cNvSpPr txBox="1"/>
          <p:nvPr/>
        </p:nvSpPr>
        <p:spPr>
          <a:xfrm>
            <a:off x="1135565" y="2466314"/>
            <a:ext cx="2686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podklasy mogą być zdefiniowane tylko wewnątrz tego samego pliku, co klasa bazowa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FE790597-5D6B-664A-E6AC-9101464A6372}"/>
              </a:ext>
            </a:extLst>
          </p:cNvPr>
          <p:cNvSpPr/>
          <p:nvPr/>
        </p:nvSpPr>
        <p:spPr>
          <a:xfrm>
            <a:off x="1125463" y="2481553"/>
            <a:ext cx="2686102" cy="954107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FD381CB1-D56A-EAAF-5920-C153D6562026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3811565" y="2958607"/>
            <a:ext cx="289313" cy="19371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Nawias klamrowy otwierający 23">
            <a:extLst>
              <a:ext uri="{FF2B5EF4-FFF2-40B4-BE49-F238E27FC236}">
                <a16:creationId xmlns:a16="http://schemas.microsoft.com/office/drawing/2014/main" id="{862B559B-5714-FB87-E392-3626A7C3973E}"/>
              </a:ext>
            </a:extLst>
          </p:cNvPr>
          <p:cNvSpPr/>
          <p:nvPr/>
        </p:nvSpPr>
        <p:spPr>
          <a:xfrm>
            <a:off x="4100878" y="2708921"/>
            <a:ext cx="288032" cy="886794"/>
          </a:xfrm>
          <a:prstGeom prst="leftBrac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EF636F63-9BB0-5E04-0DD7-AD8772667542}"/>
              </a:ext>
            </a:extLst>
          </p:cNvPr>
          <p:cNvSpPr txBox="1"/>
          <p:nvPr/>
        </p:nvSpPr>
        <p:spPr>
          <a:xfrm>
            <a:off x="1113936" y="3572357"/>
            <a:ext cx="45560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Mamy trzy możliwe stany: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</a:rPr>
              <a:t>Success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 –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oznacza powodzenie i zawiera dane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Error –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oznacza błąd i zawiera komunikat o błędzie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</a:rPr>
              <a:t>Loading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 –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oznacza trwające ładowanie</a:t>
            </a:r>
          </a:p>
        </p:txBody>
      </p: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17593B76-C60D-B3E1-8E53-6A4F7BB240F1}"/>
              </a:ext>
            </a:extLst>
          </p:cNvPr>
          <p:cNvSpPr/>
          <p:nvPr/>
        </p:nvSpPr>
        <p:spPr>
          <a:xfrm>
            <a:off x="1043608" y="3623621"/>
            <a:ext cx="4556055" cy="851577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549CA63C-B475-C6A4-0D2C-3215B2A04760}"/>
              </a:ext>
            </a:extLst>
          </p:cNvPr>
          <p:cNvSpPr txBox="1"/>
          <p:nvPr/>
        </p:nvSpPr>
        <p:spPr>
          <a:xfrm>
            <a:off x="334543" y="4581267"/>
            <a:ext cx="2770685" cy="738664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Dzięki klasom zapieczętowanym możemy bezpiecznie obsługiwać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wszystkie możliwe stany</a:t>
            </a:r>
          </a:p>
        </p:txBody>
      </p: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FC52D429-2E03-B608-AA59-7142D0353710}"/>
              </a:ext>
            </a:extLst>
          </p:cNvPr>
          <p:cNvSpPr/>
          <p:nvPr/>
        </p:nvSpPr>
        <p:spPr>
          <a:xfrm>
            <a:off x="334543" y="4538846"/>
            <a:ext cx="2770685" cy="781086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828F1F46-E280-71A6-A137-E7CCF7B0054A}"/>
              </a:ext>
            </a:extLst>
          </p:cNvPr>
          <p:cNvSpPr txBox="1"/>
          <p:nvPr/>
        </p:nvSpPr>
        <p:spPr>
          <a:xfrm>
            <a:off x="495749" y="5661248"/>
            <a:ext cx="2448271" cy="307777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wszystkie możliwe stany</a:t>
            </a:r>
          </a:p>
        </p:txBody>
      </p:sp>
      <p:sp>
        <p:nvSpPr>
          <p:cNvPr id="41" name="Prostokąt: zaokrąglone rogi 40">
            <a:extLst>
              <a:ext uri="{FF2B5EF4-FFF2-40B4-BE49-F238E27FC236}">
                <a16:creationId xmlns:a16="http://schemas.microsoft.com/office/drawing/2014/main" id="{94334931-566D-20D9-0EB3-49ABAD683266}"/>
              </a:ext>
            </a:extLst>
          </p:cNvPr>
          <p:cNvSpPr/>
          <p:nvPr/>
        </p:nvSpPr>
        <p:spPr>
          <a:xfrm>
            <a:off x="495749" y="5661247"/>
            <a:ext cx="2448271" cy="30777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3" name="Nawias klamrowy otwierający 42">
            <a:extLst>
              <a:ext uri="{FF2B5EF4-FFF2-40B4-BE49-F238E27FC236}">
                <a16:creationId xmlns:a16="http://schemas.microsoft.com/office/drawing/2014/main" id="{391CD5CF-08D5-CE3D-A8AB-6568F83B2C02}"/>
              </a:ext>
            </a:extLst>
          </p:cNvPr>
          <p:cNvSpPr/>
          <p:nvPr/>
        </p:nvSpPr>
        <p:spPr>
          <a:xfrm>
            <a:off x="4067944" y="5206503"/>
            <a:ext cx="288032" cy="886794"/>
          </a:xfrm>
          <a:prstGeom prst="leftBrac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4" name="Łącznik prosty ze strzałką 43">
            <a:extLst>
              <a:ext uri="{FF2B5EF4-FFF2-40B4-BE49-F238E27FC236}">
                <a16:creationId xmlns:a16="http://schemas.microsoft.com/office/drawing/2014/main" id="{56770E57-98DF-34FB-E378-6BE606A7C763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 flipV="1">
            <a:off x="2944020" y="5649900"/>
            <a:ext cx="1123924" cy="165236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93D759F-10F3-C480-3F5B-C4F6307DEAA6}"/>
              </a:ext>
            </a:extLst>
          </p:cNvPr>
          <p:cNvSpPr txBox="1"/>
          <p:nvPr/>
        </p:nvSpPr>
        <p:spPr>
          <a:xfrm>
            <a:off x="1187624" y="6258534"/>
            <a:ext cx="1756396" cy="307778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brak bloku </a:t>
            </a: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</a:rPr>
              <a:t>else</a:t>
            </a:r>
            <a:endParaRPr lang="pl-PL" sz="1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9892B3F7-0A9F-C963-4531-4CCD1C95C617}"/>
              </a:ext>
            </a:extLst>
          </p:cNvPr>
          <p:cNvSpPr/>
          <p:nvPr/>
        </p:nvSpPr>
        <p:spPr>
          <a:xfrm>
            <a:off x="1187624" y="6258533"/>
            <a:ext cx="1440160" cy="307778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91C80318-4A9E-3E5F-1EAF-9ACAF2A3DBBA}"/>
              </a:ext>
            </a:extLst>
          </p:cNvPr>
          <p:cNvCxnSpPr>
            <a:cxnSpLocks/>
          </p:cNvCxnSpPr>
          <p:nvPr/>
        </p:nvCxnSpPr>
        <p:spPr>
          <a:xfrm flipV="1">
            <a:off x="2601449" y="6141885"/>
            <a:ext cx="1643445" cy="199266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1952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A45F6-DACD-2864-B0A3-CFCF7B4F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34B1A5-018C-2E27-A5DA-255D09CB630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wyliczeniowe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A0EF308-0B5B-4F0F-0DF5-CC66B6697029}"/>
              </a:ext>
            </a:extLst>
          </p:cNvPr>
          <p:cNvSpPr txBox="1"/>
          <p:nvPr/>
        </p:nvSpPr>
        <p:spPr>
          <a:xfrm rot="10800000" flipV="1">
            <a:off x="1223120" y="836712"/>
            <a:ext cx="792088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enum</a:t>
            </a:r>
            <a:r>
              <a:rPr lang="pl-PL" sz="1600" b="1" dirty="0"/>
              <a:t> </a:t>
            </a:r>
            <a:r>
              <a:rPr lang="pl-PL" sz="1600" b="1" dirty="0" err="1"/>
              <a:t>class</a:t>
            </a:r>
            <a:r>
              <a:rPr lang="pl-PL" sz="1600" dirty="0"/>
              <a:t> to specjalny typ klasy, który służy do </a:t>
            </a:r>
            <a:r>
              <a:rPr lang="pl-PL" sz="1600" b="1" dirty="0"/>
              <a:t>definiowania zbioru stałych</a:t>
            </a:r>
            <a:r>
              <a:rPr lang="pl-PL" sz="1600" dirty="0"/>
              <a:t>. 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5A2BCF91-495C-C395-F732-CFBE52641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1284006"/>
            <a:ext cx="4286250" cy="1371600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9C0C4954-AA99-7839-78C3-159A4CDEF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583" y="2780928"/>
            <a:ext cx="76485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30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29BE9-A07C-EB05-9DDC-43AE4B60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389198-3104-9F23-0EAA-0D78918933D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generyczne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1E436D3-1FC5-9024-4256-20A0D1E8F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2276872"/>
            <a:ext cx="4238625" cy="4114800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29E98066-AC27-821F-0535-BA89A606FEA9}"/>
              </a:ext>
            </a:extLst>
          </p:cNvPr>
          <p:cNvCxnSpPr>
            <a:cxnSpLocks/>
          </p:cNvCxnSpPr>
          <p:nvPr/>
        </p:nvCxnSpPr>
        <p:spPr>
          <a:xfrm>
            <a:off x="3091486" y="2228050"/>
            <a:ext cx="373811" cy="3686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0427844-27BA-8727-2178-5CB5F80CF93F}"/>
              </a:ext>
            </a:extLst>
          </p:cNvPr>
          <p:cNvSpPr txBox="1"/>
          <p:nvPr/>
        </p:nvSpPr>
        <p:spPr>
          <a:xfrm>
            <a:off x="1847968" y="1831202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5B241E7B-7341-6CDF-B97D-EBC76676BA63}"/>
              </a:ext>
            </a:extLst>
          </p:cNvPr>
          <p:cNvCxnSpPr>
            <a:cxnSpLocks/>
          </p:cNvCxnSpPr>
          <p:nvPr/>
        </p:nvCxnSpPr>
        <p:spPr>
          <a:xfrm flipH="1">
            <a:off x="4818595" y="1939830"/>
            <a:ext cx="62547" cy="59877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0E7BE68-20E9-EA5F-5BAE-0C7B3F7AD17E}"/>
              </a:ext>
            </a:extLst>
          </p:cNvPr>
          <p:cNvSpPr txBox="1"/>
          <p:nvPr/>
        </p:nvSpPr>
        <p:spPr>
          <a:xfrm>
            <a:off x="4311415" y="1260851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typowany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E21825EB-7B43-7C07-3893-81B561905506}"/>
              </a:ext>
            </a:extLst>
          </p:cNvPr>
          <p:cNvCxnSpPr>
            <a:cxnSpLocks/>
          </p:cNvCxnSpPr>
          <p:nvPr/>
        </p:nvCxnSpPr>
        <p:spPr>
          <a:xfrm>
            <a:off x="3937845" y="1939830"/>
            <a:ext cx="528900" cy="61519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BF0B14C-D580-B0F9-6E4F-2184B7E9B713}"/>
              </a:ext>
            </a:extLst>
          </p:cNvPr>
          <p:cNvSpPr txBox="1"/>
          <p:nvPr/>
        </p:nvSpPr>
        <p:spPr>
          <a:xfrm>
            <a:off x="3409954" y="1234143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klasy</a:t>
            </a: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5CD981BA-FD71-1DE4-D359-AD9B0CDB1230}"/>
              </a:ext>
            </a:extLst>
          </p:cNvPr>
          <p:cNvCxnSpPr>
            <a:cxnSpLocks/>
          </p:cNvCxnSpPr>
          <p:nvPr/>
        </p:nvCxnSpPr>
        <p:spPr>
          <a:xfrm flipH="1">
            <a:off x="5791911" y="1596190"/>
            <a:ext cx="293534" cy="89192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E7B63D2-BE1F-FEBA-4748-52CF87EABEB7}"/>
              </a:ext>
            </a:extLst>
          </p:cNvPr>
          <p:cNvSpPr txBox="1"/>
          <p:nvPr/>
        </p:nvSpPr>
        <p:spPr>
          <a:xfrm>
            <a:off x="5539975" y="97245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37C79B12-F1B4-6900-46C1-2D79AB1CE386}"/>
              </a:ext>
            </a:extLst>
          </p:cNvPr>
          <p:cNvCxnSpPr>
            <a:cxnSpLocks/>
          </p:cNvCxnSpPr>
          <p:nvPr/>
        </p:nvCxnSpPr>
        <p:spPr>
          <a:xfrm flipH="1">
            <a:off x="6679812" y="1939830"/>
            <a:ext cx="650299" cy="51924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B37475C7-8891-FCAC-D0F4-9672DDAD8176}"/>
              </a:ext>
            </a:extLst>
          </p:cNvPr>
          <p:cNvSpPr txBox="1"/>
          <p:nvPr/>
        </p:nvSpPr>
        <p:spPr>
          <a:xfrm>
            <a:off x="6949145" y="128072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parametru</a:t>
            </a:r>
          </a:p>
        </p:txBody>
      </p:sp>
    </p:spTree>
    <p:extLst>
      <p:ext uri="{BB962C8B-B14F-4D97-AF65-F5344CB8AC3E}">
        <p14:creationId xmlns:p14="http://schemas.microsoft.com/office/powerpoint/2010/main" val="15918713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8AB59-93F5-778B-6425-0C1D348FB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9CEFBD-B0EF-AC0F-1B68-7C9E3077EE7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generyczne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6994FAC-6DF1-5D1B-B8BB-37E39D1E548F}"/>
              </a:ext>
            </a:extLst>
          </p:cNvPr>
          <p:cNvSpPr txBox="1"/>
          <p:nvPr/>
        </p:nvSpPr>
        <p:spPr>
          <a:xfrm>
            <a:off x="1043608" y="836712"/>
            <a:ext cx="7848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Kotlin wprowadza </a:t>
            </a:r>
            <a:r>
              <a:rPr lang="pl-PL" sz="1600" b="1" dirty="0"/>
              <a:t>wariancję</a:t>
            </a:r>
            <a:r>
              <a:rPr lang="pl-PL" sz="1600" dirty="0"/>
              <a:t> dla </a:t>
            </a:r>
            <a:r>
              <a:rPr lang="pl-PL" sz="1600" b="1" dirty="0"/>
              <a:t>klas generycznych</a:t>
            </a:r>
            <a:r>
              <a:rPr lang="pl-PL" sz="1600" dirty="0"/>
              <a:t>, która określa, czy typy generyczne są </a:t>
            </a:r>
            <a:r>
              <a:rPr lang="pl-PL" sz="1600" b="1" dirty="0"/>
              <a:t>kowariantne</a:t>
            </a:r>
            <a:r>
              <a:rPr lang="pl-PL" sz="1600" dirty="0"/>
              <a:t> (zachowują zgodność typów w jednym kierunku) czy </a:t>
            </a:r>
            <a:r>
              <a:rPr lang="pl-PL" sz="1600" b="1" dirty="0" err="1"/>
              <a:t>kontrawariantne</a:t>
            </a:r>
            <a:r>
              <a:rPr lang="pl-PL" sz="1600" dirty="0"/>
              <a:t> (działają w przeciwnym kierunku).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FD0FE66A-6C74-5013-E0E5-CC10B68A3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9" y="2722105"/>
            <a:ext cx="5112568" cy="987569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8868D25C-24A3-B246-A591-492CEB4FF9BF}"/>
              </a:ext>
            </a:extLst>
          </p:cNvPr>
          <p:cNvSpPr txBox="1"/>
          <p:nvPr/>
        </p:nvSpPr>
        <p:spPr>
          <a:xfrm>
            <a:off x="1610455" y="1753880"/>
            <a:ext cx="2961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out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oznacza, że generyczny typ może być jedynie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produkowany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(czyli używany jako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typ zwracany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F786CE9C-58B8-3A29-15C2-CDB86EF2BFB8}"/>
              </a:ext>
            </a:extLst>
          </p:cNvPr>
          <p:cNvSpPr/>
          <p:nvPr/>
        </p:nvSpPr>
        <p:spPr>
          <a:xfrm>
            <a:off x="1610454" y="1753880"/>
            <a:ext cx="2961546" cy="76841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67C09D2F-A944-2848-B296-14A78C0CACAD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091227" y="2522294"/>
            <a:ext cx="0" cy="35814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trzałka: w dół 25">
            <a:extLst>
              <a:ext uri="{FF2B5EF4-FFF2-40B4-BE49-F238E27FC236}">
                <a16:creationId xmlns:a16="http://schemas.microsoft.com/office/drawing/2014/main" id="{2AC939D0-CEA2-7ACD-7414-853C0BDC8092}"/>
              </a:ext>
            </a:extLst>
          </p:cNvPr>
          <p:cNvSpPr/>
          <p:nvPr/>
        </p:nvSpPr>
        <p:spPr>
          <a:xfrm>
            <a:off x="7718276" y="1562191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0" name="Obraz 29">
            <a:extLst>
              <a:ext uri="{FF2B5EF4-FFF2-40B4-BE49-F238E27FC236}">
                <a16:creationId xmlns:a16="http://schemas.microsoft.com/office/drawing/2014/main" id="{A0BD54C5-C390-20F8-6D2C-99A1B9E4A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152" y="2483492"/>
            <a:ext cx="1727920" cy="259188"/>
          </a:xfrm>
          <a:prstGeom prst="rect">
            <a:avLst/>
          </a:prstGeom>
        </p:spPr>
      </p:pic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52095782-2D22-F6A9-9B70-97D1589544C1}"/>
              </a:ext>
            </a:extLst>
          </p:cNvPr>
          <p:cNvSpPr/>
          <p:nvPr/>
        </p:nvSpPr>
        <p:spPr>
          <a:xfrm>
            <a:off x="6281795" y="1685796"/>
            <a:ext cx="1460656" cy="27508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55B70E06-C4F4-0875-CB5F-9D25CF614AC9}"/>
              </a:ext>
            </a:extLst>
          </p:cNvPr>
          <p:cNvSpPr txBox="1"/>
          <p:nvPr/>
        </p:nvSpPr>
        <p:spPr>
          <a:xfrm>
            <a:off x="6317755" y="1622326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okreśony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typ</a:t>
            </a: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A2B325B3-2CF6-8CF2-D74F-A1030D37C5C0}"/>
              </a:ext>
            </a:extLst>
          </p:cNvPr>
          <p:cNvSpPr txBox="1"/>
          <p:nvPr/>
        </p:nvSpPr>
        <p:spPr>
          <a:xfrm>
            <a:off x="1805521" y="3677278"/>
            <a:ext cx="12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typ zwracany</a:t>
            </a:r>
            <a:endParaRPr lang="pl-PL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5" name="Prostokąt: zaokrąglone rogi 34">
            <a:extLst>
              <a:ext uri="{FF2B5EF4-FFF2-40B4-BE49-F238E27FC236}">
                <a16:creationId xmlns:a16="http://schemas.microsoft.com/office/drawing/2014/main" id="{2A19A3C7-D6EE-358D-01CD-FEFAAFED2AE4}"/>
              </a:ext>
            </a:extLst>
          </p:cNvPr>
          <p:cNvSpPr/>
          <p:nvPr/>
        </p:nvSpPr>
        <p:spPr>
          <a:xfrm>
            <a:off x="1795083" y="3669782"/>
            <a:ext cx="1296144" cy="307777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6" name="Łącznik prosty ze strzałką 35">
            <a:extLst>
              <a:ext uri="{FF2B5EF4-FFF2-40B4-BE49-F238E27FC236}">
                <a16:creationId xmlns:a16="http://schemas.microsoft.com/office/drawing/2014/main" id="{20F5B91A-C0A7-7D3F-59D9-4C89E8FB97A7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2443155" y="3415614"/>
            <a:ext cx="472661" cy="25416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trzałka: w dół 39">
            <a:extLst>
              <a:ext uri="{FF2B5EF4-FFF2-40B4-BE49-F238E27FC236}">
                <a16:creationId xmlns:a16="http://schemas.microsoft.com/office/drawing/2014/main" id="{4F00969D-7765-856B-D7F1-808640155B18}"/>
              </a:ext>
            </a:extLst>
          </p:cNvPr>
          <p:cNvSpPr/>
          <p:nvPr/>
        </p:nvSpPr>
        <p:spPr>
          <a:xfrm>
            <a:off x="7718276" y="2910588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5" name="Prostokąt: zaokrąglone rogi 44">
            <a:extLst>
              <a:ext uri="{FF2B5EF4-FFF2-40B4-BE49-F238E27FC236}">
                <a16:creationId xmlns:a16="http://schemas.microsoft.com/office/drawing/2014/main" id="{4354D24D-028B-8291-0003-41CD8C2EF1F3}"/>
              </a:ext>
            </a:extLst>
          </p:cNvPr>
          <p:cNvSpPr/>
          <p:nvPr/>
        </p:nvSpPr>
        <p:spPr>
          <a:xfrm>
            <a:off x="7258386" y="3822806"/>
            <a:ext cx="1460656" cy="27508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6" name="pole tekstowe 45">
            <a:extLst>
              <a:ext uri="{FF2B5EF4-FFF2-40B4-BE49-F238E27FC236}">
                <a16:creationId xmlns:a16="http://schemas.microsoft.com/office/drawing/2014/main" id="{B9230DCA-529D-4913-68B9-E865AE97372A}"/>
              </a:ext>
            </a:extLst>
          </p:cNvPr>
          <p:cNvSpPr txBox="1"/>
          <p:nvPr/>
        </p:nvSpPr>
        <p:spPr>
          <a:xfrm>
            <a:off x="7294346" y="3759336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dowolny typ</a:t>
            </a:r>
          </a:p>
        </p:txBody>
      </p:sp>
      <p:sp>
        <p:nvSpPr>
          <p:cNvPr id="56" name="Strzałka: w dół 55">
            <a:extLst>
              <a:ext uri="{FF2B5EF4-FFF2-40B4-BE49-F238E27FC236}">
                <a16:creationId xmlns:a16="http://schemas.microsoft.com/office/drawing/2014/main" id="{A140F6E3-6BE3-257C-87A8-9D911F4AD3DA}"/>
              </a:ext>
            </a:extLst>
          </p:cNvPr>
          <p:cNvSpPr/>
          <p:nvPr/>
        </p:nvSpPr>
        <p:spPr>
          <a:xfrm rot="1490492">
            <a:off x="7165024" y="2836297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7" name="Strzałka: w dół 56">
            <a:extLst>
              <a:ext uri="{FF2B5EF4-FFF2-40B4-BE49-F238E27FC236}">
                <a16:creationId xmlns:a16="http://schemas.microsoft.com/office/drawing/2014/main" id="{3CA894B5-92A1-B92D-F41C-5A83628C0B57}"/>
              </a:ext>
            </a:extLst>
          </p:cNvPr>
          <p:cNvSpPr/>
          <p:nvPr/>
        </p:nvSpPr>
        <p:spPr>
          <a:xfrm rot="20009928">
            <a:off x="8263617" y="2837192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9217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F4378-C322-F9A3-3340-67541BD3A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5E60CF-BA61-D01B-1353-F17A7A3D8E3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generyczne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8480CA7-2B1A-6596-2904-EA68C0FBB575}"/>
              </a:ext>
            </a:extLst>
          </p:cNvPr>
          <p:cNvSpPr txBox="1"/>
          <p:nvPr/>
        </p:nvSpPr>
        <p:spPr>
          <a:xfrm>
            <a:off x="1043608" y="836712"/>
            <a:ext cx="7848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Kotlin wprowadza </a:t>
            </a:r>
            <a:r>
              <a:rPr lang="pl-PL" sz="1600" b="1" dirty="0"/>
              <a:t>wariancję</a:t>
            </a:r>
            <a:r>
              <a:rPr lang="pl-PL" sz="1600" dirty="0"/>
              <a:t> dla </a:t>
            </a:r>
            <a:r>
              <a:rPr lang="pl-PL" sz="1600" b="1" dirty="0"/>
              <a:t>klas generycznych</a:t>
            </a:r>
            <a:r>
              <a:rPr lang="pl-PL" sz="1600" dirty="0"/>
              <a:t>, która określa, czy typy generyczne są </a:t>
            </a:r>
            <a:r>
              <a:rPr lang="pl-PL" sz="1600" b="1" dirty="0"/>
              <a:t>kowariantne</a:t>
            </a:r>
            <a:r>
              <a:rPr lang="pl-PL" sz="1600" dirty="0"/>
              <a:t> (zachowują zgodność typów w jednym kierunku) czy </a:t>
            </a:r>
            <a:r>
              <a:rPr lang="pl-PL" sz="1600" b="1" dirty="0" err="1"/>
              <a:t>kontrawariantne</a:t>
            </a:r>
            <a:r>
              <a:rPr lang="pl-PL" sz="1600" dirty="0"/>
              <a:t> (działają w przeciwnym kierunku).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BB8C239A-DFA0-DA65-2785-446BBC447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9" y="2722105"/>
            <a:ext cx="5112568" cy="987569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76BBF307-3D01-A3E9-603E-F416987D7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837" y="4900629"/>
            <a:ext cx="4392489" cy="1768731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32DDEB58-2C55-54A8-AFC6-0DA3A8895A88}"/>
              </a:ext>
            </a:extLst>
          </p:cNvPr>
          <p:cNvSpPr txBox="1"/>
          <p:nvPr/>
        </p:nvSpPr>
        <p:spPr>
          <a:xfrm>
            <a:off x="1610455" y="1753880"/>
            <a:ext cx="2961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out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oznacza, że generyczny typ może być jedynie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produkowany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(czyli używany jako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typ zwracany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8FC7EF3E-EF9C-A567-CCD5-1E9A919776C9}"/>
              </a:ext>
            </a:extLst>
          </p:cNvPr>
          <p:cNvSpPr/>
          <p:nvPr/>
        </p:nvSpPr>
        <p:spPr>
          <a:xfrm>
            <a:off x="1610454" y="1753880"/>
            <a:ext cx="2961546" cy="76841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57DA1944-F572-0B5F-157D-D6E400A91D0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091227" y="2522294"/>
            <a:ext cx="0" cy="35814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trzałka: w dół 25">
            <a:extLst>
              <a:ext uri="{FF2B5EF4-FFF2-40B4-BE49-F238E27FC236}">
                <a16:creationId xmlns:a16="http://schemas.microsoft.com/office/drawing/2014/main" id="{6FA6B3EB-B592-10AE-CD71-1BC8B81CBD44}"/>
              </a:ext>
            </a:extLst>
          </p:cNvPr>
          <p:cNvSpPr/>
          <p:nvPr/>
        </p:nvSpPr>
        <p:spPr>
          <a:xfrm>
            <a:off x="7718276" y="1562191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30" name="Obraz 29">
            <a:extLst>
              <a:ext uri="{FF2B5EF4-FFF2-40B4-BE49-F238E27FC236}">
                <a16:creationId xmlns:a16="http://schemas.microsoft.com/office/drawing/2014/main" id="{FEE706E2-927A-B0B1-4915-282CC4F89B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152" y="2483492"/>
            <a:ext cx="1727920" cy="259188"/>
          </a:xfrm>
          <a:prstGeom prst="rect">
            <a:avLst/>
          </a:prstGeom>
        </p:spPr>
      </p:pic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BCFA59E2-A06F-A8A0-3E75-A7C1A07F3596}"/>
              </a:ext>
            </a:extLst>
          </p:cNvPr>
          <p:cNvSpPr/>
          <p:nvPr/>
        </p:nvSpPr>
        <p:spPr>
          <a:xfrm>
            <a:off x="6281795" y="1685796"/>
            <a:ext cx="1460656" cy="27508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4AE6374C-49F7-DF8D-91DD-07C6FB558CD9}"/>
              </a:ext>
            </a:extLst>
          </p:cNvPr>
          <p:cNvSpPr txBox="1"/>
          <p:nvPr/>
        </p:nvSpPr>
        <p:spPr>
          <a:xfrm>
            <a:off x="6317755" y="1622326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okreśony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typ</a:t>
            </a: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4C8C7514-FC55-8D56-8032-9EAC5A38A8EB}"/>
              </a:ext>
            </a:extLst>
          </p:cNvPr>
          <p:cNvSpPr txBox="1"/>
          <p:nvPr/>
        </p:nvSpPr>
        <p:spPr>
          <a:xfrm>
            <a:off x="1805521" y="3677278"/>
            <a:ext cx="12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typ zwracany</a:t>
            </a:r>
            <a:endParaRPr lang="pl-PL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5" name="Prostokąt: zaokrąglone rogi 34">
            <a:extLst>
              <a:ext uri="{FF2B5EF4-FFF2-40B4-BE49-F238E27FC236}">
                <a16:creationId xmlns:a16="http://schemas.microsoft.com/office/drawing/2014/main" id="{095A56D3-CF42-E7FF-9460-D411F5DBD97E}"/>
              </a:ext>
            </a:extLst>
          </p:cNvPr>
          <p:cNvSpPr/>
          <p:nvPr/>
        </p:nvSpPr>
        <p:spPr>
          <a:xfrm>
            <a:off x="1795083" y="3669782"/>
            <a:ext cx="1296144" cy="307777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6" name="Łącznik prosty ze strzałką 35">
            <a:extLst>
              <a:ext uri="{FF2B5EF4-FFF2-40B4-BE49-F238E27FC236}">
                <a16:creationId xmlns:a16="http://schemas.microsoft.com/office/drawing/2014/main" id="{77D85BAE-0787-3EAA-A82F-35A6656A56E7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2443155" y="3415614"/>
            <a:ext cx="472661" cy="25416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trzałka: w dół 39">
            <a:extLst>
              <a:ext uri="{FF2B5EF4-FFF2-40B4-BE49-F238E27FC236}">
                <a16:creationId xmlns:a16="http://schemas.microsoft.com/office/drawing/2014/main" id="{FE821B7D-ADE5-2004-51DA-C3C9801B5CE6}"/>
              </a:ext>
            </a:extLst>
          </p:cNvPr>
          <p:cNvSpPr/>
          <p:nvPr/>
        </p:nvSpPr>
        <p:spPr>
          <a:xfrm>
            <a:off x="7718276" y="2910588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5" name="Prostokąt: zaokrąglone rogi 44">
            <a:extLst>
              <a:ext uri="{FF2B5EF4-FFF2-40B4-BE49-F238E27FC236}">
                <a16:creationId xmlns:a16="http://schemas.microsoft.com/office/drawing/2014/main" id="{BD0F7DA4-8403-7064-06C5-19A46DBE5AF5}"/>
              </a:ext>
            </a:extLst>
          </p:cNvPr>
          <p:cNvSpPr/>
          <p:nvPr/>
        </p:nvSpPr>
        <p:spPr>
          <a:xfrm>
            <a:off x="7258386" y="3822806"/>
            <a:ext cx="1460656" cy="27508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6" name="pole tekstowe 45">
            <a:extLst>
              <a:ext uri="{FF2B5EF4-FFF2-40B4-BE49-F238E27FC236}">
                <a16:creationId xmlns:a16="http://schemas.microsoft.com/office/drawing/2014/main" id="{73AA880E-3F27-EB3F-B9BD-6DDBD9FD5176}"/>
              </a:ext>
            </a:extLst>
          </p:cNvPr>
          <p:cNvSpPr txBox="1"/>
          <p:nvPr/>
        </p:nvSpPr>
        <p:spPr>
          <a:xfrm>
            <a:off x="7294346" y="3759336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dowolny typ</a:t>
            </a:r>
          </a:p>
        </p:txBody>
      </p:sp>
      <p:sp>
        <p:nvSpPr>
          <p:cNvPr id="47" name="Strzałka: w dół 46">
            <a:extLst>
              <a:ext uri="{FF2B5EF4-FFF2-40B4-BE49-F238E27FC236}">
                <a16:creationId xmlns:a16="http://schemas.microsoft.com/office/drawing/2014/main" id="{E7AD205B-8C63-9595-94A9-0DB6B9D8BFDF}"/>
              </a:ext>
            </a:extLst>
          </p:cNvPr>
          <p:cNvSpPr/>
          <p:nvPr/>
        </p:nvSpPr>
        <p:spPr>
          <a:xfrm>
            <a:off x="7718276" y="4257392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1" name="Strzałka: w dół 50">
            <a:extLst>
              <a:ext uri="{FF2B5EF4-FFF2-40B4-BE49-F238E27FC236}">
                <a16:creationId xmlns:a16="http://schemas.microsoft.com/office/drawing/2014/main" id="{E7E4B62B-4020-C4A1-7863-FC1458B333E0}"/>
              </a:ext>
            </a:extLst>
          </p:cNvPr>
          <p:cNvSpPr/>
          <p:nvPr/>
        </p:nvSpPr>
        <p:spPr>
          <a:xfrm>
            <a:off x="7718276" y="5605789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4" name="Prostokąt: zaokrąglone rogi 53">
            <a:extLst>
              <a:ext uri="{FF2B5EF4-FFF2-40B4-BE49-F238E27FC236}">
                <a16:creationId xmlns:a16="http://schemas.microsoft.com/office/drawing/2014/main" id="{AC9C309A-C9F8-0B93-B765-895DC17BF9A2}"/>
              </a:ext>
            </a:extLst>
          </p:cNvPr>
          <p:cNvSpPr/>
          <p:nvPr/>
        </p:nvSpPr>
        <p:spPr>
          <a:xfrm>
            <a:off x="7215800" y="6535218"/>
            <a:ext cx="1460656" cy="27508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921E569B-314F-F6E6-30AE-73A3F4F351D0}"/>
              </a:ext>
            </a:extLst>
          </p:cNvPr>
          <p:cNvSpPr txBox="1"/>
          <p:nvPr/>
        </p:nvSpPr>
        <p:spPr>
          <a:xfrm>
            <a:off x="7215800" y="6471748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określony typ</a:t>
            </a:r>
          </a:p>
        </p:txBody>
      </p:sp>
      <p:sp>
        <p:nvSpPr>
          <p:cNvPr id="56" name="Strzałka: w dół 55">
            <a:extLst>
              <a:ext uri="{FF2B5EF4-FFF2-40B4-BE49-F238E27FC236}">
                <a16:creationId xmlns:a16="http://schemas.microsoft.com/office/drawing/2014/main" id="{48826ACD-FFF1-0142-A28E-103DBC91EBA4}"/>
              </a:ext>
            </a:extLst>
          </p:cNvPr>
          <p:cNvSpPr/>
          <p:nvPr/>
        </p:nvSpPr>
        <p:spPr>
          <a:xfrm rot="1490492">
            <a:off x="7165024" y="2836297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7" name="Strzałka: w dół 56">
            <a:extLst>
              <a:ext uri="{FF2B5EF4-FFF2-40B4-BE49-F238E27FC236}">
                <a16:creationId xmlns:a16="http://schemas.microsoft.com/office/drawing/2014/main" id="{E4B7CBCE-A84F-60BC-2D59-4F69DC55ADFF}"/>
              </a:ext>
            </a:extLst>
          </p:cNvPr>
          <p:cNvSpPr/>
          <p:nvPr/>
        </p:nvSpPr>
        <p:spPr>
          <a:xfrm rot="20009928">
            <a:off x="8263617" y="2837192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8" name="Strzałka: w dół 57">
            <a:extLst>
              <a:ext uri="{FF2B5EF4-FFF2-40B4-BE49-F238E27FC236}">
                <a16:creationId xmlns:a16="http://schemas.microsoft.com/office/drawing/2014/main" id="{A7B7D1B3-C685-514E-3EAD-8EE4666E7519}"/>
              </a:ext>
            </a:extLst>
          </p:cNvPr>
          <p:cNvSpPr/>
          <p:nvPr/>
        </p:nvSpPr>
        <p:spPr>
          <a:xfrm rot="19446328">
            <a:off x="7158548" y="4349402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9" name="Strzałka: w dół 58">
            <a:extLst>
              <a:ext uri="{FF2B5EF4-FFF2-40B4-BE49-F238E27FC236}">
                <a16:creationId xmlns:a16="http://schemas.microsoft.com/office/drawing/2014/main" id="{F38759CA-B752-0ADB-D558-7A99E9CA8E72}"/>
              </a:ext>
            </a:extLst>
          </p:cNvPr>
          <p:cNvSpPr/>
          <p:nvPr/>
        </p:nvSpPr>
        <p:spPr>
          <a:xfrm rot="1750293">
            <a:off x="8319206" y="4338312"/>
            <a:ext cx="468052" cy="830997"/>
          </a:xfrm>
          <a:prstGeom prst="dow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61" name="Obraz 60">
            <a:extLst>
              <a:ext uri="{FF2B5EF4-FFF2-40B4-BE49-F238E27FC236}">
                <a16:creationId xmlns:a16="http://schemas.microsoft.com/office/drawing/2014/main" id="{9683032E-E7FC-2B93-28C3-8CA18D7BE3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983" y="5193721"/>
            <a:ext cx="1719498" cy="338554"/>
          </a:xfrm>
          <a:prstGeom prst="rect">
            <a:avLst/>
          </a:prstGeom>
        </p:spPr>
      </p:pic>
      <p:sp>
        <p:nvSpPr>
          <p:cNvPr id="62" name="pole tekstowe 61">
            <a:extLst>
              <a:ext uri="{FF2B5EF4-FFF2-40B4-BE49-F238E27FC236}">
                <a16:creationId xmlns:a16="http://schemas.microsoft.com/office/drawing/2014/main" id="{433AF898-C39B-6C3D-1626-B7A2BA66D636}"/>
              </a:ext>
            </a:extLst>
          </p:cNvPr>
          <p:cNvSpPr txBox="1"/>
          <p:nvPr/>
        </p:nvSpPr>
        <p:spPr>
          <a:xfrm>
            <a:off x="5118566" y="4642742"/>
            <a:ext cx="1691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typ przyjmowany</a:t>
            </a:r>
            <a:endParaRPr lang="pl-PL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3" name="Prostokąt: zaokrąglone rogi 62">
            <a:extLst>
              <a:ext uri="{FF2B5EF4-FFF2-40B4-BE49-F238E27FC236}">
                <a16:creationId xmlns:a16="http://schemas.microsoft.com/office/drawing/2014/main" id="{7B1013FB-55F9-10C7-5767-4868D7DEC556}"/>
              </a:ext>
            </a:extLst>
          </p:cNvPr>
          <p:cNvSpPr/>
          <p:nvPr/>
        </p:nvSpPr>
        <p:spPr>
          <a:xfrm>
            <a:off x="5085346" y="4642742"/>
            <a:ext cx="1691009" cy="350773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64" name="Łącznik prosty ze strzałką 63">
            <a:extLst>
              <a:ext uri="{FF2B5EF4-FFF2-40B4-BE49-F238E27FC236}">
                <a16:creationId xmlns:a16="http://schemas.microsoft.com/office/drawing/2014/main" id="{5B7BE0E9-E5FE-398B-8131-780A2C254EAA}"/>
              </a:ext>
            </a:extLst>
          </p:cNvPr>
          <p:cNvCxnSpPr>
            <a:cxnSpLocks/>
          </p:cNvCxnSpPr>
          <p:nvPr/>
        </p:nvCxnSpPr>
        <p:spPr>
          <a:xfrm flipH="1">
            <a:off x="4310805" y="5047789"/>
            <a:ext cx="1017279" cy="484486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pole tekstowe 67">
            <a:extLst>
              <a:ext uri="{FF2B5EF4-FFF2-40B4-BE49-F238E27FC236}">
                <a16:creationId xmlns:a16="http://schemas.microsoft.com/office/drawing/2014/main" id="{E8379BA7-1446-AD88-98A5-528F9481E7EF}"/>
              </a:ext>
            </a:extLst>
          </p:cNvPr>
          <p:cNvSpPr txBox="1"/>
          <p:nvPr/>
        </p:nvSpPr>
        <p:spPr>
          <a:xfrm>
            <a:off x="1939173" y="4132215"/>
            <a:ext cx="2961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in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oznacza, że generyczny typ może być jedynie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konsumowany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(używany jako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typ argumentu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9" name="Prostokąt: zaokrąglone rogi 68">
            <a:extLst>
              <a:ext uri="{FF2B5EF4-FFF2-40B4-BE49-F238E27FC236}">
                <a16:creationId xmlns:a16="http://schemas.microsoft.com/office/drawing/2014/main" id="{3AFEBD05-95B8-D676-3D0B-4A3D6960F11B}"/>
              </a:ext>
            </a:extLst>
          </p:cNvPr>
          <p:cNvSpPr/>
          <p:nvPr/>
        </p:nvSpPr>
        <p:spPr>
          <a:xfrm>
            <a:off x="1939172" y="4132215"/>
            <a:ext cx="2961546" cy="768414"/>
          </a:xfrm>
          <a:prstGeom prst="roundRect">
            <a:avLst/>
          </a:prstGeom>
          <a:noFill/>
          <a:ln w="508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0" name="Łącznik prosty ze strzałką 69">
            <a:extLst>
              <a:ext uri="{FF2B5EF4-FFF2-40B4-BE49-F238E27FC236}">
                <a16:creationId xmlns:a16="http://schemas.microsoft.com/office/drawing/2014/main" id="{9D2408DE-615B-B500-5BE5-CE0C8D279123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3419945" y="4900629"/>
            <a:ext cx="0" cy="35814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347543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83339</TotalTime>
  <Pages>0</Pages>
  <Words>2590</Words>
  <Characters>0</Characters>
  <Application>Microsoft Office PowerPoint</Application>
  <PresentationFormat>Pokaz na ekranie (4:3)</PresentationFormat>
  <Lines>0</Lines>
  <Paragraphs>412</Paragraphs>
  <Slides>51</Slides>
  <Notes>51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51</vt:i4>
      </vt:variant>
    </vt:vector>
  </HeadingPairs>
  <TitlesOfParts>
    <vt:vector size="56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1175</cp:revision>
  <dcterms:modified xsi:type="dcterms:W3CDTF">2025-01-10T16:26:11Z</dcterms:modified>
  <cp:category/>
</cp:coreProperties>
</file>