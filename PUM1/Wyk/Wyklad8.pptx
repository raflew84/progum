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32"/>
  </p:notesMasterIdLst>
  <p:handoutMasterIdLst>
    <p:handoutMasterId r:id="rId33"/>
  </p:handoutMasterIdLst>
  <p:sldIdLst>
    <p:sldId id="346" r:id="rId2"/>
    <p:sldId id="503" r:id="rId3"/>
    <p:sldId id="522" r:id="rId4"/>
    <p:sldId id="523" r:id="rId5"/>
    <p:sldId id="524" r:id="rId6"/>
    <p:sldId id="525" r:id="rId7"/>
    <p:sldId id="526" r:id="rId8"/>
    <p:sldId id="527" r:id="rId9"/>
    <p:sldId id="528" r:id="rId10"/>
    <p:sldId id="530" r:id="rId11"/>
    <p:sldId id="529" r:id="rId12"/>
    <p:sldId id="531" r:id="rId13"/>
    <p:sldId id="533" r:id="rId14"/>
    <p:sldId id="534" r:id="rId15"/>
    <p:sldId id="535" r:id="rId16"/>
    <p:sldId id="536" r:id="rId17"/>
    <p:sldId id="532" r:id="rId18"/>
    <p:sldId id="537" r:id="rId19"/>
    <p:sldId id="538" r:id="rId20"/>
    <p:sldId id="539" r:id="rId21"/>
    <p:sldId id="540" r:id="rId22"/>
    <p:sldId id="541" r:id="rId23"/>
    <p:sldId id="519" r:id="rId24"/>
    <p:sldId id="542" r:id="rId25"/>
    <p:sldId id="543" r:id="rId26"/>
    <p:sldId id="544" r:id="rId27"/>
    <p:sldId id="545" r:id="rId28"/>
    <p:sldId id="546" r:id="rId29"/>
    <p:sldId id="547" r:id="rId30"/>
    <p:sldId id="548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E292"/>
    <a:srgbClr val="0000FF"/>
    <a:srgbClr val="00FF00"/>
    <a:srgbClr val="00FFFF"/>
    <a:srgbClr val="FF00FF"/>
    <a:srgbClr val="00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892" autoAdjust="0"/>
  </p:normalViewPr>
  <p:slideViewPr>
    <p:cSldViewPr>
      <p:cViewPr varScale="1">
        <p:scale>
          <a:sx n="66" d="100"/>
          <a:sy n="66" d="100"/>
        </p:scale>
        <p:origin x="123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10.02.2025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10.02.2025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3981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E213A-D251-0195-F34E-47B254782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07F81-FC61-E538-E5A6-F4511C948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98B57-942D-8572-DCFA-B9B4FB752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07AC7-A659-4A60-0284-F0FD10146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258193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55854-8033-4F21-BBFC-6CC090DF6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B09B8-48AC-9CA5-3AB2-94135894A2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9274FA-3C7B-DC42-4B02-F79ADF300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CE2EB-A6BD-CB0B-1A22-CC277B8D1F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65941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8686A-2CCF-934F-CE03-23582B80F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D6289-8868-718C-1C55-779C36FFC0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77B3B-14B9-7A6D-5E64-0F419E91D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741FA9-5EC7-036B-049B-967D90BAFC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240437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C2F35-56BA-B9B4-AF53-6659EC7E3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8CE506-3900-D716-2047-592742F5ED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15167B-BB41-DDA9-DC8A-DE7D5ED35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833BA0-73FC-8BC3-AB10-3EC303E892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877876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FFB33-0AA6-9C9A-C701-FABE21A0D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0D1076-06AF-51B4-EA21-5A4BDA988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8CEEAE-FBE9-0BD2-AA76-3DCE601D0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42906-5BF5-A887-45AC-F114CB73C7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440109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3D79A-C369-A99A-2059-1CAD68877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E0DB0-6B2B-F970-AE8F-C3689A7066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2F41D4-5FC0-9987-453D-937BC554E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A3A0B-8C2E-3597-5C9E-D7AA9C1C92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902154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1D276-AF9F-F183-4AB3-51CD0A420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8FA8E5-89B9-770E-C613-9230CE0808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00292F-75A0-531B-1C0F-A8D24CEC2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62348-6B79-32E5-9C80-31DEEC6FCC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28523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14D62-65DB-D116-F2AB-8AF4FE5B1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B45AD-B825-3E9C-7972-BC6C910DD5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CE66CA-FA77-84BA-AB85-FD7C8A2CCC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656C2-B82D-3713-F5FD-03FDC74DD3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12164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8ED53-A188-B120-4290-BA1BCD8D0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BC957A-A54B-A60A-258C-CBA89739E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63E6C1-032B-3A0C-3496-713C346C6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7FF8A-578B-79BE-2F06-9258D59A31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38053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601D0-98EB-936E-0D17-00EB44B99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F45B7F-2FE0-F3D8-040B-93DB852544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FC18F4-E2A5-8FD2-5D06-2890C1FE0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29DB2-AF3F-D0A6-4402-25A0EDC3A9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07782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85B4E-77AB-6DBA-F87A-830B1FF6B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6A2BD-3DC4-9BCE-DD91-9EE5C0773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4B710-42C2-5BAD-78F1-A6C8C291C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FBB11-5B26-B49A-0A1F-5B565CD581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06339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0900F-C457-9EBF-57F0-05E47CF01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D1756A-508C-0494-E982-A9BE6B01C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1EF28A-3A6C-6633-9BE6-04F292F135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BE462-0979-D2D4-49B9-D63F5B02FC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81440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5F12F4-2233-F58E-5EB6-0B31F574A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358372-9387-89D4-744F-6E21585040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FC0BF1-A2F5-1E64-7E2D-AD015CD1C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717E21-C2F8-1135-6C6F-3B9D7E4A31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90847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11FDF-C6E1-5173-9015-17BB1CC06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3E6F4B-41C9-08EA-91BD-14D147EA42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99D12E-090B-C89A-0F87-0F638A6CAB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F92BF-113D-EDFB-75ED-AE77915009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305579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34DDF-8376-BC3D-705E-9173FF0AD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85BBB-9670-D871-F5CB-3D154E5F6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421BF-EBF4-1ED6-55A8-787671026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87DC2-E59D-D97A-B3DF-5D014D4898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113100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2D1EA-F667-4EC4-14CA-997D02DD7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9AA2CF-AA0F-3E4E-9A22-28DEBD3F1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7D2939-E405-2ED3-6A31-701E5F0D6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417629-65F6-9ADF-F902-040610E6BF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782498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99553-7E8B-94C6-8C4B-D0EAE444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867F26-B2DD-3013-20D6-EACDEB2761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F6AAD-F3C7-9B14-F942-BBD4A8FF8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4994B-EF46-B86E-9026-1B9C508934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46716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E7F90-7F98-863D-966F-A577A446C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C8438-CD3D-12F4-9791-F2DA172C1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5D46F-7E44-805F-027D-DBD4C535B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0D97B-A8A8-2C6F-6C51-6563B7059D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364077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859B9-93C8-A40E-E395-A20EF154C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A2F70-AFC3-D183-ADD2-5863D10D3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09929-99B6-871B-9286-E53597B01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5F46D-1293-FA41-31CD-4A4BDEC05F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357882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11072-0953-D98E-FFE1-F8E29B9A4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D6812C-7722-6E1B-E2FE-7D669C684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C77075-153F-EEC0-6AFA-BF386D78D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D04CE-5EAD-DCE5-BBEA-D082C24A9D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61608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B9C31-F4B5-AC6C-D93A-4156004C9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CA2F4-5F85-9B90-E794-04179D1E6D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F3E2E-2CD7-76EE-077E-0C0D66E8A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F4CABB-CB8F-088F-D4C5-3EC8662EE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186649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FFA56-20BF-88E6-B7AD-BAA35070F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41E30-C271-9323-5EDE-283C0919B8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E1C24-B4EB-3DA9-2733-2911B253B2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32B5C2-1BBA-342C-98F6-CFA605C5E9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006796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46F5E-6445-E176-5B20-E087ACEDF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0D1DD4-BA8F-EDEE-D484-43EB0530ED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0008E2-3C9F-3B72-9CA1-2CF3462BD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F31A5-549E-7C6B-A703-80C767433C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308891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B5E09-66EB-DF57-22F3-F67FB9355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E2FC4-10B7-928C-D4DA-95EDECF82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FC4519-214E-3596-91E6-A479810440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D2FA5-71F1-B11C-40C4-DE5D1C9E28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401713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31B68-F54C-007B-CB03-48F56F1FB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8961A1-0477-739E-29E8-0B4245897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16A1A4-4A73-BE29-085C-3A0F3896E2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E0A9C-0864-B8C2-198E-4DE8063D5F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4319183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1B4D8-D78D-11D2-031C-51DF76D6B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7D5207-D24F-E2E5-9C3E-6084763BD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D52A6D-7264-90A2-DB79-3612CA258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ED498A-C482-A6E5-22A5-7F5238DBED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567976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756E3-D809-7132-19DF-30B069E8B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FF7D5-525C-18BA-7DAC-2205EC0D37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8CCEBF-20AD-F148-4DFB-F350A32F32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AB6649-F8D6-7D9C-71F7-CCBCCE64EB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8871355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68898-54B9-B885-1F61-ED76EE311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236458-AEFE-AF83-03CE-D55B81456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2E631-C95B-EBDC-9EEB-15AC20CF6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111B5-42A5-EE2B-E401-77FC10FE8D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32551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10.02.2025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10.02.2025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10.02.2025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10.02.2025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10.02.2025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10.02.2025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10.02.2025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10.02.2025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1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8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31840" y="4437112"/>
            <a:ext cx="5472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Fundamenty Aplikacji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>
                <a:solidFill>
                  <a:schemeClr val="bg1"/>
                </a:solidFill>
              </a:rPr>
              <a:t>Aktywność</a:t>
            </a:r>
            <a:endParaRPr lang="pl-PL" sz="1800" dirty="0">
              <a:solidFill>
                <a:schemeClr val="bg1"/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Cykl Życia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 err="1">
                <a:solidFill>
                  <a:schemeClr val="bg1"/>
                </a:solidFill>
              </a:rPr>
              <a:t>Jetpack</a:t>
            </a:r>
            <a:r>
              <a:rPr lang="pl-PL" sz="1800" dirty="0">
                <a:solidFill>
                  <a:schemeClr val="bg1"/>
                </a:solidFill>
              </a:rPr>
              <a:t> </a:t>
            </a:r>
            <a:r>
              <a:rPr lang="pl-PL" sz="1800" dirty="0" err="1">
                <a:solidFill>
                  <a:schemeClr val="bg1"/>
                </a:solidFill>
              </a:rPr>
              <a:t>Compose</a:t>
            </a:r>
            <a:endParaRPr lang="pl-PL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Podstawowe komponenty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F92ADF1-EB9F-6223-7E24-930F9AF9FEBB}"/>
              </a:ext>
            </a:extLst>
          </p:cNvPr>
          <p:cNvSpPr txBox="1"/>
          <p:nvPr/>
        </p:nvSpPr>
        <p:spPr>
          <a:xfrm>
            <a:off x="1033753" y="796886"/>
            <a:ext cx="7848872" cy="6079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Każdy komponent zapewnia konkretną funkcjonalność i posiada wyodrębniony </a:t>
            </a:r>
            <a:r>
              <a:rPr lang="pl-PL" sz="1600" b="1" dirty="0"/>
              <a:t>cykl życia</a:t>
            </a:r>
            <a:r>
              <a:rPr lang="pl-PL" sz="1600" dirty="0"/>
              <a:t>. Komponenty działają </a:t>
            </a:r>
            <a:r>
              <a:rPr lang="pl-PL" sz="1600" b="1" dirty="0"/>
              <a:t>kooperacyjnie</a:t>
            </a:r>
            <a:r>
              <a:rPr lang="pl-PL" sz="1600" dirty="0"/>
              <a:t>, wspólnie zapewniając ukończenie określonego zadania aplikacji.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dirty="0"/>
              <a:t>Podstawowe elementy: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 err="1"/>
              <a:t>Activities</a:t>
            </a:r>
            <a:r>
              <a:rPr lang="pl-PL" sz="1600" b="1" dirty="0"/>
              <a:t>/</a:t>
            </a:r>
            <a:r>
              <a:rPr lang="pl-PL" sz="1600" b="1" dirty="0" err="1"/>
              <a:t>Fragments</a:t>
            </a:r>
            <a:r>
              <a:rPr lang="pl-PL" sz="1600" b="1" dirty="0"/>
              <a:t>/</a:t>
            </a:r>
            <a:r>
              <a:rPr lang="pl-PL" sz="1600" b="1" dirty="0" err="1"/>
              <a:t>Composable</a:t>
            </a:r>
            <a:r>
              <a:rPr lang="pl-PL" sz="1600" b="1" dirty="0"/>
              <a:t> </a:t>
            </a:r>
            <a:r>
              <a:rPr lang="pl-PL" sz="1600" dirty="0"/>
              <a:t>– pojedynczy ekran z UI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 err="1"/>
              <a:t>Jetpack</a:t>
            </a:r>
            <a:r>
              <a:rPr lang="pl-PL" sz="1600" b="1" dirty="0"/>
              <a:t> </a:t>
            </a:r>
            <a:r>
              <a:rPr lang="pl-PL" sz="1600" b="1" dirty="0" err="1"/>
              <a:t>Compose</a:t>
            </a:r>
            <a:r>
              <a:rPr lang="pl-PL" sz="1600" b="1" dirty="0"/>
              <a:t> </a:t>
            </a:r>
            <a:r>
              <a:rPr lang="pl-PL" sz="1600" dirty="0"/>
              <a:t>to </a:t>
            </a:r>
            <a:r>
              <a:rPr lang="pl-PL" sz="1600" b="1" dirty="0"/>
              <a:t>deklaratywna</a:t>
            </a:r>
            <a:r>
              <a:rPr lang="pl-PL" sz="1600" dirty="0"/>
              <a:t> biblioteka UI, która zastępuje klasyczne </a:t>
            </a:r>
            <a:r>
              <a:rPr lang="pl-PL" sz="1600" b="1" dirty="0"/>
              <a:t>XML + </a:t>
            </a:r>
            <a:r>
              <a:rPr lang="pl-PL" sz="1600" b="1" dirty="0" err="1"/>
              <a:t>Views</a:t>
            </a:r>
            <a:r>
              <a:rPr lang="pl-PL" sz="1600" dirty="0"/>
              <a:t>, upraszczając budowę UI.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Services</a:t>
            </a:r>
            <a:r>
              <a:rPr lang="pl-PL" sz="1600" dirty="0"/>
              <a:t> – Usługi są często wykorzystywane do obsługi długotrwałych operacji, zarządzania komunikacją między komponentami aplikacji oraz wykonywania operacji, które mają trwać po zamknięciu interfejsu użytkownika aplikacji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Broadcast </a:t>
            </a:r>
            <a:r>
              <a:rPr lang="pl-PL" sz="1600" b="1" dirty="0" err="1"/>
              <a:t>Receiver</a:t>
            </a:r>
            <a:r>
              <a:rPr lang="pl-PL" sz="1600" b="1" dirty="0"/>
              <a:t> </a:t>
            </a:r>
            <a:r>
              <a:rPr lang="pl-PL" sz="1600" dirty="0"/>
              <a:t>– pozwala aplikacji na reagowanie na różnego rodzaju zdarzenia lub komunikaty systemowe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Content Provider </a:t>
            </a:r>
            <a:r>
              <a:rPr lang="pl-PL" sz="1600" dirty="0"/>
              <a:t>– umożliwia aplikacjom dzielenie się danymi z innymi aplikacjami w sposób kontrolowany i zabezpieczony</a:t>
            </a:r>
          </a:p>
        </p:txBody>
      </p:sp>
    </p:spTree>
    <p:extLst>
      <p:ext uri="{BB962C8B-B14F-4D97-AF65-F5344CB8AC3E}">
        <p14:creationId xmlns:p14="http://schemas.microsoft.com/office/powerpoint/2010/main" val="417582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9CBD8A-9E0F-6E85-E5B8-57EE4508F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CC2CA8-60D4-7C73-1A2C-7DA132400A2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Aktywność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8E58E44-392B-5A35-07AB-910338A6EE42}"/>
              </a:ext>
            </a:extLst>
          </p:cNvPr>
          <p:cNvSpPr txBox="1"/>
          <p:nvPr/>
        </p:nvSpPr>
        <p:spPr>
          <a:xfrm>
            <a:off x="1033752" y="796886"/>
            <a:ext cx="8110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„</a:t>
            </a:r>
            <a:r>
              <a:rPr lang="pl-PL" sz="1600" i="1" dirty="0"/>
              <a:t>klasycznym”</a:t>
            </a:r>
            <a:r>
              <a:rPr lang="pl-PL" sz="1600" dirty="0"/>
              <a:t> Androidzie aktywność kontrolowała zarówno </a:t>
            </a:r>
            <a:r>
              <a:rPr lang="pl-PL" sz="1600" b="1" dirty="0"/>
              <a:t>logikę, jak i interfejs użytkownika (XML + </a:t>
            </a:r>
            <a:r>
              <a:rPr lang="pl-PL" sz="1600" b="1" dirty="0" err="1"/>
              <a:t>Views</a:t>
            </a:r>
            <a:r>
              <a:rPr lang="pl-PL" sz="1600" b="1" dirty="0"/>
              <a:t>). </a:t>
            </a:r>
            <a:r>
              <a:rPr lang="pl-PL" sz="1600" dirty="0"/>
              <a:t>W </a:t>
            </a:r>
            <a:r>
              <a:rPr lang="pl-PL" sz="1600" dirty="0" err="1"/>
              <a:t>Jetpack</a:t>
            </a:r>
            <a:r>
              <a:rPr lang="pl-PL" sz="1600" dirty="0"/>
              <a:t> </a:t>
            </a:r>
            <a:r>
              <a:rPr lang="pl-PL" sz="1600" dirty="0" err="1"/>
              <a:t>Compose</a:t>
            </a:r>
            <a:r>
              <a:rPr lang="pl-PL" sz="1600" dirty="0"/>
              <a:t> aktywność jest </a:t>
            </a:r>
            <a:r>
              <a:rPr lang="pl-PL" sz="1600" b="1" dirty="0"/>
              <a:t>tylko kontenerem</a:t>
            </a:r>
            <a:r>
              <a:rPr lang="pl-PL" sz="1600" dirty="0"/>
              <a:t>, który ustawia </a:t>
            </a:r>
            <a:r>
              <a:rPr lang="pl-PL" sz="1600" b="1" dirty="0" err="1"/>
              <a:t>Composable</a:t>
            </a:r>
            <a:r>
              <a:rPr lang="pl-PL" sz="1600" b="1" dirty="0"/>
              <a:t> UI</a:t>
            </a:r>
            <a:r>
              <a:rPr lang="pl-PL" sz="1600" dirty="0"/>
              <a:t> i zarządza </a:t>
            </a:r>
            <a:r>
              <a:rPr lang="pl-PL" sz="1600" b="1" dirty="0"/>
              <a:t>cyklem życia aplikacji</a:t>
            </a:r>
            <a:r>
              <a:rPr lang="pl-PL" sz="1600" dirty="0"/>
              <a:t>. Aktywność to „</a:t>
            </a:r>
            <a:r>
              <a:rPr lang="pl-PL" sz="1600" i="1" dirty="0"/>
              <a:t>drzwi wejściowe</a:t>
            </a:r>
            <a:r>
              <a:rPr lang="pl-PL" sz="1600" dirty="0"/>
              <a:t>” do aplikacji – uruchamia pierwsze </a:t>
            </a:r>
            <a:r>
              <a:rPr lang="pl-PL" sz="1600" b="1" dirty="0" err="1"/>
              <a:t>Composable</a:t>
            </a:r>
            <a:r>
              <a:rPr lang="pl-PL" sz="1600" dirty="0"/>
              <a:t>. </a:t>
            </a:r>
          </a:p>
          <a:p>
            <a:pPr algn="just"/>
            <a:r>
              <a:rPr lang="pl-PL" sz="1600" dirty="0" err="1"/>
              <a:t>Jetpack</a:t>
            </a:r>
            <a:r>
              <a:rPr lang="pl-PL" sz="1600" dirty="0"/>
              <a:t> </a:t>
            </a:r>
            <a:r>
              <a:rPr lang="pl-PL" sz="1600" dirty="0" err="1"/>
              <a:t>Compose</a:t>
            </a:r>
            <a:r>
              <a:rPr lang="pl-PL" sz="1600" dirty="0"/>
              <a:t> </a:t>
            </a:r>
            <a:r>
              <a:rPr lang="pl-PL" sz="1600" b="1" dirty="0"/>
              <a:t>eliminuje</a:t>
            </a:r>
            <a:r>
              <a:rPr lang="pl-PL" sz="1600" dirty="0"/>
              <a:t> potrzebę </a:t>
            </a:r>
            <a:r>
              <a:rPr lang="pl-PL" sz="1600" b="1" dirty="0"/>
              <a:t>wielu aktywności </a:t>
            </a:r>
            <a:r>
              <a:rPr lang="pl-PL" sz="1600" dirty="0"/>
              <a:t>– zamiast nich nawigujemy między ekranami w </a:t>
            </a:r>
            <a:r>
              <a:rPr lang="pl-PL" sz="1600" b="1" dirty="0" err="1"/>
              <a:t>Composable</a:t>
            </a:r>
            <a:endParaRPr lang="pl-PL" sz="1600" b="1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5BBAB89-C0F7-D4D3-FBD1-6311BEEB35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712" y="2482349"/>
            <a:ext cx="6115639" cy="405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290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D4D64B-7282-10D9-C3D2-C2BBAF4C8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57A71E-9DD8-21EC-AE5F-C0C7EC1D34B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Aktywność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D02A0791-E792-A1CE-01BC-71244C610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673" y="936104"/>
            <a:ext cx="6468638" cy="5733256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0C1F7701-3CE0-CD4A-9E79-07D883BBE841}"/>
              </a:ext>
            </a:extLst>
          </p:cNvPr>
          <p:cNvCxnSpPr>
            <a:cxnSpLocks/>
          </p:cNvCxnSpPr>
          <p:nvPr/>
        </p:nvCxnSpPr>
        <p:spPr>
          <a:xfrm flipV="1">
            <a:off x="2555776" y="1113894"/>
            <a:ext cx="473294" cy="45111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0FC62EDA-7C95-CB13-981B-07E5BDCF5648}"/>
              </a:ext>
            </a:extLst>
          </p:cNvPr>
          <p:cNvSpPr/>
          <p:nvPr/>
        </p:nvSpPr>
        <p:spPr>
          <a:xfrm>
            <a:off x="54920" y="1245659"/>
            <a:ext cx="2500856" cy="95920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576FBB3B-3E94-F268-4B0C-792C2D4F0EC4}"/>
              </a:ext>
            </a:extLst>
          </p:cNvPr>
          <p:cNvSpPr txBox="1"/>
          <p:nvPr/>
        </p:nvSpPr>
        <p:spPr>
          <a:xfrm>
            <a:off x="107504" y="1274148"/>
            <a:ext cx="2500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Główna aktywność aplikacji, może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hostować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Composable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UI</a:t>
            </a:r>
          </a:p>
        </p:txBody>
      </p:sp>
    </p:spTree>
    <p:extLst>
      <p:ext uri="{BB962C8B-B14F-4D97-AF65-F5344CB8AC3E}">
        <p14:creationId xmlns:p14="http://schemas.microsoft.com/office/powerpoint/2010/main" val="3412226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A34659-B845-99DB-F5D7-74FC79C61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99C2DB-4BAD-FAA5-6820-D174A1E832B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Aktywność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F32DBDAD-4BA0-6B80-97E8-E598CCC3E8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673" y="936104"/>
            <a:ext cx="6468638" cy="5733256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382DA3F4-560F-E049-0860-D8995B4A4231}"/>
              </a:ext>
            </a:extLst>
          </p:cNvPr>
          <p:cNvCxnSpPr>
            <a:cxnSpLocks/>
          </p:cNvCxnSpPr>
          <p:nvPr/>
        </p:nvCxnSpPr>
        <p:spPr>
          <a:xfrm flipV="1">
            <a:off x="2555776" y="1113894"/>
            <a:ext cx="473294" cy="45111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5551DC7A-90A2-1209-8A2B-1DBB1CC422F6}"/>
              </a:ext>
            </a:extLst>
          </p:cNvPr>
          <p:cNvSpPr/>
          <p:nvPr/>
        </p:nvSpPr>
        <p:spPr>
          <a:xfrm>
            <a:off x="54920" y="1245659"/>
            <a:ext cx="2500856" cy="95920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18B30CD-EE67-7CFF-0C81-CF708DFD5B35}"/>
              </a:ext>
            </a:extLst>
          </p:cNvPr>
          <p:cNvSpPr txBox="1"/>
          <p:nvPr/>
        </p:nvSpPr>
        <p:spPr>
          <a:xfrm>
            <a:off x="107504" y="1274148"/>
            <a:ext cx="2500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Główna aktywność aplikacji, może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hostować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Composable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UI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F5774751-8319-6E80-BBC6-4A5DB1ABF03A}"/>
              </a:ext>
            </a:extLst>
          </p:cNvPr>
          <p:cNvCxnSpPr>
            <a:cxnSpLocks/>
          </p:cNvCxnSpPr>
          <p:nvPr/>
        </p:nvCxnSpPr>
        <p:spPr>
          <a:xfrm flipV="1">
            <a:off x="1979712" y="1550940"/>
            <a:ext cx="1149019" cy="151802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0E8554DD-EC8C-AB41-99C2-C9635462036C}"/>
              </a:ext>
            </a:extLst>
          </p:cNvPr>
          <p:cNvSpPr/>
          <p:nvPr/>
        </p:nvSpPr>
        <p:spPr>
          <a:xfrm>
            <a:off x="19141" y="2535937"/>
            <a:ext cx="1960571" cy="146912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F08E5D5F-9857-4374-F268-BAFC7B38A484}"/>
              </a:ext>
            </a:extLst>
          </p:cNvPr>
          <p:cNvSpPr txBox="1"/>
          <p:nvPr/>
        </p:nvSpPr>
        <p:spPr>
          <a:xfrm>
            <a:off x="19139" y="2593450"/>
            <a:ext cx="19605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Metoda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cyklu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aktywności – jest wywoływana, gdy aktywność jest tworzona.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37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D15F04-81B8-337A-6770-93E88AFFC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3DFCE4-77E7-A7CC-3A68-7C9698A1E8F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Aktywność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50F68854-0A97-448F-152F-82E067490D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673" y="936104"/>
            <a:ext cx="6468638" cy="5733256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6C2509D7-ADE7-AB9F-7640-1175046043E9}"/>
              </a:ext>
            </a:extLst>
          </p:cNvPr>
          <p:cNvCxnSpPr>
            <a:cxnSpLocks/>
          </p:cNvCxnSpPr>
          <p:nvPr/>
        </p:nvCxnSpPr>
        <p:spPr>
          <a:xfrm flipV="1">
            <a:off x="2555776" y="1113894"/>
            <a:ext cx="473294" cy="45111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0127E3DD-6B05-4556-9528-E77DA83D2AD1}"/>
              </a:ext>
            </a:extLst>
          </p:cNvPr>
          <p:cNvSpPr/>
          <p:nvPr/>
        </p:nvSpPr>
        <p:spPr>
          <a:xfrm>
            <a:off x="54920" y="1245659"/>
            <a:ext cx="2500856" cy="95920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4E7404E-A74D-8EB9-E96B-65B92262DA09}"/>
              </a:ext>
            </a:extLst>
          </p:cNvPr>
          <p:cNvSpPr txBox="1"/>
          <p:nvPr/>
        </p:nvSpPr>
        <p:spPr>
          <a:xfrm>
            <a:off x="107504" y="1274148"/>
            <a:ext cx="2500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Główna aktywność aplikacji, może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hostować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Composable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UI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80F4CED9-EDE6-B6C6-CC9D-39F99E0CFCF7}"/>
              </a:ext>
            </a:extLst>
          </p:cNvPr>
          <p:cNvCxnSpPr>
            <a:cxnSpLocks/>
          </p:cNvCxnSpPr>
          <p:nvPr/>
        </p:nvCxnSpPr>
        <p:spPr>
          <a:xfrm flipV="1">
            <a:off x="1979712" y="1550940"/>
            <a:ext cx="1149019" cy="151802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05BB4524-AA02-CB6F-5E98-5941DA777802}"/>
              </a:ext>
            </a:extLst>
          </p:cNvPr>
          <p:cNvSpPr/>
          <p:nvPr/>
        </p:nvSpPr>
        <p:spPr>
          <a:xfrm>
            <a:off x="19141" y="2535937"/>
            <a:ext cx="1960571" cy="146912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9E8CCB12-CEB2-1BFA-F626-E0E7FD25A722}"/>
              </a:ext>
            </a:extLst>
          </p:cNvPr>
          <p:cNvSpPr txBox="1"/>
          <p:nvPr/>
        </p:nvSpPr>
        <p:spPr>
          <a:xfrm>
            <a:off x="19139" y="2593450"/>
            <a:ext cx="19605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Metoda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cyklu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aktywności – jest wywoływana, gdy aktywność jest tworzona.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35A32C4C-329C-6298-B537-687A92C000D0}"/>
              </a:ext>
            </a:extLst>
          </p:cNvPr>
          <p:cNvSpPr/>
          <p:nvPr/>
        </p:nvSpPr>
        <p:spPr>
          <a:xfrm>
            <a:off x="5868834" y="1966949"/>
            <a:ext cx="3275166" cy="115212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E020CE89-9177-DCC9-A119-2582D7302E85}"/>
              </a:ext>
            </a:extLst>
          </p:cNvPr>
          <p:cNvSpPr txBox="1"/>
          <p:nvPr/>
        </p:nvSpPr>
        <p:spPr>
          <a:xfrm>
            <a:off x="5887295" y="1966949"/>
            <a:ext cx="32567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Struktura danych używana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przechowywania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przekazywania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informacji między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komponentami aplikacji</a:t>
            </a:r>
          </a:p>
        </p:txBody>
      </p: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EBED0D2A-E645-B2FB-3D7A-FD332E1827F7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506417" y="1550940"/>
            <a:ext cx="17911" cy="41600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153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2B53B-1283-DEFF-1AE4-6887362C3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0B1B14-C172-613E-375A-2AECDC601BE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Aktywność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14EBC9F4-5401-2985-D555-A937F7F1EC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673" y="936104"/>
            <a:ext cx="6468638" cy="5733256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C80E5C57-5CE8-5406-8A87-0F3C94BD515A}"/>
              </a:ext>
            </a:extLst>
          </p:cNvPr>
          <p:cNvCxnSpPr>
            <a:cxnSpLocks/>
          </p:cNvCxnSpPr>
          <p:nvPr/>
        </p:nvCxnSpPr>
        <p:spPr>
          <a:xfrm flipV="1">
            <a:off x="2555776" y="1113894"/>
            <a:ext cx="473294" cy="45111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B9785763-4458-E34F-02ED-84A7ADD8C6FC}"/>
              </a:ext>
            </a:extLst>
          </p:cNvPr>
          <p:cNvSpPr/>
          <p:nvPr/>
        </p:nvSpPr>
        <p:spPr>
          <a:xfrm>
            <a:off x="54920" y="1245659"/>
            <a:ext cx="2500856" cy="95920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78C1C3D-FF81-111D-192D-BD855B760D6F}"/>
              </a:ext>
            </a:extLst>
          </p:cNvPr>
          <p:cNvSpPr txBox="1"/>
          <p:nvPr/>
        </p:nvSpPr>
        <p:spPr>
          <a:xfrm>
            <a:off x="107504" y="1274148"/>
            <a:ext cx="2500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Główna aktywność aplikacji, może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hostować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Composable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UI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CA022415-CF68-7C8B-4AE2-31AA512447A0}"/>
              </a:ext>
            </a:extLst>
          </p:cNvPr>
          <p:cNvCxnSpPr>
            <a:cxnSpLocks/>
          </p:cNvCxnSpPr>
          <p:nvPr/>
        </p:nvCxnSpPr>
        <p:spPr>
          <a:xfrm flipV="1">
            <a:off x="1979712" y="1550940"/>
            <a:ext cx="1149019" cy="151802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1232E57C-1E81-90AF-B29C-265CE9941761}"/>
              </a:ext>
            </a:extLst>
          </p:cNvPr>
          <p:cNvSpPr/>
          <p:nvPr/>
        </p:nvSpPr>
        <p:spPr>
          <a:xfrm>
            <a:off x="19141" y="2535937"/>
            <a:ext cx="1960571" cy="146912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C909C68D-993E-5364-28E3-3A67D9219E53}"/>
              </a:ext>
            </a:extLst>
          </p:cNvPr>
          <p:cNvSpPr txBox="1"/>
          <p:nvPr/>
        </p:nvSpPr>
        <p:spPr>
          <a:xfrm>
            <a:off x="19139" y="2593450"/>
            <a:ext cx="19605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Metoda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cyklu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aktywności – jest wywoływana, gdy aktywność jest tworzona.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3E2A893B-4C0B-426D-57BF-5B79F18A3DD0}"/>
              </a:ext>
            </a:extLst>
          </p:cNvPr>
          <p:cNvCxnSpPr>
            <a:cxnSpLocks/>
          </p:cNvCxnSpPr>
          <p:nvPr/>
        </p:nvCxnSpPr>
        <p:spPr>
          <a:xfrm flipV="1">
            <a:off x="1977497" y="1916832"/>
            <a:ext cx="1169696" cy="230425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8313E73C-095D-57F4-ABCA-800086F77E9F}"/>
              </a:ext>
            </a:extLst>
          </p:cNvPr>
          <p:cNvSpPr/>
          <p:nvPr/>
        </p:nvSpPr>
        <p:spPr>
          <a:xfrm>
            <a:off x="127680" y="4062577"/>
            <a:ext cx="1849817" cy="132343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E7D9B238-6A28-FE16-79E7-6745B785F832}"/>
              </a:ext>
            </a:extLst>
          </p:cNvPr>
          <p:cNvSpPr txBox="1"/>
          <p:nvPr/>
        </p:nvSpPr>
        <p:spPr>
          <a:xfrm>
            <a:off x="59882" y="4005064"/>
            <a:ext cx="19854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Zapewnia poprawne działanie aktywności, wywołując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bazową implementację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BDE0BEBA-3530-A25F-8464-19FB7484FDF5}"/>
              </a:ext>
            </a:extLst>
          </p:cNvPr>
          <p:cNvSpPr/>
          <p:nvPr/>
        </p:nvSpPr>
        <p:spPr>
          <a:xfrm>
            <a:off x="5868834" y="1966949"/>
            <a:ext cx="3275166" cy="115212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3E75DBF1-880C-4F2B-861D-392BE29DA84E}"/>
              </a:ext>
            </a:extLst>
          </p:cNvPr>
          <p:cNvSpPr txBox="1"/>
          <p:nvPr/>
        </p:nvSpPr>
        <p:spPr>
          <a:xfrm>
            <a:off x="5887295" y="1966949"/>
            <a:ext cx="32567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Struktura danych używana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przechowywania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przekazywania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informacji między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komponentami aplikacji</a:t>
            </a:r>
          </a:p>
        </p:txBody>
      </p: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B2C86E8B-C7EB-B355-94EB-9CABEE7B633B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506417" y="1550940"/>
            <a:ext cx="17911" cy="41600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724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525C68-3CBD-3E06-EC15-DBCBF0049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36C819-D560-41FC-B98E-C683BA1C107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Aktywność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C26EAD5A-8C5E-9CB3-B8AC-A60DED1B0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673" y="936104"/>
            <a:ext cx="6468638" cy="5733256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A6EF74AB-F5AC-28D0-48B4-1B3CB2C89786}"/>
              </a:ext>
            </a:extLst>
          </p:cNvPr>
          <p:cNvCxnSpPr>
            <a:cxnSpLocks/>
          </p:cNvCxnSpPr>
          <p:nvPr/>
        </p:nvCxnSpPr>
        <p:spPr>
          <a:xfrm flipV="1">
            <a:off x="2555776" y="1113894"/>
            <a:ext cx="473294" cy="45111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67D3B851-B383-5091-6324-1458688EB3C9}"/>
              </a:ext>
            </a:extLst>
          </p:cNvPr>
          <p:cNvSpPr/>
          <p:nvPr/>
        </p:nvSpPr>
        <p:spPr>
          <a:xfrm>
            <a:off x="54920" y="1245659"/>
            <a:ext cx="2500856" cy="95920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DAC5269-9CC9-0322-11A4-BFE1CB06150D}"/>
              </a:ext>
            </a:extLst>
          </p:cNvPr>
          <p:cNvSpPr txBox="1"/>
          <p:nvPr/>
        </p:nvSpPr>
        <p:spPr>
          <a:xfrm>
            <a:off x="107504" y="1274148"/>
            <a:ext cx="2500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Główna aktywność aplikacji, może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hostować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Composable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UI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9B4BCC3B-A296-94F0-4DD2-A468AE00D31B}"/>
              </a:ext>
            </a:extLst>
          </p:cNvPr>
          <p:cNvCxnSpPr>
            <a:cxnSpLocks/>
          </p:cNvCxnSpPr>
          <p:nvPr/>
        </p:nvCxnSpPr>
        <p:spPr>
          <a:xfrm flipV="1">
            <a:off x="1979712" y="1550940"/>
            <a:ext cx="1149019" cy="151802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B6D177E1-91DB-10A5-1E37-99EBBD01D783}"/>
              </a:ext>
            </a:extLst>
          </p:cNvPr>
          <p:cNvSpPr/>
          <p:nvPr/>
        </p:nvSpPr>
        <p:spPr>
          <a:xfrm>
            <a:off x="19141" y="2535937"/>
            <a:ext cx="1960571" cy="146912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57B5DCA7-C379-E46B-84AE-E912B957AB2E}"/>
              </a:ext>
            </a:extLst>
          </p:cNvPr>
          <p:cNvSpPr txBox="1"/>
          <p:nvPr/>
        </p:nvSpPr>
        <p:spPr>
          <a:xfrm>
            <a:off x="19139" y="2593450"/>
            <a:ext cx="19605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Metoda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cyklu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aktywności – jest wywoływana, gdy aktywność jest tworzona.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40F7E78E-F18C-8D66-8CAC-CDC3FFAC9B9B}"/>
              </a:ext>
            </a:extLst>
          </p:cNvPr>
          <p:cNvCxnSpPr>
            <a:cxnSpLocks/>
          </p:cNvCxnSpPr>
          <p:nvPr/>
        </p:nvCxnSpPr>
        <p:spPr>
          <a:xfrm flipV="1">
            <a:off x="1977497" y="1916832"/>
            <a:ext cx="1169696" cy="230425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C1E61EAF-676E-772E-FC51-25D499CC1C92}"/>
              </a:ext>
            </a:extLst>
          </p:cNvPr>
          <p:cNvSpPr/>
          <p:nvPr/>
        </p:nvSpPr>
        <p:spPr>
          <a:xfrm>
            <a:off x="127680" y="4062577"/>
            <a:ext cx="1849817" cy="132343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C2CEA9CC-A0B4-2CA5-B138-CEED80D115E7}"/>
              </a:ext>
            </a:extLst>
          </p:cNvPr>
          <p:cNvSpPr txBox="1"/>
          <p:nvPr/>
        </p:nvSpPr>
        <p:spPr>
          <a:xfrm>
            <a:off x="59882" y="4005064"/>
            <a:ext cx="19854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Zapewnia poprawne działanie aktywności, wywołując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bazową implementację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88A12E38-6A8E-71E6-BB1A-D2774FC6A047}"/>
              </a:ext>
            </a:extLst>
          </p:cNvPr>
          <p:cNvSpPr/>
          <p:nvPr/>
        </p:nvSpPr>
        <p:spPr>
          <a:xfrm>
            <a:off x="5868834" y="1966949"/>
            <a:ext cx="3275166" cy="115212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02EAF36D-F6A3-B561-BB24-7DC5FA7F1561}"/>
              </a:ext>
            </a:extLst>
          </p:cNvPr>
          <p:cNvSpPr txBox="1"/>
          <p:nvPr/>
        </p:nvSpPr>
        <p:spPr>
          <a:xfrm>
            <a:off x="5887295" y="1966949"/>
            <a:ext cx="32567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Struktura danych używana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przechowywania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przekazywania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informacji między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komponentami aplikacji</a:t>
            </a:r>
          </a:p>
        </p:txBody>
      </p: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47527F75-8F1E-85D4-C984-69FD1483B673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506417" y="1550940"/>
            <a:ext cx="17911" cy="41600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Prostokąt: zaokrąglone rogi 39">
            <a:extLst>
              <a:ext uri="{FF2B5EF4-FFF2-40B4-BE49-F238E27FC236}">
                <a16:creationId xmlns:a16="http://schemas.microsoft.com/office/drawing/2014/main" id="{6EF627ED-1821-8256-0E18-F5AA78F2C627}"/>
              </a:ext>
            </a:extLst>
          </p:cNvPr>
          <p:cNvSpPr/>
          <p:nvPr/>
        </p:nvSpPr>
        <p:spPr>
          <a:xfrm>
            <a:off x="77202" y="5494874"/>
            <a:ext cx="3468223" cy="115212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1" name="pole tekstowe 40">
            <a:extLst>
              <a:ext uri="{FF2B5EF4-FFF2-40B4-BE49-F238E27FC236}">
                <a16:creationId xmlns:a16="http://schemas.microsoft.com/office/drawing/2014/main" id="{4B3A4490-8637-29FB-E935-FF0B386E2942}"/>
              </a:ext>
            </a:extLst>
          </p:cNvPr>
          <p:cNvSpPr txBox="1"/>
          <p:nvPr/>
        </p:nvSpPr>
        <p:spPr>
          <a:xfrm>
            <a:off x="95664" y="5494874"/>
            <a:ext cx="34682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ułatwiająca wyświetlanie UI na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pełnym ekranie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rozciągając zawartość na paski systemowe (status bar i nawigacja).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42" name="Łącznik prosty ze strzałką 41">
            <a:extLst>
              <a:ext uri="{FF2B5EF4-FFF2-40B4-BE49-F238E27FC236}">
                <a16:creationId xmlns:a16="http://schemas.microsoft.com/office/drawing/2014/main" id="{56550A52-3593-BFF1-F5B6-32FAECAE58FD}"/>
              </a:ext>
            </a:extLst>
          </p:cNvPr>
          <p:cNvCxnSpPr>
            <a:cxnSpLocks/>
          </p:cNvCxnSpPr>
          <p:nvPr/>
        </p:nvCxnSpPr>
        <p:spPr>
          <a:xfrm flipV="1">
            <a:off x="1940021" y="2293099"/>
            <a:ext cx="1199048" cy="320742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03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EBC93A-E400-8392-855D-B5A08B0FC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4A52D9B-5E9F-F41B-E095-FE4B119D4EA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Aktywność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E77414E2-331D-8D81-1775-AE3A0E29D4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673" y="936104"/>
            <a:ext cx="6468638" cy="5733256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3C931212-8DD7-22EE-F7B7-62EFECD77F3B}"/>
              </a:ext>
            </a:extLst>
          </p:cNvPr>
          <p:cNvCxnSpPr>
            <a:cxnSpLocks/>
          </p:cNvCxnSpPr>
          <p:nvPr/>
        </p:nvCxnSpPr>
        <p:spPr>
          <a:xfrm flipV="1">
            <a:off x="2555776" y="1113894"/>
            <a:ext cx="473294" cy="45111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A2D2D9D0-45E4-5107-6689-3BA62204855C}"/>
              </a:ext>
            </a:extLst>
          </p:cNvPr>
          <p:cNvSpPr/>
          <p:nvPr/>
        </p:nvSpPr>
        <p:spPr>
          <a:xfrm>
            <a:off x="54920" y="1245659"/>
            <a:ext cx="2500856" cy="95920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671B43BA-60C4-C336-6A8C-A640EE6304BB}"/>
              </a:ext>
            </a:extLst>
          </p:cNvPr>
          <p:cNvSpPr txBox="1"/>
          <p:nvPr/>
        </p:nvSpPr>
        <p:spPr>
          <a:xfrm>
            <a:off x="107504" y="1274148"/>
            <a:ext cx="2500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Główna aktywność aplikacji, może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hostować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Composable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UI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E88A6595-6B42-AACA-4834-CCE413170335}"/>
              </a:ext>
            </a:extLst>
          </p:cNvPr>
          <p:cNvCxnSpPr>
            <a:cxnSpLocks/>
          </p:cNvCxnSpPr>
          <p:nvPr/>
        </p:nvCxnSpPr>
        <p:spPr>
          <a:xfrm flipV="1">
            <a:off x="1979712" y="1550940"/>
            <a:ext cx="1149019" cy="151802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595F1534-8734-6987-C66D-C3A80A5877CD}"/>
              </a:ext>
            </a:extLst>
          </p:cNvPr>
          <p:cNvSpPr/>
          <p:nvPr/>
        </p:nvSpPr>
        <p:spPr>
          <a:xfrm>
            <a:off x="19141" y="2535937"/>
            <a:ext cx="1960571" cy="146912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A2982ED2-CFC9-7082-9856-60A006C4B3D2}"/>
              </a:ext>
            </a:extLst>
          </p:cNvPr>
          <p:cNvSpPr txBox="1"/>
          <p:nvPr/>
        </p:nvSpPr>
        <p:spPr>
          <a:xfrm>
            <a:off x="19139" y="2593450"/>
            <a:ext cx="19605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Metoda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cyklu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aktywności – jest wywoływana, gdy aktywność jest tworzona.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98E4B606-03AC-7846-9039-3CFB0853AC0A}"/>
              </a:ext>
            </a:extLst>
          </p:cNvPr>
          <p:cNvCxnSpPr>
            <a:cxnSpLocks/>
          </p:cNvCxnSpPr>
          <p:nvPr/>
        </p:nvCxnSpPr>
        <p:spPr>
          <a:xfrm flipV="1">
            <a:off x="1977497" y="1916832"/>
            <a:ext cx="1169696" cy="230425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BDF9378F-1482-7857-BFCD-791DFA44A778}"/>
              </a:ext>
            </a:extLst>
          </p:cNvPr>
          <p:cNvSpPr/>
          <p:nvPr/>
        </p:nvSpPr>
        <p:spPr>
          <a:xfrm>
            <a:off x="127680" y="4062577"/>
            <a:ext cx="1849817" cy="132343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644F1B5B-AA4F-4FD8-E122-701951E0B3F2}"/>
              </a:ext>
            </a:extLst>
          </p:cNvPr>
          <p:cNvSpPr txBox="1"/>
          <p:nvPr/>
        </p:nvSpPr>
        <p:spPr>
          <a:xfrm>
            <a:off x="59882" y="4005064"/>
            <a:ext cx="19854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Zapewnia poprawne działanie aktywności, wywołując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bazową implementację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5BF457CB-3797-B3D2-9A6A-2E8453D8121A}"/>
              </a:ext>
            </a:extLst>
          </p:cNvPr>
          <p:cNvSpPr/>
          <p:nvPr/>
        </p:nvSpPr>
        <p:spPr>
          <a:xfrm>
            <a:off x="5868834" y="1966949"/>
            <a:ext cx="3275166" cy="115212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8161983D-844F-F8FB-B89F-7EBF3E91F44A}"/>
              </a:ext>
            </a:extLst>
          </p:cNvPr>
          <p:cNvSpPr txBox="1"/>
          <p:nvPr/>
        </p:nvSpPr>
        <p:spPr>
          <a:xfrm>
            <a:off x="5887295" y="1966949"/>
            <a:ext cx="32567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Struktura danych używana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przechowywania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przekazywania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informacji między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komponentami aplikacji</a:t>
            </a:r>
          </a:p>
        </p:txBody>
      </p: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4772A60F-A233-BB97-E48F-1081DD6F55C2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506417" y="1550940"/>
            <a:ext cx="17911" cy="41600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Prostokąt: zaokrąglone rogi 39">
            <a:extLst>
              <a:ext uri="{FF2B5EF4-FFF2-40B4-BE49-F238E27FC236}">
                <a16:creationId xmlns:a16="http://schemas.microsoft.com/office/drawing/2014/main" id="{6BBDD51F-B83C-B832-F892-31D615108117}"/>
              </a:ext>
            </a:extLst>
          </p:cNvPr>
          <p:cNvSpPr/>
          <p:nvPr/>
        </p:nvSpPr>
        <p:spPr>
          <a:xfrm>
            <a:off x="77202" y="5494874"/>
            <a:ext cx="3468223" cy="115212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1" name="pole tekstowe 40">
            <a:extLst>
              <a:ext uri="{FF2B5EF4-FFF2-40B4-BE49-F238E27FC236}">
                <a16:creationId xmlns:a16="http://schemas.microsoft.com/office/drawing/2014/main" id="{CAD45D8C-6BC4-3C3C-2E60-F4B8CC53D153}"/>
              </a:ext>
            </a:extLst>
          </p:cNvPr>
          <p:cNvSpPr txBox="1"/>
          <p:nvPr/>
        </p:nvSpPr>
        <p:spPr>
          <a:xfrm>
            <a:off x="95664" y="5494874"/>
            <a:ext cx="34682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ułatwiająca wyświetlanie UI na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pełnym ekranie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rozciągając zawartość na paski systemowe (status bar i nawigacja).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42" name="Łącznik prosty ze strzałką 41">
            <a:extLst>
              <a:ext uri="{FF2B5EF4-FFF2-40B4-BE49-F238E27FC236}">
                <a16:creationId xmlns:a16="http://schemas.microsoft.com/office/drawing/2014/main" id="{F0701A52-917E-D359-ECDC-582E489D07B6}"/>
              </a:ext>
            </a:extLst>
          </p:cNvPr>
          <p:cNvCxnSpPr>
            <a:cxnSpLocks/>
          </p:cNvCxnSpPr>
          <p:nvPr/>
        </p:nvCxnSpPr>
        <p:spPr>
          <a:xfrm flipV="1">
            <a:off x="1940021" y="2293099"/>
            <a:ext cx="1199048" cy="320742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Prostokąt: zaokrąglone rogi 44">
            <a:extLst>
              <a:ext uri="{FF2B5EF4-FFF2-40B4-BE49-F238E27FC236}">
                <a16:creationId xmlns:a16="http://schemas.microsoft.com/office/drawing/2014/main" id="{D773536F-EE23-547A-47FE-F4F33E3A1379}"/>
              </a:ext>
            </a:extLst>
          </p:cNvPr>
          <p:cNvSpPr/>
          <p:nvPr/>
        </p:nvSpPr>
        <p:spPr>
          <a:xfrm>
            <a:off x="2373919" y="4572912"/>
            <a:ext cx="1591845" cy="88922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6" name="pole tekstowe 45">
            <a:extLst>
              <a:ext uri="{FF2B5EF4-FFF2-40B4-BE49-F238E27FC236}">
                <a16:creationId xmlns:a16="http://schemas.microsoft.com/office/drawing/2014/main" id="{747F18BE-4A0A-01EB-A760-C8B2A0612712}"/>
              </a:ext>
            </a:extLst>
          </p:cNvPr>
          <p:cNvSpPr txBox="1"/>
          <p:nvPr/>
        </p:nvSpPr>
        <p:spPr>
          <a:xfrm>
            <a:off x="1924149" y="4590925"/>
            <a:ext cx="2491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jego wnętrzu umieszczamy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Composable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UI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48" name="Łącznik prosty ze strzałką 47">
            <a:extLst>
              <a:ext uri="{FF2B5EF4-FFF2-40B4-BE49-F238E27FC236}">
                <a16:creationId xmlns:a16="http://schemas.microsoft.com/office/drawing/2014/main" id="{F0ED4817-349B-1915-ADBF-3092FFB7E56A}"/>
              </a:ext>
            </a:extLst>
          </p:cNvPr>
          <p:cNvCxnSpPr>
            <a:cxnSpLocks/>
          </p:cNvCxnSpPr>
          <p:nvPr/>
        </p:nvCxnSpPr>
        <p:spPr>
          <a:xfrm flipV="1">
            <a:off x="3034153" y="2705027"/>
            <a:ext cx="325930" cy="181345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818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8D5D87-8D64-DDA7-13CC-C566FFA42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FBF3B6-F416-E3B3-9974-CC00038BB00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Aktywność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B3BF5479-6972-1107-9953-DE7E80111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673" y="936104"/>
            <a:ext cx="6468638" cy="5733256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990B89A0-DE42-8792-5F46-95CDFDE88749}"/>
              </a:ext>
            </a:extLst>
          </p:cNvPr>
          <p:cNvCxnSpPr>
            <a:cxnSpLocks/>
          </p:cNvCxnSpPr>
          <p:nvPr/>
        </p:nvCxnSpPr>
        <p:spPr>
          <a:xfrm flipV="1">
            <a:off x="2555776" y="1113894"/>
            <a:ext cx="473294" cy="45111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89B7AAFA-1C4B-B861-8644-6422A8873A2F}"/>
              </a:ext>
            </a:extLst>
          </p:cNvPr>
          <p:cNvSpPr/>
          <p:nvPr/>
        </p:nvSpPr>
        <p:spPr>
          <a:xfrm>
            <a:off x="54920" y="1245659"/>
            <a:ext cx="2500856" cy="95920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65E5B984-7799-F587-F456-1910FBB1B230}"/>
              </a:ext>
            </a:extLst>
          </p:cNvPr>
          <p:cNvSpPr txBox="1"/>
          <p:nvPr/>
        </p:nvSpPr>
        <p:spPr>
          <a:xfrm>
            <a:off x="107504" y="1274148"/>
            <a:ext cx="2500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Główna aktywność aplikacji, może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hostować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Composable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UI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37B2693E-26B6-74A2-1532-0FEE475C1397}"/>
              </a:ext>
            </a:extLst>
          </p:cNvPr>
          <p:cNvCxnSpPr>
            <a:cxnSpLocks/>
          </p:cNvCxnSpPr>
          <p:nvPr/>
        </p:nvCxnSpPr>
        <p:spPr>
          <a:xfrm flipV="1">
            <a:off x="1979712" y="1550940"/>
            <a:ext cx="1149019" cy="151802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106367C4-0D84-90DE-CDB1-68021A03FB11}"/>
              </a:ext>
            </a:extLst>
          </p:cNvPr>
          <p:cNvSpPr/>
          <p:nvPr/>
        </p:nvSpPr>
        <p:spPr>
          <a:xfrm>
            <a:off x="19141" y="2535937"/>
            <a:ext cx="1960571" cy="146912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B4D3BD74-FFE0-3036-DAF6-2996EC880046}"/>
              </a:ext>
            </a:extLst>
          </p:cNvPr>
          <p:cNvSpPr txBox="1"/>
          <p:nvPr/>
        </p:nvSpPr>
        <p:spPr>
          <a:xfrm>
            <a:off x="19139" y="2593450"/>
            <a:ext cx="19605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Metoda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cyklu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aktywności – jest wywoływana, gdy aktywność jest tworzona.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6834EB94-CE3F-BA46-C826-D85532BE1B7B}"/>
              </a:ext>
            </a:extLst>
          </p:cNvPr>
          <p:cNvCxnSpPr>
            <a:cxnSpLocks/>
          </p:cNvCxnSpPr>
          <p:nvPr/>
        </p:nvCxnSpPr>
        <p:spPr>
          <a:xfrm flipV="1">
            <a:off x="1977497" y="1916832"/>
            <a:ext cx="1169696" cy="230425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D82E17F7-6307-2D1C-0A47-8C77CE7CA9E5}"/>
              </a:ext>
            </a:extLst>
          </p:cNvPr>
          <p:cNvSpPr/>
          <p:nvPr/>
        </p:nvSpPr>
        <p:spPr>
          <a:xfrm>
            <a:off x="127680" y="4062577"/>
            <a:ext cx="1849817" cy="132343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6D415634-D2A1-4C96-7834-EE629258DAA3}"/>
              </a:ext>
            </a:extLst>
          </p:cNvPr>
          <p:cNvSpPr txBox="1"/>
          <p:nvPr/>
        </p:nvSpPr>
        <p:spPr>
          <a:xfrm>
            <a:off x="59882" y="4005064"/>
            <a:ext cx="19854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Zapewnia poprawne działanie aktywności, wywołując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bazową implementację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A113DC71-0BEE-DB71-AC7C-7EDDD6533FB4}"/>
              </a:ext>
            </a:extLst>
          </p:cNvPr>
          <p:cNvSpPr/>
          <p:nvPr/>
        </p:nvSpPr>
        <p:spPr>
          <a:xfrm>
            <a:off x="5868834" y="1966949"/>
            <a:ext cx="3275166" cy="115212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51C2FE50-91D7-3EC0-4FF5-F1C231F08E36}"/>
              </a:ext>
            </a:extLst>
          </p:cNvPr>
          <p:cNvSpPr txBox="1"/>
          <p:nvPr/>
        </p:nvSpPr>
        <p:spPr>
          <a:xfrm>
            <a:off x="5887295" y="1966949"/>
            <a:ext cx="32567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Struktura danych używana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przechowywania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przekazywania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informacji między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komponentami aplikacji</a:t>
            </a:r>
          </a:p>
        </p:txBody>
      </p: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2E48A1BB-E0FA-CD56-EDAC-E22B5BB03197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506417" y="1550940"/>
            <a:ext cx="17911" cy="41600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Prostokąt: zaokrąglone rogi 39">
            <a:extLst>
              <a:ext uri="{FF2B5EF4-FFF2-40B4-BE49-F238E27FC236}">
                <a16:creationId xmlns:a16="http://schemas.microsoft.com/office/drawing/2014/main" id="{6C55EE7F-467B-2799-2D12-9ACE5531DAA4}"/>
              </a:ext>
            </a:extLst>
          </p:cNvPr>
          <p:cNvSpPr/>
          <p:nvPr/>
        </p:nvSpPr>
        <p:spPr>
          <a:xfrm>
            <a:off x="77202" y="5494874"/>
            <a:ext cx="3468223" cy="115212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1" name="pole tekstowe 40">
            <a:extLst>
              <a:ext uri="{FF2B5EF4-FFF2-40B4-BE49-F238E27FC236}">
                <a16:creationId xmlns:a16="http://schemas.microsoft.com/office/drawing/2014/main" id="{EE9FDA15-369D-6B5E-C7C0-4F0E9B8196B5}"/>
              </a:ext>
            </a:extLst>
          </p:cNvPr>
          <p:cNvSpPr txBox="1"/>
          <p:nvPr/>
        </p:nvSpPr>
        <p:spPr>
          <a:xfrm>
            <a:off x="95664" y="5494874"/>
            <a:ext cx="34682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ułatwiająca wyświetlanie UI na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pełnym ekranie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rozciągając zawartość na paski systemowe (status bar i nawigacja).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42" name="Łącznik prosty ze strzałką 41">
            <a:extLst>
              <a:ext uri="{FF2B5EF4-FFF2-40B4-BE49-F238E27FC236}">
                <a16:creationId xmlns:a16="http://schemas.microsoft.com/office/drawing/2014/main" id="{B1511808-EA8B-F254-8982-340879ACFBB5}"/>
              </a:ext>
            </a:extLst>
          </p:cNvPr>
          <p:cNvCxnSpPr>
            <a:cxnSpLocks/>
          </p:cNvCxnSpPr>
          <p:nvPr/>
        </p:nvCxnSpPr>
        <p:spPr>
          <a:xfrm flipV="1">
            <a:off x="1940021" y="2293099"/>
            <a:ext cx="1199048" cy="320742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Prostokąt: zaokrąglone rogi 44">
            <a:extLst>
              <a:ext uri="{FF2B5EF4-FFF2-40B4-BE49-F238E27FC236}">
                <a16:creationId xmlns:a16="http://schemas.microsoft.com/office/drawing/2014/main" id="{B8ED26CE-DD5F-D577-3EF0-AC371371DF08}"/>
              </a:ext>
            </a:extLst>
          </p:cNvPr>
          <p:cNvSpPr/>
          <p:nvPr/>
        </p:nvSpPr>
        <p:spPr>
          <a:xfrm>
            <a:off x="2373919" y="4572912"/>
            <a:ext cx="1591845" cy="88922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6" name="pole tekstowe 45">
            <a:extLst>
              <a:ext uri="{FF2B5EF4-FFF2-40B4-BE49-F238E27FC236}">
                <a16:creationId xmlns:a16="http://schemas.microsoft.com/office/drawing/2014/main" id="{33D626C3-3619-5325-53DA-2FED99CF3D9B}"/>
              </a:ext>
            </a:extLst>
          </p:cNvPr>
          <p:cNvSpPr txBox="1"/>
          <p:nvPr/>
        </p:nvSpPr>
        <p:spPr>
          <a:xfrm>
            <a:off x="1924149" y="4590925"/>
            <a:ext cx="2491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jego wnętrzu umieszczamy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Composable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UI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48" name="Łącznik prosty ze strzałką 47">
            <a:extLst>
              <a:ext uri="{FF2B5EF4-FFF2-40B4-BE49-F238E27FC236}">
                <a16:creationId xmlns:a16="http://schemas.microsoft.com/office/drawing/2014/main" id="{EE4FBAD1-74CD-27B5-39F6-A691A96FB957}"/>
              </a:ext>
            </a:extLst>
          </p:cNvPr>
          <p:cNvCxnSpPr>
            <a:cxnSpLocks/>
          </p:cNvCxnSpPr>
          <p:nvPr/>
        </p:nvCxnSpPr>
        <p:spPr>
          <a:xfrm flipV="1">
            <a:off x="3034153" y="2705027"/>
            <a:ext cx="325930" cy="181345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Prostokąt: zaokrąglone rogi 49">
            <a:extLst>
              <a:ext uri="{FF2B5EF4-FFF2-40B4-BE49-F238E27FC236}">
                <a16:creationId xmlns:a16="http://schemas.microsoft.com/office/drawing/2014/main" id="{C1A7B939-6CAD-E458-CB01-C9870A2967F8}"/>
              </a:ext>
            </a:extLst>
          </p:cNvPr>
          <p:cNvSpPr/>
          <p:nvPr/>
        </p:nvSpPr>
        <p:spPr>
          <a:xfrm>
            <a:off x="4499993" y="3119079"/>
            <a:ext cx="4624866" cy="525946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1" name="pole tekstowe 50">
            <a:extLst>
              <a:ext uri="{FF2B5EF4-FFF2-40B4-BE49-F238E27FC236}">
                <a16:creationId xmlns:a16="http://schemas.microsoft.com/office/drawing/2014/main" id="{30263341-B9F8-07E5-6E0A-C70D039006CC}"/>
              </a:ext>
            </a:extLst>
          </p:cNvPr>
          <p:cNvSpPr txBox="1"/>
          <p:nvPr/>
        </p:nvSpPr>
        <p:spPr>
          <a:xfrm>
            <a:off x="4428860" y="3060250"/>
            <a:ext cx="47671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Stosuje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generowany automatycznie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styl aplikacji, np. kolory, czcionki, motyw jasny/ciemny.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53" name="Łącznik prosty ze strzałką 52">
            <a:extLst>
              <a:ext uri="{FF2B5EF4-FFF2-40B4-BE49-F238E27FC236}">
                <a16:creationId xmlns:a16="http://schemas.microsoft.com/office/drawing/2014/main" id="{D4D83B78-9D97-E17E-B741-78568A986051}"/>
              </a:ext>
            </a:extLst>
          </p:cNvPr>
          <p:cNvCxnSpPr>
            <a:cxnSpLocks/>
          </p:cNvCxnSpPr>
          <p:nvPr/>
        </p:nvCxnSpPr>
        <p:spPr>
          <a:xfrm flipH="1" flipV="1">
            <a:off x="4117590" y="3068960"/>
            <a:ext cx="372751" cy="14771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615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28967-5390-7134-C5C2-126084173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52A7FDB-7B94-3402-2516-462F278FD21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Aktywność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AD668EE0-B177-8E05-69B9-87BE851C0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7673" y="936104"/>
            <a:ext cx="6468638" cy="5733256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B792B8BB-09BB-AC1E-3200-6DD399D527AC}"/>
              </a:ext>
            </a:extLst>
          </p:cNvPr>
          <p:cNvCxnSpPr>
            <a:cxnSpLocks/>
          </p:cNvCxnSpPr>
          <p:nvPr/>
        </p:nvCxnSpPr>
        <p:spPr>
          <a:xfrm flipV="1">
            <a:off x="2555776" y="1113894"/>
            <a:ext cx="473294" cy="45111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D0425E97-1442-629A-76C9-46F470C8976C}"/>
              </a:ext>
            </a:extLst>
          </p:cNvPr>
          <p:cNvSpPr/>
          <p:nvPr/>
        </p:nvSpPr>
        <p:spPr>
          <a:xfrm>
            <a:off x="54920" y="1245659"/>
            <a:ext cx="2500856" cy="95920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8F13FC43-D6D7-2E87-B7F0-E60609766422}"/>
              </a:ext>
            </a:extLst>
          </p:cNvPr>
          <p:cNvSpPr txBox="1"/>
          <p:nvPr/>
        </p:nvSpPr>
        <p:spPr>
          <a:xfrm>
            <a:off x="107504" y="1274148"/>
            <a:ext cx="2500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Główna aktywność aplikacji, może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hostować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Composable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UI</a:t>
            </a:r>
          </a:p>
        </p:txBody>
      </p:sp>
      <p:cxnSp>
        <p:nvCxnSpPr>
          <p:cNvPr id="15" name="Łącznik prosty ze strzałką 14">
            <a:extLst>
              <a:ext uri="{FF2B5EF4-FFF2-40B4-BE49-F238E27FC236}">
                <a16:creationId xmlns:a16="http://schemas.microsoft.com/office/drawing/2014/main" id="{FB144F00-7ED6-5B94-023F-CC5E2887617B}"/>
              </a:ext>
            </a:extLst>
          </p:cNvPr>
          <p:cNvCxnSpPr>
            <a:cxnSpLocks/>
          </p:cNvCxnSpPr>
          <p:nvPr/>
        </p:nvCxnSpPr>
        <p:spPr>
          <a:xfrm flipV="1">
            <a:off x="1979712" y="1550940"/>
            <a:ext cx="1149019" cy="151802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A1CAF386-2BC2-1C28-1165-A8A3D6EABA58}"/>
              </a:ext>
            </a:extLst>
          </p:cNvPr>
          <p:cNvSpPr/>
          <p:nvPr/>
        </p:nvSpPr>
        <p:spPr>
          <a:xfrm>
            <a:off x="19141" y="2535937"/>
            <a:ext cx="1960571" cy="146912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756F832F-77BD-BFD5-C21A-6B2FDC07D8B4}"/>
              </a:ext>
            </a:extLst>
          </p:cNvPr>
          <p:cNvSpPr txBox="1"/>
          <p:nvPr/>
        </p:nvSpPr>
        <p:spPr>
          <a:xfrm>
            <a:off x="19139" y="2593450"/>
            <a:ext cx="19605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Metoda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cyklu życia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aktywności – jest wywoływana, gdy aktywność jest tworzona.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073C07CF-6A20-C5A0-5B53-E267E49F7733}"/>
              </a:ext>
            </a:extLst>
          </p:cNvPr>
          <p:cNvCxnSpPr>
            <a:cxnSpLocks/>
          </p:cNvCxnSpPr>
          <p:nvPr/>
        </p:nvCxnSpPr>
        <p:spPr>
          <a:xfrm flipV="1">
            <a:off x="1977497" y="1916832"/>
            <a:ext cx="1169696" cy="230425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C1327987-3D65-4A38-E1C2-EC2AEB3FA687}"/>
              </a:ext>
            </a:extLst>
          </p:cNvPr>
          <p:cNvSpPr/>
          <p:nvPr/>
        </p:nvSpPr>
        <p:spPr>
          <a:xfrm>
            <a:off x="127680" y="4062577"/>
            <a:ext cx="1849817" cy="132343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69AB61A6-AB18-357B-BFBD-EAB72516458C}"/>
              </a:ext>
            </a:extLst>
          </p:cNvPr>
          <p:cNvSpPr txBox="1"/>
          <p:nvPr/>
        </p:nvSpPr>
        <p:spPr>
          <a:xfrm>
            <a:off x="59882" y="4005064"/>
            <a:ext cx="19854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Zapewnia poprawne działanie aktywności, wywołując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bazową implementację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2DEDC03E-BB90-DEC1-F9CC-B0B8385A8A11}"/>
              </a:ext>
            </a:extLst>
          </p:cNvPr>
          <p:cNvSpPr/>
          <p:nvPr/>
        </p:nvSpPr>
        <p:spPr>
          <a:xfrm>
            <a:off x="5868834" y="1966949"/>
            <a:ext cx="3275166" cy="115212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D25880B1-A61A-58DD-3CB7-BAEA51DC8D52}"/>
              </a:ext>
            </a:extLst>
          </p:cNvPr>
          <p:cNvSpPr txBox="1"/>
          <p:nvPr/>
        </p:nvSpPr>
        <p:spPr>
          <a:xfrm>
            <a:off x="5887295" y="1966949"/>
            <a:ext cx="32567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Struktura danych używana do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przechowywania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przekazywania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informacji między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komponentami aplikacji</a:t>
            </a:r>
          </a:p>
        </p:txBody>
      </p: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CFDADC85-949C-37D6-1BB0-277D23B729F2}"/>
              </a:ext>
            </a:extLst>
          </p:cNvPr>
          <p:cNvCxnSpPr>
            <a:cxnSpLocks/>
            <a:stCxn id="27" idx="0"/>
          </p:cNvCxnSpPr>
          <p:nvPr/>
        </p:nvCxnSpPr>
        <p:spPr>
          <a:xfrm flipV="1">
            <a:off x="7506417" y="1550940"/>
            <a:ext cx="17911" cy="416009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Prostokąt: zaokrąglone rogi 39">
            <a:extLst>
              <a:ext uri="{FF2B5EF4-FFF2-40B4-BE49-F238E27FC236}">
                <a16:creationId xmlns:a16="http://schemas.microsoft.com/office/drawing/2014/main" id="{3EB94CB3-490F-B881-B3AC-64D0B6A17E6F}"/>
              </a:ext>
            </a:extLst>
          </p:cNvPr>
          <p:cNvSpPr/>
          <p:nvPr/>
        </p:nvSpPr>
        <p:spPr>
          <a:xfrm>
            <a:off x="77202" y="5494874"/>
            <a:ext cx="3468223" cy="1152129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1" name="pole tekstowe 40">
            <a:extLst>
              <a:ext uri="{FF2B5EF4-FFF2-40B4-BE49-F238E27FC236}">
                <a16:creationId xmlns:a16="http://schemas.microsoft.com/office/drawing/2014/main" id="{49C5410E-425A-ED70-B14D-F6B0927733D2}"/>
              </a:ext>
            </a:extLst>
          </p:cNvPr>
          <p:cNvSpPr txBox="1"/>
          <p:nvPr/>
        </p:nvSpPr>
        <p:spPr>
          <a:xfrm>
            <a:off x="95664" y="5494874"/>
            <a:ext cx="34682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ułatwiająca wyświetlanie UI na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pełnym ekranie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rozciągając zawartość na paski systemowe (status bar i nawigacja).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42" name="Łącznik prosty ze strzałką 41">
            <a:extLst>
              <a:ext uri="{FF2B5EF4-FFF2-40B4-BE49-F238E27FC236}">
                <a16:creationId xmlns:a16="http://schemas.microsoft.com/office/drawing/2014/main" id="{B15B0707-98D8-1A65-CDEA-512D0208C319}"/>
              </a:ext>
            </a:extLst>
          </p:cNvPr>
          <p:cNvCxnSpPr>
            <a:cxnSpLocks/>
          </p:cNvCxnSpPr>
          <p:nvPr/>
        </p:nvCxnSpPr>
        <p:spPr>
          <a:xfrm flipV="1">
            <a:off x="1940021" y="2293099"/>
            <a:ext cx="1199048" cy="320742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Prostokąt: zaokrąglone rogi 44">
            <a:extLst>
              <a:ext uri="{FF2B5EF4-FFF2-40B4-BE49-F238E27FC236}">
                <a16:creationId xmlns:a16="http://schemas.microsoft.com/office/drawing/2014/main" id="{C9F4BC83-367B-144F-2128-5C1092399DBD}"/>
              </a:ext>
            </a:extLst>
          </p:cNvPr>
          <p:cNvSpPr/>
          <p:nvPr/>
        </p:nvSpPr>
        <p:spPr>
          <a:xfrm>
            <a:off x="2373919" y="4572912"/>
            <a:ext cx="1591845" cy="88922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6" name="pole tekstowe 45">
            <a:extLst>
              <a:ext uri="{FF2B5EF4-FFF2-40B4-BE49-F238E27FC236}">
                <a16:creationId xmlns:a16="http://schemas.microsoft.com/office/drawing/2014/main" id="{B829A1BE-0612-DF02-04FB-D9820D0C89E2}"/>
              </a:ext>
            </a:extLst>
          </p:cNvPr>
          <p:cNvSpPr txBox="1"/>
          <p:nvPr/>
        </p:nvSpPr>
        <p:spPr>
          <a:xfrm>
            <a:off x="1924149" y="4590925"/>
            <a:ext cx="24913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jego wnętrzu umieszczamy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Composable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UI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48" name="Łącznik prosty ze strzałką 47">
            <a:extLst>
              <a:ext uri="{FF2B5EF4-FFF2-40B4-BE49-F238E27FC236}">
                <a16:creationId xmlns:a16="http://schemas.microsoft.com/office/drawing/2014/main" id="{BCD5351F-9C5F-F587-13D2-AB5F8DC8F502}"/>
              </a:ext>
            </a:extLst>
          </p:cNvPr>
          <p:cNvCxnSpPr>
            <a:cxnSpLocks/>
          </p:cNvCxnSpPr>
          <p:nvPr/>
        </p:nvCxnSpPr>
        <p:spPr>
          <a:xfrm flipV="1">
            <a:off x="3034153" y="2705027"/>
            <a:ext cx="325930" cy="181345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Prostokąt: zaokrąglone rogi 49">
            <a:extLst>
              <a:ext uri="{FF2B5EF4-FFF2-40B4-BE49-F238E27FC236}">
                <a16:creationId xmlns:a16="http://schemas.microsoft.com/office/drawing/2014/main" id="{1B814676-6056-D4E5-8143-15AEB516ACFD}"/>
              </a:ext>
            </a:extLst>
          </p:cNvPr>
          <p:cNvSpPr/>
          <p:nvPr/>
        </p:nvSpPr>
        <p:spPr>
          <a:xfrm>
            <a:off x="4499993" y="3119079"/>
            <a:ext cx="4624866" cy="525946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1" name="pole tekstowe 50">
            <a:extLst>
              <a:ext uri="{FF2B5EF4-FFF2-40B4-BE49-F238E27FC236}">
                <a16:creationId xmlns:a16="http://schemas.microsoft.com/office/drawing/2014/main" id="{6BE0ADF5-42AC-72FC-A569-066708C4305E}"/>
              </a:ext>
            </a:extLst>
          </p:cNvPr>
          <p:cNvSpPr txBox="1"/>
          <p:nvPr/>
        </p:nvSpPr>
        <p:spPr>
          <a:xfrm>
            <a:off x="4428860" y="3060250"/>
            <a:ext cx="47671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Stosuje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generowany automatycznie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styl aplikacji, np. kolory, czcionki, motyw jasny/ciemny.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53" name="Łącznik prosty ze strzałką 52">
            <a:extLst>
              <a:ext uri="{FF2B5EF4-FFF2-40B4-BE49-F238E27FC236}">
                <a16:creationId xmlns:a16="http://schemas.microsoft.com/office/drawing/2014/main" id="{A8EEDDE0-13CF-8657-A638-566C04F86A50}"/>
              </a:ext>
            </a:extLst>
          </p:cNvPr>
          <p:cNvCxnSpPr>
            <a:cxnSpLocks/>
          </p:cNvCxnSpPr>
          <p:nvPr/>
        </p:nvCxnSpPr>
        <p:spPr>
          <a:xfrm flipH="1" flipV="1">
            <a:off x="4117590" y="3068960"/>
            <a:ext cx="372751" cy="14771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Prostokąt: zaokrąglone rogi 55">
            <a:extLst>
              <a:ext uri="{FF2B5EF4-FFF2-40B4-BE49-F238E27FC236}">
                <a16:creationId xmlns:a16="http://schemas.microsoft.com/office/drawing/2014/main" id="{A98CCB25-4E8A-D0C3-5176-5FB168106BA2}"/>
              </a:ext>
            </a:extLst>
          </p:cNvPr>
          <p:cNvSpPr/>
          <p:nvPr/>
        </p:nvSpPr>
        <p:spPr>
          <a:xfrm>
            <a:off x="3813998" y="6199690"/>
            <a:ext cx="3028171" cy="58477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5" name="pole tekstowe 54">
            <a:extLst>
              <a:ext uri="{FF2B5EF4-FFF2-40B4-BE49-F238E27FC236}">
                <a16:creationId xmlns:a16="http://schemas.microsoft.com/office/drawing/2014/main" id="{3E5EA10E-2A09-197F-202B-D35F56F9B702}"/>
              </a:ext>
            </a:extLst>
          </p:cNvPr>
          <p:cNvSpPr txBox="1"/>
          <p:nvPr/>
        </p:nvSpPr>
        <p:spPr>
          <a:xfrm>
            <a:off x="3556050" y="6176336"/>
            <a:ext cx="34682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Kontener układający elementy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warstwowo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57" name="Łącznik prosty ze strzałką 56">
            <a:extLst>
              <a:ext uri="{FF2B5EF4-FFF2-40B4-BE49-F238E27FC236}">
                <a16:creationId xmlns:a16="http://schemas.microsoft.com/office/drawing/2014/main" id="{AA57D23A-0928-08CC-33DB-4020FC69C1AC}"/>
              </a:ext>
            </a:extLst>
          </p:cNvPr>
          <p:cNvCxnSpPr>
            <a:cxnSpLocks/>
          </p:cNvCxnSpPr>
          <p:nvPr/>
        </p:nvCxnSpPr>
        <p:spPr>
          <a:xfrm flipH="1" flipV="1">
            <a:off x="4073154" y="3471699"/>
            <a:ext cx="134692" cy="268128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Prostokąt: zaokrąglone rogi 64">
            <a:extLst>
              <a:ext uri="{FF2B5EF4-FFF2-40B4-BE49-F238E27FC236}">
                <a16:creationId xmlns:a16="http://schemas.microsoft.com/office/drawing/2014/main" id="{FACB101B-6732-BE29-6639-6446D918671C}"/>
              </a:ext>
            </a:extLst>
          </p:cNvPr>
          <p:cNvSpPr/>
          <p:nvPr/>
        </p:nvSpPr>
        <p:spPr>
          <a:xfrm>
            <a:off x="5855933" y="5205775"/>
            <a:ext cx="3119644" cy="902164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2" name="pole tekstowe 61">
            <a:extLst>
              <a:ext uri="{FF2B5EF4-FFF2-40B4-BE49-F238E27FC236}">
                <a16:creationId xmlns:a16="http://schemas.microsoft.com/office/drawing/2014/main" id="{D118E140-733F-4A9B-6235-AB70D3B9FFB8}"/>
              </a:ext>
            </a:extLst>
          </p:cNvPr>
          <p:cNvSpPr txBox="1"/>
          <p:nvPr/>
        </p:nvSpPr>
        <p:spPr>
          <a:xfrm>
            <a:off x="5631674" y="5239941"/>
            <a:ext cx="34682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Podstawowy komponent do wyświetlania tekstu w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Jetpack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Compose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66" name="Łącznik prosty ze strzałką 65">
            <a:extLst>
              <a:ext uri="{FF2B5EF4-FFF2-40B4-BE49-F238E27FC236}">
                <a16:creationId xmlns:a16="http://schemas.microsoft.com/office/drawing/2014/main" id="{5E38E0D0-E90F-72CC-4A14-FD2FB3929101}"/>
              </a:ext>
            </a:extLst>
          </p:cNvPr>
          <p:cNvCxnSpPr>
            <a:cxnSpLocks/>
          </p:cNvCxnSpPr>
          <p:nvPr/>
        </p:nvCxnSpPr>
        <p:spPr>
          <a:xfrm flipH="1" flipV="1">
            <a:off x="4711355" y="5114024"/>
            <a:ext cx="1156418" cy="143506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7941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9EE2C-2DC3-DF89-EDFD-98881FFBD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9584E9-9D08-B218-1D7A-5AAD245C7B7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AndroidManifest.xml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48590BA2-67F7-77B6-C5EE-32F3E6225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825" y="2762576"/>
            <a:ext cx="7249280" cy="3509572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76388B09-9C06-81C6-1B57-A544F847A88A}"/>
              </a:ext>
            </a:extLst>
          </p:cNvPr>
          <p:cNvSpPr txBox="1"/>
          <p:nvPr/>
        </p:nvSpPr>
        <p:spPr>
          <a:xfrm>
            <a:off x="1033752" y="796886"/>
            <a:ext cx="81102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Kluczowy </a:t>
            </a:r>
            <a:r>
              <a:rPr lang="pl-PL" sz="1600" b="1" dirty="0"/>
              <a:t>plik konfiguracyjny </a:t>
            </a:r>
            <a:r>
              <a:rPr lang="pl-PL" sz="1600" dirty="0"/>
              <a:t>każdej aplikacji. Zawiera informacje niezbędne dla systemu Android, takie jak: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Deklaracja aktywności, usług, odbiorników zdarzeń (Activity, Service, </a:t>
            </a:r>
            <a:r>
              <a:rPr lang="pl-PL" sz="1600" dirty="0" err="1"/>
              <a:t>BroadcastReceiver</a:t>
            </a:r>
            <a:r>
              <a:rPr lang="pl-PL" sz="1600" dirty="0"/>
              <a:t>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Uprawnienia wymagane przez aplikację (np. dostęp do Internetu, aparatu)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B15C0CAC-C81D-AAC3-55B8-1BB54261F497}"/>
              </a:ext>
            </a:extLst>
          </p:cNvPr>
          <p:cNvCxnSpPr>
            <a:cxnSpLocks/>
          </p:cNvCxnSpPr>
          <p:nvPr/>
        </p:nvCxnSpPr>
        <p:spPr>
          <a:xfrm>
            <a:off x="1457414" y="2470096"/>
            <a:ext cx="522298" cy="29248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6DEFF79F-7202-8975-1F82-0D52703AF7A3}"/>
              </a:ext>
            </a:extLst>
          </p:cNvPr>
          <p:cNvSpPr/>
          <p:nvPr/>
        </p:nvSpPr>
        <p:spPr>
          <a:xfrm>
            <a:off x="126183" y="2139701"/>
            <a:ext cx="1277003" cy="6422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20BA6386-ADA4-85AE-0D84-788330B1ADB0}"/>
              </a:ext>
            </a:extLst>
          </p:cNvPr>
          <p:cNvSpPr txBox="1"/>
          <p:nvPr/>
        </p:nvSpPr>
        <p:spPr>
          <a:xfrm>
            <a:off x="-186645" y="2159657"/>
            <a:ext cx="1960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Deklaracja aktywności.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202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548CB7-FC48-D496-F5C5-4644B91CB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C577D70-0556-0DAB-93F7-BC2E7255CC2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AndroidManifest.xml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A439C3D8-4FD2-39FF-5E47-099C2B618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825" y="2762576"/>
            <a:ext cx="7249280" cy="3509572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126851AA-1B2B-908D-E1A1-9079D8F9446B}"/>
              </a:ext>
            </a:extLst>
          </p:cNvPr>
          <p:cNvSpPr txBox="1"/>
          <p:nvPr/>
        </p:nvSpPr>
        <p:spPr>
          <a:xfrm>
            <a:off x="1033752" y="796886"/>
            <a:ext cx="81102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Kluczowy </a:t>
            </a:r>
            <a:r>
              <a:rPr lang="pl-PL" sz="1600" b="1" dirty="0"/>
              <a:t>plik konfiguracyjny </a:t>
            </a:r>
            <a:r>
              <a:rPr lang="pl-PL" sz="1600" dirty="0"/>
              <a:t>każdej aplikacji. Zawiera informacje niezbędne dla systemu Android, takie jak: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Deklaracja aktywności, usług, odbiorników zdarzeń (Activity, Service, </a:t>
            </a:r>
            <a:r>
              <a:rPr lang="pl-PL" sz="1600" dirty="0" err="1"/>
              <a:t>BroadcastReceiver</a:t>
            </a:r>
            <a:r>
              <a:rPr lang="pl-PL" sz="1600" dirty="0"/>
              <a:t>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Uprawnienia wymagane przez aplikację (np. dostęp do Internetu, aparatu)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E7914BA7-093F-DBD0-6779-D4AF1ED9876E}"/>
              </a:ext>
            </a:extLst>
          </p:cNvPr>
          <p:cNvCxnSpPr>
            <a:cxnSpLocks/>
          </p:cNvCxnSpPr>
          <p:nvPr/>
        </p:nvCxnSpPr>
        <p:spPr>
          <a:xfrm>
            <a:off x="1457414" y="2470096"/>
            <a:ext cx="522298" cy="29248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4BE23E7B-2EF5-0FA7-4C64-3EA1EFAB445F}"/>
              </a:ext>
            </a:extLst>
          </p:cNvPr>
          <p:cNvSpPr/>
          <p:nvPr/>
        </p:nvSpPr>
        <p:spPr>
          <a:xfrm>
            <a:off x="126183" y="2139701"/>
            <a:ext cx="1277003" cy="6422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C9B491E4-6FCC-94C6-E8D8-0E547C77FEAF}"/>
              </a:ext>
            </a:extLst>
          </p:cNvPr>
          <p:cNvSpPr txBox="1"/>
          <p:nvPr/>
        </p:nvSpPr>
        <p:spPr>
          <a:xfrm>
            <a:off x="-186645" y="2159657"/>
            <a:ext cx="1960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Deklaracja aktywności.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BE54CFF6-90FA-B600-0435-F4E1E46DB694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4283968" y="2755707"/>
            <a:ext cx="190930" cy="31325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stokąt: zaokrąglone rogi 23">
            <a:extLst>
              <a:ext uri="{FF2B5EF4-FFF2-40B4-BE49-F238E27FC236}">
                <a16:creationId xmlns:a16="http://schemas.microsoft.com/office/drawing/2014/main" id="{7089409A-D6EF-489B-3AC1-C777115535AB}"/>
              </a:ext>
            </a:extLst>
          </p:cNvPr>
          <p:cNvSpPr/>
          <p:nvPr/>
        </p:nvSpPr>
        <p:spPr>
          <a:xfrm>
            <a:off x="3144323" y="2113419"/>
            <a:ext cx="2661150" cy="6422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48BC530F-6DBE-090A-F4D1-0DEB20357BB4}"/>
              </a:ext>
            </a:extLst>
          </p:cNvPr>
          <p:cNvSpPr txBox="1"/>
          <p:nvPr/>
        </p:nvSpPr>
        <p:spPr>
          <a:xfrm>
            <a:off x="3015351" y="2074520"/>
            <a:ext cx="2937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wskazuje, że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MainActivity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jest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aktywnością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aplikacji</a:t>
            </a:r>
          </a:p>
        </p:txBody>
      </p:sp>
    </p:spTree>
    <p:extLst>
      <p:ext uri="{BB962C8B-B14F-4D97-AF65-F5344CB8AC3E}">
        <p14:creationId xmlns:p14="http://schemas.microsoft.com/office/powerpoint/2010/main" val="3922203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44FC0B-0080-7081-1905-1E4D9A205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D14416-4176-B1CB-CE8E-02643541BDC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AndroidManifest.xml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DE7D2A83-B792-7CDC-ABAB-6416A85A2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825" y="2762576"/>
            <a:ext cx="7249280" cy="3509572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C6FF8B70-B7D7-C4BB-1B30-A390E64C15DB}"/>
              </a:ext>
            </a:extLst>
          </p:cNvPr>
          <p:cNvSpPr txBox="1"/>
          <p:nvPr/>
        </p:nvSpPr>
        <p:spPr>
          <a:xfrm>
            <a:off x="1033752" y="796886"/>
            <a:ext cx="81102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Kluczowy </a:t>
            </a:r>
            <a:r>
              <a:rPr lang="pl-PL" sz="1600" b="1" dirty="0"/>
              <a:t>plik konfiguracyjny </a:t>
            </a:r>
            <a:r>
              <a:rPr lang="pl-PL" sz="1600" dirty="0"/>
              <a:t>każdej aplikacji. Zawiera informacje niezbędne dla systemu Android, takie jak: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Deklaracja aktywności, usług, odbiorników zdarzeń (Activity, Service, </a:t>
            </a:r>
            <a:r>
              <a:rPr lang="pl-PL" sz="1600" dirty="0" err="1"/>
              <a:t>BroadcastReceiver</a:t>
            </a:r>
            <a:r>
              <a:rPr lang="pl-PL" sz="1600" dirty="0"/>
              <a:t>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Uprawnienia wymagane przez aplikację (np. dostęp do Internetu, aparatu)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DD2625A4-4109-B59F-33BF-853FC9C467E1}"/>
              </a:ext>
            </a:extLst>
          </p:cNvPr>
          <p:cNvCxnSpPr>
            <a:cxnSpLocks/>
          </p:cNvCxnSpPr>
          <p:nvPr/>
        </p:nvCxnSpPr>
        <p:spPr>
          <a:xfrm>
            <a:off x="1457414" y="2470096"/>
            <a:ext cx="522298" cy="29248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D934C4D8-9252-EDAB-1818-E9A202DD51BA}"/>
              </a:ext>
            </a:extLst>
          </p:cNvPr>
          <p:cNvSpPr/>
          <p:nvPr/>
        </p:nvSpPr>
        <p:spPr>
          <a:xfrm>
            <a:off x="126183" y="2139701"/>
            <a:ext cx="1277003" cy="6422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7ECC90C0-3AC4-261F-C0E6-BF28FA25A2F9}"/>
              </a:ext>
            </a:extLst>
          </p:cNvPr>
          <p:cNvSpPr txBox="1"/>
          <p:nvPr/>
        </p:nvSpPr>
        <p:spPr>
          <a:xfrm>
            <a:off x="-186645" y="2159657"/>
            <a:ext cx="1960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Deklaracja aktywności.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580BC2BB-1AC4-9703-93C6-5EDF584B0BDD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4283968" y="2755707"/>
            <a:ext cx="190930" cy="31325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stokąt: zaokrąglone rogi 23">
            <a:extLst>
              <a:ext uri="{FF2B5EF4-FFF2-40B4-BE49-F238E27FC236}">
                <a16:creationId xmlns:a16="http://schemas.microsoft.com/office/drawing/2014/main" id="{50E8C734-0665-C559-AF83-F4B3B21A90F6}"/>
              </a:ext>
            </a:extLst>
          </p:cNvPr>
          <p:cNvSpPr/>
          <p:nvPr/>
        </p:nvSpPr>
        <p:spPr>
          <a:xfrm>
            <a:off x="3144323" y="2113419"/>
            <a:ext cx="2661150" cy="6422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D30926A6-8414-5DC3-A441-0F5935195DC8}"/>
              </a:ext>
            </a:extLst>
          </p:cNvPr>
          <p:cNvSpPr txBox="1"/>
          <p:nvPr/>
        </p:nvSpPr>
        <p:spPr>
          <a:xfrm>
            <a:off x="3015351" y="2074520"/>
            <a:ext cx="2937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wskazuje, że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MainActivity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jest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aktywnością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aplikacji</a:t>
            </a:r>
          </a:p>
        </p:txBody>
      </p:sp>
      <p:sp>
        <p:nvSpPr>
          <p:cNvPr id="32" name="Prostokąt: zaokrąglone rogi 31">
            <a:extLst>
              <a:ext uri="{FF2B5EF4-FFF2-40B4-BE49-F238E27FC236}">
                <a16:creationId xmlns:a16="http://schemas.microsoft.com/office/drawing/2014/main" id="{181636A8-7634-745C-6895-509062C54370}"/>
              </a:ext>
            </a:extLst>
          </p:cNvPr>
          <p:cNvSpPr/>
          <p:nvPr/>
        </p:nvSpPr>
        <p:spPr>
          <a:xfrm>
            <a:off x="6236823" y="2236128"/>
            <a:ext cx="2896262" cy="82808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7CAA45BF-6D05-CF87-4EB3-64C4BC4ED312}"/>
              </a:ext>
            </a:extLst>
          </p:cNvPr>
          <p:cNvSpPr txBox="1"/>
          <p:nvPr/>
        </p:nvSpPr>
        <p:spPr>
          <a:xfrm>
            <a:off x="6225589" y="2182245"/>
            <a:ext cx="2937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Oznacza, że inne aplikacje mogą uruchomić tę aktywność (np. przez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Intent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34" name="Łącznik prosty ze strzałką 33">
            <a:extLst>
              <a:ext uri="{FF2B5EF4-FFF2-40B4-BE49-F238E27FC236}">
                <a16:creationId xmlns:a16="http://schemas.microsoft.com/office/drawing/2014/main" id="{0F09C046-7A32-E212-FE86-A748E06F9FCB}"/>
              </a:ext>
            </a:extLst>
          </p:cNvPr>
          <p:cNvCxnSpPr>
            <a:cxnSpLocks/>
          </p:cNvCxnSpPr>
          <p:nvPr/>
        </p:nvCxnSpPr>
        <p:spPr>
          <a:xfrm flipH="1">
            <a:off x="4283968" y="2666164"/>
            <a:ext cx="1963829" cy="97837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Łącznik prosty ze strzałką 38">
            <a:extLst>
              <a:ext uri="{FF2B5EF4-FFF2-40B4-BE49-F238E27FC236}">
                <a16:creationId xmlns:a16="http://schemas.microsoft.com/office/drawing/2014/main" id="{205E833B-7987-202E-6931-68679667AC7C}"/>
              </a:ext>
            </a:extLst>
          </p:cNvPr>
          <p:cNvCxnSpPr>
            <a:cxnSpLocks/>
          </p:cNvCxnSpPr>
          <p:nvPr/>
        </p:nvCxnSpPr>
        <p:spPr>
          <a:xfrm flipV="1">
            <a:off x="1990034" y="4383780"/>
            <a:ext cx="303523" cy="45268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Prostokąt: zaokrąglone rogi 42">
            <a:extLst>
              <a:ext uri="{FF2B5EF4-FFF2-40B4-BE49-F238E27FC236}">
                <a16:creationId xmlns:a16="http://schemas.microsoft.com/office/drawing/2014/main" id="{E8C11E8E-5301-1A7C-AF1F-EB8BC6ED9CB0}"/>
              </a:ext>
            </a:extLst>
          </p:cNvPr>
          <p:cNvSpPr/>
          <p:nvPr/>
        </p:nvSpPr>
        <p:spPr>
          <a:xfrm>
            <a:off x="-6624" y="4476447"/>
            <a:ext cx="1960573" cy="695604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4" name="pole tekstowe 43">
            <a:extLst>
              <a:ext uri="{FF2B5EF4-FFF2-40B4-BE49-F238E27FC236}">
                <a16:creationId xmlns:a16="http://schemas.microsoft.com/office/drawing/2014/main" id="{56442C53-C87F-CC49-9F1F-9A7A6C3BF8D3}"/>
              </a:ext>
            </a:extLst>
          </p:cNvPr>
          <p:cNvSpPr txBox="1"/>
          <p:nvPr/>
        </p:nvSpPr>
        <p:spPr>
          <a:xfrm>
            <a:off x="-186645" y="4485528"/>
            <a:ext cx="23206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Definiowanie aktywności startowej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449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84F77A-BA46-B690-E7D9-E712DF73E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CF0B3E-0872-6FAC-ACB7-B85BB04FD4F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AndroidManifest.xml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FD4D6910-DDF4-4B8A-592D-B607E9C8B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825" y="2762576"/>
            <a:ext cx="7249280" cy="3509572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627B475D-0376-E19E-557C-E53C5FE2BE1A}"/>
              </a:ext>
            </a:extLst>
          </p:cNvPr>
          <p:cNvSpPr txBox="1"/>
          <p:nvPr/>
        </p:nvSpPr>
        <p:spPr>
          <a:xfrm>
            <a:off x="1033752" y="796886"/>
            <a:ext cx="81102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Kluczowy </a:t>
            </a:r>
            <a:r>
              <a:rPr lang="pl-PL" sz="1600" b="1" dirty="0"/>
              <a:t>plik konfiguracyjny </a:t>
            </a:r>
            <a:r>
              <a:rPr lang="pl-PL" sz="1600" dirty="0"/>
              <a:t>każdej aplikacji. Zawiera informacje niezbędne dla systemu Android, takie jak: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Deklaracja aktywności, usług, odbiorników zdarzeń (Activity, Service, </a:t>
            </a:r>
            <a:r>
              <a:rPr lang="pl-PL" sz="1600" dirty="0" err="1"/>
              <a:t>BroadcastReceiver</a:t>
            </a:r>
            <a:r>
              <a:rPr lang="pl-PL" sz="1600" dirty="0"/>
              <a:t>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Uprawnienia wymagane przez aplikację (np. dostęp do Internetu, aparatu)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0EED2657-7F60-91FC-B1FA-B787EF7DBA7E}"/>
              </a:ext>
            </a:extLst>
          </p:cNvPr>
          <p:cNvCxnSpPr>
            <a:cxnSpLocks/>
          </p:cNvCxnSpPr>
          <p:nvPr/>
        </p:nvCxnSpPr>
        <p:spPr>
          <a:xfrm>
            <a:off x="1457414" y="2470096"/>
            <a:ext cx="522298" cy="29248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B72BED32-5282-48F6-CC14-2CABF5F16E11}"/>
              </a:ext>
            </a:extLst>
          </p:cNvPr>
          <p:cNvSpPr/>
          <p:nvPr/>
        </p:nvSpPr>
        <p:spPr>
          <a:xfrm>
            <a:off x="126183" y="2139701"/>
            <a:ext cx="1277003" cy="6422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80B1F409-B0A4-F53E-73C3-0CA822956278}"/>
              </a:ext>
            </a:extLst>
          </p:cNvPr>
          <p:cNvSpPr txBox="1"/>
          <p:nvPr/>
        </p:nvSpPr>
        <p:spPr>
          <a:xfrm>
            <a:off x="-186645" y="2159657"/>
            <a:ext cx="1960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Deklaracja aktywności.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95155361-0D54-06C6-C298-D4E32000E48D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4283968" y="2755707"/>
            <a:ext cx="190930" cy="31325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stokąt: zaokrąglone rogi 23">
            <a:extLst>
              <a:ext uri="{FF2B5EF4-FFF2-40B4-BE49-F238E27FC236}">
                <a16:creationId xmlns:a16="http://schemas.microsoft.com/office/drawing/2014/main" id="{AA96462C-DE5B-D451-857C-67B9855486C9}"/>
              </a:ext>
            </a:extLst>
          </p:cNvPr>
          <p:cNvSpPr/>
          <p:nvPr/>
        </p:nvSpPr>
        <p:spPr>
          <a:xfrm>
            <a:off x="3144323" y="2113419"/>
            <a:ext cx="2661150" cy="6422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C664013C-5054-B676-5398-655CA52323C9}"/>
              </a:ext>
            </a:extLst>
          </p:cNvPr>
          <p:cNvSpPr txBox="1"/>
          <p:nvPr/>
        </p:nvSpPr>
        <p:spPr>
          <a:xfrm>
            <a:off x="3015351" y="2074520"/>
            <a:ext cx="2937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wskazuje, że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MainActivity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jest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aktywnością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aplikacji</a:t>
            </a:r>
          </a:p>
        </p:txBody>
      </p:sp>
      <p:sp>
        <p:nvSpPr>
          <p:cNvPr id="32" name="Prostokąt: zaokrąglone rogi 31">
            <a:extLst>
              <a:ext uri="{FF2B5EF4-FFF2-40B4-BE49-F238E27FC236}">
                <a16:creationId xmlns:a16="http://schemas.microsoft.com/office/drawing/2014/main" id="{A9FF3B31-7288-D4E7-B5FB-15852A713261}"/>
              </a:ext>
            </a:extLst>
          </p:cNvPr>
          <p:cNvSpPr/>
          <p:nvPr/>
        </p:nvSpPr>
        <p:spPr>
          <a:xfrm>
            <a:off x="6236823" y="2236128"/>
            <a:ext cx="2896262" cy="82808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335109CE-319C-99C4-0EAC-867D48756798}"/>
              </a:ext>
            </a:extLst>
          </p:cNvPr>
          <p:cNvSpPr txBox="1"/>
          <p:nvPr/>
        </p:nvSpPr>
        <p:spPr>
          <a:xfrm>
            <a:off x="6225589" y="2182245"/>
            <a:ext cx="2937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Oznacza, że inne aplikacje mogą uruchomić tę aktywność (np. przez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Intent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34" name="Łącznik prosty ze strzałką 33">
            <a:extLst>
              <a:ext uri="{FF2B5EF4-FFF2-40B4-BE49-F238E27FC236}">
                <a16:creationId xmlns:a16="http://schemas.microsoft.com/office/drawing/2014/main" id="{4E5F8DD8-5E77-EA9C-E8A4-021C18B77773}"/>
              </a:ext>
            </a:extLst>
          </p:cNvPr>
          <p:cNvCxnSpPr>
            <a:cxnSpLocks/>
          </p:cNvCxnSpPr>
          <p:nvPr/>
        </p:nvCxnSpPr>
        <p:spPr>
          <a:xfrm flipH="1">
            <a:off x="4283968" y="2666164"/>
            <a:ext cx="1963829" cy="97837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Łącznik prosty ze strzałką 38">
            <a:extLst>
              <a:ext uri="{FF2B5EF4-FFF2-40B4-BE49-F238E27FC236}">
                <a16:creationId xmlns:a16="http://schemas.microsoft.com/office/drawing/2014/main" id="{C8683A07-FF5C-7C89-C418-3E6F6DF7EF0C}"/>
              </a:ext>
            </a:extLst>
          </p:cNvPr>
          <p:cNvCxnSpPr>
            <a:cxnSpLocks/>
          </p:cNvCxnSpPr>
          <p:nvPr/>
        </p:nvCxnSpPr>
        <p:spPr>
          <a:xfrm flipV="1">
            <a:off x="1990034" y="4383780"/>
            <a:ext cx="303523" cy="45268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Prostokąt: zaokrąglone rogi 42">
            <a:extLst>
              <a:ext uri="{FF2B5EF4-FFF2-40B4-BE49-F238E27FC236}">
                <a16:creationId xmlns:a16="http://schemas.microsoft.com/office/drawing/2014/main" id="{D604CB00-5725-9AA4-6E38-89D807F27EF3}"/>
              </a:ext>
            </a:extLst>
          </p:cNvPr>
          <p:cNvSpPr/>
          <p:nvPr/>
        </p:nvSpPr>
        <p:spPr>
          <a:xfrm>
            <a:off x="-6624" y="4476447"/>
            <a:ext cx="1960573" cy="695604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4" name="pole tekstowe 43">
            <a:extLst>
              <a:ext uri="{FF2B5EF4-FFF2-40B4-BE49-F238E27FC236}">
                <a16:creationId xmlns:a16="http://schemas.microsoft.com/office/drawing/2014/main" id="{71C699FF-0907-4969-F714-ABCBDF294DF6}"/>
              </a:ext>
            </a:extLst>
          </p:cNvPr>
          <p:cNvSpPr txBox="1"/>
          <p:nvPr/>
        </p:nvSpPr>
        <p:spPr>
          <a:xfrm>
            <a:off x="-186645" y="4485528"/>
            <a:ext cx="23206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Definiowanie aktywności startowej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59" name="Łącznik prosty ze strzałką 58">
            <a:extLst>
              <a:ext uri="{FF2B5EF4-FFF2-40B4-BE49-F238E27FC236}">
                <a16:creationId xmlns:a16="http://schemas.microsoft.com/office/drawing/2014/main" id="{905F1118-0917-F52D-C361-49E3C9B584A3}"/>
              </a:ext>
            </a:extLst>
          </p:cNvPr>
          <p:cNvCxnSpPr>
            <a:cxnSpLocks/>
          </p:cNvCxnSpPr>
          <p:nvPr/>
        </p:nvCxnSpPr>
        <p:spPr>
          <a:xfrm flipH="1">
            <a:off x="7020272" y="3938365"/>
            <a:ext cx="216024" cy="71477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Prostokąt: zaokrąglone rogi 60">
            <a:extLst>
              <a:ext uri="{FF2B5EF4-FFF2-40B4-BE49-F238E27FC236}">
                <a16:creationId xmlns:a16="http://schemas.microsoft.com/office/drawing/2014/main" id="{9C961272-BF25-961C-52CF-A3BE827430F8}"/>
              </a:ext>
            </a:extLst>
          </p:cNvPr>
          <p:cNvSpPr/>
          <p:nvPr/>
        </p:nvSpPr>
        <p:spPr>
          <a:xfrm>
            <a:off x="5508104" y="3116523"/>
            <a:ext cx="3624507" cy="77227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3" name="pole tekstowe 62">
            <a:extLst>
              <a:ext uri="{FF2B5EF4-FFF2-40B4-BE49-F238E27FC236}">
                <a16:creationId xmlns:a16="http://schemas.microsoft.com/office/drawing/2014/main" id="{C4EF2BEC-63E1-28D1-8164-F1EFB3C68BE5}"/>
              </a:ext>
            </a:extLst>
          </p:cNvPr>
          <p:cNvSpPr txBox="1"/>
          <p:nvPr/>
        </p:nvSpPr>
        <p:spPr>
          <a:xfrm>
            <a:off x="5435402" y="3085197"/>
            <a:ext cx="37177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Określa, że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MainActivity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jest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główną aktywnością aplikacji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czyli tą, która uruchamia się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jako pierwsza</a:t>
            </a:r>
          </a:p>
        </p:txBody>
      </p:sp>
    </p:spTree>
    <p:extLst>
      <p:ext uri="{BB962C8B-B14F-4D97-AF65-F5344CB8AC3E}">
        <p14:creationId xmlns:p14="http://schemas.microsoft.com/office/powerpoint/2010/main" val="1459711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B2DCEC-4733-C80C-E762-5E51C1CF7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E40911-AC00-386F-89D0-62561B1CE25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AndroidManifest.xml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B162F2B7-3C66-F3FC-0E8D-5627649788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825" y="2762576"/>
            <a:ext cx="7249280" cy="3509572"/>
          </a:xfrm>
          <a:prstGeom prst="rect">
            <a:avLst/>
          </a:prstGeom>
        </p:spPr>
      </p:pic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F1264E3-3BE9-1CE5-8C3D-3075E83867A3}"/>
              </a:ext>
            </a:extLst>
          </p:cNvPr>
          <p:cNvSpPr txBox="1"/>
          <p:nvPr/>
        </p:nvSpPr>
        <p:spPr>
          <a:xfrm>
            <a:off x="1033752" y="796886"/>
            <a:ext cx="81102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Kluczowy </a:t>
            </a:r>
            <a:r>
              <a:rPr lang="pl-PL" sz="1600" b="1" dirty="0"/>
              <a:t>plik konfiguracyjny </a:t>
            </a:r>
            <a:r>
              <a:rPr lang="pl-PL" sz="1600" dirty="0"/>
              <a:t>każdej aplikacji. Zawiera informacje niezbędne dla systemu Android, takie jak: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Deklaracja aktywności, usług, odbiorników zdarzeń (Activity, Service, </a:t>
            </a:r>
            <a:r>
              <a:rPr lang="pl-PL" sz="1600" dirty="0" err="1"/>
              <a:t>BroadcastReceiver</a:t>
            </a:r>
            <a:r>
              <a:rPr lang="pl-PL" sz="1600" dirty="0"/>
              <a:t>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dirty="0"/>
              <a:t>Uprawnienia wymagane przez aplikację (np. dostęp do Internetu, aparatu)</a:t>
            </a: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907570E8-0193-799A-9E3B-370FF959711D}"/>
              </a:ext>
            </a:extLst>
          </p:cNvPr>
          <p:cNvCxnSpPr>
            <a:cxnSpLocks/>
          </p:cNvCxnSpPr>
          <p:nvPr/>
        </p:nvCxnSpPr>
        <p:spPr>
          <a:xfrm>
            <a:off x="1457414" y="2470096"/>
            <a:ext cx="522298" cy="29248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3D29696B-3AB7-F83E-ACDB-CC18BAC4C130}"/>
              </a:ext>
            </a:extLst>
          </p:cNvPr>
          <p:cNvSpPr/>
          <p:nvPr/>
        </p:nvSpPr>
        <p:spPr>
          <a:xfrm>
            <a:off x="126183" y="2139701"/>
            <a:ext cx="1277003" cy="6422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4F2B7308-D363-4E6D-021E-294A0C52090A}"/>
              </a:ext>
            </a:extLst>
          </p:cNvPr>
          <p:cNvSpPr txBox="1"/>
          <p:nvPr/>
        </p:nvSpPr>
        <p:spPr>
          <a:xfrm>
            <a:off x="-186645" y="2159657"/>
            <a:ext cx="19605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Deklaracja aktywności.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5B145764-41CE-8C09-BF77-214F6D4B6880}"/>
              </a:ext>
            </a:extLst>
          </p:cNvPr>
          <p:cNvCxnSpPr>
            <a:cxnSpLocks/>
            <a:stCxn id="24" idx="2"/>
          </p:cNvCxnSpPr>
          <p:nvPr/>
        </p:nvCxnSpPr>
        <p:spPr>
          <a:xfrm flipH="1">
            <a:off x="4283968" y="2755707"/>
            <a:ext cx="190930" cy="31325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stokąt: zaokrąglone rogi 23">
            <a:extLst>
              <a:ext uri="{FF2B5EF4-FFF2-40B4-BE49-F238E27FC236}">
                <a16:creationId xmlns:a16="http://schemas.microsoft.com/office/drawing/2014/main" id="{70E0E379-B1A2-973F-E58F-0C6EEA1267E3}"/>
              </a:ext>
            </a:extLst>
          </p:cNvPr>
          <p:cNvSpPr/>
          <p:nvPr/>
        </p:nvSpPr>
        <p:spPr>
          <a:xfrm>
            <a:off x="3144323" y="2113419"/>
            <a:ext cx="2661150" cy="6422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D0DEFC34-BC63-37AE-41DC-DCDF659F280D}"/>
              </a:ext>
            </a:extLst>
          </p:cNvPr>
          <p:cNvSpPr txBox="1"/>
          <p:nvPr/>
        </p:nvSpPr>
        <p:spPr>
          <a:xfrm>
            <a:off x="3015351" y="2074520"/>
            <a:ext cx="2937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wskazuje, że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MainActivity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jest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aktywnością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aplikacji</a:t>
            </a:r>
          </a:p>
        </p:txBody>
      </p:sp>
      <p:sp>
        <p:nvSpPr>
          <p:cNvPr id="32" name="Prostokąt: zaokrąglone rogi 31">
            <a:extLst>
              <a:ext uri="{FF2B5EF4-FFF2-40B4-BE49-F238E27FC236}">
                <a16:creationId xmlns:a16="http://schemas.microsoft.com/office/drawing/2014/main" id="{F5A06121-4D31-51BB-1D8D-64CAA105BD6D}"/>
              </a:ext>
            </a:extLst>
          </p:cNvPr>
          <p:cNvSpPr/>
          <p:nvPr/>
        </p:nvSpPr>
        <p:spPr>
          <a:xfrm>
            <a:off x="6236823" y="2236128"/>
            <a:ext cx="2896262" cy="828080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76595CA0-412A-BF44-2584-E707784D6876}"/>
              </a:ext>
            </a:extLst>
          </p:cNvPr>
          <p:cNvSpPr txBox="1"/>
          <p:nvPr/>
        </p:nvSpPr>
        <p:spPr>
          <a:xfrm>
            <a:off x="6225589" y="2182245"/>
            <a:ext cx="29372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Oznacza, że inne aplikacje mogą uruchomić tę aktywność (np. przez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Intent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34" name="Łącznik prosty ze strzałką 33">
            <a:extLst>
              <a:ext uri="{FF2B5EF4-FFF2-40B4-BE49-F238E27FC236}">
                <a16:creationId xmlns:a16="http://schemas.microsoft.com/office/drawing/2014/main" id="{DB59EEFC-AD74-7DB8-C211-B1058EC8FE03}"/>
              </a:ext>
            </a:extLst>
          </p:cNvPr>
          <p:cNvCxnSpPr>
            <a:cxnSpLocks/>
          </p:cNvCxnSpPr>
          <p:nvPr/>
        </p:nvCxnSpPr>
        <p:spPr>
          <a:xfrm flipH="1">
            <a:off x="4283968" y="2666164"/>
            <a:ext cx="1963829" cy="97837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Łącznik prosty ze strzałką 38">
            <a:extLst>
              <a:ext uri="{FF2B5EF4-FFF2-40B4-BE49-F238E27FC236}">
                <a16:creationId xmlns:a16="http://schemas.microsoft.com/office/drawing/2014/main" id="{CD49ED5C-554A-1B62-EE60-8D8086C32518}"/>
              </a:ext>
            </a:extLst>
          </p:cNvPr>
          <p:cNvCxnSpPr>
            <a:cxnSpLocks/>
          </p:cNvCxnSpPr>
          <p:nvPr/>
        </p:nvCxnSpPr>
        <p:spPr>
          <a:xfrm flipV="1">
            <a:off x="1990034" y="4383780"/>
            <a:ext cx="303523" cy="45268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Prostokąt: zaokrąglone rogi 42">
            <a:extLst>
              <a:ext uri="{FF2B5EF4-FFF2-40B4-BE49-F238E27FC236}">
                <a16:creationId xmlns:a16="http://schemas.microsoft.com/office/drawing/2014/main" id="{305D195C-CF18-9A7D-412F-AA9D1252D998}"/>
              </a:ext>
            </a:extLst>
          </p:cNvPr>
          <p:cNvSpPr/>
          <p:nvPr/>
        </p:nvSpPr>
        <p:spPr>
          <a:xfrm>
            <a:off x="-6624" y="4476447"/>
            <a:ext cx="1960573" cy="695604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4" name="pole tekstowe 43">
            <a:extLst>
              <a:ext uri="{FF2B5EF4-FFF2-40B4-BE49-F238E27FC236}">
                <a16:creationId xmlns:a16="http://schemas.microsoft.com/office/drawing/2014/main" id="{69D1F220-153C-67F8-CE30-24666239CA13}"/>
              </a:ext>
            </a:extLst>
          </p:cNvPr>
          <p:cNvSpPr txBox="1"/>
          <p:nvPr/>
        </p:nvSpPr>
        <p:spPr>
          <a:xfrm>
            <a:off x="-186645" y="4485528"/>
            <a:ext cx="23206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Definiowanie aktywności startowej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59" name="Łącznik prosty ze strzałką 58">
            <a:extLst>
              <a:ext uri="{FF2B5EF4-FFF2-40B4-BE49-F238E27FC236}">
                <a16:creationId xmlns:a16="http://schemas.microsoft.com/office/drawing/2014/main" id="{AAE637C7-D404-A19E-A263-69741A33DE89}"/>
              </a:ext>
            </a:extLst>
          </p:cNvPr>
          <p:cNvCxnSpPr>
            <a:cxnSpLocks/>
          </p:cNvCxnSpPr>
          <p:nvPr/>
        </p:nvCxnSpPr>
        <p:spPr>
          <a:xfrm flipH="1">
            <a:off x="7020272" y="3938365"/>
            <a:ext cx="216024" cy="71477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Prostokąt: zaokrąglone rogi 60">
            <a:extLst>
              <a:ext uri="{FF2B5EF4-FFF2-40B4-BE49-F238E27FC236}">
                <a16:creationId xmlns:a16="http://schemas.microsoft.com/office/drawing/2014/main" id="{C8288E08-3232-3794-DCA5-A3FB80A108B9}"/>
              </a:ext>
            </a:extLst>
          </p:cNvPr>
          <p:cNvSpPr/>
          <p:nvPr/>
        </p:nvSpPr>
        <p:spPr>
          <a:xfrm>
            <a:off x="5508104" y="3116523"/>
            <a:ext cx="3624507" cy="77227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3" name="pole tekstowe 62">
            <a:extLst>
              <a:ext uri="{FF2B5EF4-FFF2-40B4-BE49-F238E27FC236}">
                <a16:creationId xmlns:a16="http://schemas.microsoft.com/office/drawing/2014/main" id="{EC0B0C2E-77E9-3417-1F20-848285B679BA}"/>
              </a:ext>
            </a:extLst>
          </p:cNvPr>
          <p:cNvSpPr txBox="1"/>
          <p:nvPr/>
        </p:nvSpPr>
        <p:spPr>
          <a:xfrm>
            <a:off x="5435402" y="3085197"/>
            <a:ext cx="37177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Określa, że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MainActivity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jest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główną aktywnością aplikacji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czyli tą, która uruchamia się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jako pierwsza</a:t>
            </a:r>
          </a:p>
        </p:txBody>
      </p:sp>
      <p:sp>
        <p:nvSpPr>
          <p:cNvPr id="72" name="Prostokąt: zaokrąglone rogi 71">
            <a:extLst>
              <a:ext uri="{FF2B5EF4-FFF2-40B4-BE49-F238E27FC236}">
                <a16:creationId xmlns:a16="http://schemas.microsoft.com/office/drawing/2014/main" id="{012C8E52-21DF-9FFE-0DC1-6CF961CCF6CE}"/>
              </a:ext>
            </a:extLst>
          </p:cNvPr>
          <p:cNvSpPr/>
          <p:nvPr/>
        </p:nvSpPr>
        <p:spPr>
          <a:xfrm>
            <a:off x="5457104" y="5989293"/>
            <a:ext cx="3465504" cy="77227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3" name="pole tekstowe 72">
            <a:extLst>
              <a:ext uri="{FF2B5EF4-FFF2-40B4-BE49-F238E27FC236}">
                <a16:creationId xmlns:a16="http://schemas.microsoft.com/office/drawing/2014/main" id="{1A8FF50A-2A8B-1426-F54B-B9067BF0515B}"/>
              </a:ext>
            </a:extLst>
          </p:cNvPr>
          <p:cNvSpPr txBox="1"/>
          <p:nvPr/>
        </p:nvSpPr>
        <p:spPr>
          <a:xfrm>
            <a:off x="5421834" y="5930567"/>
            <a:ext cx="3536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Sprawia, że aktywność pojawia się w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launcherze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telefonu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jako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ikona aplikacji.</a:t>
            </a:r>
          </a:p>
        </p:txBody>
      </p:sp>
      <p:cxnSp>
        <p:nvCxnSpPr>
          <p:cNvPr id="74" name="Łącznik prosty ze strzałką 73">
            <a:extLst>
              <a:ext uri="{FF2B5EF4-FFF2-40B4-BE49-F238E27FC236}">
                <a16:creationId xmlns:a16="http://schemas.microsoft.com/office/drawing/2014/main" id="{AF202808-D618-2238-EE0E-BDE8EFFDFDC4}"/>
              </a:ext>
            </a:extLst>
          </p:cNvPr>
          <p:cNvCxnSpPr>
            <a:cxnSpLocks/>
          </p:cNvCxnSpPr>
          <p:nvPr/>
        </p:nvCxnSpPr>
        <p:spPr>
          <a:xfrm flipV="1">
            <a:off x="7117279" y="5538934"/>
            <a:ext cx="550496" cy="41333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897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8E315F-A1B9-7BE6-B7BF-D70FAF495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6A1439-715B-ECE4-12B4-185564D6898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Cykl Życia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2598E35-75FB-D464-FDFB-A46F695D8166}"/>
              </a:ext>
            </a:extLst>
          </p:cNvPr>
          <p:cNvSpPr txBox="1"/>
          <p:nvPr/>
        </p:nvSpPr>
        <p:spPr>
          <a:xfrm>
            <a:off x="1033752" y="796886"/>
            <a:ext cx="8110247" cy="2755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Każda aplikacja działa w swojej własnej </a:t>
            </a:r>
            <a:r>
              <a:rPr lang="pl-PL" sz="1600" b="1" dirty="0"/>
              <a:t>instancji maszyny wirtualnej. </a:t>
            </a:r>
            <a:r>
              <a:rPr lang="pl-PL" sz="1600" dirty="0"/>
              <a:t>W każdym momencie </a:t>
            </a:r>
            <a:r>
              <a:rPr lang="pl-PL" sz="1600" b="1" dirty="0"/>
              <a:t>kilka instancji</a:t>
            </a:r>
            <a:r>
              <a:rPr lang="pl-PL" sz="1600" dirty="0"/>
              <a:t> maszyny wirtualnej </a:t>
            </a:r>
            <a:r>
              <a:rPr lang="pl-PL" sz="1600" b="1" dirty="0"/>
              <a:t>może być aktywna.</a:t>
            </a:r>
          </a:p>
          <a:p>
            <a:pPr algn="just"/>
            <a:r>
              <a:rPr lang="pl-PL" sz="1600" b="1" dirty="0"/>
              <a:t> </a:t>
            </a:r>
          </a:p>
          <a:p>
            <a:pPr algn="just"/>
            <a:r>
              <a:rPr lang="pl-PL" sz="1600" dirty="0"/>
              <a:t>Aplikacja </a:t>
            </a:r>
            <a:r>
              <a:rPr lang="pl-PL" sz="1600" b="1" dirty="0"/>
              <a:t>nie kontroluje całkowicie</a:t>
            </a:r>
            <a:r>
              <a:rPr lang="pl-PL" sz="1600" dirty="0"/>
              <a:t> realizacji swojego cyklu życia.</a:t>
            </a:r>
          </a:p>
          <a:p>
            <a:pPr algn="just"/>
            <a:endParaRPr lang="pl-PL" sz="1600" dirty="0"/>
          </a:p>
          <a:p>
            <a:pPr algn="just">
              <a:lnSpc>
                <a:spcPct val="150000"/>
              </a:lnSpc>
            </a:pPr>
            <a:r>
              <a:rPr lang="pl-PL" sz="1600" b="1" dirty="0"/>
              <a:t>OS może zakończyć każdy proces: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Zasoby są krytycznie niskie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Duża liczba działających aplikacji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dirty="0"/>
              <a:t>Aplikacja wymagająca bardzo dużych zasobów (energia, pamięć)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62452DE-4259-B160-FE49-00A089CCD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752" y="3945210"/>
            <a:ext cx="8048625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26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BFAC8E-1FBE-0A95-9C95-02C1F3520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F43985-961A-FED6-2763-4A686474F95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Cykl Życia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87CE0EA7-4B61-CEDC-3851-223B3B9659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6" y="1124744"/>
            <a:ext cx="7944896" cy="542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3064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0299B4-9716-A173-F239-F8A321AF3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DE8958-BB7D-0D2B-9DC9-3FDDD894A8F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Cykl Życia Aktywności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2B99EE85-5196-E025-6A45-0C87AB5783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8891" y="908720"/>
            <a:ext cx="5790717" cy="5949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97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1E40ED-CD4B-80B4-329A-19D2F4C25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E26063-2F07-33DF-DE53-627BAE0C28C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Kontekst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3334D02-7500-7211-D4C4-74C7FC86FB90}"/>
              </a:ext>
            </a:extLst>
          </p:cNvPr>
          <p:cNvSpPr txBox="1"/>
          <p:nvPr/>
        </p:nvSpPr>
        <p:spPr>
          <a:xfrm>
            <a:off x="1033753" y="796886"/>
            <a:ext cx="7848872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000" b="1" dirty="0"/>
              <a:t>APPLICATION</a:t>
            </a:r>
            <a:endParaRPr lang="pl-PL" sz="1600" b="1" dirty="0"/>
          </a:p>
          <a:p>
            <a:pPr algn="just"/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/>
              <a:t>Globalny dostęp</a:t>
            </a:r>
            <a:r>
              <a:rPr lang="pl-PL" sz="1600" dirty="0"/>
              <a:t>: Application </a:t>
            </a:r>
            <a:r>
              <a:rPr lang="pl-PL" sz="1600" dirty="0" err="1"/>
              <a:t>Context</a:t>
            </a:r>
            <a:r>
              <a:rPr lang="pl-PL" sz="1600" dirty="0"/>
              <a:t> dostarcza </a:t>
            </a:r>
            <a:r>
              <a:rPr lang="pl-PL" sz="1600" b="1" dirty="0"/>
              <a:t>globalny dostęp do zasobów </a:t>
            </a:r>
            <a:r>
              <a:rPr lang="pl-PL" sz="1600" dirty="0"/>
              <a:t>aplikacji np. takich jak pliki zasobów (katalog res, klasa R)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/>
              <a:t>Długi cykl życia</a:t>
            </a:r>
            <a:r>
              <a:rPr lang="pl-PL" sz="1600" dirty="0"/>
              <a:t>: Application </a:t>
            </a:r>
            <a:r>
              <a:rPr lang="pl-PL" sz="1600" dirty="0" err="1"/>
              <a:t>Context</a:t>
            </a:r>
            <a:r>
              <a:rPr lang="pl-PL" sz="1600" dirty="0"/>
              <a:t> jest tworzony raz podczas uruchamiania aplikacji i pozostaje dostępny przez </a:t>
            </a:r>
            <a:r>
              <a:rPr lang="pl-PL" sz="1600" b="1" dirty="0"/>
              <a:t>cały czas życia aplikacji</a:t>
            </a:r>
            <a:r>
              <a:rPr lang="pl-PL" sz="1600" dirty="0"/>
              <a:t>. Nie jest on powiązany z cyklem życia konkretnego Activity, więc można go używać nawet po zamknięciu Activity.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600" b="1" dirty="0"/>
              <a:t>Bezpieczne do użycia w dłuższych operacjach</a:t>
            </a:r>
            <a:r>
              <a:rPr lang="pl-PL" sz="1600" dirty="0"/>
              <a:t>: Application </a:t>
            </a:r>
            <a:r>
              <a:rPr lang="pl-PL" sz="1600" dirty="0" err="1"/>
              <a:t>Context</a:t>
            </a:r>
            <a:r>
              <a:rPr lang="pl-PL" sz="1600" dirty="0"/>
              <a:t> jest bezpieczny do użycia w dłuższych operacjach, które mogą być wykonywane w tle, ponieważ </a:t>
            </a:r>
            <a:r>
              <a:rPr lang="pl-PL" sz="1600" b="1" dirty="0"/>
              <a:t>nie jest związany z cyklem życia UI </a:t>
            </a:r>
            <a:r>
              <a:rPr lang="pl-PL" sz="1600" dirty="0"/>
              <a:t>i nie powinien prowadzić do wycieków pamięci.</a:t>
            </a:r>
          </a:p>
        </p:txBody>
      </p:sp>
    </p:spTree>
    <p:extLst>
      <p:ext uri="{BB962C8B-B14F-4D97-AF65-F5344CB8AC3E}">
        <p14:creationId xmlns:p14="http://schemas.microsoft.com/office/powerpoint/2010/main" val="19829191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7E61C1-28F7-437B-D298-588FC033F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011BA0-A657-749B-32DF-19CF2F36A8B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Kontekst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6E5A699-0A7F-7D99-F499-B2F03CDAD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624" y="1196752"/>
            <a:ext cx="7854242" cy="534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460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EE912D-1FA5-3685-EA81-283DB055A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4428B3-6C07-8435-2BDA-7DA163DE48D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Kontekst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7AE970B-954B-6545-A413-6F914860322C}"/>
              </a:ext>
            </a:extLst>
          </p:cNvPr>
          <p:cNvSpPr txBox="1"/>
          <p:nvPr/>
        </p:nvSpPr>
        <p:spPr>
          <a:xfrm>
            <a:off x="4139678" y="1052736"/>
            <a:ext cx="2141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800" b="1" dirty="0">
                <a:solidFill>
                  <a:schemeClr val="tx1"/>
                </a:solidFill>
              </a:rPr>
              <a:t>Application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4" name="Nawias klamrowy otwierający 3">
            <a:extLst>
              <a:ext uri="{FF2B5EF4-FFF2-40B4-BE49-F238E27FC236}">
                <a16:creationId xmlns:a16="http://schemas.microsoft.com/office/drawing/2014/main" id="{EC2A4CAD-3701-3F40-A70A-D07DB05E5B32}"/>
              </a:ext>
            </a:extLst>
          </p:cNvPr>
          <p:cNvSpPr/>
          <p:nvPr/>
        </p:nvSpPr>
        <p:spPr>
          <a:xfrm rot="5400000">
            <a:off x="4903151" y="-1923547"/>
            <a:ext cx="417819" cy="7416825"/>
          </a:xfrm>
          <a:prstGeom prst="leftBrac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16228741-4B20-8CB5-967E-1DD3A0B6CE1A}"/>
              </a:ext>
            </a:extLst>
          </p:cNvPr>
          <p:cNvSpPr txBox="1"/>
          <p:nvPr/>
        </p:nvSpPr>
        <p:spPr>
          <a:xfrm>
            <a:off x="2195736" y="2043536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b="1" dirty="0">
                <a:solidFill>
                  <a:schemeClr val="tx1"/>
                </a:solidFill>
              </a:rPr>
              <a:t>Activity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268C565C-58C3-8379-6256-2E721F0E2A83}"/>
              </a:ext>
            </a:extLst>
          </p:cNvPr>
          <p:cNvSpPr txBox="1"/>
          <p:nvPr/>
        </p:nvSpPr>
        <p:spPr>
          <a:xfrm>
            <a:off x="6804248" y="2046861"/>
            <a:ext cx="1767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2400" b="1" dirty="0" err="1">
                <a:solidFill>
                  <a:schemeClr val="tx1"/>
                </a:solidFill>
              </a:rPr>
              <a:t>ViewModel</a:t>
            </a:r>
            <a:endParaRPr lang="pl-PL" b="1" dirty="0">
              <a:solidFill>
                <a:schemeClr val="tx1"/>
              </a:solidFill>
            </a:endParaRPr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6569152-6D8D-568B-1D1B-76E65D344BDD}"/>
              </a:ext>
            </a:extLst>
          </p:cNvPr>
          <p:cNvSpPr txBox="1"/>
          <p:nvPr/>
        </p:nvSpPr>
        <p:spPr>
          <a:xfrm>
            <a:off x="1043607" y="2924944"/>
            <a:ext cx="80648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 Ograniczony do cyklu życia aktywności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Kontekst aktywności ma ograniczony okres życia, który jest związany z cyklem życia aktywności.</a:t>
            </a:r>
          </a:p>
        </p:txBody>
      </p:sp>
    </p:spTree>
    <p:extLst>
      <p:ext uri="{BB962C8B-B14F-4D97-AF65-F5344CB8AC3E}">
        <p14:creationId xmlns:p14="http://schemas.microsoft.com/office/powerpoint/2010/main" val="2283520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6F049-91AC-E565-40B1-20496FBB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4D9F3B-A2DA-F25D-A8D7-B6AE0C29FD6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Mechanizm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Intent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22F1CAB0-DFC1-A9AD-0D23-2DC03843E48A}"/>
              </a:ext>
            </a:extLst>
          </p:cNvPr>
          <p:cNvSpPr txBox="1"/>
          <p:nvPr/>
        </p:nvSpPr>
        <p:spPr>
          <a:xfrm>
            <a:off x="940439" y="871655"/>
            <a:ext cx="813844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Komunikacja między komponentami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pozwalają na komunikację między różnymi komponentami aplikacji, takimi jak aktywności (Activity), fragmenty (Fragment), usługi (Service), oraz Broadcast Receivery.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rgbClr val="D1D5DB"/>
                </a:solidFill>
                <a:effectLst/>
                <a:latin typeface="Söhne"/>
              </a:rPr>
              <a:t>Wykonywanie akcji</a:t>
            </a:r>
            <a:r>
              <a:rPr lang="pl-PL" sz="1800" b="0" i="0" dirty="0">
                <a:solidFill>
                  <a:srgbClr val="D1D5DB"/>
                </a:solidFill>
                <a:effectLst/>
                <a:latin typeface="Söhne"/>
              </a:rPr>
              <a:t>: Intenty opisują wykonanie określonej akcji, na przykład uruchomienie konkretnej aktywności, wysłanie wiadomości SMS lub otwarcie określonej strony internetowej.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rgbClr val="D1D5DB"/>
                </a:solidFill>
                <a:effectLst/>
                <a:latin typeface="Söhne"/>
              </a:rPr>
              <a:t>Przekazywanie danych</a:t>
            </a:r>
            <a:r>
              <a:rPr lang="pl-PL" sz="1800" b="0" i="0" dirty="0">
                <a:solidFill>
                  <a:srgbClr val="D1D5DB"/>
                </a:solidFill>
                <a:effectLst/>
                <a:latin typeface="Söhne"/>
              </a:rPr>
              <a:t>: Intenty mogą przekazywać dane jako dodatkowe informacje w formie paczki danych (Bundle).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rgbClr val="D1D5DB"/>
                </a:solidFill>
                <a:effectLst/>
                <a:latin typeface="Söhne"/>
              </a:rPr>
              <a:t>Rozgłaszanie zdarzeń (Broadcasting)</a:t>
            </a:r>
            <a:r>
              <a:rPr lang="pl-PL" sz="1800" b="0" i="0" dirty="0">
                <a:solidFill>
                  <a:srgbClr val="D1D5DB"/>
                </a:solidFill>
                <a:effectLst/>
                <a:latin typeface="Söhne"/>
              </a:rPr>
              <a:t>: Intenty mogą być używane do wysyłania wiadomości broadcast do innych komponentów systemu lub aplikacji. Pozwala to na powiadamianie innych komponentów o wystąpieniu określonych zdarzeń.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rgbClr val="D1D5DB"/>
                </a:solidFill>
                <a:effectLst/>
                <a:latin typeface="Söhne"/>
              </a:rPr>
              <a:t>Startowanie komponentów</a:t>
            </a:r>
            <a:r>
              <a:rPr lang="pl-PL" sz="1800" b="0" i="0" dirty="0">
                <a:solidFill>
                  <a:srgbClr val="D1D5DB"/>
                </a:solidFill>
                <a:effectLst/>
                <a:latin typeface="Söhne"/>
              </a:rPr>
              <a:t>: Intenty są używane do rozpoczęcia działania różnych komponentów, takich jak aktywności, usługi lub Broadcast Receiver.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rgbClr val="D1D5DB"/>
                </a:solidFill>
                <a:effectLst/>
                <a:latin typeface="Söhne"/>
              </a:rPr>
              <a:t>Odpowiedzi (Result)</a:t>
            </a:r>
            <a:r>
              <a:rPr lang="pl-PL" sz="1800" b="0" i="0" dirty="0">
                <a:solidFill>
                  <a:srgbClr val="D1D5DB"/>
                </a:solidFill>
                <a:effectLst/>
                <a:latin typeface="Söhne"/>
              </a:rPr>
              <a:t>: Intenty mogą być używane do oczekiwania na odpowiedź (result) od innego komponentu.</a:t>
            </a: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512753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D3CBF6-C164-FAE7-1181-0549FA795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D56CC9-659F-A34C-6D7D-C4DA48F6C3D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Mechanizm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Intent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80EAC222-A9D7-199D-97A7-5D39CF4ADFBE}"/>
              </a:ext>
            </a:extLst>
          </p:cNvPr>
          <p:cNvSpPr txBox="1"/>
          <p:nvPr/>
        </p:nvSpPr>
        <p:spPr>
          <a:xfrm>
            <a:off x="940439" y="871655"/>
            <a:ext cx="813844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Komunikacja między komponentami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pozwalają na komunikację między różnymi komponentami aplikacji, takimi jak aktywności (Activity), fragmenty (Fragment), usługi (Service), oraz Broadcast Receivery.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Wykonywanie akcji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opisują wykonanie określonej akcji, na przykład uruchomienie konkretnej aktywności, wysłanie wiadomości SMS lub otwarcie określonej strony internetowej.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rgbClr val="D1D5DB"/>
                </a:solidFill>
                <a:effectLst/>
                <a:latin typeface="Söhne"/>
              </a:rPr>
              <a:t>Przekazywanie danych</a:t>
            </a:r>
            <a:r>
              <a:rPr lang="pl-PL" sz="1800" b="0" i="0" dirty="0">
                <a:solidFill>
                  <a:srgbClr val="D1D5DB"/>
                </a:solidFill>
                <a:effectLst/>
                <a:latin typeface="Söhne"/>
              </a:rPr>
              <a:t>: Intenty mogą przekazywać dane jako dodatkowe informacje w formie paczki danych (Bundle).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rgbClr val="D1D5DB"/>
                </a:solidFill>
                <a:effectLst/>
                <a:latin typeface="Söhne"/>
              </a:rPr>
              <a:t>Rozgłaszanie zdarzeń (Broadcasting)</a:t>
            </a:r>
            <a:r>
              <a:rPr lang="pl-PL" sz="1800" b="0" i="0" dirty="0">
                <a:solidFill>
                  <a:srgbClr val="D1D5DB"/>
                </a:solidFill>
                <a:effectLst/>
                <a:latin typeface="Söhne"/>
              </a:rPr>
              <a:t>: Intenty mogą być używane do wysyłania wiadomości broadcast do innych komponentów systemu lub aplikacji. Pozwala to na powiadamianie innych komponentów o wystąpieniu określonych zdarzeń.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rgbClr val="D1D5DB"/>
                </a:solidFill>
                <a:effectLst/>
                <a:latin typeface="Söhne"/>
              </a:rPr>
              <a:t>Startowanie komponentów</a:t>
            </a:r>
            <a:r>
              <a:rPr lang="pl-PL" sz="1800" b="0" i="0" dirty="0">
                <a:solidFill>
                  <a:srgbClr val="D1D5DB"/>
                </a:solidFill>
                <a:effectLst/>
                <a:latin typeface="Söhne"/>
              </a:rPr>
              <a:t>: Intenty są używane do rozpoczęcia działania różnych komponentów, takich jak aktywności, usługi lub Broadcast Receiver.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rgbClr val="D1D5DB"/>
                </a:solidFill>
                <a:effectLst/>
                <a:latin typeface="Söhne"/>
              </a:rPr>
              <a:t>Odpowiedzi (Result)</a:t>
            </a:r>
            <a:r>
              <a:rPr lang="pl-PL" sz="1800" b="0" i="0" dirty="0">
                <a:solidFill>
                  <a:srgbClr val="D1D5DB"/>
                </a:solidFill>
                <a:effectLst/>
                <a:latin typeface="Söhne"/>
              </a:rPr>
              <a:t>: Intenty mogą być używane do oczekiwania na odpowiedź (result) od innego komponentu.</a:t>
            </a: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3921151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AAEB61-DC26-1AA4-66A0-A4A518A6D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FE2339-B992-4E29-D9BF-E57957196EA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Mechanizm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Intent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7323A826-627C-A5AC-7D19-025EB9530D7C}"/>
              </a:ext>
            </a:extLst>
          </p:cNvPr>
          <p:cNvSpPr txBox="1"/>
          <p:nvPr/>
        </p:nvSpPr>
        <p:spPr>
          <a:xfrm>
            <a:off x="940439" y="871655"/>
            <a:ext cx="813844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Komunikacja między komponentami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pozwalają na komunikację między różnymi komponentami aplikacji, takimi jak aktywności (Activity), fragmenty (Fragment), usługi (Service), oraz Broadcast Receivery.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Wykonywanie akcji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opisują wykonanie określonej akcji, na przykład uruchomienie konkretnej aktywności, wysłanie wiadomości SMS lub otwarcie określonej strony internetowej.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Przekazywanie danych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mogą przekazywać dane jako dodatkowe informacje w formie paczki danych (Bundle).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rgbClr val="D1D5DB"/>
                </a:solidFill>
                <a:effectLst/>
                <a:latin typeface="Söhne"/>
              </a:rPr>
              <a:t>Rozgłaszanie zdarzeń (Broadcasting)</a:t>
            </a:r>
            <a:r>
              <a:rPr lang="pl-PL" sz="1800" b="0" i="0" dirty="0">
                <a:solidFill>
                  <a:srgbClr val="D1D5DB"/>
                </a:solidFill>
                <a:effectLst/>
                <a:latin typeface="Söhne"/>
              </a:rPr>
              <a:t>: Intenty mogą być używane do wysyłania wiadomości broadcast do innych komponentów systemu lub aplikacji. Pozwala to na powiadamianie innych komponentów o wystąpieniu określonych zdarzeń.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rgbClr val="D1D5DB"/>
                </a:solidFill>
                <a:effectLst/>
                <a:latin typeface="Söhne"/>
              </a:rPr>
              <a:t>Startowanie komponentów</a:t>
            </a:r>
            <a:r>
              <a:rPr lang="pl-PL" sz="1800" b="0" i="0" dirty="0">
                <a:solidFill>
                  <a:srgbClr val="D1D5DB"/>
                </a:solidFill>
                <a:effectLst/>
                <a:latin typeface="Söhne"/>
              </a:rPr>
              <a:t>: Intenty są używane do rozpoczęcia działania różnych komponentów, takich jak aktywności, usługi lub Broadcast Receiver.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rgbClr val="D1D5DB"/>
                </a:solidFill>
                <a:effectLst/>
                <a:latin typeface="Söhne"/>
              </a:rPr>
              <a:t>Odpowiedzi (Result)</a:t>
            </a:r>
            <a:r>
              <a:rPr lang="pl-PL" sz="1800" b="0" i="0" dirty="0">
                <a:solidFill>
                  <a:srgbClr val="D1D5DB"/>
                </a:solidFill>
                <a:effectLst/>
                <a:latin typeface="Söhne"/>
              </a:rPr>
              <a:t>: Intenty mogą być używane do oczekiwania na odpowiedź (result) od innego komponentu.</a:t>
            </a: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27499542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D08A7A-CA27-C82B-1007-A17113AB5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1D312A-9434-41AC-6034-1F7B170B479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Mechanizm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Intent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E29F3506-C716-7749-6A24-5B4E957873AB}"/>
              </a:ext>
            </a:extLst>
          </p:cNvPr>
          <p:cNvSpPr txBox="1"/>
          <p:nvPr/>
        </p:nvSpPr>
        <p:spPr>
          <a:xfrm>
            <a:off x="940439" y="871655"/>
            <a:ext cx="813844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Komunikacja między komponentami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pozwalają na komunikację między różnymi komponentami aplikacji, takimi jak aktywności (Activity), fragmenty (Fragment), usługi (Service), oraz Broadcast Receivery.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Wykonywanie akcji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opisują wykonanie określonej akcji, na przykład uruchomienie konkretnej aktywności, wysłanie wiadomości SMS lub otwarcie określonej strony internetowej.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Przekazywanie danych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mogą przekazywać dane jako dodatkowe informacje w formie paczki danych (Bundle).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Rozgłaszanie zdarzeń (Broadcasting)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mogą być używane do wysyłania wiadomości broadcast do innych komponentów systemu lub aplikacji. Pozwala to na powiadamianie innych komponentów o wystąpieniu określonych zdarzeń.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rgbClr val="D1D5DB"/>
                </a:solidFill>
                <a:effectLst/>
                <a:latin typeface="Söhne"/>
              </a:rPr>
              <a:t>Startowanie komponentów</a:t>
            </a:r>
            <a:r>
              <a:rPr lang="pl-PL" sz="1800" b="0" i="0" dirty="0">
                <a:solidFill>
                  <a:srgbClr val="D1D5DB"/>
                </a:solidFill>
                <a:effectLst/>
                <a:latin typeface="Söhne"/>
              </a:rPr>
              <a:t>: Intenty są używane do rozpoczęcia działania różnych komponentów, takich jak aktywności, usługi lub Broadcast Receiver.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rgbClr val="D1D5DB"/>
                </a:solidFill>
                <a:effectLst/>
                <a:latin typeface="Söhne"/>
              </a:rPr>
              <a:t>Odpowiedzi (Result)</a:t>
            </a:r>
            <a:r>
              <a:rPr lang="pl-PL" sz="1800" b="0" i="0" dirty="0">
                <a:solidFill>
                  <a:srgbClr val="D1D5DB"/>
                </a:solidFill>
                <a:effectLst/>
                <a:latin typeface="Söhne"/>
              </a:rPr>
              <a:t>: Intenty mogą być używane do oczekiwania na odpowiedź (result) od innego komponentu.</a:t>
            </a: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41210459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1817EE-1D46-E39E-5885-E0EA69CA7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9450F5-E4AB-6B4B-E869-06208C5EBA8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Mechanizm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Intent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1A8BB36B-7C42-E3D9-9185-C1035899F1D2}"/>
              </a:ext>
            </a:extLst>
          </p:cNvPr>
          <p:cNvSpPr txBox="1"/>
          <p:nvPr/>
        </p:nvSpPr>
        <p:spPr>
          <a:xfrm>
            <a:off x="940439" y="871655"/>
            <a:ext cx="813844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Komunikacja między komponentami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pozwalają na komunikację między różnymi komponentami aplikacji, takimi jak aktywności (Activity), fragmenty (Fragment), usługi (Service), oraz Broadcast Receivery.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Wykonywanie akcji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opisują wykonanie określonej akcji, na przykład uruchomienie konkretnej aktywności, wysłanie wiadomości SMS lub otwarcie określonej strony internetowej.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Przekazywanie danych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mogą przekazywać dane jako dodatkowe informacje w formie paczki danych (Bundle).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Rozgłaszanie zdarzeń (Broadcasting)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mogą być używane do wysyłania wiadomości broadcast do innych komponentów systemu lub aplikacji. Pozwala to na powiadamianie innych komponentów o wystąpieniu określonych zdarzeń.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Startowanie komponentów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są używane do rozpoczęcia działania różnych komponentów, takich jak aktywności, usługi lub Broadcast Receiver.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rgbClr val="D1D5DB"/>
                </a:solidFill>
                <a:effectLst/>
                <a:latin typeface="Söhne"/>
              </a:rPr>
              <a:t>Odpowiedzi (Result)</a:t>
            </a:r>
            <a:r>
              <a:rPr lang="pl-PL" sz="1800" b="0" i="0" dirty="0">
                <a:solidFill>
                  <a:srgbClr val="D1D5DB"/>
                </a:solidFill>
                <a:effectLst/>
                <a:latin typeface="Söhne"/>
              </a:rPr>
              <a:t>: Intenty mogą być używane do oczekiwania na odpowiedź (result) od innego komponentu.</a:t>
            </a: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29178075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0E599C-EDEC-2651-2CDC-68AAA0BAA0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BDDE54-DC81-E60A-7558-8C321D35011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Mechanizm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Intent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FBC4B285-1A82-F10A-15FF-3411BD4ED1BB}"/>
              </a:ext>
            </a:extLst>
          </p:cNvPr>
          <p:cNvSpPr txBox="1"/>
          <p:nvPr/>
        </p:nvSpPr>
        <p:spPr>
          <a:xfrm>
            <a:off x="940439" y="871655"/>
            <a:ext cx="813844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Komunikacja między komponentami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pozwalają na komunikację między różnymi komponentami aplikacji, takimi jak aktywności (Activity), fragmenty (Fragment), usługi (Service), oraz Broadcast Receivery.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Wykonywanie akcji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opisują wykonanie określonej akcji, na przykład uruchomienie konkretnej aktywności, wysłanie wiadomości SMS lub otwarcie określonej strony internetowej.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Przekazywanie danych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mogą przekazywać dane jako dodatkowe informacje w formie paczki danych (Bundle).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Rozgłaszanie zdarzeń (Broadcasting)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mogą być używane do wysyłania wiadomości broadcast do innych komponentów systemu lub aplikacji. Pozwala to na powiadamianie innych komponentów o wystąpieniu określonych zdarzeń.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Startowanie komponentów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są używane do rozpoczęcia działania różnych komponentów, takich jak aktywności, usługi lub Broadcast Receiver.</a:t>
            </a:r>
          </a:p>
          <a:p>
            <a:pPr marL="342900" indent="-342900" algn="just">
              <a:buFont typeface="+mj-lt"/>
              <a:buAutoNum type="arabicPeriod"/>
            </a:pPr>
            <a:endParaRPr lang="pl-PL" sz="1800" b="0" i="0" dirty="0">
              <a:solidFill>
                <a:srgbClr val="D1D5DB"/>
              </a:solidFill>
              <a:effectLst/>
              <a:latin typeface="Söhne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pl-PL" sz="1800" b="1" i="0" dirty="0">
                <a:solidFill>
                  <a:schemeClr val="tx1"/>
                </a:solidFill>
                <a:effectLst/>
                <a:latin typeface="Söhne"/>
              </a:rPr>
              <a:t>Odpowiedzi (Result)</a:t>
            </a:r>
            <a:r>
              <a:rPr lang="pl-PL" sz="1800" b="0" i="0" dirty="0">
                <a:solidFill>
                  <a:schemeClr val="tx1"/>
                </a:solidFill>
                <a:effectLst/>
                <a:latin typeface="Söhne"/>
              </a:rPr>
              <a:t>: Intenty mogą być używane do oczekiwania na odpowiedź (result) od innego komponentu.</a:t>
            </a:r>
            <a:endParaRPr lang="pl-PL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4348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49B579-5D9A-102A-05A0-3C833F6F6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6D8D2E-9E2C-7149-B4E7-4936865AA32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Mechanizm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Intent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0F77EBF-4462-DA17-AF3F-7E08FE5721BE}"/>
              </a:ext>
            </a:extLst>
          </p:cNvPr>
          <p:cNvSpPr txBox="1"/>
          <p:nvPr/>
        </p:nvSpPr>
        <p:spPr>
          <a:xfrm>
            <a:off x="971600" y="2348880"/>
            <a:ext cx="8172400" cy="2957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ea typeface="Source Code Pro" panose="020B0509030403020204" pitchFamily="49" charset="0"/>
                <a:cs typeface="Arial" panose="020B0604020202020204" pitchFamily="34" charset="0"/>
              </a:rPr>
              <a:t>Uruchamianie aktywności jest jednym z głównych zadań intencji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ea typeface="Source Code Pro" panose="020B0509030403020204" pitchFamily="49" charset="0"/>
                <a:cs typeface="Arial" panose="020B0604020202020204" pitchFamily="34" charset="0"/>
              </a:rPr>
              <a:t>Intencje uruchomieniowe zostały podzielone na dwa typy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ea typeface="Source Code Pro" panose="020B0509030403020204" pitchFamily="49" charset="0"/>
                <a:cs typeface="Arial" panose="020B0604020202020204" pitchFamily="34" charset="0"/>
              </a:rPr>
              <a:t>Jawne – z jawnie określonym obiektem który chcemy otworzyć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ea typeface="Source Code Pro" panose="020B0509030403020204" pitchFamily="49" charset="0"/>
                <a:cs typeface="Arial" panose="020B0604020202020204" pitchFamily="34" charset="0"/>
              </a:rPr>
              <a:t>Intencja uruchamiająca aktywność 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mojaAktywność</a:t>
            </a:r>
          </a:p>
          <a:p>
            <a:pPr lvl="1">
              <a:lnSpc>
                <a:spcPct val="150000"/>
              </a:lnSpc>
            </a:pP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  	  </a:t>
            </a:r>
            <a:r>
              <a:rPr lang="pl-PL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val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 </a:t>
            </a:r>
            <a:r>
              <a:rPr lang="pl-PL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intent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 = </a:t>
            </a:r>
            <a:r>
              <a:rPr lang="pl-PL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Intent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 (context,           	 			     </a:t>
            </a:r>
            <a:r>
              <a:rPr lang="pl-PL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mojaAktywność.class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	  startActivity(</a:t>
            </a:r>
            <a:r>
              <a:rPr lang="pl-PL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intent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612019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1B2E79-EE05-B66E-6B0E-EC15E62B9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D9E8F92-CE5F-A8C5-4C76-0C860DAF569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Mechanizm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Intent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FA2B62C-20D9-A12C-D2E7-787CCFC55EF5}"/>
              </a:ext>
            </a:extLst>
          </p:cNvPr>
          <p:cNvSpPr txBox="1"/>
          <p:nvPr/>
        </p:nvSpPr>
        <p:spPr>
          <a:xfrm>
            <a:off x="683568" y="1268760"/>
            <a:ext cx="8172400" cy="4617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ea typeface="Source Code Pro" panose="020B0509030403020204" pitchFamily="49" charset="0"/>
                <a:cs typeface="Arial" panose="020B0604020202020204" pitchFamily="34" charset="0"/>
              </a:rPr>
              <a:t>Domniemane – intencje zawierające informacje o tym co chcemy zrobić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ea typeface="Source Code Pro" panose="020B0509030403020204" pitchFamily="49" charset="0"/>
                <a:cs typeface="Arial" panose="020B0604020202020204" pitchFamily="34" charset="0"/>
              </a:rPr>
              <a:t>Nie podajemy konkretnych klas które mają zadanie realizować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ea typeface="Source Code Pro" panose="020B0509030403020204" pitchFamily="49" charset="0"/>
                <a:cs typeface="Arial" panose="020B0604020202020204" pitchFamily="34" charset="0"/>
              </a:rPr>
              <a:t>System decyduje która aktywność zostaje uruchomiona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ea typeface="Source Code Pro" panose="020B0509030403020204" pitchFamily="49" charset="0"/>
                <a:cs typeface="Arial" panose="020B0604020202020204" pitchFamily="34" charset="0"/>
              </a:rPr>
              <a:t>Decyzje podejmuje przy pomocy </a:t>
            </a:r>
            <a:r>
              <a:rPr lang="pl-PL" sz="1800" b="1" dirty="0">
                <a:solidFill>
                  <a:schemeClr val="tx1"/>
                </a:solidFill>
                <a:latin typeface="Arial" panose="020B0604020202020204" pitchFamily="34" charset="0"/>
                <a:ea typeface="Source Code Pro" panose="020B0509030403020204" pitchFamily="49" charset="0"/>
                <a:cs typeface="Arial" panose="020B0604020202020204" pitchFamily="34" charset="0"/>
              </a:rPr>
              <a:t>Filtrów Intencji</a:t>
            </a:r>
          </a:p>
          <a:p>
            <a:pPr marL="1200150" lvl="2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ea typeface="Source Code Pro" panose="020B0509030403020204" pitchFamily="49" charset="0"/>
                <a:cs typeface="Arial" panose="020B0604020202020204" pitchFamily="34" charset="0"/>
              </a:rPr>
              <a:t>Intencja pokazująca dane z adresu URL</a:t>
            </a:r>
          </a:p>
          <a:p>
            <a:pPr lvl="2">
              <a:lnSpc>
                <a:spcPct val="150000"/>
              </a:lnSpc>
            </a:pPr>
            <a:r>
              <a:rPr lang="pl-PL" sz="1800" dirty="0">
                <a:solidFill>
                  <a:schemeClr val="tx1"/>
                </a:solidFill>
                <a:latin typeface="Arial" panose="020B0604020202020204" pitchFamily="34" charset="0"/>
                <a:ea typeface="Source Code Pro" panose="020B0509030403020204" pitchFamily="49" charset="0"/>
                <a:cs typeface="Arial" panose="020B0604020202020204" pitchFamily="34" charset="0"/>
              </a:rPr>
              <a:t>    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 </a:t>
            </a:r>
            <a:r>
              <a:rPr lang="pl-PL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val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 </a:t>
            </a:r>
            <a:r>
              <a:rPr lang="pl-PL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url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 = "https://netcat.uwr.edu.pl/"</a:t>
            </a:r>
          </a:p>
          <a:p>
            <a:pPr lvl="2">
              <a:lnSpc>
                <a:spcPct val="150000"/>
              </a:lnSpc>
            </a:pP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   </a:t>
            </a:r>
            <a:r>
              <a:rPr lang="pl-PL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val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 </a:t>
            </a:r>
            <a:r>
              <a:rPr lang="pl-PL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intent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 = </a:t>
            </a:r>
            <a:r>
              <a:rPr lang="pl-PL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Intent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(</a:t>
            </a:r>
            <a:r>
              <a:rPr lang="pl-PL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Intent.ACTION_VIEW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, 			   </a:t>
            </a:r>
            <a:r>
              <a:rPr lang="pl-PL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Uri.parse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(</a:t>
            </a:r>
            <a:r>
              <a:rPr lang="pl-PL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url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)).</a:t>
            </a:r>
            <a:r>
              <a:rPr lang="pl-PL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apply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{        				</a:t>
            </a:r>
            <a:r>
              <a:rPr lang="pl-PL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addCategory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(CATEGORY_BROWSABLE)</a:t>
            </a:r>
          </a:p>
          <a:p>
            <a:pPr lvl="2">
              <a:lnSpc>
                <a:spcPct val="150000"/>
              </a:lnSpc>
            </a:pP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    		   }</a:t>
            </a:r>
          </a:p>
          <a:p>
            <a:pPr lvl="2">
              <a:lnSpc>
                <a:spcPct val="150000"/>
              </a:lnSpc>
            </a:pP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   </a:t>
            </a:r>
            <a:r>
              <a:rPr lang="pl-PL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context.startActivity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(</a:t>
            </a:r>
            <a:r>
              <a:rPr lang="pl-PL" sz="1800" dirty="0" err="1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intent</a:t>
            </a:r>
            <a:r>
              <a:rPr lang="pl-PL" sz="18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  <a:cs typeface="Arial" panose="020B0604020202020204" pitchFamily="34" charset="0"/>
              </a:rPr>
              <a:t>)</a:t>
            </a:r>
            <a:endParaRPr lang="pl-PL" sz="1800" dirty="0">
              <a:solidFill>
                <a:schemeClr val="bg2"/>
              </a:solidFill>
              <a:latin typeface="Arial" panose="020B0604020202020204" pitchFamily="34" charset="0"/>
              <a:ea typeface="Source Code Pro" panose="020B0509030403020204" pitchFamily="49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89690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85548</TotalTime>
  <Pages>0</Pages>
  <Words>2234</Words>
  <Characters>0</Characters>
  <Application>Microsoft Office PowerPoint</Application>
  <PresentationFormat>Pokaz na ekranie (4:3)</PresentationFormat>
  <Lines>0</Lines>
  <Paragraphs>249</Paragraphs>
  <Slides>30</Slides>
  <Notes>30</Notes>
  <HiddenSlides>0</HiddenSlides>
  <MMClips>0</MMClips>
  <ScaleCrop>false</ScaleCrop>
  <HeadingPairs>
    <vt:vector size="6" baseType="variant">
      <vt:variant>
        <vt:lpstr>Używane czcionki</vt:lpstr>
      </vt:variant>
      <vt:variant>
        <vt:i4>6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7" baseType="lpstr">
      <vt:lpstr>Arial</vt:lpstr>
      <vt:lpstr>Calibri</vt:lpstr>
      <vt:lpstr>Courier New</vt:lpstr>
      <vt:lpstr>Söhne</vt:lpstr>
      <vt:lpstr>Source Code Pro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1294</cp:revision>
  <dcterms:modified xsi:type="dcterms:W3CDTF">2025-02-11T14:36:15Z</dcterms:modified>
  <cp:category/>
</cp:coreProperties>
</file>