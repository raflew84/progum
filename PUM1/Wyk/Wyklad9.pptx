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96" r:id="rId1"/>
  </p:sldMasterIdLst>
  <p:notesMasterIdLst>
    <p:notesMasterId r:id="rId31"/>
  </p:notesMasterIdLst>
  <p:handoutMasterIdLst>
    <p:handoutMasterId r:id="rId32"/>
  </p:handoutMasterIdLst>
  <p:sldIdLst>
    <p:sldId id="346" r:id="rId2"/>
    <p:sldId id="503" r:id="rId3"/>
    <p:sldId id="556" r:id="rId4"/>
    <p:sldId id="531" r:id="rId5"/>
    <p:sldId id="532" r:id="rId6"/>
    <p:sldId id="533" r:id="rId7"/>
    <p:sldId id="534" r:id="rId8"/>
    <p:sldId id="522" r:id="rId9"/>
    <p:sldId id="535" r:id="rId10"/>
    <p:sldId id="536" r:id="rId11"/>
    <p:sldId id="537" r:id="rId12"/>
    <p:sldId id="538" r:id="rId13"/>
    <p:sldId id="539" r:id="rId14"/>
    <p:sldId id="540" r:id="rId15"/>
    <p:sldId id="541" r:id="rId16"/>
    <p:sldId id="543" r:id="rId17"/>
    <p:sldId id="542" r:id="rId18"/>
    <p:sldId id="544" r:id="rId19"/>
    <p:sldId id="545" r:id="rId20"/>
    <p:sldId id="547" r:id="rId21"/>
    <p:sldId id="546" r:id="rId22"/>
    <p:sldId id="548" r:id="rId23"/>
    <p:sldId id="550" r:id="rId24"/>
    <p:sldId id="549" r:id="rId25"/>
    <p:sldId id="551" r:id="rId26"/>
    <p:sldId id="552" r:id="rId27"/>
    <p:sldId id="553" r:id="rId28"/>
    <p:sldId id="554" r:id="rId29"/>
    <p:sldId id="555" r:id="rId3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5pPr>
    <a:lvl6pPr marL="22860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6pPr>
    <a:lvl7pPr marL="27432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7pPr>
    <a:lvl8pPr marL="32004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8pPr>
    <a:lvl9pPr marL="3657600" algn="l" defTabSz="914400" rtl="0" eaLnBrk="1" latinLnBrk="0" hangingPunct="1">
      <a:defRPr sz="1200" kern="1200">
        <a:solidFill>
          <a:srgbClr val="000000"/>
        </a:solidFill>
        <a:latin typeface="Arial" charset="0"/>
        <a:ea typeface="ヒラギノ角ゴ ProN W3" charset="0"/>
        <a:cs typeface="ヒラギノ角ゴ ProN W3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fi Lew" initials="RL" lastIdx="1" clrIdx="0">
    <p:extLst>
      <p:ext uri="{19B8F6BF-5375-455C-9EA6-DF929625EA0E}">
        <p15:presenceInfo xmlns:p15="http://schemas.microsoft.com/office/powerpoint/2012/main" userId="218299075d94207c" providerId="Windows Live"/>
      </p:ext>
    </p:extLst>
  </p:cmAuthor>
  <p:cmAuthor id="2" name="Rafał Lewandków" initials="RL" lastIdx="4" clrIdx="1">
    <p:extLst>
      <p:ext uri="{19B8F6BF-5375-455C-9EA6-DF929625EA0E}">
        <p15:presenceInfo xmlns:p15="http://schemas.microsoft.com/office/powerpoint/2012/main" userId="Rafał Lewandków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E292"/>
    <a:srgbClr val="0000FF"/>
    <a:srgbClr val="00FF00"/>
    <a:srgbClr val="00FFFF"/>
    <a:srgbClr val="FF00FF"/>
    <a:srgbClr val="006600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 pośredni 2 — Ak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2" autoAdjust="0"/>
    <p:restoredTop sz="94892" autoAdjust="0"/>
  </p:normalViewPr>
  <p:slideViewPr>
    <p:cSldViewPr>
      <p:cViewPr varScale="1">
        <p:scale>
          <a:sx n="113" d="100"/>
          <a:sy n="113" d="100"/>
        </p:scale>
        <p:origin x="1512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1" d="100"/>
          <a:sy n="61" d="100"/>
        </p:scale>
        <p:origin x="859" y="3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3504E-0C99-2340-A5F6-DD6E1A87C372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6285F6-EDF4-6942-8E96-D0A50380D901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7508038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nagłówka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3" name="Symbol zastępczy daty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8C933E-44E9-2D43-91B0-0D2BEEFA7EB9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4" name="Symbol zastępczy obrazu slajdu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l-PL"/>
          </a:p>
        </p:txBody>
      </p:sp>
      <p:sp>
        <p:nvSpPr>
          <p:cNvPr id="5" name="Symbol zastępczy notatek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CE77F9-1A7F-B148-A0AA-5828300D10BC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3938265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endParaRPr lang="pl-P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681921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739818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F1131-8525-C795-A885-0D78EEFD0E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C6D4E2-EDC1-3364-024C-27DFFC8995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DFCC6D-9315-A1D7-7767-BF0C0E6FC9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147F66-DFF7-E161-7328-E3991DCBC3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53073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0F4ED-D3F5-8A1E-D4FF-DF1880DB0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DF75CB-CC23-6F5F-FAA4-71EAACF85A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EAB67E-F93D-4FE0-71C6-DC23B44F52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DFC833-6B72-56FC-67CF-AB6D7CA9FD1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33284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2E165-6610-F79D-D3EA-3648C3C5A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6618E4-3324-9EAE-E31E-01A31B7C4A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770784-C11B-9D31-DB2D-A1704734D7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38E35B-11B8-798E-6981-E060FD5A0A6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434817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32BA8-3E94-C7AA-FF16-66112EB02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4935F3-9249-695B-098E-8891EE2D07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FED2455-2DC8-58C3-578C-3B0541F37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04DE7A-CE04-E128-DDFF-8526B12FA3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7105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2478B-E642-EC86-B6E7-BD23CC157E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7CE571-A87B-B313-A84A-EE81D8E718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29C2C5-0BAA-392C-9810-FE31B07BDB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5F28CE-5346-9A3B-8F47-3A4EE119F6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352817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213A-D251-0195-F34E-47B254782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707F81-FC61-E538-E5A6-F4511C948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798B57-942D-8572-DCFA-B9B4FB7524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607AC7-A659-4A60-0284-F0FD101468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2581939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9C004-084C-179F-3653-13BA046BE6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B192F6-F2BA-6DA9-1DA9-9AC03A9EB5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BA2173-F8FF-5838-758F-A944FF3979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90AC99-750F-823B-1684-66FAABB13B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749460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513DA9-ACFE-73FC-563E-5DAD33004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60F2FC6-32F3-4AC4-A3B8-B48102FE43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B2BCD3-67AD-D508-9A45-A851C7F991D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37610E-779C-5DCB-09F5-78E7450D92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16690440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8F2161-876B-7DD8-54A7-015CECEA4A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CC441C-922F-4CFC-3C62-5A175705AC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8679D-A68A-5771-DE35-0D7A90EE98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4EE37-FCAC-6E8B-AC6B-2A3B77155D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6392325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94B35-FCE3-16CC-525A-5AF9B2C4C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5EE0282-4547-9481-10E4-89BA040379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B899266-FA5E-BCAE-5163-744A174EDA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4C9DE-3078-2BC9-AD39-83A60BF77F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523339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47791B-24A0-D156-2863-329C1CA22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06C8788-319F-D1DB-5CF7-BF7B1F4E56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04C8C8-02E4-9E64-C507-713074183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4D363-C9DF-49DB-BB7D-7D6B198AF7C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925121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658B7-6ABB-221A-D4EB-686ED4CFE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8956D3-BC94-5317-3E00-49A586E31D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0ACA8A-2BB1-B264-0699-EEB83631B5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8F7B51-5AAC-B929-3D46-BB82B13009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099317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F1CE7-08F7-1D64-B5E4-010DE7E8C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2068AF-4CAA-25A6-061F-2373AECA6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7741DD-ED41-0F2F-C6AC-F6F1EC5ADC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A81BEE-F4EF-CEEF-0249-8B0A8A536F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1273410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D936B3-CC8A-21EB-0E62-542CF309A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0772F1-118A-BCAC-0159-899D61B84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712683-F8C1-DFE3-3001-63B29FEE4C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CD2D4A-2F31-8CCD-60B3-23006191BB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9229651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12076-350F-6869-03A2-2951E30F21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2D82CF-057D-5360-D8BE-E8BF061D79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59EE48-0DB4-56F3-8B86-B63F7AE77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222813-CB1B-83C6-D789-6C2E00104AE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843586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822B32-7D04-3E2F-913D-C83F1BBAB2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15A78D-E0A0-AF2D-AE66-20B47D7355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CA005-3194-9880-18AC-159E9AF436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7AC0CD-89A1-F174-BCC2-731E3BB741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090937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B4253-EA9A-2BF7-DAD0-3E2912724C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DE4443-8DBA-C569-F860-581A81DDE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2111684-C3D3-D0E0-5760-52432B8F9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6809AF-9756-C09B-1EDF-C9EFD52575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19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724722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02807-44F2-38CF-5E2B-0C3281E6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C4FBD52-0A91-D9D8-DC5D-586ED42F50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45A58D-E708-B896-232C-F9BB9474E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381682-8739-0D6A-AD84-3EF7FED09F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20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619752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8F6EE-1B83-86A2-4FB9-609E37796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3CD8E0-AAFB-B45D-49FA-046D6C8FB4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3A3DFB5-4CD0-0CFC-0EA0-EAB71477FC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FB8A1-0107-56DB-3D5C-E615EA2B6D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21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9251728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CBB8A-CFD3-29E6-FB28-83D83BC79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9103B-A6F2-7261-4A9B-E2189AE3B8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6FF876-5F97-0EDE-3A10-DD2459DA81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A42E8D-52EC-F864-209E-A411365E9D9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22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917241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7F05E8-6945-874A-449F-71B1B466A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EF41C8-1722-46D1-E900-8E2FCA1925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FF5E209-2457-F6D5-CA78-57C77B256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40A148-60F7-167F-D0D7-E7CE3DCF4F9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23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184469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CCFE7-B8B9-DD97-FED7-C8A07034A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AB7C05-6B4C-AE31-8A7D-BE1FF75FCD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3B914D-0B8A-044A-A2CC-CD1C5D732A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C8B48A-1A5A-5BDF-B1DD-FD6298616B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24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32900699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59C171-9E0A-3E27-A9C2-177C4D4B8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C7DAA1-20B1-7E3F-9ADF-63D1E68DBD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87D859-10BF-2F7E-BCD5-DEEFE5FCB9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C07801-BF2E-B24E-7A14-DEA93FDE018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25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647769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C6DE28-C38B-92E8-8E1C-D6D65319F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FAFBEC-1610-C26E-2C82-B1D6A68D2F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DFF554-2938-1916-C7E5-ABE74DC74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A70478-0DA6-ABDE-FF2B-2F9B0F2881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26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392728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596D6E-DD45-2149-2DF6-F046099B2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2165EE-3E96-688B-C4CB-C2C39698BF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FC9D1E-E1F7-F0DB-F8AB-C97F612175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7776B0-7488-9A49-345C-BB18919F2F8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27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736239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D46D2-886A-0FE4-4A76-B8BB4D636F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E6C9A8-F5BB-EABC-997A-591115D451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D84E68E-E44C-FFCA-1429-1F7848C4CC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CF3589-BCF3-CAC5-F89D-12A7512B925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28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010466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C4CCF-BB18-1443-9D40-DE441CD10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866E53-2909-170A-B54E-4DBA0F71C1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6D11F3-0E6E-2F8D-6B9B-2DDE15E0EB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endParaRPr lang="pl-PL" dirty="0">
              <a:effectLst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6BD644-C3B3-19E9-39D8-C5D578985B2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9CE77F9-1A7F-B148-A0AA-5828300D10BC}" type="slidenum">
              <a:rPr lang="pl-PL" smtClean="0"/>
              <a:t>29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184106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3FEF5-976C-4EA3-84A7-FBC3543521F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972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B2623-FECC-458E-8887-8971830FA0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4047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EC418-961B-4A97-8A49-C7EB1AA505E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816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BCE437-C745-4797-8E12-AE887F9C67E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269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ED58DE-157A-47FB-B6FE-2BF3DBE089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41143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B53702-A4CE-4E37-AD1A-55778605B19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13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245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F751C0-3663-4EFE-8A6A-10BE31BDC91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34853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l-PL"/>
              <a:t>Przeciągnij obraz na symbol zastępczy lub kliknij ikonę, aby go dodać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BFEB7E-1F88-4AE7-AA89-93BE3C1A9C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119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4C5AF-A148-4762-92DF-376362746BF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63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pionowego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DDEFBB-CA7F-4380-AF49-7EC026DA26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3695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edyt. styl wz. tyt.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017B01-0C30-B241-B19F-621BE4770608}" type="datetimeFigureOut">
              <a:rPr lang="pl-PL" smtClean="0"/>
              <a:t>18.02.2025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1E45C1-B7A3-4D83-AEC0-13697CCD1D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097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gif"/><Relationship Id="rId4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gif"/><Relationship Id="rId4" Type="http://schemas.openxmlformats.org/officeDocument/2006/relationships/image" Target="../media/image17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5896" y="260648"/>
            <a:ext cx="4752274" cy="398892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79512" y="1628800"/>
            <a:ext cx="842493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3200" b="1" dirty="0">
                <a:solidFill>
                  <a:schemeClr val="bg1"/>
                </a:solidFill>
              </a:rPr>
              <a:t>PROGRAMOWANIE URZĄDZEŃ</a:t>
            </a:r>
          </a:p>
          <a:p>
            <a:pPr algn="ctr"/>
            <a:r>
              <a:rPr lang="pl-PL" sz="3200" b="1" dirty="0">
                <a:solidFill>
                  <a:schemeClr val="bg1"/>
                </a:solidFill>
              </a:rPr>
              <a:t>MOBILNYCH 1</a:t>
            </a:r>
          </a:p>
        </p:txBody>
      </p:sp>
      <p:sp>
        <p:nvSpPr>
          <p:cNvPr id="5" name="TextBox 1">
            <a:extLst>
              <a:ext uri="{FF2B5EF4-FFF2-40B4-BE49-F238E27FC236}">
                <a16:creationId xmlns:a16="http://schemas.microsoft.com/office/drawing/2014/main" id="{B3CC2FAF-D489-4F42-90E1-D634E6FA5CAF}"/>
              </a:ext>
            </a:extLst>
          </p:cNvPr>
          <p:cNvSpPr txBox="1"/>
          <p:nvPr/>
        </p:nvSpPr>
        <p:spPr>
          <a:xfrm>
            <a:off x="179512" y="3861048"/>
            <a:ext cx="84249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dirty="0">
                <a:solidFill>
                  <a:schemeClr val="bg1"/>
                </a:solidFill>
              </a:rPr>
              <a:t>WYKŁAD 9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A5201681-6767-4194-BF52-C2BE7C096DA3}"/>
              </a:ext>
            </a:extLst>
          </p:cNvPr>
          <p:cNvSpPr txBox="1"/>
          <p:nvPr/>
        </p:nvSpPr>
        <p:spPr>
          <a:xfrm>
            <a:off x="3131840" y="4437112"/>
            <a:ext cx="547260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 err="1">
                <a:solidFill>
                  <a:schemeClr val="bg1"/>
                </a:solidFill>
              </a:rPr>
              <a:t>Jetpack</a:t>
            </a:r>
            <a:r>
              <a:rPr lang="pl-PL" sz="1800" dirty="0">
                <a:solidFill>
                  <a:schemeClr val="bg1"/>
                </a:solidFill>
              </a:rPr>
              <a:t> </a:t>
            </a:r>
            <a:r>
              <a:rPr lang="pl-PL" sz="1800" dirty="0" err="1">
                <a:solidFill>
                  <a:schemeClr val="bg1"/>
                </a:solidFill>
              </a:rPr>
              <a:t>Compose</a:t>
            </a:r>
            <a:endParaRPr lang="pl-PL" sz="1800" dirty="0">
              <a:solidFill>
                <a:schemeClr val="bg1"/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Podstawy tworzenia UI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Stan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pl-PL" sz="1800" dirty="0">
                <a:solidFill>
                  <a:schemeClr val="bg1"/>
                </a:solidFill>
              </a:rPr>
              <a:t>Kompozycja i </a:t>
            </a:r>
            <a:r>
              <a:rPr lang="pl-PL" sz="1800" dirty="0" err="1">
                <a:solidFill>
                  <a:schemeClr val="bg1"/>
                </a:solidFill>
              </a:rPr>
              <a:t>Rekompozycja</a:t>
            </a:r>
            <a:endParaRPr lang="pl-PL" sz="1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83482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Podstawowe komponenty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F92ADF1-EB9F-6223-7E24-930F9AF9FEBB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Column</a:t>
            </a:r>
            <a:r>
              <a:rPr lang="pl-PL" sz="1600" b="1" dirty="0"/>
              <a:t>, </a:t>
            </a:r>
            <a:r>
              <a:rPr lang="pl-PL" sz="1600" b="1" dirty="0" err="1"/>
              <a:t>Row</a:t>
            </a:r>
            <a:r>
              <a:rPr lang="pl-PL" sz="1600" b="1" dirty="0"/>
              <a:t> i Box</a:t>
            </a:r>
            <a:r>
              <a:rPr lang="pl-PL" sz="1600" dirty="0"/>
              <a:t> w </a:t>
            </a:r>
            <a:r>
              <a:rPr lang="pl-PL" sz="1600" b="1" dirty="0" err="1"/>
              <a:t>Compose</a:t>
            </a:r>
            <a:r>
              <a:rPr lang="pl-PL" sz="1600" dirty="0"/>
              <a:t> są to komponenty layoutu, które są odpowiedzialne za układanie elementów interfejsu użytkownika.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B3742B05-EBAF-B443-8EE1-73B5A59FB3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775" y="1497464"/>
            <a:ext cx="7896225" cy="3619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82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6A1E6C-EF70-83D5-7500-CE1B14BF5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225554-E59D-0280-AB37-EA9EDF9B3AD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Podstawowe komponenty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A104233-31F3-D8CE-8637-1D2B37A8789B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Column</a:t>
            </a:r>
            <a:r>
              <a:rPr lang="pl-PL" sz="1600" dirty="0"/>
              <a:t> oraz </a:t>
            </a:r>
            <a:r>
              <a:rPr lang="pl-PL" sz="1600" b="1" dirty="0" err="1"/>
              <a:t>Row</a:t>
            </a:r>
            <a:r>
              <a:rPr lang="pl-PL" sz="1600" dirty="0"/>
              <a:t> w </a:t>
            </a:r>
            <a:r>
              <a:rPr lang="pl-PL" sz="1600" b="1" dirty="0" err="1"/>
              <a:t>Compose</a:t>
            </a:r>
            <a:r>
              <a:rPr lang="pl-PL" sz="1600" dirty="0"/>
              <a:t> są to komponenty layoutu, które są odpowiedzialne za układanie elementów interfejsu użytkownika w kolumnie lub rzędzie.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41D9F5F4-3CC4-502E-8156-96C474014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1497464"/>
            <a:ext cx="6403640" cy="4269093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394174D2-6F8C-BB05-2F76-E2A5510AC2F7}"/>
              </a:ext>
            </a:extLst>
          </p:cNvPr>
          <p:cNvCxnSpPr>
            <a:cxnSpLocks/>
          </p:cNvCxnSpPr>
          <p:nvPr/>
        </p:nvCxnSpPr>
        <p:spPr>
          <a:xfrm>
            <a:off x="3347864" y="2924944"/>
            <a:ext cx="576064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7B51C525-E5FD-C3E8-611C-2765806CD68F}"/>
              </a:ext>
            </a:extLst>
          </p:cNvPr>
          <p:cNvSpPr/>
          <p:nvPr/>
        </p:nvSpPr>
        <p:spPr>
          <a:xfrm>
            <a:off x="53468" y="2332295"/>
            <a:ext cx="3294396" cy="12407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258FB5FE-5778-F6DD-4296-2F70CA7971E8}"/>
              </a:ext>
            </a:extLst>
          </p:cNvPr>
          <p:cNvSpPr txBox="1"/>
          <p:nvPr/>
        </p:nvSpPr>
        <p:spPr>
          <a:xfrm>
            <a:off x="53466" y="2389808"/>
            <a:ext cx="31503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Column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można umieścić wiele elementów interfejsu użytkownika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jeden pod drugim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pionowej kolumnie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7400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E9447C-8EE3-9D91-A06B-0E030DE88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A235CC-25B3-AE0F-AECF-4A269757E96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Podstawowe komponenty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F8FF424-BB9F-76C0-D483-BBF1FEA72914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Column</a:t>
            </a:r>
            <a:r>
              <a:rPr lang="pl-PL" sz="1600" dirty="0"/>
              <a:t> oraz </a:t>
            </a:r>
            <a:r>
              <a:rPr lang="pl-PL" sz="1600" b="1" dirty="0" err="1"/>
              <a:t>Row</a:t>
            </a:r>
            <a:r>
              <a:rPr lang="pl-PL" sz="1600" dirty="0"/>
              <a:t> w </a:t>
            </a:r>
            <a:r>
              <a:rPr lang="pl-PL" sz="1600" b="1" dirty="0" err="1"/>
              <a:t>Compose</a:t>
            </a:r>
            <a:r>
              <a:rPr lang="pl-PL" sz="1600" dirty="0"/>
              <a:t> są to komponenty layoutu, które są odpowiedzialne za układanie elementów interfejsu użytkownika w kolumnie lub rzędzie.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0D02E5F-D841-22A1-871C-BA1776E459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1497464"/>
            <a:ext cx="6403640" cy="4269093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E975140A-0849-83D4-4288-45F2FABDB3F8}"/>
              </a:ext>
            </a:extLst>
          </p:cNvPr>
          <p:cNvCxnSpPr>
            <a:cxnSpLocks/>
          </p:cNvCxnSpPr>
          <p:nvPr/>
        </p:nvCxnSpPr>
        <p:spPr>
          <a:xfrm>
            <a:off x="3347864" y="2924944"/>
            <a:ext cx="576064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FED025F4-E281-D2A6-6D9A-46C24A847A2E}"/>
              </a:ext>
            </a:extLst>
          </p:cNvPr>
          <p:cNvSpPr/>
          <p:nvPr/>
        </p:nvSpPr>
        <p:spPr>
          <a:xfrm>
            <a:off x="53468" y="2332295"/>
            <a:ext cx="3294396" cy="12407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9848CA4E-C2E1-6D95-C667-A539FCFD2265}"/>
              </a:ext>
            </a:extLst>
          </p:cNvPr>
          <p:cNvSpPr txBox="1"/>
          <p:nvPr/>
        </p:nvSpPr>
        <p:spPr>
          <a:xfrm>
            <a:off x="53466" y="2389808"/>
            <a:ext cx="31503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Column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można umieścić wiele elementów interfejsu użytkownika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jeden pod drugim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pionowej kolumnie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DFB8692C-EE47-2E16-9593-5C469B235AA9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406971" y="3645024"/>
            <a:ext cx="949005" cy="40973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D76FE99E-1411-88F7-61C8-28BBA53FCBE3}"/>
              </a:ext>
            </a:extLst>
          </p:cNvPr>
          <p:cNvSpPr/>
          <p:nvPr/>
        </p:nvSpPr>
        <p:spPr>
          <a:xfrm>
            <a:off x="683566" y="3733618"/>
            <a:ext cx="2723405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CF37448E-A0C6-9154-16D1-EA761B38BF2C}"/>
              </a:ext>
            </a:extLst>
          </p:cNvPr>
          <p:cNvSpPr txBox="1"/>
          <p:nvPr/>
        </p:nvSpPr>
        <p:spPr>
          <a:xfrm>
            <a:off x="694491" y="3762374"/>
            <a:ext cx="2723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Podstawowy komponent do wyświetlania tekstu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01C08A5C-DA1B-5BA5-E546-2F80036AC8C6}"/>
              </a:ext>
            </a:extLst>
          </p:cNvPr>
          <p:cNvSpPr/>
          <p:nvPr/>
        </p:nvSpPr>
        <p:spPr>
          <a:xfrm>
            <a:off x="3268530" y="4936695"/>
            <a:ext cx="1951542" cy="40973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23BFB154-A817-1898-0AFB-B0FFCFF32E25}"/>
              </a:ext>
            </a:extLst>
          </p:cNvPr>
          <p:cNvSpPr txBox="1"/>
          <p:nvPr/>
        </p:nvSpPr>
        <p:spPr>
          <a:xfrm>
            <a:off x="2882599" y="4929187"/>
            <a:ext cx="2723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Wyświetlany tekst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5989627A-E0D4-73B5-0973-ED2F30745876}"/>
              </a:ext>
            </a:extLst>
          </p:cNvPr>
          <p:cNvCxnSpPr>
            <a:cxnSpLocks/>
          </p:cNvCxnSpPr>
          <p:nvPr/>
        </p:nvCxnSpPr>
        <p:spPr>
          <a:xfrm flipV="1">
            <a:off x="4244301" y="4054761"/>
            <a:ext cx="975771" cy="85136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5BF10948-2136-DB27-126B-63A35BFED133}"/>
              </a:ext>
            </a:extLst>
          </p:cNvPr>
          <p:cNvSpPr/>
          <p:nvPr/>
        </p:nvSpPr>
        <p:spPr>
          <a:xfrm>
            <a:off x="5070707" y="4440757"/>
            <a:ext cx="1951542" cy="40973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5883C022-61FE-5068-31C3-340D616DB5EE}"/>
              </a:ext>
            </a:extLst>
          </p:cNvPr>
          <p:cNvSpPr txBox="1"/>
          <p:nvPr/>
        </p:nvSpPr>
        <p:spPr>
          <a:xfrm>
            <a:off x="4684776" y="4433249"/>
            <a:ext cx="2723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Rozmiar fontu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73AAFDC7-563E-7825-6272-885CFE25A775}"/>
              </a:ext>
            </a:extLst>
          </p:cNvPr>
          <p:cNvCxnSpPr>
            <a:cxnSpLocks/>
          </p:cNvCxnSpPr>
          <p:nvPr/>
        </p:nvCxnSpPr>
        <p:spPr>
          <a:xfrm flipV="1">
            <a:off x="6001460" y="4149080"/>
            <a:ext cx="835129" cy="2834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2592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CA8A57-234A-0DAF-D21D-89F916B09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9B31C28-17F2-DE0C-C0D0-49A8D4377EB6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Podstawowe komponenty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25ACD37A-DCC0-29C7-BF69-4BC9DAEE4753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Column</a:t>
            </a:r>
            <a:r>
              <a:rPr lang="pl-PL" sz="1600" dirty="0"/>
              <a:t> oraz </a:t>
            </a:r>
            <a:r>
              <a:rPr lang="pl-PL" sz="1600" b="1" dirty="0" err="1"/>
              <a:t>Row</a:t>
            </a:r>
            <a:r>
              <a:rPr lang="pl-PL" sz="1600" dirty="0"/>
              <a:t> w </a:t>
            </a:r>
            <a:r>
              <a:rPr lang="pl-PL" sz="1600" b="1" dirty="0" err="1"/>
              <a:t>Compose</a:t>
            </a:r>
            <a:r>
              <a:rPr lang="pl-PL" sz="1600" dirty="0"/>
              <a:t> są to komponenty layoutu, które są odpowiedzialne za układanie elementów interfejsu użytkownika w kolumnie lub rzędzie.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CD0A3C95-BE7C-54A1-B6F2-1E7641D55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1497464"/>
            <a:ext cx="6403640" cy="4269093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D1FBBF42-AC05-0A6A-6580-FA70122506F2}"/>
              </a:ext>
            </a:extLst>
          </p:cNvPr>
          <p:cNvCxnSpPr>
            <a:cxnSpLocks/>
          </p:cNvCxnSpPr>
          <p:nvPr/>
        </p:nvCxnSpPr>
        <p:spPr>
          <a:xfrm>
            <a:off x="3347864" y="2924944"/>
            <a:ext cx="576064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B08679A8-AC80-00FE-62ED-EEC0341E8EBA}"/>
              </a:ext>
            </a:extLst>
          </p:cNvPr>
          <p:cNvSpPr/>
          <p:nvPr/>
        </p:nvSpPr>
        <p:spPr>
          <a:xfrm>
            <a:off x="53468" y="2332295"/>
            <a:ext cx="3294396" cy="12407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BC341F5C-EB16-9C4F-3FE6-2487D1C69CC7}"/>
              </a:ext>
            </a:extLst>
          </p:cNvPr>
          <p:cNvSpPr txBox="1"/>
          <p:nvPr/>
        </p:nvSpPr>
        <p:spPr>
          <a:xfrm>
            <a:off x="53466" y="2389808"/>
            <a:ext cx="31503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Column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można umieścić wiele elementów interfejsu użytkownika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jeden pod drugim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pionowej kolumnie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4DE08DBC-5C7E-A7CB-C5F3-ACD152605A84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406971" y="3645024"/>
            <a:ext cx="949005" cy="40973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72F57ADF-6C55-4DA5-5789-DF0EFD7687A3}"/>
              </a:ext>
            </a:extLst>
          </p:cNvPr>
          <p:cNvSpPr/>
          <p:nvPr/>
        </p:nvSpPr>
        <p:spPr>
          <a:xfrm>
            <a:off x="683566" y="3733618"/>
            <a:ext cx="2723405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073550BB-ED65-80F4-E790-1291674B6AEE}"/>
              </a:ext>
            </a:extLst>
          </p:cNvPr>
          <p:cNvSpPr txBox="1"/>
          <p:nvPr/>
        </p:nvSpPr>
        <p:spPr>
          <a:xfrm>
            <a:off x="694491" y="3762374"/>
            <a:ext cx="2723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Podstawowy komponent do wyświetlania tekstu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533C8FDD-D347-579E-C7DD-8F4D5ABB0F84}"/>
              </a:ext>
            </a:extLst>
          </p:cNvPr>
          <p:cNvSpPr/>
          <p:nvPr/>
        </p:nvSpPr>
        <p:spPr>
          <a:xfrm>
            <a:off x="3268530" y="4936695"/>
            <a:ext cx="1951542" cy="40973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718BDDC0-A967-7FD4-9A98-65F1A5AF4E09}"/>
              </a:ext>
            </a:extLst>
          </p:cNvPr>
          <p:cNvSpPr txBox="1"/>
          <p:nvPr/>
        </p:nvSpPr>
        <p:spPr>
          <a:xfrm>
            <a:off x="2882599" y="4929187"/>
            <a:ext cx="2723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Wyświetlany tekst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86FEE078-ED3C-B601-17D5-AD9C354FDBE4}"/>
              </a:ext>
            </a:extLst>
          </p:cNvPr>
          <p:cNvCxnSpPr>
            <a:cxnSpLocks/>
          </p:cNvCxnSpPr>
          <p:nvPr/>
        </p:nvCxnSpPr>
        <p:spPr>
          <a:xfrm flipV="1">
            <a:off x="4244301" y="4054761"/>
            <a:ext cx="975771" cy="85136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BCBA9D85-0384-5C17-A4CC-B573D471BCFD}"/>
              </a:ext>
            </a:extLst>
          </p:cNvPr>
          <p:cNvSpPr/>
          <p:nvPr/>
        </p:nvSpPr>
        <p:spPr>
          <a:xfrm>
            <a:off x="5070707" y="4440757"/>
            <a:ext cx="1951542" cy="40973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BB49F0DA-4595-3D11-9FDB-BD84B4A29513}"/>
              </a:ext>
            </a:extLst>
          </p:cNvPr>
          <p:cNvSpPr txBox="1"/>
          <p:nvPr/>
        </p:nvSpPr>
        <p:spPr>
          <a:xfrm>
            <a:off x="4684776" y="4433249"/>
            <a:ext cx="2723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Rozmiar fontu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B7272F4A-B8E6-2CA1-A513-C60EAA72A232}"/>
              </a:ext>
            </a:extLst>
          </p:cNvPr>
          <p:cNvCxnSpPr>
            <a:cxnSpLocks/>
          </p:cNvCxnSpPr>
          <p:nvPr/>
        </p:nvCxnSpPr>
        <p:spPr>
          <a:xfrm flipV="1">
            <a:off x="6001460" y="4149080"/>
            <a:ext cx="835129" cy="2834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Obraz 28">
            <a:extLst>
              <a:ext uri="{FF2B5EF4-FFF2-40B4-BE49-F238E27FC236}">
                <a16:creationId xmlns:a16="http://schemas.microsoft.com/office/drawing/2014/main" id="{C4B6DC1C-B579-A4D4-9869-5ABF541166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212" y="4143603"/>
            <a:ext cx="1223346" cy="2695134"/>
          </a:xfrm>
          <a:prstGeom prst="rect">
            <a:avLst/>
          </a:prstGeom>
        </p:spPr>
      </p:pic>
      <p:sp>
        <p:nvSpPr>
          <p:cNvPr id="30" name="Prostokąt: zaokrąglone rogi 29">
            <a:extLst>
              <a:ext uri="{FF2B5EF4-FFF2-40B4-BE49-F238E27FC236}">
                <a16:creationId xmlns:a16="http://schemas.microsoft.com/office/drawing/2014/main" id="{90D4DD24-9EB3-5DBE-6A46-B62E11452E4F}"/>
              </a:ext>
            </a:extLst>
          </p:cNvPr>
          <p:cNvSpPr/>
          <p:nvPr/>
        </p:nvSpPr>
        <p:spPr>
          <a:xfrm>
            <a:off x="7778894" y="4096553"/>
            <a:ext cx="1363080" cy="2745423"/>
          </a:xfrm>
          <a:prstGeom prst="roundRect">
            <a:avLst>
              <a:gd name="adj" fmla="val 7971"/>
            </a:avLst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242531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127203A-C93A-43BE-FE9D-2B911DB8C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AE112BA-19CC-AA0D-6FA4-1C5B5CC0373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Podstawowe komponenty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6FC1AFC-22D2-8297-B924-5383C763B104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Column</a:t>
            </a:r>
            <a:r>
              <a:rPr lang="pl-PL" sz="1600" dirty="0"/>
              <a:t> oraz </a:t>
            </a:r>
            <a:r>
              <a:rPr lang="pl-PL" sz="1600" b="1" dirty="0" err="1"/>
              <a:t>Row</a:t>
            </a:r>
            <a:r>
              <a:rPr lang="pl-PL" sz="1600" dirty="0"/>
              <a:t> w </a:t>
            </a:r>
            <a:r>
              <a:rPr lang="pl-PL" sz="1600" b="1" dirty="0" err="1"/>
              <a:t>Compose</a:t>
            </a:r>
            <a:r>
              <a:rPr lang="pl-PL" sz="1600" dirty="0"/>
              <a:t> są to komponenty layoutu, które są odpowiedzialne za układanie elementów interfejsu użytkownika w kolumnie lub rzędzie.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99FF923F-66C4-04F6-04F9-67D02581DC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7784" y="1497464"/>
            <a:ext cx="6403640" cy="4269093"/>
          </a:xfrm>
          <a:prstGeom prst="rect">
            <a:avLst/>
          </a:prstGeom>
        </p:spPr>
      </p:pic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95463E5C-14B4-E32C-1876-11B3F6841A1F}"/>
              </a:ext>
            </a:extLst>
          </p:cNvPr>
          <p:cNvCxnSpPr>
            <a:cxnSpLocks/>
          </p:cNvCxnSpPr>
          <p:nvPr/>
        </p:nvCxnSpPr>
        <p:spPr>
          <a:xfrm>
            <a:off x="3347864" y="2924944"/>
            <a:ext cx="576064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811DEC77-CB84-4317-B8F3-3F846B13E301}"/>
              </a:ext>
            </a:extLst>
          </p:cNvPr>
          <p:cNvSpPr/>
          <p:nvPr/>
        </p:nvSpPr>
        <p:spPr>
          <a:xfrm>
            <a:off x="53468" y="2332295"/>
            <a:ext cx="3294396" cy="12407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C972A301-9E53-2B5E-355C-17BE979F06E2}"/>
              </a:ext>
            </a:extLst>
          </p:cNvPr>
          <p:cNvSpPr txBox="1"/>
          <p:nvPr/>
        </p:nvSpPr>
        <p:spPr>
          <a:xfrm>
            <a:off x="53466" y="2389808"/>
            <a:ext cx="31503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Column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można umieścić wiele elementów interfejsu użytkownika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jeden pod drugim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pionowej kolumnie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3" name="Łącznik prosty ze strzałką 12">
            <a:extLst>
              <a:ext uri="{FF2B5EF4-FFF2-40B4-BE49-F238E27FC236}">
                <a16:creationId xmlns:a16="http://schemas.microsoft.com/office/drawing/2014/main" id="{A9380C3C-0847-9C5F-EB43-F7283868154B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3406971" y="3645024"/>
            <a:ext cx="949005" cy="40973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B97B6F6F-1A22-C261-E4AF-7BDE297C9BDE}"/>
              </a:ext>
            </a:extLst>
          </p:cNvPr>
          <p:cNvSpPr/>
          <p:nvPr/>
        </p:nvSpPr>
        <p:spPr>
          <a:xfrm>
            <a:off x="683566" y="3733618"/>
            <a:ext cx="2723405" cy="64228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E42984DA-73FD-EDE1-C97E-B3AD5ADE675D}"/>
              </a:ext>
            </a:extLst>
          </p:cNvPr>
          <p:cNvSpPr txBox="1"/>
          <p:nvPr/>
        </p:nvSpPr>
        <p:spPr>
          <a:xfrm>
            <a:off x="694491" y="3762374"/>
            <a:ext cx="27234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Podstawowy komponent do wyświetlania tekstu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C8F4650F-1B5B-09F3-D4C9-3DA01C56632D}"/>
              </a:ext>
            </a:extLst>
          </p:cNvPr>
          <p:cNvSpPr/>
          <p:nvPr/>
        </p:nvSpPr>
        <p:spPr>
          <a:xfrm>
            <a:off x="3268530" y="4936695"/>
            <a:ext cx="1951542" cy="40973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0" name="pole tekstowe 19">
            <a:extLst>
              <a:ext uri="{FF2B5EF4-FFF2-40B4-BE49-F238E27FC236}">
                <a16:creationId xmlns:a16="http://schemas.microsoft.com/office/drawing/2014/main" id="{D8BBD41B-BC4D-B103-3776-921E1F6067E0}"/>
              </a:ext>
            </a:extLst>
          </p:cNvPr>
          <p:cNvSpPr txBox="1"/>
          <p:nvPr/>
        </p:nvSpPr>
        <p:spPr>
          <a:xfrm>
            <a:off x="2882599" y="4929187"/>
            <a:ext cx="2723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Wyświetlany tekst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1" name="Łącznik prosty ze strzałką 20">
            <a:extLst>
              <a:ext uri="{FF2B5EF4-FFF2-40B4-BE49-F238E27FC236}">
                <a16:creationId xmlns:a16="http://schemas.microsoft.com/office/drawing/2014/main" id="{0F05A762-1BAE-E3C3-EC4C-AB256F420ECC}"/>
              </a:ext>
            </a:extLst>
          </p:cNvPr>
          <p:cNvCxnSpPr>
            <a:cxnSpLocks/>
          </p:cNvCxnSpPr>
          <p:nvPr/>
        </p:nvCxnSpPr>
        <p:spPr>
          <a:xfrm flipV="1">
            <a:off x="4244301" y="4054761"/>
            <a:ext cx="975771" cy="85136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Prostokąt: zaokrąglone rogi 23">
            <a:extLst>
              <a:ext uri="{FF2B5EF4-FFF2-40B4-BE49-F238E27FC236}">
                <a16:creationId xmlns:a16="http://schemas.microsoft.com/office/drawing/2014/main" id="{6403F8CA-ABE7-2EC3-1E3E-19B09D63D315}"/>
              </a:ext>
            </a:extLst>
          </p:cNvPr>
          <p:cNvSpPr/>
          <p:nvPr/>
        </p:nvSpPr>
        <p:spPr>
          <a:xfrm>
            <a:off x="5070707" y="4440757"/>
            <a:ext cx="1951542" cy="40973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25" name="pole tekstowe 24">
            <a:extLst>
              <a:ext uri="{FF2B5EF4-FFF2-40B4-BE49-F238E27FC236}">
                <a16:creationId xmlns:a16="http://schemas.microsoft.com/office/drawing/2014/main" id="{942E91BB-742E-B540-3C6C-870D025DDEAA}"/>
              </a:ext>
            </a:extLst>
          </p:cNvPr>
          <p:cNvSpPr txBox="1"/>
          <p:nvPr/>
        </p:nvSpPr>
        <p:spPr>
          <a:xfrm>
            <a:off x="4684776" y="4433249"/>
            <a:ext cx="272340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Rozmiar fontu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26" name="Łącznik prosty ze strzałką 25">
            <a:extLst>
              <a:ext uri="{FF2B5EF4-FFF2-40B4-BE49-F238E27FC236}">
                <a16:creationId xmlns:a16="http://schemas.microsoft.com/office/drawing/2014/main" id="{B474C53B-E466-B6AD-8F15-375AB2AF5115}"/>
              </a:ext>
            </a:extLst>
          </p:cNvPr>
          <p:cNvCxnSpPr>
            <a:cxnSpLocks/>
          </p:cNvCxnSpPr>
          <p:nvPr/>
        </p:nvCxnSpPr>
        <p:spPr>
          <a:xfrm flipV="1">
            <a:off x="6001460" y="4149080"/>
            <a:ext cx="835129" cy="283440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9" name="Obraz 28">
            <a:extLst>
              <a:ext uri="{FF2B5EF4-FFF2-40B4-BE49-F238E27FC236}">
                <a16:creationId xmlns:a16="http://schemas.microsoft.com/office/drawing/2014/main" id="{B42399A1-23B7-ED8B-F6A0-528992EBA4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212" y="4143603"/>
            <a:ext cx="1223346" cy="2695134"/>
          </a:xfrm>
          <a:prstGeom prst="rect">
            <a:avLst/>
          </a:prstGeom>
        </p:spPr>
      </p:pic>
      <p:sp>
        <p:nvSpPr>
          <p:cNvPr id="30" name="Prostokąt: zaokrąglone rogi 29">
            <a:extLst>
              <a:ext uri="{FF2B5EF4-FFF2-40B4-BE49-F238E27FC236}">
                <a16:creationId xmlns:a16="http://schemas.microsoft.com/office/drawing/2014/main" id="{734EADC1-1ECF-9574-1B16-93148E9C823A}"/>
              </a:ext>
            </a:extLst>
          </p:cNvPr>
          <p:cNvSpPr/>
          <p:nvPr/>
        </p:nvSpPr>
        <p:spPr>
          <a:xfrm>
            <a:off x="7778894" y="4096553"/>
            <a:ext cx="1363080" cy="2745423"/>
          </a:xfrm>
          <a:prstGeom prst="roundRect">
            <a:avLst>
              <a:gd name="adj" fmla="val 6729"/>
            </a:avLst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95B723FC-AD5B-AF49-28E6-91374192897D}"/>
              </a:ext>
            </a:extLst>
          </p:cNvPr>
          <p:cNvCxnSpPr>
            <a:cxnSpLocks/>
          </p:cNvCxnSpPr>
          <p:nvPr/>
        </p:nvCxnSpPr>
        <p:spPr>
          <a:xfrm flipV="1">
            <a:off x="5330622" y="4819405"/>
            <a:ext cx="806092" cy="67176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Prostokąt: zaokrąglone rogi 32">
            <a:extLst>
              <a:ext uri="{FF2B5EF4-FFF2-40B4-BE49-F238E27FC236}">
                <a16:creationId xmlns:a16="http://schemas.microsoft.com/office/drawing/2014/main" id="{AC84B744-A650-3C54-D849-40998F057E92}"/>
              </a:ext>
            </a:extLst>
          </p:cNvPr>
          <p:cNvSpPr/>
          <p:nvPr/>
        </p:nvSpPr>
        <p:spPr>
          <a:xfrm>
            <a:off x="0" y="5491169"/>
            <a:ext cx="7695911" cy="134756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4" name="pole tekstowe 33">
            <a:extLst>
              <a:ext uri="{FF2B5EF4-FFF2-40B4-BE49-F238E27FC236}">
                <a16:creationId xmlns:a16="http://schemas.microsoft.com/office/drawing/2014/main" id="{86B181E7-232A-A7B9-931D-27DB7EBD8351}"/>
              </a:ext>
            </a:extLst>
          </p:cNvPr>
          <p:cNvSpPr txBox="1"/>
          <p:nvPr/>
        </p:nvSpPr>
        <p:spPr>
          <a:xfrm>
            <a:off x="0" y="5491751"/>
            <a:ext cx="76683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dp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to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jednostka miary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używana w Androidzie do określania wymiarów interfejsu użytkownika (np. wysokości, szerokości, marginesów). Jest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niezależna od fizycznej rozdzielczości ekranu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co oznacza, że interfejs wygląda spójnie na różnych urządzeniach o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różnych gęstościach pikseli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(DPI -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dots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per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inch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).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sp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dodatkowo uwzględnia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skalowanie czcionki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ustawione w systemie.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52158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7373CD-8384-D792-4F95-B7180B3F3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az 8">
            <a:extLst>
              <a:ext uri="{FF2B5EF4-FFF2-40B4-BE49-F238E27FC236}">
                <a16:creationId xmlns:a16="http://schemas.microsoft.com/office/drawing/2014/main" id="{688F0E2A-0AC5-ACE7-586E-3EA57E27E3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62055" y="1381661"/>
            <a:ext cx="6349602" cy="426909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A175AFF-FCCC-20AC-B964-FF4C3F5724F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Podstawowe komponenty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D60C903-1D58-1198-190A-A0945F7BCCD0}"/>
              </a:ext>
            </a:extLst>
          </p:cNvPr>
          <p:cNvSpPr txBox="1"/>
          <p:nvPr/>
        </p:nvSpPr>
        <p:spPr>
          <a:xfrm>
            <a:off x="1033753" y="796886"/>
            <a:ext cx="78488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Column</a:t>
            </a:r>
            <a:r>
              <a:rPr lang="pl-PL" sz="1600" dirty="0"/>
              <a:t> oraz </a:t>
            </a:r>
            <a:r>
              <a:rPr lang="pl-PL" sz="1600" b="1" dirty="0" err="1"/>
              <a:t>Row</a:t>
            </a:r>
            <a:r>
              <a:rPr lang="pl-PL" sz="1600" dirty="0"/>
              <a:t> w </a:t>
            </a:r>
            <a:r>
              <a:rPr lang="pl-PL" sz="1600" b="1" dirty="0" err="1"/>
              <a:t>Compose</a:t>
            </a:r>
            <a:r>
              <a:rPr lang="pl-PL" sz="1600" dirty="0"/>
              <a:t> są to komponenty layoutu, które są odpowiedzialne za układanie elementów interfejsu użytkownika w kolumnie lub rzędzie.</a:t>
            </a:r>
          </a:p>
        </p:txBody>
      </p:sp>
      <p:cxnSp>
        <p:nvCxnSpPr>
          <p:cNvPr id="6" name="Łącznik prosty ze strzałką 5">
            <a:extLst>
              <a:ext uri="{FF2B5EF4-FFF2-40B4-BE49-F238E27FC236}">
                <a16:creationId xmlns:a16="http://schemas.microsoft.com/office/drawing/2014/main" id="{BFA4B814-3324-5B58-245E-EFA95C5BFE2E}"/>
              </a:ext>
            </a:extLst>
          </p:cNvPr>
          <p:cNvCxnSpPr>
            <a:cxnSpLocks/>
          </p:cNvCxnSpPr>
          <p:nvPr/>
        </p:nvCxnSpPr>
        <p:spPr>
          <a:xfrm>
            <a:off x="3347864" y="2924944"/>
            <a:ext cx="576064" cy="21602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Prostokąt: zaokrąglone rogi 6">
            <a:extLst>
              <a:ext uri="{FF2B5EF4-FFF2-40B4-BE49-F238E27FC236}">
                <a16:creationId xmlns:a16="http://schemas.microsoft.com/office/drawing/2014/main" id="{E30773CA-0111-61E1-3504-72579F8C76FC}"/>
              </a:ext>
            </a:extLst>
          </p:cNvPr>
          <p:cNvSpPr/>
          <p:nvPr/>
        </p:nvSpPr>
        <p:spPr>
          <a:xfrm>
            <a:off x="53468" y="2332295"/>
            <a:ext cx="3294396" cy="12407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pole tekstowe 7">
            <a:extLst>
              <a:ext uri="{FF2B5EF4-FFF2-40B4-BE49-F238E27FC236}">
                <a16:creationId xmlns:a16="http://schemas.microsoft.com/office/drawing/2014/main" id="{692A0945-3B92-BAAF-A74F-9ECA8DD22BA5}"/>
              </a:ext>
            </a:extLst>
          </p:cNvPr>
          <p:cNvSpPr txBox="1"/>
          <p:nvPr/>
        </p:nvSpPr>
        <p:spPr>
          <a:xfrm>
            <a:off x="53466" y="2389808"/>
            <a:ext cx="315038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Row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, można umieścić wiele elementów interfejsu użytkownika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jeden obok drugiego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rzędzie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pic>
        <p:nvPicPr>
          <p:cNvPr id="11" name="Obraz 10">
            <a:extLst>
              <a:ext uri="{FF2B5EF4-FFF2-40B4-BE49-F238E27FC236}">
                <a16:creationId xmlns:a16="http://schemas.microsoft.com/office/drawing/2014/main" id="{A1B2EBB2-1EBA-4E58-5BAA-D960918C8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1431" y="4112577"/>
            <a:ext cx="1238006" cy="2745423"/>
          </a:xfrm>
          <a:prstGeom prst="rect">
            <a:avLst/>
          </a:prstGeom>
        </p:spPr>
      </p:pic>
      <p:sp>
        <p:nvSpPr>
          <p:cNvPr id="30" name="Prostokąt: zaokrąglone rogi 29">
            <a:extLst>
              <a:ext uri="{FF2B5EF4-FFF2-40B4-BE49-F238E27FC236}">
                <a16:creationId xmlns:a16="http://schemas.microsoft.com/office/drawing/2014/main" id="{36E007A0-A2D9-A616-4D76-83DB00151645}"/>
              </a:ext>
            </a:extLst>
          </p:cNvPr>
          <p:cNvSpPr/>
          <p:nvPr/>
        </p:nvSpPr>
        <p:spPr>
          <a:xfrm>
            <a:off x="7778894" y="4096553"/>
            <a:ext cx="1363080" cy="2745423"/>
          </a:xfrm>
          <a:prstGeom prst="roundRect">
            <a:avLst>
              <a:gd name="adj" fmla="val 6729"/>
            </a:avLst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919774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9CBD8A-9E0F-6E85-E5B8-57EE4508F7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3CC2CA8-60D4-7C73-1A2C-7DA132400A2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Modyfikator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8E58E44-392B-5A35-07AB-910338A6EE42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Modifier</a:t>
            </a:r>
            <a:r>
              <a:rPr lang="pl-PL" sz="1600" dirty="0"/>
              <a:t> w </a:t>
            </a:r>
            <a:r>
              <a:rPr lang="pl-PL" sz="1600" b="1" dirty="0" err="1"/>
              <a:t>Compose</a:t>
            </a:r>
            <a:r>
              <a:rPr lang="pl-PL" sz="1600" dirty="0"/>
              <a:t> to obiekt, który służy do modyfikacji wyglądu lub zachowania komponentu.</a:t>
            </a:r>
            <a:endParaRPr lang="pl-PL" sz="16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CB4B6186-E200-E8AD-A397-F3706B8CE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1467293"/>
            <a:ext cx="5382932" cy="4869160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BED94D6B-423F-A2BD-5777-809C90F9B4A9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257884" y="1965204"/>
            <a:ext cx="1607403" cy="118830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2898122A-813E-C135-5505-28828251CA50}"/>
              </a:ext>
            </a:extLst>
          </p:cNvPr>
          <p:cNvSpPr/>
          <p:nvPr/>
        </p:nvSpPr>
        <p:spPr>
          <a:xfrm>
            <a:off x="-36512" y="1372555"/>
            <a:ext cx="3294396" cy="12407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B563BD88-F612-92AB-DB54-E7BE8EFAACC6}"/>
              </a:ext>
            </a:extLst>
          </p:cNvPr>
          <p:cNvSpPr txBox="1"/>
          <p:nvPr/>
        </p:nvSpPr>
        <p:spPr>
          <a:xfrm>
            <a:off x="35496" y="1426595"/>
            <a:ext cx="32223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Modifier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działa na zasadzie łańcucha funkcji - każda kolejna funkcja modyfikuje obiekt wynikowy poprzedniej funkcji.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072905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B3710A-47BE-4355-85E1-57E6661903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215444-2AA0-A7FD-AC4C-7F5F107C19D5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Modyfikator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ACBA75E1-4D69-616D-1B13-FC05B4D4165C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Modifier</a:t>
            </a:r>
            <a:r>
              <a:rPr lang="pl-PL" sz="1600" dirty="0"/>
              <a:t> w </a:t>
            </a:r>
            <a:r>
              <a:rPr lang="pl-PL" sz="1600" b="1" dirty="0" err="1"/>
              <a:t>Compose</a:t>
            </a:r>
            <a:r>
              <a:rPr lang="pl-PL" sz="1600" dirty="0"/>
              <a:t> to obiekt, który służy do modyfikacji wyglądu lub zachowania komponentu.</a:t>
            </a:r>
            <a:endParaRPr lang="pl-PL" sz="16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34147925-E199-A647-BED4-F13D2EC51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1467293"/>
            <a:ext cx="5382932" cy="4869160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66F91B4B-5712-E90E-B1FC-77327323DE27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257884" y="1965204"/>
            <a:ext cx="1607403" cy="118830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A7CE387C-9E85-98FF-22BF-8D79B7B87013}"/>
              </a:ext>
            </a:extLst>
          </p:cNvPr>
          <p:cNvSpPr/>
          <p:nvPr/>
        </p:nvSpPr>
        <p:spPr>
          <a:xfrm>
            <a:off x="-36512" y="1372555"/>
            <a:ext cx="3294396" cy="12407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CE1F8B58-FA68-FAF1-021E-2DA2453B4EEC}"/>
              </a:ext>
            </a:extLst>
          </p:cNvPr>
          <p:cNvSpPr txBox="1"/>
          <p:nvPr/>
        </p:nvSpPr>
        <p:spPr>
          <a:xfrm>
            <a:off x="35496" y="1426595"/>
            <a:ext cx="32223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Modifier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działa na zasadzie łańcucha funkcji - każda kolejna funkcja modyfikuje obiekt wynikowy poprzedniej funkcji.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710FC1F5-14BB-6DBF-AA26-D8AC64A1EEFD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347864" y="3257493"/>
            <a:ext cx="1932754" cy="2851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F883037F-63AC-1B75-E60F-E510521CDF19}"/>
              </a:ext>
            </a:extLst>
          </p:cNvPr>
          <p:cNvSpPr/>
          <p:nvPr/>
        </p:nvSpPr>
        <p:spPr>
          <a:xfrm>
            <a:off x="53468" y="2787954"/>
            <a:ext cx="3294396" cy="88503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A5E3015C-C34A-16E4-6F1A-CD5796FE0B0D}"/>
              </a:ext>
            </a:extLst>
          </p:cNvPr>
          <p:cNvSpPr txBox="1"/>
          <p:nvPr/>
        </p:nvSpPr>
        <p:spPr>
          <a:xfrm>
            <a:off x="125476" y="2841994"/>
            <a:ext cx="3222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Wypełnienie całej dostępnej szerokości – nadrzędnego elementu</a:t>
            </a: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55F0903B-29F8-3982-D97C-277CCE07D34F}"/>
              </a:ext>
            </a:extLst>
          </p:cNvPr>
          <p:cNvSpPr/>
          <p:nvPr/>
        </p:nvSpPr>
        <p:spPr>
          <a:xfrm>
            <a:off x="2196040" y="3875138"/>
            <a:ext cx="2375960" cy="52833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8791FCB7-2E6F-8E55-7C75-D287CA6B2734}"/>
              </a:ext>
            </a:extLst>
          </p:cNvPr>
          <p:cNvSpPr txBox="1"/>
          <p:nvPr/>
        </p:nvSpPr>
        <p:spPr>
          <a:xfrm>
            <a:off x="2288347" y="3950718"/>
            <a:ext cx="230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Zmiana właściwości tła.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D7702C36-FC0C-72B1-78CD-9E2A7E1F9020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4592299" y="3901873"/>
            <a:ext cx="699781" cy="2181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704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BC6D98-8812-4F7B-5E31-57C393853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663564-A575-10F2-16D0-E111A6DBBAB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Modyfikator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E7D1547-8F9B-8658-3885-A2E86256CFFF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Modifier</a:t>
            </a:r>
            <a:r>
              <a:rPr lang="pl-PL" sz="1600" dirty="0"/>
              <a:t> w </a:t>
            </a:r>
            <a:r>
              <a:rPr lang="pl-PL" sz="1600" b="1" dirty="0" err="1"/>
              <a:t>Compose</a:t>
            </a:r>
            <a:r>
              <a:rPr lang="pl-PL" sz="1600" dirty="0"/>
              <a:t> to obiekt, który służy do modyfikacji wyglądu lub zachowania komponentu.</a:t>
            </a:r>
            <a:endParaRPr lang="pl-PL" sz="1600" b="1" dirty="0"/>
          </a:p>
        </p:txBody>
      </p:sp>
      <p:pic>
        <p:nvPicPr>
          <p:cNvPr id="6" name="Obraz 5">
            <a:extLst>
              <a:ext uri="{FF2B5EF4-FFF2-40B4-BE49-F238E27FC236}">
                <a16:creationId xmlns:a16="http://schemas.microsoft.com/office/drawing/2014/main" id="{1D3F0031-E873-154E-0861-1B9295112D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7864" y="1467293"/>
            <a:ext cx="5382932" cy="4869160"/>
          </a:xfrm>
          <a:prstGeom prst="rect">
            <a:avLst/>
          </a:prstGeom>
        </p:spPr>
      </p:pic>
      <p:cxnSp>
        <p:nvCxnSpPr>
          <p:cNvPr id="7" name="Łącznik prosty ze strzałką 6">
            <a:extLst>
              <a:ext uri="{FF2B5EF4-FFF2-40B4-BE49-F238E27FC236}">
                <a16:creationId xmlns:a16="http://schemas.microsoft.com/office/drawing/2014/main" id="{898FD1C2-086B-7B05-F7A2-7BD32427F8CA}"/>
              </a:ext>
            </a:extLst>
          </p:cNvPr>
          <p:cNvCxnSpPr>
            <a:cxnSpLocks/>
            <a:stCxn id="9" idx="3"/>
          </p:cNvCxnSpPr>
          <p:nvPr/>
        </p:nvCxnSpPr>
        <p:spPr>
          <a:xfrm>
            <a:off x="3257884" y="1965204"/>
            <a:ext cx="1607403" cy="118830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Prostokąt: zaokrąglone rogi 7">
            <a:extLst>
              <a:ext uri="{FF2B5EF4-FFF2-40B4-BE49-F238E27FC236}">
                <a16:creationId xmlns:a16="http://schemas.microsoft.com/office/drawing/2014/main" id="{B8410C85-A4BF-8E30-502B-E736E2F8400E}"/>
              </a:ext>
            </a:extLst>
          </p:cNvPr>
          <p:cNvSpPr/>
          <p:nvPr/>
        </p:nvSpPr>
        <p:spPr>
          <a:xfrm>
            <a:off x="-36512" y="1372555"/>
            <a:ext cx="3294396" cy="1240721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2E7BF1BF-3165-1E63-8777-7B1E4B0A9382}"/>
              </a:ext>
            </a:extLst>
          </p:cNvPr>
          <p:cNvSpPr txBox="1"/>
          <p:nvPr/>
        </p:nvSpPr>
        <p:spPr>
          <a:xfrm>
            <a:off x="35496" y="1426595"/>
            <a:ext cx="322238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Modifier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działa na zasadzie łańcucha funkcji - każda kolejna funkcja modyfikuje obiekt wynikowy poprzedniej funkcji.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2" name="Łącznik prosty ze strzałką 11">
            <a:extLst>
              <a:ext uri="{FF2B5EF4-FFF2-40B4-BE49-F238E27FC236}">
                <a16:creationId xmlns:a16="http://schemas.microsoft.com/office/drawing/2014/main" id="{5851B564-B4A8-90E6-F7CA-63D66DEAD383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347864" y="3257493"/>
            <a:ext cx="1932754" cy="2851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Prostokąt: zaokrąglone rogi 12">
            <a:extLst>
              <a:ext uri="{FF2B5EF4-FFF2-40B4-BE49-F238E27FC236}">
                <a16:creationId xmlns:a16="http://schemas.microsoft.com/office/drawing/2014/main" id="{7C498B70-9C14-C823-06E6-B823F35A1B19}"/>
              </a:ext>
            </a:extLst>
          </p:cNvPr>
          <p:cNvSpPr/>
          <p:nvPr/>
        </p:nvSpPr>
        <p:spPr>
          <a:xfrm>
            <a:off x="53468" y="2787954"/>
            <a:ext cx="3294396" cy="88503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4" name="pole tekstowe 13">
            <a:extLst>
              <a:ext uri="{FF2B5EF4-FFF2-40B4-BE49-F238E27FC236}">
                <a16:creationId xmlns:a16="http://schemas.microsoft.com/office/drawing/2014/main" id="{1CEC77A4-BEC8-5544-4CFE-D75B5F215F69}"/>
              </a:ext>
            </a:extLst>
          </p:cNvPr>
          <p:cNvSpPr txBox="1"/>
          <p:nvPr/>
        </p:nvSpPr>
        <p:spPr>
          <a:xfrm>
            <a:off x="125476" y="2841994"/>
            <a:ext cx="32223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Wypełnienie całej dostępnej szerokości – nadrzędnego elementu</a:t>
            </a:r>
          </a:p>
        </p:txBody>
      </p:sp>
      <p:sp>
        <p:nvSpPr>
          <p:cNvPr id="16" name="Prostokąt: zaokrąglone rogi 15">
            <a:extLst>
              <a:ext uri="{FF2B5EF4-FFF2-40B4-BE49-F238E27FC236}">
                <a16:creationId xmlns:a16="http://schemas.microsoft.com/office/drawing/2014/main" id="{629DFB6C-41D5-3BCA-E062-BD5F5BDCB784}"/>
              </a:ext>
            </a:extLst>
          </p:cNvPr>
          <p:cNvSpPr/>
          <p:nvPr/>
        </p:nvSpPr>
        <p:spPr>
          <a:xfrm>
            <a:off x="2196040" y="3875138"/>
            <a:ext cx="2375960" cy="528338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543CB8A4-14F7-8DCE-D1E3-7BDD029E12E4}"/>
              </a:ext>
            </a:extLst>
          </p:cNvPr>
          <p:cNvSpPr txBox="1"/>
          <p:nvPr/>
        </p:nvSpPr>
        <p:spPr>
          <a:xfrm>
            <a:off x="2288347" y="3950718"/>
            <a:ext cx="23039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Zmiana właściwości tła.</a:t>
            </a:r>
          </a:p>
        </p:txBody>
      </p:sp>
      <p:cxnSp>
        <p:nvCxnSpPr>
          <p:cNvPr id="18" name="Łącznik prosty ze strzałką 17">
            <a:extLst>
              <a:ext uri="{FF2B5EF4-FFF2-40B4-BE49-F238E27FC236}">
                <a16:creationId xmlns:a16="http://schemas.microsoft.com/office/drawing/2014/main" id="{7F9A9FB7-AF00-6BBC-ADFD-3D3E69D7CE37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4592299" y="3901873"/>
            <a:ext cx="699781" cy="21812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2" name="Obraz 21">
            <a:extLst>
              <a:ext uri="{FF2B5EF4-FFF2-40B4-BE49-F238E27FC236}">
                <a16:creationId xmlns:a16="http://schemas.microsoft.com/office/drawing/2014/main" id="{8F097F7B-F029-6811-B895-8164E3885E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783" y="3948158"/>
            <a:ext cx="1330700" cy="2909842"/>
          </a:xfrm>
          <a:prstGeom prst="rect">
            <a:avLst/>
          </a:prstGeom>
        </p:spPr>
      </p:pic>
      <p:sp>
        <p:nvSpPr>
          <p:cNvPr id="28" name="Prostokąt: zaokrąglone rogi 27">
            <a:extLst>
              <a:ext uri="{FF2B5EF4-FFF2-40B4-BE49-F238E27FC236}">
                <a16:creationId xmlns:a16="http://schemas.microsoft.com/office/drawing/2014/main" id="{C990F893-8F47-E9CC-9373-7C85757B81FF}"/>
              </a:ext>
            </a:extLst>
          </p:cNvPr>
          <p:cNvSpPr/>
          <p:nvPr/>
        </p:nvSpPr>
        <p:spPr>
          <a:xfrm>
            <a:off x="284483" y="3948157"/>
            <a:ext cx="1350999" cy="2909843"/>
          </a:xfrm>
          <a:prstGeom prst="roundRect">
            <a:avLst>
              <a:gd name="adj" fmla="val 3506"/>
            </a:avLst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607106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4EF8BC2-4DD3-8DB9-326D-A799B14174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Obraz 22">
            <a:extLst>
              <a:ext uri="{FF2B5EF4-FFF2-40B4-BE49-F238E27FC236}">
                <a16:creationId xmlns:a16="http://schemas.microsoft.com/office/drawing/2014/main" id="{ED67BBA6-83EB-9AF2-A254-681D6A6DFA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43808" y="1554385"/>
            <a:ext cx="6137177" cy="51143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5BB9903-A668-3989-2599-7FBE9FDB2FA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Alignment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Arrangement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4E3AAFC-1AD5-5458-060C-D893076846E0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Alignment</a:t>
            </a:r>
            <a:r>
              <a:rPr lang="pl-PL" sz="1600" b="1" dirty="0"/>
              <a:t>/</a:t>
            </a:r>
            <a:r>
              <a:rPr lang="pl-PL" sz="1600" b="1" dirty="0" err="1"/>
              <a:t>Arrangement</a:t>
            </a:r>
            <a:r>
              <a:rPr lang="pl-PL" sz="1600" dirty="0"/>
              <a:t> dotyczy </a:t>
            </a:r>
            <a:r>
              <a:rPr lang="pl-PL" sz="1600" b="1" dirty="0"/>
              <a:t>wyrównania elementów </a:t>
            </a:r>
            <a:r>
              <a:rPr lang="pl-PL" sz="1600" dirty="0"/>
              <a:t>w ramach </a:t>
            </a:r>
            <a:r>
              <a:rPr lang="pl-PL" sz="1600" b="1" dirty="0"/>
              <a:t>jednego wiersza lub kolumny</a:t>
            </a:r>
            <a:r>
              <a:rPr lang="pl-PL" sz="1600" dirty="0"/>
              <a:t> (w zależności od tego, czy korzystamy z komponentu </a:t>
            </a:r>
            <a:r>
              <a:rPr lang="pl-PL" sz="1600" dirty="0" err="1"/>
              <a:t>Row</a:t>
            </a:r>
            <a:r>
              <a:rPr lang="pl-PL" sz="1600" dirty="0"/>
              <a:t> czy </a:t>
            </a:r>
            <a:r>
              <a:rPr lang="pl-PL" sz="1600" dirty="0" err="1"/>
              <a:t>Column</a:t>
            </a:r>
            <a:r>
              <a:rPr lang="pl-PL" sz="1600" dirty="0"/>
              <a:t>).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3814FC51-55EB-41BD-248D-7BD72DC97187}"/>
              </a:ext>
            </a:extLst>
          </p:cNvPr>
          <p:cNvSpPr/>
          <p:nvPr/>
        </p:nvSpPr>
        <p:spPr>
          <a:xfrm>
            <a:off x="6605025" y="2488071"/>
            <a:ext cx="2375960" cy="66802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911FA985-FDB9-1508-5B9D-F254C86CD8A8}"/>
              </a:ext>
            </a:extLst>
          </p:cNvPr>
          <p:cNvSpPr txBox="1"/>
          <p:nvPr/>
        </p:nvSpPr>
        <p:spPr>
          <a:xfrm>
            <a:off x="6605025" y="2488071"/>
            <a:ext cx="2484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Wypełnia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całą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dostępną przestrzeń</a:t>
            </a:r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2352B557-9B37-EF63-051D-620CC15FEBF6}"/>
              </a:ext>
            </a:extLst>
          </p:cNvPr>
          <p:cNvCxnSpPr>
            <a:cxnSpLocks/>
          </p:cNvCxnSpPr>
          <p:nvPr/>
        </p:nvCxnSpPr>
        <p:spPr>
          <a:xfrm flipH="1">
            <a:off x="5950007" y="3140968"/>
            <a:ext cx="655017" cy="3847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563388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03681-8A3F-7171-6BF1-157AB0ED0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Obraz 26">
            <a:extLst>
              <a:ext uri="{FF2B5EF4-FFF2-40B4-BE49-F238E27FC236}">
                <a16:creationId xmlns:a16="http://schemas.microsoft.com/office/drawing/2014/main" id="{8127470E-CC8B-0AA9-45C6-ED25D978C2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1209" y="3861048"/>
            <a:ext cx="1302219" cy="2868220"/>
          </a:xfrm>
          <a:prstGeom prst="rect">
            <a:avLst/>
          </a:prstGeom>
        </p:spPr>
      </p:pic>
      <p:pic>
        <p:nvPicPr>
          <p:cNvPr id="23" name="Obraz 22">
            <a:extLst>
              <a:ext uri="{FF2B5EF4-FFF2-40B4-BE49-F238E27FC236}">
                <a16:creationId xmlns:a16="http://schemas.microsoft.com/office/drawing/2014/main" id="{0E55AC62-DE53-B7EA-F7DB-21E8C840EC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43808" y="1554385"/>
            <a:ext cx="6137177" cy="511431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9067993-28B6-5AE9-4D62-5AE3F150C33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Alignment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Arrangement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02644624-B3E5-235A-5039-C1D8043AEDC5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Alignment</a:t>
            </a:r>
            <a:r>
              <a:rPr lang="pl-PL" sz="1600" b="1" dirty="0"/>
              <a:t>/</a:t>
            </a:r>
            <a:r>
              <a:rPr lang="pl-PL" sz="1600" b="1" dirty="0" err="1"/>
              <a:t>Arrangement</a:t>
            </a:r>
            <a:r>
              <a:rPr lang="pl-PL" sz="1600" dirty="0"/>
              <a:t> dotyczy </a:t>
            </a:r>
            <a:r>
              <a:rPr lang="pl-PL" sz="1600" b="1" dirty="0"/>
              <a:t>wyrównania elementów </a:t>
            </a:r>
            <a:r>
              <a:rPr lang="pl-PL" sz="1600" dirty="0"/>
              <a:t>w ramach </a:t>
            </a:r>
            <a:r>
              <a:rPr lang="pl-PL" sz="1600" b="1" dirty="0"/>
              <a:t>jednego wiersza lub kolumny</a:t>
            </a:r>
            <a:r>
              <a:rPr lang="pl-PL" sz="1600" dirty="0"/>
              <a:t> (w zależności od tego, czy korzystamy z komponentu </a:t>
            </a:r>
            <a:r>
              <a:rPr lang="pl-PL" sz="1600" dirty="0" err="1"/>
              <a:t>Row</a:t>
            </a:r>
            <a:r>
              <a:rPr lang="pl-PL" sz="1600" dirty="0"/>
              <a:t> czy </a:t>
            </a:r>
            <a:r>
              <a:rPr lang="pl-PL" sz="1600" dirty="0" err="1"/>
              <a:t>Column</a:t>
            </a:r>
            <a:r>
              <a:rPr lang="pl-PL" sz="1600" dirty="0"/>
              <a:t>).</a:t>
            </a:r>
          </a:p>
        </p:txBody>
      </p:sp>
      <p:sp>
        <p:nvSpPr>
          <p:cNvPr id="10" name="Prostokąt: zaokrąglone rogi 9">
            <a:extLst>
              <a:ext uri="{FF2B5EF4-FFF2-40B4-BE49-F238E27FC236}">
                <a16:creationId xmlns:a16="http://schemas.microsoft.com/office/drawing/2014/main" id="{654964E9-D958-3C6E-8980-47868DBBDAC2}"/>
              </a:ext>
            </a:extLst>
          </p:cNvPr>
          <p:cNvSpPr/>
          <p:nvPr/>
        </p:nvSpPr>
        <p:spPr>
          <a:xfrm>
            <a:off x="6605025" y="2488071"/>
            <a:ext cx="2375960" cy="66802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11" name="pole tekstowe 10">
            <a:extLst>
              <a:ext uri="{FF2B5EF4-FFF2-40B4-BE49-F238E27FC236}">
                <a16:creationId xmlns:a16="http://schemas.microsoft.com/office/drawing/2014/main" id="{32FB4CCC-F07E-4851-48A0-4E04BE0E1D3C}"/>
              </a:ext>
            </a:extLst>
          </p:cNvPr>
          <p:cNvSpPr txBox="1"/>
          <p:nvPr/>
        </p:nvSpPr>
        <p:spPr>
          <a:xfrm>
            <a:off x="6605025" y="2488071"/>
            <a:ext cx="2484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Wypełnia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całą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dostępną przestrzeń</a:t>
            </a:r>
          </a:p>
        </p:txBody>
      </p:sp>
      <p:sp>
        <p:nvSpPr>
          <p:cNvPr id="19" name="Prostokąt: zaokrąglone rogi 18">
            <a:extLst>
              <a:ext uri="{FF2B5EF4-FFF2-40B4-BE49-F238E27FC236}">
                <a16:creationId xmlns:a16="http://schemas.microsoft.com/office/drawing/2014/main" id="{E10B86B5-41D3-0748-5EF4-3C1515A0F294}"/>
              </a:ext>
            </a:extLst>
          </p:cNvPr>
          <p:cNvSpPr/>
          <p:nvPr/>
        </p:nvSpPr>
        <p:spPr>
          <a:xfrm>
            <a:off x="1206820" y="3861048"/>
            <a:ext cx="1350999" cy="2868220"/>
          </a:xfrm>
          <a:prstGeom prst="roundRect">
            <a:avLst>
              <a:gd name="adj" fmla="val 3506"/>
            </a:avLst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cxnSp>
        <p:nvCxnSpPr>
          <p:cNvPr id="24" name="Łącznik prosty ze strzałką 23">
            <a:extLst>
              <a:ext uri="{FF2B5EF4-FFF2-40B4-BE49-F238E27FC236}">
                <a16:creationId xmlns:a16="http://schemas.microsoft.com/office/drawing/2014/main" id="{DAC44AAB-64EC-229A-42CF-93152598CE35}"/>
              </a:ext>
            </a:extLst>
          </p:cNvPr>
          <p:cNvCxnSpPr>
            <a:cxnSpLocks/>
          </p:cNvCxnSpPr>
          <p:nvPr/>
        </p:nvCxnSpPr>
        <p:spPr>
          <a:xfrm flipH="1">
            <a:off x="5950007" y="3140968"/>
            <a:ext cx="655017" cy="3847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Prostokąt: zaokrąglone rogi 28">
            <a:extLst>
              <a:ext uri="{FF2B5EF4-FFF2-40B4-BE49-F238E27FC236}">
                <a16:creationId xmlns:a16="http://schemas.microsoft.com/office/drawing/2014/main" id="{DF520F9C-6C96-EB46-4E20-802B2D36ED82}"/>
              </a:ext>
            </a:extLst>
          </p:cNvPr>
          <p:cNvSpPr/>
          <p:nvPr/>
        </p:nvSpPr>
        <p:spPr>
          <a:xfrm>
            <a:off x="60167" y="2373102"/>
            <a:ext cx="3513879" cy="119706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30" name="pole tekstowe 29">
            <a:extLst>
              <a:ext uri="{FF2B5EF4-FFF2-40B4-BE49-F238E27FC236}">
                <a16:creationId xmlns:a16="http://schemas.microsoft.com/office/drawing/2014/main" id="{976B816B-F34D-FAA7-C0E5-C9F2BB4E5E28}"/>
              </a:ext>
            </a:extLst>
          </p:cNvPr>
          <p:cNvSpPr txBox="1"/>
          <p:nvPr/>
        </p:nvSpPr>
        <p:spPr>
          <a:xfrm>
            <a:off x="69571" y="2386335"/>
            <a:ext cx="3422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Ustawia poziome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wyrównanie elementów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Column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Oznacza to, że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wszystkie dzieci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wewnątrz będą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wyśrodkowane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 poziomie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31" name="Łącznik prosty ze strzałką 30">
            <a:extLst>
              <a:ext uri="{FF2B5EF4-FFF2-40B4-BE49-F238E27FC236}">
                <a16:creationId xmlns:a16="http://schemas.microsoft.com/office/drawing/2014/main" id="{1EFC63AD-C154-500A-D49B-18071E1C6764}"/>
              </a:ext>
            </a:extLst>
          </p:cNvPr>
          <p:cNvCxnSpPr>
            <a:cxnSpLocks/>
            <a:stCxn id="29" idx="3"/>
          </p:cNvCxnSpPr>
          <p:nvPr/>
        </p:nvCxnSpPr>
        <p:spPr>
          <a:xfrm>
            <a:off x="3574046" y="2971634"/>
            <a:ext cx="1226152" cy="122234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42104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F8A425-8146-859A-65D9-1BD06A74F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0508294-1284-6D2B-5BD4-7737A6E48A93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Alignment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Arrangement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FBBB26C3-C9A3-6087-FB00-D572ED35F162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Alignment</a:t>
            </a:r>
            <a:r>
              <a:rPr lang="pl-PL" sz="1600" b="1" dirty="0"/>
              <a:t>/</a:t>
            </a:r>
            <a:r>
              <a:rPr lang="pl-PL" sz="1600" b="1" dirty="0" err="1"/>
              <a:t>Arrangement</a:t>
            </a:r>
            <a:r>
              <a:rPr lang="pl-PL" sz="1600" dirty="0"/>
              <a:t> dotyczy </a:t>
            </a:r>
            <a:r>
              <a:rPr lang="pl-PL" sz="1600" b="1" dirty="0"/>
              <a:t>wyrównania elementów </a:t>
            </a:r>
            <a:r>
              <a:rPr lang="pl-PL" sz="1600" dirty="0"/>
              <a:t>w ramach </a:t>
            </a:r>
            <a:r>
              <a:rPr lang="pl-PL" sz="1600" b="1" dirty="0"/>
              <a:t>jednego wiersza lub kolumny</a:t>
            </a:r>
            <a:r>
              <a:rPr lang="pl-PL" sz="1600" dirty="0"/>
              <a:t> (w zależności od tego, czy korzystamy z komponentu </a:t>
            </a:r>
            <a:r>
              <a:rPr lang="pl-PL" sz="1600" dirty="0" err="1"/>
              <a:t>Row</a:t>
            </a:r>
            <a:r>
              <a:rPr lang="pl-PL" sz="1600" dirty="0"/>
              <a:t> czy </a:t>
            </a:r>
            <a:r>
              <a:rPr lang="pl-PL" sz="1600" dirty="0" err="1"/>
              <a:t>Column</a:t>
            </a:r>
            <a:r>
              <a:rPr lang="pl-PL" sz="1600" dirty="0"/>
              <a:t>).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8925986-3280-43A6-F6A1-68EF994C3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800" y="1556792"/>
            <a:ext cx="6261503" cy="4941168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8F7CD976-0CE1-7A3E-6D59-6F557AAE7FC1}"/>
              </a:ext>
            </a:extLst>
          </p:cNvPr>
          <p:cNvSpPr/>
          <p:nvPr/>
        </p:nvSpPr>
        <p:spPr>
          <a:xfrm>
            <a:off x="6605025" y="2488071"/>
            <a:ext cx="2375960" cy="66802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5FB4B675-921F-1685-34DD-3BD8F0B6C60E}"/>
              </a:ext>
            </a:extLst>
          </p:cNvPr>
          <p:cNvSpPr txBox="1"/>
          <p:nvPr/>
        </p:nvSpPr>
        <p:spPr>
          <a:xfrm>
            <a:off x="6605025" y="2488071"/>
            <a:ext cx="2484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Wypełnia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całą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dostępną przestrzeń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5F02217F-CE85-E5D0-FB6A-03F4B5405B1F}"/>
              </a:ext>
            </a:extLst>
          </p:cNvPr>
          <p:cNvCxnSpPr>
            <a:cxnSpLocks/>
          </p:cNvCxnSpPr>
          <p:nvPr/>
        </p:nvCxnSpPr>
        <p:spPr>
          <a:xfrm flipH="1">
            <a:off x="5950007" y="3140968"/>
            <a:ext cx="655017" cy="38478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stokąt: zaokrąglone rogi 14">
            <a:extLst>
              <a:ext uri="{FF2B5EF4-FFF2-40B4-BE49-F238E27FC236}">
                <a16:creationId xmlns:a16="http://schemas.microsoft.com/office/drawing/2014/main" id="{5D441922-29B8-A705-64B5-B1D6E45A4182}"/>
              </a:ext>
            </a:extLst>
          </p:cNvPr>
          <p:cNvSpPr/>
          <p:nvPr/>
        </p:nvSpPr>
        <p:spPr>
          <a:xfrm>
            <a:off x="10966" y="2474314"/>
            <a:ext cx="3513879" cy="119706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422C0EC9-352A-FF25-AB57-4A850850E9C9}"/>
              </a:ext>
            </a:extLst>
          </p:cNvPr>
          <p:cNvSpPr txBox="1"/>
          <p:nvPr/>
        </p:nvSpPr>
        <p:spPr>
          <a:xfrm>
            <a:off x="-18173" y="2502565"/>
            <a:ext cx="342230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Ustawia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pionowe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wyrównanie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elementów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Column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 Oznacza to, że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wszystkie dzieci 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wewnątrz będą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wyśrodkowane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 pionie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.</a:t>
            </a:r>
          </a:p>
        </p:txBody>
      </p:sp>
      <p:cxnSp>
        <p:nvCxnSpPr>
          <p:cNvPr id="17" name="Łącznik prosty ze strzałką 16">
            <a:extLst>
              <a:ext uri="{FF2B5EF4-FFF2-40B4-BE49-F238E27FC236}">
                <a16:creationId xmlns:a16="http://schemas.microsoft.com/office/drawing/2014/main" id="{A3A60D20-0A16-B4ED-9035-665D1844A703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3524845" y="3072846"/>
            <a:ext cx="774538" cy="1463538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Obraz 20">
            <a:extLst>
              <a:ext uri="{FF2B5EF4-FFF2-40B4-BE49-F238E27FC236}">
                <a16:creationId xmlns:a16="http://schemas.microsoft.com/office/drawing/2014/main" id="{C3819014-4DEF-BA6B-113A-9D580C23E4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2140" y="3950564"/>
            <a:ext cx="1290366" cy="2868221"/>
          </a:xfrm>
          <a:prstGeom prst="rect">
            <a:avLst/>
          </a:prstGeom>
        </p:spPr>
      </p:pic>
      <p:sp>
        <p:nvSpPr>
          <p:cNvPr id="22" name="Prostokąt: zaokrąglone rogi 21">
            <a:extLst>
              <a:ext uri="{FF2B5EF4-FFF2-40B4-BE49-F238E27FC236}">
                <a16:creationId xmlns:a16="http://schemas.microsoft.com/office/drawing/2014/main" id="{67E2ED03-AF8C-E57C-B773-C7FB6419D5A0}"/>
              </a:ext>
            </a:extLst>
          </p:cNvPr>
          <p:cNvSpPr/>
          <p:nvPr/>
        </p:nvSpPr>
        <p:spPr>
          <a:xfrm>
            <a:off x="1121824" y="3933056"/>
            <a:ext cx="1350999" cy="2868220"/>
          </a:xfrm>
          <a:prstGeom prst="roundRect">
            <a:avLst>
              <a:gd name="adj" fmla="val 3506"/>
            </a:avLst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25516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5B6EC8C-2DDE-7831-629B-24A2D020E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4541F5E-3F07-165C-23AF-07A29E4F540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Alignment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Arrangement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C2AEB24-5CE8-E0C3-3C74-DDAA8A0DECAB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Alignment</a:t>
            </a:r>
            <a:r>
              <a:rPr lang="pl-PL" sz="1600" b="1" dirty="0"/>
              <a:t>/</a:t>
            </a:r>
            <a:r>
              <a:rPr lang="pl-PL" sz="1600" b="1" dirty="0" err="1"/>
              <a:t>Arrangement</a:t>
            </a:r>
            <a:r>
              <a:rPr lang="pl-PL" sz="1600" dirty="0"/>
              <a:t> dotyczy </a:t>
            </a:r>
            <a:r>
              <a:rPr lang="pl-PL" sz="1600" b="1" dirty="0"/>
              <a:t>wyrównania elementów </a:t>
            </a:r>
            <a:r>
              <a:rPr lang="pl-PL" sz="1600" dirty="0"/>
              <a:t>w ramach </a:t>
            </a:r>
            <a:r>
              <a:rPr lang="pl-PL" sz="1600" b="1" dirty="0"/>
              <a:t>jednego wiersza lub kolumny</a:t>
            </a:r>
            <a:r>
              <a:rPr lang="pl-PL" sz="1600" dirty="0"/>
              <a:t> (w zależności od tego, czy korzystamy z komponentu </a:t>
            </a:r>
            <a:r>
              <a:rPr lang="pl-PL" sz="1600" dirty="0" err="1"/>
              <a:t>Row</a:t>
            </a:r>
            <a:r>
              <a:rPr lang="pl-PL" sz="1600" dirty="0"/>
              <a:t> czy </a:t>
            </a:r>
            <a:r>
              <a:rPr lang="pl-PL" sz="1600" dirty="0" err="1"/>
              <a:t>Column</a:t>
            </a:r>
            <a:r>
              <a:rPr lang="pl-PL" sz="1600" dirty="0"/>
              <a:t>).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118884B-8EE0-A53C-49DE-4CA2D08838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800" y="1556792"/>
            <a:ext cx="6261503" cy="4941168"/>
          </a:xfrm>
          <a:prstGeom prst="rect">
            <a:avLst/>
          </a:prstGeom>
        </p:spPr>
      </p:pic>
      <p:pic>
        <p:nvPicPr>
          <p:cNvPr id="9" name="Obraz 8">
            <a:extLst>
              <a:ext uri="{FF2B5EF4-FFF2-40B4-BE49-F238E27FC236}">
                <a16:creationId xmlns:a16="http://schemas.microsoft.com/office/drawing/2014/main" id="{05185CE1-4B2C-59FB-496B-E3CC345B88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79912" y="2780928"/>
            <a:ext cx="5008422" cy="2298948"/>
          </a:xfrm>
          <a:prstGeom prst="rect">
            <a:avLst/>
          </a:prstGeom>
        </p:spPr>
      </p:pic>
      <p:sp>
        <p:nvSpPr>
          <p:cNvPr id="10" name="Prostokąt 9">
            <a:extLst>
              <a:ext uri="{FF2B5EF4-FFF2-40B4-BE49-F238E27FC236}">
                <a16:creationId xmlns:a16="http://schemas.microsoft.com/office/drawing/2014/main" id="{4869073E-1123-A639-47F2-06E0C139CA84}"/>
              </a:ext>
            </a:extLst>
          </p:cNvPr>
          <p:cNvSpPr/>
          <p:nvPr/>
        </p:nvSpPr>
        <p:spPr>
          <a:xfrm>
            <a:off x="8604448" y="4149080"/>
            <a:ext cx="539551" cy="288032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75401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E988D89-100E-A582-C71F-4B1FE6D4C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E778D7-DE7B-A781-9FC1-1D8AB63CAD5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Alignment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Arrangement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CEA6B91D-1F2F-F2A1-A7E2-49BDD00F81A6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Alignment</a:t>
            </a:r>
            <a:r>
              <a:rPr lang="pl-PL" sz="1600" b="1" dirty="0"/>
              <a:t>/</a:t>
            </a:r>
            <a:r>
              <a:rPr lang="pl-PL" sz="1600" b="1" dirty="0" err="1"/>
              <a:t>Arrangement</a:t>
            </a:r>
            <a:r>
              <a:rPr lang="pl-PL" sz="1600" dirty="0"/>
              <a:t> dotyczy </a:t>
            </a:r>
            <a:r>
              <a:rPr lang="pl-PL" sz="1600" b="1" dirty="0"/>
              <a:t>wyrównania elementów </a:t>
            </a:r>
            <a:r>
              <a:rPr lang="pl-PL" sz="1600" dirty="0"/>
              <a:t>w ramach </a:t>
            </a:r>
            <a:r>
              <a:rPr lang="pl-PL" sz="1600" b="1" dirty="0"/>
              <a:t>jednego wiersza lub kolumny</a:t>
            </a:r>
            <a:r>
              <a:rPr lang="pl-PL" sz="1600" dirty="0"/>
              <a:t> (w zależności od tego, czy korzystamy z komponentu </a:t>
            </a:r>
            <a:r>
              <a:rPr lang="pl-PL" sz="1600" dirty="0" err="1"/>
              <a:t>Row</a:t>
            </a:r>
            <a:r>
              <a:rPr lang="pl-PL" sz="1600" dirty="0"/>
              <a:t> czy </a:t>
            </a:r>
            <a:r>
              <a:rPr lang="pl-PL" sz="1600" dirty="0" err="1"/>
              <a:t>Column</a:t>
            </a:r>
            <a:r>
              <a:rPr lang="pl-PL" sz="1600" dirty="0"/>
              <a:t>).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8A0FCB0-2BC6-5E75-24EB-05D606C233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71800" y="1556792"/>
            <a:ext cx="6261503" cy="494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8324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16BB7D-5755-EE3C-0C9D-C9ADC8375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AB78AC-2BC4-C82A-6C27-72F6732DB052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Alignment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i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Arrangement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D843AAB5-4408-67F5-61E3-8CE406FED427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Alignment</a:t>
            </a:r>
            <a:r>
              <a:rPr lang="pl-PL" sz="1600" b="1" dirty="0"/>
              <a:t>/</a:t>
            </a:r>
            <a:r>
              <a:rPr lang="pl-PL" sz="1600" b="1" dirty="0" err="1"/>
              <a:t>Arrangement</a:t>
            </a:r>
            <a:r>
              <a:rPr lang="pl-PL" sz="1600" dirty="0"/>
              <a:t> dotyczy </a:t>
            </a:r>
            <a:r>
              <a:rPr lang="pl-PL" sz="1600" b="1" dirty="0"/>
              <a:t>wyrównania elementów </a:t>
            </a:r>
            <a:r>
              <a:rPr lang="pl-PL" sz="1600" dirty="0"/>
              <a:t>w ramach </a:t>
            </a:r>
            <a:r>
              <a:rPr lang="pl-PL" sz="1600" b="1" dirty="0"/>
              <a:t>jednego wiersza lub kolumny</a:t>
            </a:r>
            <a:r>
              <a:rPr lang="pl-PL" sz="1600" dirty="0"/>
              <a:t> (w zależności od tego, czy korzystamy z komponentu </a:t>
            </a:r>
            <a:r>
              <a:rPr lang="pl-PL" sz="1600" dirty="0" err="1"/>
              <a:t>Row</a:t>
            </a:r>
            <a:r>
              <a:rPr lang="pl-PL" sz="1600" dirty="0"/>
              <a:t> czy </a:t>
            </a:r>
            <a:r>
              <a:rPr lang="pl-PL" sz="1600" dirty="0" err="1"/>
              <a:t>Column</a:t>
            </a:r>
            <a:r>
              <a:rPr lang="pl-PL" sz="1600" dirty="0"/>
              <a:t>).</a:t>
            </a:r>
          </a:p>
        </p:txBody>
      </p:sp>
      <p:sp>
        <p:nvSpPr>
          <p:cNvPr id="9" name="pole tekstowe 8">
            <a:extLst>
              <a:ext uri="{FF2B5EF4-FFF2-40B4-BE49-F238E27FC236}">
                <a16:creationId xmlns:a16="http://schemas.microsoft.com/office/drawing/2014/main" id="{89BA725E-7D4C-3DCB-3E53-11C27CA81BAB}"/>
              </a:ext>
            </a:extLst>
          </p:cNvPr>
          <p:cNvSpPr txBox="1"/>
          <p:nvPr/>
        </p:nvSpPr>
        <p:spPr>
          <a:xfrm>
            <a:off x="3564968" y="6194871"/>
            <a:ext cx="376886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l-PL" dirty="0"/>
              <a:t>https://miro.medium.com/v2/resize:fit:1100/format:webp/1*F0263XxPbXpoA9XdVL2mIw.gif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DDC2EBB2-4FE0-55DC-AB32-0CB8B3BF3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1976981"/>
            <a:ext cx="6447402" cy="3344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5093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510105-C982-E57B-1F9C-5F332E79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4D6EEDC-E3DD-C050-358D-8445DCAF82B9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9497F7A-9ED6-3C86-BE1C-56DFCD24F28A}"/>
              </a:ext>
            </a:extLst>
          </p:cNvPr>
          <p:cNvSpPr txBox="1"/>
          <p:nvPr/>
        </p:nvSpPr>
        <p:spPr>
          <a:xfrm>
            <a:off x="1033752" y="796886"/>
            <a:ext cx="81102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Stan </a:t>
            </a:r>
            <a:r>
              <a:rPr lang="pl-PL" sz="1600" dirty="0"/>
              <a:t>w aplikacji to </a:t>
            </a:r>
            <a:r>
              <a:rPr lang="pl-PL" sz="1600" b="1" dirty="0"/>
              <a:t>dowolna wartość, która może ulec zmianie w czasie. </a:t>
            </a:r>
            <a:r>
              <a:rPr lang="pl-PL" sz="1600" b="1" dirty="0" err="1"/>
              <a:t>Compose</a:t>
            </a:r>
            <a:r>
              <a:rPr lang="pl-PL" sz="1600" b="1" dirty="0"/>
              <a:t> </a:t>
            </a:r>
            <a:r>
              <a:rPr lang="pl-PL" sz="1600" dirty="0"/>
              <a:t>jest deklaratywny, co oznacza, że jedynym sposobem na </a:t>
            </a:r>
            <a:r>
              <a:rPr lang="pl-PL" sz="1600" b="1" dirty="0"/>
              <a:t>aktualizację interfejsu </a:t>
            </a:r>
            <a:r>
              <a:rPr lang="pl-PL" sz="1600" dirty="0"/>
              <a:t>jest</a:t>
            </a:r>
            <a:r>
              <a:rPr lang="pl-PL" sz="1600" b="1" dirty="0"/>
              <a:t> wywołanie </a:t>
            </a:r>
            <a:r>
              <a:rPr lang="pl-PL" sz="1600" dirty="0"/>
              <a:t>tej samej funkcji kompozycyjnej z nowymi argumentami, które reprezentują</a:t>
            </a:r>
            <a:r>
              <a:rPr lang="pl-PL" sz="1600" b="1" dirty="0"/>
              <a:t> nowy stan. </a:t>
            </a:r>
            <a:endParaRPr lang="pl-PL" sz="1600" dirty="0"/>
          </a:p>
        </p:txBody>
      </p:sp>
    </p:spTree>
    <p:extLst>
      <p:ext uri="{BB962C8B-B14F-4D97-AF65-F5344CB8AC3E}">
        <p14:creationId xmlns:p14="http://schemas.microsoft.com/office/powerpoint/2010/main" val="2178492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460ABA-06E1-D531-6F72-FC26413C0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C6D37DF-BCE9-C9E5-6826-C8CEA40D4167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3BFE5E32-73FB-6537-EB58-05A8F722A05B}"/>
              </a:ext>
            </a:extLst>
          </p:cNvPr>
          <p:cNvSpPr txBox="1"/>
          <p:nvPr/>
        </p:nvSpPr>
        <p:spPr>
          <a:xfrm>
            <a:off x="1033752" y="796886"/>
            <a:ext cx="811024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Stan </a:t>
            </a:r>
            <a:r>
              <a:rPr lang="pl-PL" sz="1600" dirty="0"/>
              <a:t>w aplikacji to </a:t>
            </a:r>
            <a:r>
              <a:rPr lang="pl-PL" sz="1600" b="1" dirty="0"/>
              <a:t>dowolna wartość, która może ulec zmianie w czasie. </a:t>
            </a:r>
            <a:r>
              <a:rPr lang="pl-PL" sz="1600" b="1" dirty="0" err="1"/>
              <a:t>Compose</a:t>
            </a:r>
            <a:r>
              <a:rPr lang="pl-PL" sz="1600" b="1" dirty="0"/>
              <a:t> </a:t>
            </a:r>
            <a:r>
              <a:rPr lang="pl-PL" sz="1600" dirty="0"/>
              <a:t>jest deklaratywny, co oznacza, że jedynym sposobem na </a:t>
            </a:r>
            <a:r>
              <a:rPr lang="pl-PL" sz="1600" b="1" dirty="0"/>
              <a:t>aktualizację interfejsu </a:t>
            </a:r>
            <a:r>
              <a:rPr lang="pl-PL" sz="1600" dirty="0"/>
              <a:t>jest</a:t>
            </a:r>
            <a:r>
              <a:rPr lang="pl-PL" sz="1600" b="1" dirty="0"/>
              <a:t> wywołanie </a:t>
            </a:r>
            <a:r>
              <a:rPr lang="pl-PL" sz="1600" dirty="0"/>
              <a:t>tej samej funkcji kompozycyjnej z nowymi argumentami, które reprezentują</a:t>
            </a:r>
            <a:r>
              <a:rPr lang="pl-PL" sz="1600" b="1" dirty="0"/>
              <a:t> nowy stan.</a:t>
            </a:r>
          </a:p>
          <a:p>
            <a:pPr algn="just"/>
            <a:endParaRPr lang="pl-PL" sz="1600" b="1" dirty="0"/>
          </a:p>
          <a:p>
            <a:pPr algn="just"/>
            <a:r>
              <a:rPr lang="pl-PL" sz="1600" dirty="0"/>
              <a:t>W </a:t>
            </a:r>
            <a:r>
              <a:rPr lang="pl-PL" sz="1600" dirty="0" err="1"/>
              <a:t>Compose</a:t>
            </a:r>
            <a:r>
              <a:rPr lang="pl-PL" sz="1600" dirty="0"/>
              <a:t> interfejs użytkownika jest budowany poprzez </a:t>
            </a:r>
            <a:r>
              <a:rPr lang="pl-PL" sz="1600" b="1" dirty="0"/>
              <a:t>kompozycję</a:t>
            </a:r>
            <a:r>
              <a:rPr lang="pl-PL" sz="1600" dirty="0"/>
              <a:t>, czyli </a:t>
            </a:r>
            <a:r>
              <a:rPr lang="pl-PL" sz="1600" b="1" dirty="0"/>
              <a:t>drzewo strukturalne komponentów </a:t>
            </a:r>
            <a:r>
              <a:rPr lang="pl-PL" sz="1600" dirty="0"/>
              <a:t>(</a:t>
            </a:r>
            <a:r>
              <a:rPr lang="pl-PL" sz="1600" b="1" dirty="0" err="1"/>
              <a:t>composables</a:t>
            </a:r>
            <a:r>
              <a:rPr lang="pl-PL" sz="1600" b="1" dirty="0"/>
              <a:t>)</a:t>
            </a:r>
            <a:r>
              <a:rPr lang="pl-PL" sz="1600" dirty="0"/>
              <a:t> które opisują interfejs użytkownika.</a:t>
            </a:r>
          </a:p>
        </p:txBody>
      </p:sp>
    </p:spTree>
    <p:extLst>
      <p:ext uri="{BB962C8B-B14F-4D97-AF65-F5344CB8AC3E}">
        <p14:creationId xmlns:p14="http://schemas.microsoft.com/office/powerpoint/2010/main" val="12701608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7C6413-52B0-1A75-C9AE-15F926B9C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D7AC96-F71B-2C16-8247-195DBA1C2EE8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53DE164C-DED2-5A8A-F9CE-927D649966E5}"/>
              </a:ext>
            </a:extLst>
          </p:cNvPr>
          <p:cNvSpPr txBox="1"/>
          <p:nvPr/>
        </p:nvSpPr>
        <p:spPr>
          <a:xfrm>
            <a:off x="1033752" y="796886"/>
            <a:ext cx="8110247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/>
              <a:t>Stan </a:t>
            </a:r>
            <a:r>
              <a:rPr lang="pl-PL" sz="1600" dirty="0"/>
              <a:t>w aplikacji to </a:t>
            </a:r>
            <a:r>
              <a:rPr lang="pl-PL" sz="1600" b="1" dirty="0"/>
              <a:t>dowolna wartość, która może ulec zmianie w czasie. </a:t>
            </a:r>
            <a:r>
              <a:rPr lang="pl-PL" sz="1600" b="1" dirty="0" err="1"/>
              <a:t>Compose</a:t>
            </a:r>
            <a:r>
              <a:rPr lang="pl-PL" sz="1600" b="1" dirty="0"/>
              <a:t> </a:t>
            </a:r>
            <a:r>
              <a:rPr lang="pl-PL" sz="1600" dirty="0"/>
              <a:t>jest deklaratywny, co oznacza, że jedynym sposobem na </a:t>
            </a:r>
            <a:r>
              <a:rPr lang="pl-PL" sz="1600" b="1" dirty="0"/>
              <a:t>aktualizację interfejsu </a:t>
            </a:r>
            <a:r>
              <a:rPr lang="pl-PL" sz="1600" dirty="0"/>
              <a:t>jest</a:t>
            </a:r>
            <a:r>
              <a:rPr lang="pl-PL" sz="1600" b="1" dirty="0"/>
              <a:t> wywołanie </a:t>
            </a:r>
            <a:r>
              <a:rPr lang="pl-PL" sz="1600" dirty="0"/>
              <a:t>tej samej funkcji kompozycyjnej z nowymi argumentami, które reprezentują</a:t>
            </a:r>
            <a:r>
              <a:rPr lang="pl-PL" sz="1600" b="1" dirty="0"/>
              <a:t> nowy stan.</a:t>
            </a:r>
          </a:p>
          <a:p>
            <a:pPr algn="just"/>
            <a:endParaRPr lang="pl-PL" sz="1600" b="1" dirty="0"/>
          </a:p>
          <a:p>
            <a:pPr algn="just"/>
            <a:r>
              <a:rPr lang="pl-PL" sz="1600" dirty="0"/>
              <a:t>W </a:t>
            </a:r>
            <a:r>
              <a:rPr lang="pl-PL" sz="1600" dirty="0" err="1"/>
              <a:t>Compose</a:t>
            </a:r>
            <a:r>
              <a:rPr lang="pl-PL" sz="1600" dirty="0"/>
              <a:t> interfejs użytkownika jest budowany poprzez </a:t>
            </a:r>
            <a:r>
              <a:rPr lang="pl-PL" sz="1600" b="1" dirty="0"/>
              <a:t>kompozycję</a:t>
            </a:r>
            <a:r>
              <a:rPr lang="pl-PL" sz="1600" dirty="0"/>
              <a:t>, czyli </a:t>
            </a:r>
            <a:r>
              <a:rPr lang="pl-PL" sz="1600" b="1" dirty="0"/>
              <a:t>drzewo strukturalne komponentów </a:t>
            </a:r>
            <a:r>
              <a:rPr lang="pl-PL" sz="1600" dirty="0"/>
              <a:t>(</a:t>
            </a:r>
            <a:r>
              <a:rPr lang="pl-PL" sz="1600" b="1" dirty="0" err="1"/>
              <a:t>composables</a:t>
            </a:r>
            <a:r>
              <a:rPr lang="pl-PL" sz="1600" b="1" dirty="0"/>
              <a:t>)</a:t>
            </a:r>
            <a:r>
              <a:rPr lang="pl-PL" sz="1600" dirty="0"/>
              <a:t> które opisują interfejs użytkownika.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Gdy </a:t>
            </a:r>
            <a:r>
              <a:rPr lang="pl-PL" sz="1600" b="1" dirty="0"/>
              <a:t>stan się zmienia</a:t>
            </a:r>
            <a:r>
              <a:rPr lang="pl-PL" sz="1600" dirty="0"/>
              <a:t>, </a:t>
            </a:r>
            <a:r>
              <a:rPr lang="pl-PL" sz="1600" dirty="0" err="1"/>
              <a:t>Compose</a:t>
            </a:r>
            <a:r>
              <a:rPr lang="pl-PL" sz="1600" dirty="0"/>
              <a:t> przeprowadza </a:t>
            </a:r>
            <a:r>
              <a:rPr lang="pl-PL" sz="1600" b="1" dirty="0" err="1"/>
              <a:t>rekompozycję</a:t>
            </a:r>
            <a:r>
              <a:rPr lang="pl-PL" sz="1600" dirty="0"/>
              <a:t>, czyli ponowne uruchomienie funkcji kompozycyjnych, aby zaktualizować interfejs.</a:t>
            </a:r>
          </a:p>
        </p:txBody>
      </p:sp>
    </p:spTree>
    <p:extLst>
      <p:ext uri="{BB962C8B-B14F-4D97-AF65-F5344CB8AC3E}">
        <p14:creationId xmlns:p14="http://schemas.microsoft.com/office/powerpoint/2010/main" val="173623220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BA5E33-88C2-BA86-B174-9B546BFAE1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5F6F6E2-260C-04DB-5796-659C4D7C0C30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E604A6E4-A31D-A4D4-1B62-B6E6F7746838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Aby </a:t>
            </a:r>
            <a:r>
              <a:rPr lang="pl-PL" sz="1600" b="1" dirty="0"/>
              <a:t>zachować</a:t>
            </a:r>
            <a:r>
              <a:rPr lang="pl-PL" sz="1600" dirty="0"/>
              <a:t> </a:t>
            </a:r>
            <a:r>
              <a:rPr lang="pl-PL" sz="1600" b="1" dirty="0"/>
              <a:t>stan</a:t>
            </a:r>
            <a:r>
              <a:rPr lang="pl-PL" sz="1600" dirty="0"/>
              <a:t> między </a:t>
            </a:r>
            <a:r>
              <a:rPr lang="pl-PL" sz="1600" dirty="0" err="1"/>
              <a:t>rekompozycjami</a:t>
            </a:r>
            <a:r>
              <a:rPr lang="pl-PL" sz="1600" dirty="0"/>
              <a:t>, możemy użyć funkcji </a:t>
            </a:r>
            <a:r>
              <a:rPr lang="pl-PL" sz="1600" b="1" dirty="0" err="1"/>
              <a:t>remember</a:t>
            </a:r>
            <a:r>
              <a:rPr lang="pl-PL" sz="1600" dirty="0"/>
              <a:t>. Funkcja przechowuje obiekt w pamięci podczas pierwszej kompozycji i zwraca go podczas kolejnych </a:t>
            </a:r>
            <a:r>
              <a:rPr lang="pl-PL" sz="1600" dirty="0" err="1"/>
              <a:t>rekompozycji</a:t>
            </a:r>
            <a:r>
              <a:rPr lang="pl-PL" sz="1600" b="1" dirty="0"/>
              <a:t>.</a:t>
            </a:r>
            <a:endParaRPr lang="pl-PL" sz="16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C265718-3AFC-CB98-4EE9-BBC9DFAE17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241" y="1856313"/>
            <a:ext cx="5947685" cy="4803626"/>
          </a:xfrm>
          <a:prstGeom prst="rect">
            <a:avLst/>
          </a:prstGeom>
        </p:spPr>
      </p:pic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3E13CDAB-726D-7C69-6352-E311A54C3619}"/>
              </a:ext>
            </a:extLst>
          </p:cNvPr>
          <p:cNvSpPr/>
          <p:nvPr/>
        </p:nvSpPr>
        <p:spPr>
          <a:xfrm>
            <a:off x="980376" y="2527698"/>
            <a:ext cx="1862026" cy="94091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0DA0CCDE-B824-A6C7-F3C4-E810E217A7B1}"/>
              </a:ext>
            </a:extLst>
          </p:cNvPr>
          <p:cNvSpPr txBox="1"/>
          <p:nvPr/>
        </p:nvSpPr>
        <p:spPr>
          <a:xfrm>
            <a:off x="981780" y="2558393"/>
            <a:ext cx="1862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Zachowuje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name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między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rekompozycjami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7C662CC9-74F9-2366-58C5-F435D3F2D100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842402" y="2981550"/>
            <a:ext cx="613488" cy="166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77948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F1B7EA-97AB-8F10-49CD-0629E27BB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3170343-E6CB-8B07-34F3-D24EAA0DC85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B640CFB3-6DCE-CE7C-4701-107CBBDE2591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Aby </a:t>
            </a:r>
            <a:r>
              <a:rPr lang="pl-PL" sz="1600" b="1" dirty="0"/>
              <a:t>zachować</a:t>
            </a:r>
            <a:r>
              <a:rPr lang="pl-PL" sz="1600" dirty="0"/>
              <a:t> </a:t>
            </a:r>
            <a:r>
              <a:rPr lang="pl-PL" sz="1600" b="1" dirty="0"/>
              <a:t>stan</a:t>
            </a:r>
            <a:r>
              <a:rPr lang="pl-PL" sz="1600" dirty="0"/>
              <a:t> między </a:t>
            </a:r>
            <a:r>
              <a:rPr lang="pl-PL" sz="1600" dirty="0" err="1"/>
              <a:t>rekompozycjami</a:t>
            </a:r>
            <a:r>
              <a:rPr lang="pl-PL" sz="1600" dirty="0"/>
              <a:t>, możemy użyć funkcji </a:t>
            </a:r>
            <a:r>
              <a:rPr lang="pl-PL" sz="1600" b="1" dirty="0" err="1"/>
              <a:t>remember</a:t>
            </a:r>
            <a:r>
              <a:rPr lang="pl-PL" sz="1600" dirty="0"/>
              <a:t>. Funkcja przechowuje obiekt w pamięci podczas pierwszej kompozycji i zwraca go podczas kolejnych </a:t>
            </a:r>
            <a:r>
              <a:rPr lang="pl-PL" sz="1600" dirty="0" err="1"/>
              <a:t>rekompozycji</a:t>
            </a:r>
            <a:r>
              <a:rPr lang="pl-PL" sz="1600" b="1" dirty="0"/>
              <a:t>.</a:t>
            </a:r>
            <a:endParaRPr lang="pl-PL" sz="16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1AA03B34-4E76-57B8-15FA-7DE10FB1D5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241" y="1856313"/>
            <a:ext cx="5947685" cy="4803626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2A60744-A547-2919-3FEE-1F32EB7C1174}"/>
              </a:ext>
            </a:extLst>
          </p:cNvPr>
          <p:cNvSpPr/>
          <p:nvPr/>
        </p:nvSpPr>
        <p:spPr>
          <a:xfrm>
            <a:off x="6708054" y="1856313"/>
            <a:ext cx="2375960" cy="33164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E55001DF-0351-F27B-3374-D121C6E08741}"/>
              </a:ext>
            </a:extLst>
          </p:cNvPr>
          <p:cNvSpPr txBox="1"/>
          <p:nvPr/>
        </p:nvSpPr>
        <p:spPr>
          <a:xfrm>
            <a:off x="6708054" y="1856313"/>
            <a:ext cx="2484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domyślna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138785EB-C3E2-4C89-4346-7CEDE407CE40}"/>
              </a:ext>
            </a:extLst>
          </p:cNvPr>
          <p:cNvCxnSpPr>
            <a:cxnSpLocks/>
          </p:cNvCxnSpPr>
          <p:nvPr/>
        </p:nvCxnSpPr>
        <p:spPr>
          <a:xfrm flipH="1">
            <a:off x="7164288" y="2187955"/>
            <a:ext cx="144016" cy="62221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6F0A4014-17AF-CE7A-ACBF-F0F0A50B465F}"/>
              </a:ext>
            </a:extLst>
          </p:cNvPr>
          <p:cNvSpPr/>
          <p:nvPr/>
        </p:nvSpPr>
        <p:spPr>
          <a:xfrm>
            <a:off x="6559056" y="3112473"/>
            <a:ext cx="2484124" cy="65124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974FFF92-B28A-F20B-1435-B437A697C5B5}"/>
              </a:ext>
            </a:extLst>
          </p:cNvPr>
          <p:cNvSpPr txBox="1"/>
          <p:nvPr/>
        </p:nvSpPr>
        <p:spPr>
          <a:xfrm>
            <a:off x="6560461" y="3143168"/>
            <a:ext cx="2484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obserwowalny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obiekt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MutableState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&lt;T&gt;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BF1B1E13-C8BF-644B-13E1-3FAD14DCB462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6223285" y="3076696"/>
            <a:ext cx="335771" cy="3614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B4A284AE-7D9A-488B-5BF8-549E38652A65}"/>
              </a:ext>
            </a:extLst>
          </p:cNvPr>
          <p:cNvSpPr/>
          <p:nvPr/>
        </p:nvSpPr>
        <p:spPr>
          <a:xfrm>
            <a:off x="980376" y="2527698"/>
            <a:ext cx="1862026" cy="94091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9D35BEA0-7056-FC82-02EE-24F2863729AD}"/>
              </a:ext>
            </a:extLst>
          </p:cNvPr>
          <p:cNvSpPr txBox="1"/>
          <p:nvPr/>
        </p:nvSpPr>
        <p:spPr>
          <a:xfrm>
            <a:off x="981780" y="2558393"/>
            <a:ext cx="1862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Zachowuje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name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między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rekompozycjami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DC58E6E6-3445-4CD3-0538-C72A6F6EC85E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842402" y="2981550"/>
            <a:ext cx="613488" cy="166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365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68E7C-C5E0-8761-9FA4-C02C411692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BD6B1F-0F0D-E041-7517-19A515C136DD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1285556B-C1BB-4B6B-4394-3E6AB925DBDE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Aby </a:t>
            </a:r>
            <a:r>
              <a:rPr lang="pl-PL" sz="1600" b="1" dirty="0"/>
              <a:t>zachować</a:t>
            </a:r>
            <a:r>
              <a:rPr lang="pl-PL" sz="1600" dirty="0"/>
              <a:t> </a:t>
            </a:r>
            <a:r>
              <a:rPr lang="pl-PL" sz="1600" b="1" dirty="0"/>
              <a:t>stan</a:t>
            </a:r>
            <a:r>
              <a:rPr lang="pl-PL" sz="1600" dirty="0"/>
              <a:t> między </a:t>
            </a:r>
            <a:r>
              <a:rPr lang="pl-PL" sz="1600" dirty="0" err="1"/>
              <a:t>rekompozycjami</a:t>
            </a:r>
            <a:r>
              <a:rPr lang="pl-PL" sz="1600" dirty="0"/>
              <a:t>, możemy użyć funkcji </a:t>
            </a:r>
            <a:r>
              <a:rPr lang="pl-PL" sz="1600" b="1" dirty="0" err="1"/>
              <a:t>remember</a:t>
            </a:r>
            <a:r>
              <a:rPr lang="pl-PL" sz="1600" dirty="0"/>
              <a:t>. Funkcja przechowuje obiekt w pamięci podczas pierwszej kompozycji i zwraca go podczas kolejnych </a:t>
            </a:r>
            <a:r>
              <a:rPr lang="pl-PL" sz="1600" dirty="0" err="1"/>
              <a:t>rekompozycji</a:t>
            </a:r>
            <a:r>
              <a:rPr lang="pl-PL" sz="1600" b="1" dirty="0"/>
              <a:t>.</a:t>
            </a:r>
            <a:endParaRPr lang="pl-PL" sz="16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52260EF7-855E-9A13-91C5-8B59C2C767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241" y="1856313"/>
            <a:ext cx="5947685" cy="4803626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126116B0-714A-751E-739F-0870DBAF9E0A}"/>
              </a:ext>
            </a:extLst>
          </p:cNvPr>
          <p:cNvSpPr/>
          <p:nvPr/>
        </p:nvSpPr>
        <p:spPr>
          <a:xfrm>
            <a:off x="6708054" y="1856313"/>
            <a:ext cx="2375960" cy="33164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A8A2732F-0DB1-0DCD-42A1-3C5CA363C212}"/>
              </a:ext>
            </a:extLst>
          </p:cNvPr>
          <p:cNvSpPr txBox="1"/>
          <p:nvPr/>
        </p:nvSpPr>
        <p:spPr>
          <a:xfrm>
            <a:off x="6708054" y="1856313"/>
            <a:ext cx="2484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domyślna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6FCBC5D5-98ED-C92C-2E9B-2EE035C9C15A}"/>
              </a:ext>
            </a:extLst>
          </p:cNvPr>
          <p:cNvCxnSpPr>
            <a:cxnSpLocks/>
          </p:cNvCxnSpPr>
          <p:nvPr/>
        </p:nvCxnSpPr>
        <p:spPr>
          <a:xfrm flipH="1">
            <a:off x="7164288" y="2187955"/>
            <a:ext cx="144016" cy="62221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F4CC060B-461F-C11F-80EB-5A8FDCEC9A4C}"/>
              </a:ext>
            </a:extLst>
          </p:cNvPr>
          <p:cNvSpPr/>
          <p:nvPr/>
        </p:nvSpPr>
        <p:spPr>
          <a:xfrm>
            <a:off x="6559056" y="3112473"/>
            <a:ext cx="2484124" cy="65124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23D1F257-0FDD-F312-49E7-C39AB1A9A655}"/>
              </a:ext>
            </a:extLst>
          </p:cNvPr>
          <p:cNvSpPr txBox="1"/>
          <p:nvPr/>
        </p:nvSpPr>
        <p:spPr>
          <a:xfrm>
            <a:off x="6560461" y="3143168"/>
            <a:ext cx="2484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obserwowalny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obiekt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MutableState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&lt;T&gt;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BEF19CAB-AAF5-56FA-C745-16EC4844BA4F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6223285" y="3076696"/>
            <a:ext cx="335771" cy="3614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5EC5D34E-8D83-D2F9-1A48-BE7C15397B43}"/>
              </a:ext>
            </a:extLst>
          </p:cNvPr>
          <p:cNvSpPr/>
          <p:nvPr/>
        </p:nvSpPr>
        <p:spPr>
          <a:xfrm>
            <a:off x="980376" y="2527698"/>
            <a:ext cx="1862026" cy="94091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BA258382-6F88-A10E-10C0-DA52CE600370}"/>
              </a:ext>
            </a:extLst>
          </p:cNvPr>
          <p:cNvSpPr txBox="1"/>
          <p:nvPr/>
        </p:nvSpPr>
        <p:spPr>
          <a:xfrm>
            <a:off x="981780" y="2558393"/>
            <a:ext cx="1862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Zachowuje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name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między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rekompozycjami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EA180B65-62D2-81DE-D069-7C5D4816D0BD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842402" y="2981550"/>
            <a:ext cx="613488" cy="166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rostokąt: zaokrąglone rogi 43">
            <a:extLst>
              <a:ext uri="{FF2B5EF4-FFF2-40B4-BE49-F238E27FC236}">
                <a16:creationId xmlns:a16="http://schemas.microsoft.com/office/drawing/2014/main" id="{4B4315B5-F9BD-4587-0D9C-69FB92AF9027}"/>
              </a:ext>
            </a:extLst>
          </p:cNvPr>
          <p:cNvSpPr/>
          <p:nvPr/>
        </p:nvSpPr>
        <p:spPr>
          <a:xfrm>
            <a:off x="2174922" y="3585865"/>
            <a:ext cx="1947043" cy="56502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5" name="pole tekstowe 44">
            <a:extLst>
              <a:ext uri="{FF2B5EF4-FFF2-40B4-BE49-F238E27FC236}">
                <a16:creationId xmlns:a16="http://schemas.microsoft.com/office/drawing/2014/main" id="{40D090B5-E195-9FAC-D56B-90152237C2DB}"/>
              </a:ext>
            </a:extLst>
          </p:cNvPr>
          <p:cNvSpPr txBox="1"/>
          <p:nvPr/>
        </p:nvSpPr>
        <p:spPr>
          <a:xfrm>
            <a:off x="2136544" y="3550854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Warunek utworzenia komponentu</a:t>
            </a:r>
          </a:p>
        </p:txBody>
      </p:sp>
      <p:cxnSp>
        <p:nvCxnSpPr>
          <p:cNvPr id="46" name="Łącznik prosty ze strzałką 45">
            <a:extLst>
              <a:ext uri="{FF2B5EF4-FFF2-40B4-BE49-F238E27FC236}">
                <a16:creationId xmlns:a16="http://schemas.microsoft.com/office/drawing/2014/main" id="{772B502E-C062-DD26-37A1-1518F4DF2A20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3180660" y="3267541"/>
            <a:ext cx="476930" cy="28331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25747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05FCDE7-C7DB-C14C-F773-FCFF2A58A3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527D108-0343-9FA4-FBE5-BD8CDE45BF0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Stan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92D2D7DF-433E-DED8-B74A-C37AFE2C1939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Aby </a:t>
            </a:r>
            <a:r>
              <a:rPr lang="pl-PL" sz="1600" b="1" dirty="0"/>
              <a:t>zachować</a:t>
            </a:r>
            <a:r>
              <a:rPr lang="pl-PL" sz="1600" dirty="0"/>
              <a:t> </a:t>
            </a:r>
            <a:r>
              <a:rPr lang="pl-PL" sz="1600" b="1" dirty="0"/>
              <a:t>stan</a:t>
            </a:r>
            <a:r>
              <a:rPr lang="pl-PL" sz="1600" dirty="0"/>
              <a:t> między </a:t>
            </a:r>
            <a:r>
              <a:rPr lang="pl-PL" sz="1600" dirty="0" err="1"/>
              <a:t>rekompozycjami</a:t>
            </a:r>
            <a:r>
              <a:rPr lang="pl-PL" sz="1600" dirty="0"/>
              <a:t>, możemy użyć funkcji </a:t>
            </a:r>
            <a:r>
              <a:rPr lang="pl-PL" sz="1600" b="1" dirty="0" err="1"/>
              <a:t>remember</a:t>
            </a:r>
            <a:r>
              <a:rPr lang="pl-PL" sz="1600" dirty="0"/>
              <a:t>. Funkcja przechowuje obiekt w pamięci podczas pierwszej kompozycji i zwraca go podczas kolejnych </a:t>
            </a:r>
            <a:r>
              <a:rPr lang="pl-PL" sz="1600" dirty="0" err="1"/>
              <a:t>rekompozycji</a:t>
            </a:r>
            <a:r>
              <a:rPr lang="pl-PL" sz="1600" b="1" dirty="0"/>
              <a:t>.</a:t>
            </a:r>
            <a:endParaRPr lang="pl-PL" sz="16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E22182BA-F806-30CB-8C1F-AB10FAFEB6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241" y="1856313"/>
            <a:ext cx="5947685" cy="4803626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A6A0050D-6316-02B8-6BA6-E823E3757B6E}"/>
              </a:ext>
            </a:extLst>
          </p:cNvPr>
          <p:cNvSpPr/>
          <p:nvPr/>
        </p:nvSpPr>
        <p:spPr>
          <a:xfrm>
            <a:off x="6708054" y="1856313"/>
            <a:ext cx="2375960" cy="33164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A2CB61D-941A-E7D4-C535-A3440861101B}"/>
              </a:ext>
            </a:extLst>
          </p:cNvPr>
          <p:cNvSpPr txBox="1"/>
          <p:nvPr/>
        </p:nvSpPr>
        <p:spPr>
          <a:xfrm>
            <a:off x="6708054" y="1856313"/>
            <a:ext cx="2484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domyślna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F5BD63A8-095A-CF83-12D1-27BC2EA3F157}"/>
              </a:ext>
            </a:extLst>
          </p:cNvPr>
          <p:cNvCxnSpPr>
            <a:cxnSpLocks/>
          </p:cNvCxnSpPr>
          <p:nvPr/>
        </p:nvCxnSpPr>
        <p:spPr>
          <a:xfrm flipH="1">
            <a:off x="7164288" y="2187955"/>
            <a:ext cx="144016" cy="62221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B6E87987-2977-0E78-DD00-F0E07FC40E14}"/>
              </a:ext>
            </a:extLst>
          </p:cNvPr>
          <p:cNvSpPr/>
          <p:nvPr/>
        </p:nvSpPr>
        <p:spPr>
          <a:xfrm>
            <a:off x="6559056" y="3112473"/>
            <a:ext cx="2484124" cy="65124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3516F885-7BE8-EAF2-4596-E3FA2697776E}"/>
              </a:ext>
            </a:extLst>
          </p:cNvPr>
          <p:cNvSpPr txBox="1"/>
          <p:nvPr/>
        </p:nvSpPr>
        <p:spPr>
          <a:xfrm>
            <a:off x="6560461" y="3143168"/>
            <a:ext cx="2484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obserwowalny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obiekt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MutableState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&lt;T&gt;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15BB7E3C-E76E-91E1-4958-4987233D46B2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6223285" y="3076696"/>
            <a:ext cx="335771" cy="3614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7559B80D-202B-F8A5-A21E-75D73EF52290}"/>
              </a:ext>
            </a:extLst>
          </p:cNvPr>
          <p:cNvSpPr/>
          <p:nvPr/>
        </p:nvSpPr>
        <p:spPr>
          <a:xfrm>
            <a:off x="738844" y="3895023"/>
            <a:ext cx="1350999" cy="2868220"/>
          </a:xfrm>
          <a:prstGeom prst="roundRect">
            <a:avLst>
              <a:gd name="adj" fmla="val 3506"/>
            </a:avLst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76C94EC-0960-9987-E6DA-041E0555FB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08" y="3933056"/>
            <a:ext cx="1256470" cy="279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A6DE6695-D69E-4604-EF53-C2C82BF8EDED}"/>
              </a:ext>
            </a:extLst>
          </p:cNvPr>
          <p:cNvSpPr/>
          <p:nvPr/>
        </p:nvSpPr>
        <p:spPr>
          <a:xfrm>
            <a:off x="980376" y="2527698"/>
            <a:ext cx="1862026" cy="94091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3FFADCC1-F0A1-830C-C45A-713280D33339}"/>
              </a:ext>
            </a:extLst>
          </p:cNvPr>
          <p:cNvSpPr txBox="1"/>
          <p:nvPr/>
        </p:nvSpPr>
        <p:spPr>
          <a:xfrm>
            <a:off x="981780" y="2558393"/>
            <a:ext cx="1862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Zachowuje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name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między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rekompozycjami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C1761E6F-2F5A-AEB3-5BC8-D818B2E1EBDD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842402" y="2981550"/>
            <a:ext cx="613488" cy="166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rostokąt: zaokrąglone rogi 43">
            <a:extLst>
              <a:ext uri="{FF2B5EF4-FFF2-40B4-BE49-F238E27FC236}">
                <a16:creationId xmlns:a16="http://schemas.microsoft.com/office/drawing/2014/main" id="{20801289-5428-4311-E664-2F95A6A2CF37}"/>
              </a:ext>
            </a:extLst>
          </p:cNvPr>
          <p:cNvSpPr/>
          <p:nvPr/>
        </p:nvSpPr>
        <p:spPr>
          <a:xfrm>
            <a:off x="2174922" y="3585865"/>
            <a:ext cx="1947043" cy="56502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5" name="pole tekstowe 44">
            <a:extLst>
              <a:ext uri="{FF2B5EF4-FFF2-40B4-BE49-F238E27FC236}">
                <a16:creationId xmlns:a16="http://schemas.microsoft.com/office/drawing/2014/main" id="{E4780870-FB72-3FE3-6DAC-5DBCDF56E333}"/>
              </a:ext>
            </a:extLst>
          </p:cNvPr>
          <p:cNvSpPr txBox="1"/>
          <p:nvPr/>
        </p:nvSpPr>
        <p:spPr>
          <a:xfrm>
            <a:off x="2136544" y="3550854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Warunek utworzenia komponentu</a:t>
            </a:r>
          </a:p>
        </p:txBody>
      </p:sp>
      <p:cxnSp>
        <p:nvCxnSpPr>
          <p:cNvPr id="46" name="Łącznik prosty ze strzałką 45">
            <a:extLst>
              <a:ext uri="{FF2B5EF4-FFF2-40B4-BE49-F238E27FC236}">
                <a16:creationId xmlns:a16="http://schemas.microsoft.com/office/drawing/2014/main" id="{D725AF74-DCE9-F58F-B3E1-7644DD66399F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3180660" y="3267541"/>
            <a:ext cx="476930" cy="28331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5909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052593-20AD-F948-014B-BDAD223CE8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0EE5A9-99DE-440E-8C7B-593A94D25CDB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Zachowanie Stanu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0913622-4BF2-D7CA-CFE8-886597A15859}"/>
              </a:ext>
            </a:extLst>
          </p:cNvPr>
          <p:cNvSpPr txBox="1"/>
          <p:nvPr/>
        </p:nvSpPr>
        <p:spPr>
          <a:xfrm>
            <a:off x="1033752" y="796886"/>
            <a:ext cx="81102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Aby </a:t>
            </a:r>
            <a:r>
              <a:rPr lang="pl-PL" sz="1600" b="1" dirty="0"/>
              <a:t>zachować</a:t>
            </a:r>
            <a:r>
              <a:rPr lang="pl-PL" sz="1600" dirty="0"/>
              <a:t> </a:t>
            </a:r>
            <a:r>
              <a:rPr lang="pl-PL" sz="1600" b="1" dirty="0"/>
              <a:t>stan</a:t>
            </a:r>
            <a:r>
              <a:rPr lang="pl-PL" sz="1600" dirty="0"/>
              <a:t> między </a:t>
            </a:r>
            <a:r>
              <a:rPr lang="pl-PL" sz="1600" dirty="0" err="1"/>
              <a:t>rekompozycjami</a:t>
            </a:r>
            <a:r>
              <a:rPr lang="pl-PL" sz="1600" dirty="0"/>
              <a:t>, możemy użyć funkcji </a:t>
            </a:r>
            <a:r>
              <a:rPr lang="pl-PL" sz="1600" b="1" dirty="0" err="1"/>
              <a:t>remember</a:t>
            </a:r>
            <a:r>
              <a:rPr lang="pl-PL" sz="1600" dirty="0"/>
              <a:t>. Funkcja przechowuje obiekt w pamięci podczas pierwszej kompozycji i zwraca go podczas kolejnych </a:t>
            </a:r>
            <a:r>
              <a:rPr lang="pl-PL" sz="1600" dirty="0" err="1"/>
              <a:t>rekompozycji</a:t>
            </a:r>
            <a:r>
              <a:rPr lang="pl-PL" sz="1600" b="1" dirty="0"/>
              <a:t>.</a:t>
            </a:r>
            <a:endParaRPr lang="pl-PL" sz="1600" dirty="0"/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BF2246BC-3AFA-8EDF-E18E-62C23C53F2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241" y="1856313"/>
            <a:ext cx="5947685" cy="4803626"/>
          </a:xfrm>
          <a:prstGeom prst="rect">
            <a:avLst/>
          </a:prstGeom>
        </p:spPr>
      </p:pic>
      <p:sp>
        <p:nvSpPr>
          <p:cNvPr id="6" name="Prostokąt: zaokrąglone rogi 5">
            <a:extLst>
              <a:ext uri="{FF2B5EF4-FFF2-40B4-BE49-F238E27FC236}">
                <a16:creationId xmlns:a16="http://schemas.microsoft.com/office/drawing/2014/main" id="{25D42CF5-D68D-2325-7E1A-1202027E71AD}"/>
              </a:ext>
            </a:extLst>
          </p:cNvPr>
          <p:cNvSpPr/>
          <p:nvPr/>
        </p:nvSpPr>
        <p:spPr>
          <a:xfrm>
            <a:off x="6708054" y="1856313"/>
            <a:ext cx="2375960" cy="331642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7" name="pole tekstowe 6">
            <a:extLst>
              <a:ext uri="{FF2B5EF4-FFF2-40B4-BE49-F238E27FC236}">
                <a16:creationId xmlns:a16="http://schemas.microsoft.com/office/drawing/2014/main" id="{07F0345C-4B44-3DE8-76CA-311EB57D39B3}"/>
              </a:ext>
            </a:extLst>
          </p:cNvPr>
          <p:cNvSpPr txBox="1"/>
          <p:nvPr/>
        </p:nvSpPr>
        <p:spPr>
          <a:xfrm>
            <a:off x="6708054" y="1856313"/>
            <a:ext cx="248412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domyślna</a:t>
            </a:r>
          </a:p>
        </p:txBody>
      </p:sp>
      <p:cxnSp>
        <p:nvCxnSpPr>
          <p:cNvPr id="8" name="Łącznik prosty ze strzałką 7">
            <a:extLst>
              <a:ext uri="{FF2B5EF4-FFF2-40B4-BE49-F238E27FC236}">
                <a16:creationId xmlns:a16="http://schemas.microsoft.com/office/drawing/2014/main" id="{2E3E448B-5E5D-512D-6BCB-0702F761E968}"/>
              </a:ext>
            </a:extLst>
          </p:cNvPr>
          <p:cNvCxnSpPr>
            <a:cxnSpLocks/>
          </p:cNvCxnSpPr>
          <p:nvPr/>
        </p:nvCxnSpPr>
        <p:spPr>
          <a:xfrm flipH="1">
            <a:off x="7164288" y="2187955"/>
            <a:ext cx="144016" cy="62221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Prostokąt: zaokrąglone rogi 8">
            <a:extLst>
              <a:ext uri="{FF2B5EF4-FFF2-40B4-BE49-F238E27FC236}">
                <a16:creationId xmlns:a16="http://schemas.microsoft.com/office/drawing/2014/main" id="{C5852865-493D-DE5D-4317-043EFFBBE654}"/>
              </a:ext>
            </a:extLst>
          </p:cNvPr>
          <p:cNvSpPr/>
          <p:nvPr/>
        </p:nvSpPr>
        <p:spPr>
          <a:xfrm>
            <a:off x="6559056" y="3112473"/>
            <a:ext cx="2484124" cy="651247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0" name="pole tekstowe 9">
            <a:extLst>
              <a:ext uri="{FF2B5EF4-FFF2-40B4-BE49-F238E27FC236}">
                <a16:creationId xmlns:a16="http://schemas.microsoft.com/office/drawing/2014/main" id="{1C4147B1-1A29-8F53-4FE9-8ADCBA0C416B}"/>
              </a:ext>
            </a:extLst>
          </p:cNvPr>
          <p:cNvSpPr txBox="1"/>
          <p:nvPr/>
        </p:nvSpPr>
        <p:spPr>
          <a:xfrm>
            <a:off x="6560461" y="3143168"/>
            <a:ext cx="248412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Tworzy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obserwowalny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obiekt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MutableState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&lt;T&gt;</a:t>
            </a:r>
            <a:endParaRPr lang="pl-PL" sz="1600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11" name="Łącznik prosty ze strzałką 10">
            <a:extLst>
              <a:ext uri="{FF2B5EF4-FFF2-40B4-BE49-F238E27FC236}">
                <a16:creationId xmlns:a16="http://schemas.microsoft.com/office/drawing/2014/main" id="{78B6EF07-27E8-93DC-413B-3F37010F2DDB}"/>
              </a:ext>
            </a:extLst>
          </p:cNvPr>
          <p:cNvCxnSpPr>
            <a:cxnSpLocks/>
            <a:stCxn id="9" idx="1"/>
          </p:cNvCxnSpPr>
          <p:nvPr/>
        </p:nvCxnSpPr>
        <p:spPr>
          <a:xfrm flipH="1" flipV="1">
            <a:off x="6223285" y="3076696"/>
            <a:ext cx="335771" cy="361401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Prostokąt: zaokrąglone rogi 11">
            <a:extLst>
              <a:ext uri="{FF2B5EF4-FFF2-40B4-BE49-F238E27FC236}">
                <a16:creationId xmlns:a16="http://schemas.microsoft.com/office/drawing/2014/main" id="{CE15CED9-5931-7334-0112-C1453FE1D823}"/>
              </a:ext>
            </a:extLst>
          </p:cNvPr>
          <p:cNvSpPr/>
          <p:nvPr/>
        </p:nvSpPr>
        <p:spPr>
          <a:xfrm>
            <a:off x="738844" y="3895023"/>
            <a:ext cx="1350999" cy="2868220"/>
          </a:xfrm>
          <a:prstGeom prst="roundRect">
            <a:avLst>
              <a:gd name="adj" fmla="val 3506"/>
            </a:avLst>
          </a:prstGeom>
          <a:noFill/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A64B4E-F3B4-C0A1-77EA-FE9866191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108" y="3933056"/>
            <a:ext cx="1256470" cy="2792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Prostokąt: zaokrąglone rogi 17">
            <a:extLst>
              <a:ext uri="{FF2B5EF4-FFF2-40B4-BE49-F238E27FC236}">
                <a16:creationId xmlns:a16="http://schemas.microsoft.com/office/drawing/2014/main" id="{367F9FB1-AD2F-FA5C-59AF-B2922BD93571}"/>
              </a:ext>
            </a:extLst>
          </p:cNvPr>
          <p:cNvSpPr/>
          <p:nvPr/>
        </p:nvSpPr>
        <p:spPr>
          <a:xfrm>
            <a:off x="980376" y="2527698"/>
            <a:ext cx="1862026" cy="94091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9" name="pole tekstowe 18">
            <a:extLst>
              <a:ext uri="{FF2B5EF4-FFF2-40B4-BE49-F238E27FC236}">
                <a16:creationId xmlns:a16="http://schemas.microsoft.com/office/drawing/2014/main" id="{CCE1B714-C5EE-4D14-71E7-784F42E25FD6}"/>
              </a:ext>
            </a:extLst>
          </p:cNvPr>
          <p:cNvSpPr txBox="1"/>
          <p:nvPr/>
        </p:nvSpPr>
        <p:spPr>
          <a:xfrm>
            <a:off x="981780" y="2558393"/>
            <a:ext cx="18620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Zachowuje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stan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dirty="0" err="1">
                <a:solidFill>
                  <a:schemeClr val="accent4">
                    <a:lumMod val="50000"/>
                  </a:schemeClr>
                </a:solidFill>
              </a:rPr>
              <a:t>name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między</a:t>
            </a:r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 </a:t>
            </a:r>
            <a:r>
              <a:rPr lang="pl-PL" sz="1600" b="1" dirty="0" err="1">
                <a:solidFill>
                  <a:schemeClr val="accent4">
                    <a:lumMod val="50000"/>
                  </a:schemeClr>
                </a:solidFill>
              </a:rPr>
              <a:t>rekompozycjami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20" name="Łącznik prosty ze strzałką 19">
            <a:extLst>
              <a:ext uri="{FF2B5EF4-FFF2-40B4-BE49-F238E27FC236}">
                <a16:creationId xmlns:a16="http://schemas.microsoft.com/office/drawing/2014/main" id="{DDBC7718-BB6C-B5CB-0C6B-4D1B871F861F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2842402" y="2981550"/>
            <a:ext cx="613488" cy="166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Prostokąt: zaokrąglone rogi 26">
            <a:extLst>
              <a:ext uri="{FF2B5EF4-FFF2-40B4-BE49-F238E27FC236}">
                <a16:creationId xmlns:a16="http://schemas.microsoft.com/office/drawing/2014/main" id="{A9F98B46-5A09-7023-6046-848404BB7F6B}"/>
              </a:ext>
            </a:extLst>
          </p:cNvPr>
          <p:cNvSpPr/>
          <p:nvPr/>
        </p:nvSpPr>
        <p:spPr>
          <a:xfrm>
            <a:off x="6559057" y="4712021"/>
            <a:ext cx="2270508" cy="58477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28" name="pole tekstowe 27">
            <a:extLst>
              <a:ext uri="{FF2B5EF4-FFF2-40B4-BE49-F238E27FC236}">
                <a16:creationId xmlns:a16="http://schemas.microsoft.com/office/drawing/2014/main" id="{CC00BF44-A421-9374-FE11-82E77422BE7F}"/>
              </a:ext>
            </a:extLst>
          </p:cNvPr>
          <p:cNvSpPr txBox="1"/>
          <p:nvPr/>
        </p:nvSpPr>
        <p:spPr>
          <a:xfrm>
            <a:off x="6568149" y="4712021"/>
            <a:ext cx="2261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Funkcja wywoływana przy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zmianie wartości</a:t>
            </a:r>
          </a:p>
        </p:txBody>
      </p:sp>
      <p:cxnSp>
        <p:nvCxnSpPr>
          <p:cNvPr id="29" name="Łącznik prosty ze strzałką 28">
            <a:extLst>
              <a:ext uri="{FF2B5EF4-FFF2-40B4-BE49-F238E27FC236}">
                <a16:creationId xmlns:a16="http://schemas.microsoft.com/office/drawing/2014/main" id="{0F1F800C-2F69-0AF7-DC6E-36ED0F57BA35}"/>
              </a:ext>
            </a:extLst>
          </p:cNvPr>
          <p:cNvCxnSpPr>
            <a:cxnSpLocks/>
            <a:stCxn id="28" idx="1"/>
          </p:cNvCxnSpPr>
          <p:nvPr/>
        </p:nvCxnSpPr>
        <p:spPr>
          <a:xfrm flipH="1">
            <a:off x="5076056" y="5004409"/>
            <a:ext cx="1492093" cy="446452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Prostokąt: zaokrąglone rogi 31">
            <a:extLst>
              <a:ext uri="{FF2B5EF4-FFF2-40B4-BE49-F238E27FC236}">
                <a16:creationId xmlns:a16="http://schemas.microsoft.com/office/drawing/2014/main" id="{ECC42EBC-3CDF-58EE-B3CB-4B63F7447132}"/>
              </a:ext>
            </a:extLst>
          </p:cNvPr>
          <p:cNvSpPr/>
          <p:nvPr/>
        </p:nvSpPr>
        <p:spPr>
          <a:xfrm>
            <a:off x="6590137" y="5893193"/>
            <a:ext cx="2270508" cy="584775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3" name="pole tekstowe 32">
            <a:extLst>
              <a:ext uri="{FF2B5EF4-FFF2-40B4-BE49-F238E27FC236}">
                <a16:creationId xmlns:a16="http://schemas.microsoft.com/office/drawing/2014/main" id="{C94C5DB7-072C-37C1-4B0C-A41F755AF4F0}"/>
              </a:ext>
            </a:extLst>
          </p:cNvPr>
          <p:cNvSpPr txBox="1"/>
          <p:nvPr/>
        </p:nvSpPr>
        <p:spPr>
          <a:xfrm>
            <a:off x="6599229" y="5893193"/>
            <a:ext cx="226141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 wpisana przez użytkownika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34" name="Łącznik prosty ze strzałką 33">
            <a:extLst>
              <a:ext uri="{FF2B5EF4-FFF2-40B4-BE49-F238E27FC236}">
                <a16:creationId xmlns:a16="http://schemas.microsoft.com/office/drawing/2014/main" id="{C0E564EF-4972-6C1F-4246-31A659D982F4}"/>
              </a:ext>
            </a:extLst>
          </p:cNvPr>
          <p:cNvCxnSpPr>
            <a:cxnSpLocks/>
            <a:stCxn id="33" idx="1"/>
          </p:cNvCxnSpPr>
          <p:nvPr/>
        </p:nvCxnSpPr>
        <p:spPr>
          <a:xfrm flipH="1" flipV="1">
            <a:off x="6300192" y="5589184"/>
            <a:ext cx="299037" cy="596397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Prostokąt: zaokrąglone rogi 36">
            <a:extLst>
              <a:ext uri="{FF2B5EF4-FFF2-40B4-BE49-F238E27FC236}">
                <a16:creationId xmlns:a16="http://schemas.microsoft.com/office/drawing/2014/main" id="{21F6B203-D246-1CE0-857B-A6FFAF0841C4}"/>
              </a:ext>
            </a:extLst>
          </p:cNvPr>
          <p:cNvSpPr/>
          <p:nvPr/>
        </p:nvSpPr>
        <p:spPr>
          <a:xfrm>
            <a:off x="5101241" y="4415957"/>
            <a:ext cx="1369640" cy="346194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38" name="pole tekstowe 37">
            <a:extLst>
              <a:ext uri="{FF2B5EF4-FFF2-40B4-BE49-F238E27FC236}">
                <a16:creationId xmlns:a16="http://schemas.microsoft.com/office/drawing/2014/main" id="{DD0FD87A-FAF5-FCA6-1E1C-D395B77A672A}"/>
              </a:ext>
            </a:extLst>
          </p:cNvPr>
          <p:cNvSpPr txBox="1"/>
          <p:nvPr/>
        </p:nvSpPr>
        <p:spPr>
          <a:xfrm>
            <a:off x="5076056" y="4409576"/>
            <a:ext cx="14416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Wartość pola</a:t>
            </a:r>
            <a:endParaRPr lang="pl-PL" sz="16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cxnSp>
        <p:nvCxnSpPr>
          <p:cNvPr id="39" name="Łącznik prosty ze strzałką 38">
            <a:extLst>
              <a:ext uri="{FF2B5EF4-FFF2-40B4-BE49-F238E27FC236}">
                <a16:creationId xmlns:a16="http://schemas.microsoft.com/office/drawing/2014/main" id="{B71C802A-ECF8-C6F0-906E-F985C4C8EABA}"/>
              </a:ext>
            </a:extLst>
          </p:cNvPr>
          <p:cNvCxnSpPr>
            <a:cxnSpLocks/>
            <a:stCxn id="37" idx="2"/>
          </p:cNvCxnSpPr>
          <p:nvPr/>
        </p:nvCxnSpPr>
        <p:spPr>
          <a:xfrm flipH="1">
            <a:off x="5028791" y="4762151"/>
            <a:ext cx="757270" cy="465484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Prostokąt: zaokrąglone rogi 43">
            <a:extLst>
              <a:ext uri="{FF2B5EF4-FFF2-40B4-BE49-F238E27FC236}">
                <a16:creationId xmlns:a16="http://schemas.microsoft.com/office/drawing/2014/main" id="{5C0E7612-05BE-0947-0463-4F5CDA3D3101}"/>
              </a:ext>
            </a:extLst>
          </p:cNvPr>
          <p:cNvSpPr/>
          <p:nvPr/>
        </p:nvSpPr>
        <p:spPr>
          <a:xfrm>
            <a:off x="2174922" y="3585865"/>
            <a:ext cx="1947043" cy="565026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45" name="pole tekstowe 44">
            <a:extLst>
              <a:ext uri="{FF2B5EF4-FFF2-40B4-BE49-F238E27FC236}">
                <a16:creationId xmlns:a16="http://schemas.microsoft.com/office/drawing/2014/main" id="{10F2A8A1-83C3-72B8-92CB-3F2D4F834667}"/>
              </a:ext>
            </a:extLst>
          </p:cNvPr>
          <p:cNvSpPr txBox="1"/>
          <p:nvPr/>
        </p:nvSpPr>
        <p:spPr>
          <a:xfrm>
            <a:off x="2136544" y="3550854"/>
            <a:ext cx="20882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Warunek utworzenia komponentu</a:t>
            </a:r>
          </a:p>
        </p:txBody>
      </p:sp>
      <p:cxnSp>
        <p:nvCxnSpPr>
          <p:cNvPr id="46" name="Łącznik prosty ze strzałką 45">
            <a:extLst>
              <a:ext uri="{FF2B5EF4-FFF2-40B4-BE49-F238E27FC236}">
                <a16:creationId xmlns:a16="http://schemas.microsoft.com/office/drawing/2014/main" id="{9B50DC49-264F-533A-1BBC-0AA6CAFF7CAD}"/>
              </a:ext>
            </a:extLst>
          </p:cNvPr>
          <p:cNvCxnSpPr>
            <a:cxnSpLocks/>
            <a:stCxn id="45" idx="0"/>
          </p:cNvCxnSpPr>
          <p:nvPr/>
        </p:nvCxnSpPr>
        <p:spPr>
          <a:xfrm flipV="1">
            <a:off x="3180660" y="3267541"/>
            <a:ext cx="476930" cy="283313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08616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DEF117-6F57-A975-50B1-56791FB19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448D60-417A-9851-2ADA-00801AD889DF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Zarządzanie Stanu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468F48C6-4402-8727-2D4A-3B83E3A06FD4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Komponent </a:t>
            </a:r>
            <a:r>
              <a:rPr lang="pl-PL" sz="1600" b="1" dirty="0" err="1"/>
              <a:t>stateful</a:t>
            </a:r>
            <a:r>
              <a:rPr lang="pl-PL" sz="1600" dirty="0"/>
              <a:t> to taki, który przechowuje i zarządza swoim stanem wewnętrznie, zazwyczaj za pomocą funkcji </a:t>
            </a:r>
            <a:r>
              <a:rPr lang="pl-PL" sz="1600" b="1" dirty="0" err="1"/>
              <a:t>remember</a:t>
            </a:r>
            <a:r>
              <a:rPr lang="pl-PL" sz="1600" dirty="0"/>
              <a:t> lub </a:t>
            </a:r>
            <a:r>
              <a:rPr lang="pl-PL" sz="1600" b="1" dirty="0" err="1"/>
              <a:t>rememberSaveable</a:t>
            </a:r>
            <a:r>
              <a:rPr lang="pl-PL" sz="1600" dirty="0"/>
              <a:t>.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CDC51DC0-9C49-8820-9417-5895098A1B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413" y="1381661"/>
            <a:ext cx="5323243" cy="3099610"/>
          </a:xfrm>
          <a:prstGeom prst="rect">
            <a:avLst/>
          </a:prstGeom>
        </p:spPr>
      </p:pic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07DE623A-B020-F7E9-2868-2ECDC4321372}"/>
              </a:ext>
            </a:extLst>
          </p:cNvPr>
          <p:cNvSpPr/>
          <p:nvPr/>
        </p:nvSpPr>
        <p:spPr>
          <a:xfrm>
            <a:off x="1030139" y="1711006"/>
            <a:ext cx="1862026" cy="94091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1E8E0A67-66BD-39B8-68C7-030750BD0E29}"/>
              </a:ext>
            </a:extLst>
          </p:cNvPr>
          <p:cNvSpPr txBox="1"/>
          <p:nvPr/>
        </p:nvSpPr>
        <p:spPr>
          <a:xfrm>
            <a:off x="1031543" y="1741701"/>
            <a:ext cx="1862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Zachowuje stan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wewnętrznie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31F06085-FD44-52DA-4554-D078BD12D732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2892165" y="2164858"/>
            <a:ext cx="613488" cy="166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82869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8B2276-790A-2A3B-47E4-355D8BFD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EE3A2F-FC25-1DE0-05D4-E9A1E3CBFE4E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Zarządzanie Stanu</a:t>
            </a: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7B9A910F-C323-6803-89A4-A38D903245E5}"/>
              </a:ext>
            </a:extLst>
          </p:cNvPr>
          <p:cNvSpPr txBox="1"/>
          <p:nvPr/>
        </p:nvSpPr>
        <p:spPr>
          <a:xfrm>
            <a:off x="1033752" y="796886"/>
            <a:ext cx="811024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Komponent </a:t>
            </a:r>
            <a:r>
              <a:rPr lang="pl-PL" sz="1600" b="1" dirty="0" err="1"/>
              <a:t>stateful</a:t>
            </a:r>
            <a:r>
              <a:rPr lang="pl-PL" sz="1600" dirty="0"/>
              <a:t> to taki, który przechowuje i zarządza swoim stanem wewnętrznie, zazwyczaj za pomocą funkcji </a:t>
            </a:r>
            <a:r>
              <a:rPr lang="pl-PL" sz="1600" b="1" dirty="0" err="1"/>
              <a:t>remember</a:t>
            </a:r>
            <a:r>
              <a:rPr lang="pl-PL" sz="1600" dirty="0"/>
              <a:t> lub </a:t>
            </a:r>
            <a:r>
              <a:rPr lang="pl-PL" sz="1600" b="1" dirty="0" err="1"/>
              <a:t>rememberSaveable</a:t>
            </a:r>
            <a:r>
              <a:rPr lang="pl-PL" sz="1600" dirty="0"/>
              <a:t>.</a:t>
            </a:r>
          </a:p>
        </p:txBody>
      </p:sp>
      <p:pic>
        <p:nvPicPr>
          <p:cNvPr id="13" name="Obraz 12">
            <a:extLst>
              <a:ext uri="{FF2B5EF4-FFF2-40B4-BE49-F238E27FC236}">
                <a16:creationId xmlns:a16="http://schemas.microsoft.com/office/drawing/2014/main" id="{93D992DF-10F8-8C53-DA35-C9751EF517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98413" y="1381661"/>
            <a:ext cx="5323243" cy="3099610"/>
          </a:xfrm>
          <a:prstGeom prst="rect">
            <a:avLst/>
          </a:prstGeom>
        </p:spPr>
      </p:pic>
      <p:sp>
        <p:nvSpPr>
          <p:cNvPr id="14" name="Prostokąt: zaokrąglone rogi 13">
            <a:extLst>
              <a:ext uri="{FF2B5EF4-FFF2-40B4-BE49-F238E27FC236}">
                <a16:creationId xmlns:a16="http://schemas.microsoft.com/office/drawing/2014/main" id="{54D73F91-B192-7F26-4E36-64293B5F5AC1}"/>
              </a:ext>
            </a:extLst>
          </p:cNvPr>
          <p:cNvSpPr/>
          <p:nvPr/>
        </p:nvSpPr>
        <p:spPr>
          <a:xfrm>
            <a:off x="1030139" y="1711006"/>
            <a:ext cx="1862026" cy="940913"/>
          </a:xfrm>
          <a:prstGeom prst="roundRect">
            <a:avLst/>
          </a:prstGeom>
          <a:solidFill>
            <a:schemeClr val="bg1"/>
          </a:solidFill>
          <a:ln w="635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  <p:sp>
        <p:nvSpPr>
          <p:cNvPr id="15" name="pole tekstowe 14">
            <a:extLst>
              <a:ext uri="{FF2B5EF4-FFF2-40B4-BE49-F238E27FC236}">
                <a16:creationId xmlns:a16="http://schemas.microsoft.com/office/drawing/2014/main" id="{95517F15-88BF-8388-6761-D83A4D39F195}"/>
              </a:ext>
            </a:extLst>
          </p:cNvPr>
          <p:cNvSpPr txBox="1"/>
          <p:nvPr/>
        </p:nvSpPr>
        <p:spPr>
          <a:xfrm>
            <a:off x="1031543" y="1741701"/>
            <a:ext cx="18620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1600" dirty="0">
                <a:solidFill>
                  <a:schemeClr val="accent4">
                    <a:lumMod val="50000"/>
                  </a:schemeClr>
                </a:solidFill>
              </a:rPr>
              <a:t>Zachowuje stan </a:t>
            </a:r>
            <a:r>
              <a:rPr lang="pl-PL" sz="1600" b="1" dirty="0">
                <a:solidFill>
                  <a:schemeClr val="accent4">
                    <a:lumMod val="50000"/>
                  </a:schemeClr>
                </a:solidFill>
              </a:rPr>
              <a:t>wewnętrznie</a:t>
            </a:r>
          </a:p>
        </p:txBody>
      </p:sp>
      <p:cxnSp>
        <p:nvCxnSpPr>
          <p:cNvPr id="16" name="Łącznik prosty ze strzałką 15">
            <a:extLst>
              <a:ext uri="{FF2B5EF4-FFF2-40B4-BE49-F238E27FC236}">
                <a16:creationId xmlns:a16="http://schemas.microsoft.com/office/drawing/2014/main" id="{5E9D447C-6A7A-0A48-5D4F-AEDF71EAF8EA}"/>
              </a:ext>
            </a:extLst>
          </p:cNvPr>
          <p:cNvCxnSpPr>
            <a:cxnSpLocks/>
            <a:stCxn id="14" idx="3"/>
          </p:cNvCxnSpPr>
          <p:nvPr/>
        </p:nvCxnSpPr>
        <p:spPr>
          <a:xfrm flipV="1">
            <a:off x="2892165" y="2164858"/>
            <a:ext cx="613488" cy="16605"/>
          </a:xfrm>
          <a:prstGeom prst="straightConnector1">
            <a:avLst/>
          </a:prstGeom>
          <a:ln w="63500" cap="rnd"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pole tekstowe 16">
            <a:extLst>
              <a:ext uri="{FF2B5EF4-FFF2-40B4-BE49-F238E27FC236}">
                <a16:creationId xmlns:a16="http://schemas.microsoft.com/office/drawing/2014/main" id="{AC274F16-3978-8DE3-9C78-A30224DF6ADA}"/>
              </a:ext>
            </a:extLst>
          </p:cNvPr>
          <p:cNvSpPr txBox="1"/>
          <p:nvPr/>
        </p:nvSpPr>
        <p:spPr>
          <a:xfrm>
            <a:off x="971600" y="4674204"/>
            <a:ext cx="811024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Komponent </a:t>
            </a:r>
            <a:r>
              <a:rPr lang="pl-PL" sz="1600" b="1" dirty="0" err="1"/>
              <a:t>stateless</a:t>
            </a:r>
            <a:r>
              <a:rPr lang="pl-PL" sz="1600" dirty="0"/>
              <a:t> to taki, który </a:t>
            </a:r>
            <a:r>
              <a:rPr lang="pl-PL" sz="1600" b="1" dirty="0"/>
              <a:t>nie przechowuje stanu wewnętrznie</a:t>
            </a:r>
            <a:r>
              <a:rPr lang="pl-PL" sz="1600" dirty="0"/>
              <a:t>. Zamiast tego, stan jest </a:t>
            </a:r>
            <a:r>
              <a:rPr lang="pl-PL" sz="1600" b="1" dirty="0"/>
              <a:t>przekazywany</a:t>
            </a:r>
            <a:r>
              <a:rPr lang="pl-PL" sz="1600" dirty="0"/>
              <a:t> do komponentu </a:t>
            </a:r>
            <a:r>
              <a:rPr lang="pl-PL" sz="1600" b="1" dirty="0"/>
              <a:t>jako parametr</a:t>
            </a:r>
            <a:r>
              <a:rPr lang="pl-PL" sz="1600" dirty="0"/>
              <a:t>, a </a:t>
            </a:r>
            <a:r>
              <a:rPr lang="pl-PL" sz="1600" b="1" dirty="0"/>
              <a:t>zdarzenia</a:t>
            </a:r>
            <a:r>
              <a:rPr lang="pl-PL" sz="1600" dirty="0"/>
              <a:t> (np. zmiana wartości) są zgłaszane do </a:t>
            </a:r>
            <a:r>
              <a:rPr lang="pl-PL" sz="1600" b="1" dirty="0"/>
              <a:t>wyższych warstw aplikacji</a:t>
            </a:r>
            <a:r>
              <a:rPr lang="pl-PL" sz="1600" dirty="0"/>
              <a:t>. Aby osiągnąć </a:t>
            </a:r>
            <a:r>
              <a:rPr lang="pl-PL" sz="1600" dirty="0" err="1"/>
              <a:t>stateless</a:t>
            </a:r>
            <a:r>
              <a:rPr lang="pl-PL" sz="1600" dirty="0"/>
              <a:t>, stosujemy wzorzec </a:t>
            </a:r>
            <a:r>
              <a:rPr lang="pl-PL" sz="1600" b="1" dirty="0" err="1"/>
              <a:t>state</a:t>
            </a:r>
            <a:r>
              <a:rPr lang="pl-PL" sz="1600" b="1" dirty="0"/>
              <a:t> </a:t>
            </a:r>
            <a:r>
              <a:rPr lang="pl-PL" sz="1600" b="1" dirty="0" err="1"/>
              <a:t>hoisting</a:t>
            </a:r>
            <a:r>
              <a:rPr lang="pl-PL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506562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27BA368-7F6D-9BD5-0F78-D8212991E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9E7D07-817F-FFC3-F1D6-9B8AF2323BB1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Wzorzec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State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Hoisting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pole tekstowe 2">
            <a:extLst>
              <a:ext uri="{FF2B5EF4-FFF2-40B4-BE49-F238E27FC236}">
                <a16:creationId xmlns:a16="http://schemas.microsoft.com/office/drawing/2014/main" id="{8DC98B85-CB8D-81AA-E867-ED4F0D9B728F}"/>
              </a:ext>
            </a:extLst>
          </p:cNvPr>
          <p:cNvSpPr txBox="1"/>
          <p:nvPr/>
        </p:nvSpPr>
        <p:spPr>
          <a:xfrm>
            <a:off x="1033752" y="796886"/>
            <a:ext cx="811024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b="1" dirty="0" err="1"/>
              <a:t>State</a:t>
            </a:r>
            <a:r>
              <a:rPr lang="pl-PL" sz="1600" b="1" dirty="0"/>
              <a:t> </a:t>
            </a:r>
            <a:r>
              <a:rPr lang="pl-PL" sz="1600" b="1" dirty="0" err="1"/>
              <a:t>hoisting</a:t>
            </a:r>
            <a:r>
              <a:rPr lang="pl-PL" sz="1600" dirty="0"/>
              <a:t> to wzorzec polegający na przeniesieniu stanu do wyższego poziomu w hierarchii komponentów, co czyni komponent </a:t>
            </a:r>
            <a:r>
              <a:rPr lang="pl-PL" sz="1600" b="1" dirty="0" err="1"/>
              <a:t>stateless</a:t>
            </a:r>
            <a:r>
              <a:rPr lang="pl-PL" sz="1600" dirty="0"/>
              <a:t>. </a:t>
            </a:r>
          </a:p>
          <a:p>
            <a:pPr algn="just"/>
            <a:endParaRPr lang="pl-PL" sz="1600" dirty="0"/>
          </a:p>
          <a:p>
            <a:pPr algn="just"/>
            <a:r>
              <a:rPr lang="pl-PL" sz="1600" dirty="0"/>
              <a:t>W praktyce oznacza to zastąpienie wewnętrznego stanu dwoma parametrami:</a:t>
            </a:r>
          </a:p>
          <a:p>
            <a:pPr algn="just"/>
            <a:r>
              <a:rPr lang="pl-PL" sz="1600" dirty="0"/>
              <a:t>- </a:t>
            </a:r>
            <a:r>
              <a:rPr lang="pl-PL" sz="1600" b="1" dirty="0" err="1"/>
              <a:t>value</a:t>
            </a:r>
            <a:r>
              <a:rPr lang="pl-PL" sz="1600" b="1" dirty="0"/>
              <a:t>: T</a:t>
            </a:r>
            <a:r>
              <a:rPr lang="pl-PL" sz="1600" dirty="0"/>
              <a:t>: - Aktualna wartość do wyświetlenia.</a:t>
            </a:r>
          </a:p>
          <a:p>
            <a:pPr algn="just"/>
            <a:r>
              <a:rPr lang="pl-PL" sz="1600" dirty="0"/>
              <a:t>- </a:t>
            </a:r>
            <a:r>
              <a:rPr lang="pl-PL" sz="1600" b="1" dirty="0" err="1"/>
              <a:t>onValueChange</a:t>
            </a:r>
            <a:r>
              <a:rPr lang="pl-PL" sz="1600" b="1" dirty="0"/>
              <a:t>: (T) -&gt; Unit</a:t>
            </a:r>
            <a:r>
              <a:rPr lang="pl-PL" sz="1600" dirty="0"/>
              <a:t>: Funkcja wywoływana, gdy wartość ma się zmienić.</a:t>
            </a:r>
          </a:p>
        </p:txBody>
      </p:sp>
      <p:pic>
        <p:nvPicPr>
          <p:cNvPr id="5" name="Obraz 4">
            <a:extLst>
              <a:ext uri="{FF2B5EF4-FFF2-40B4-BE49-F238E27FC236}">
                <a16:creationId xmlns:a16="http://schemas.microsoft.com/office/drawing/2014/main" id="{39747FA4-BF48-C611-BA5A-3F88010C24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622" y="2554457"/>
            <a:ext cx="5504506" cy="3873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75318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1FD72C-C94C-E950-8974-09CCB22AF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069AC7-6CB5-86C7-9390-2D3FF4342E8C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Wzorzec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State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Hoisting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4" name="pole tekstowe 3">
            <a:extLst>
              <a:ext uri="{FF2B5EF4-FFF2-40B4-BE49-F238E27FC236}">
                <a16:creationId xmlns:a16="http://schemas.microsoft.com/office/drawing/2014/main" id="{A0086131-BB1E-DF39-E6D9-92CED58CA519}"/>
              </a:ext>
            </a:extLst>
          </p:cNvPr>
          <p:cNvSpPr txBox="1"/>
          <p:nvPr/>
        </p:nvSpPr>
        <p:spPr>
          <a:xfrm>
            <a:off x="1033752" y="796886"/>
            <a:ext cx="8110247" cy="28782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l-PL" sz="1600" dirty="0"/>
              <a:t>Dlaczego korzystamy ze wzorca </a:t>
            </a:r>
            <a:r>
              <a:rPr lang="pl-PL" sz="1600" b="1" dirty="0" err="1"/>
              <a:t>State</a:t>
            </a:r>
            <a:r>
              <a:rPr lang="pl-PL" sz="1600" b="1" dirty="0"/>
              <a:t> </a:t>
            </a:r>
            <a:r>
              <a:rPr lang="pl-PL" sz="1600" b="1" dirty="0" err="1"/>
              <a:t>Hoisting</a:t>
            </a:r>
            <a:r>
              <a:rPr lang="pl-PL" sz="1600" dirty="0"/>
              <a:t>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Single Source of </a:t>
            </a:r>
            <a:r>
              <a:rPr lang="pl-PL" sz="1600" b="1" dirty="0" err="1"/>
              <a:t>Truth</a:t>
            </a:r>
            <a:r>
              <a:rPr lang="pl-PL" sz="1600" dirty="0"/>
              <a:t>: Stan jest przechowywany w jednym miejscu, co zapobiega niespójnościom.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Współdzielenie</a:t>
            </a:r>
            <a:r>
              <a:rPr lang="pl-PL" sz="1600" dirty="0"/>
              <a:t>: Stan może być współdzielony między wieloma komponentami.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Przechwytywanie zdarzeń: </a:t>
            </a:r>
            <a:r>
              <a:rPr lang="pl-PL" sz="1600" dirty="0"/>
              <a:t>Wyższe warstwy mogą modyfikować lub ignorować zdarzenia przed aktualizacją stanu.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Elastyczność</a:t>
            </a:r>
            <a:r>
              <a:rPr lang="pl-PL" sz="1600" dirty="0"/>
              <a:t>: Stan może być przechowywany np. w </a:t>
            </a:r>
            <a:r>
              <a:rPr lang="pl-PL" sz="1600" b="1" dirty="0" err="1"/>
              <a:t>ViewModel</a:t>
            </a:r>
            <a:r>
              <a:rPr lang="pl-PL" sz="1600" dirty="0"/>
              <a:t>, co ułatwia integrację z architekturą aplikacji.</a:t>
            </a:r>
          </a:p>
        </p:txBody>
      </p:sp>
    </p:spTree>
    <p:extLst>
      <p:ext uri="{BB962C8B-B14F-4D97-AF65-F5344CB8AC3E}">
        <p14:creationId xmlns:p14="http://schemas.microsoft.com/office/powerpoint/2010/main" val="4962841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 cstate="print"/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8311D87-6E19-20F7-2739-E4093A2C88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3E6686A-548E-9993-B1BF-AFB3F1BAD0E4}"/>
              </a:ext>
            </a:extLst>
          </p:cNvPr>
          <p:cNvSpPr/>
          <p:nvPr/>
        </p:nvSpPr>
        <p:spPr>
          <a:xfrm>
            <a:off x="1979712" y="188640"/>
            <a:ext cx="6696744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Unidirectional</a:t>
            </a:r>
            <a:r>
              <a:rPr lang="pl-PL" sz="2600" dirty="0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Data </a:t>
            </a:r>
            <a:r>
              <a:rPr lang="pl-PL" sz="2600" dirty="0" err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Flow</a:t>
            </a:r>
            <a:endParaRPr lang="pl-PL" sz="2600" dirty="0">
              <a:solidFill>
                <a:schemeClr val="bg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3" name="Obraz 2">
            <a:extLst>
              <a:ext uri="{FF2B5EF4-FFF2-40B4-BE49-F238E27FC236}">
                <a16:creationId xmlns:a16="http://schemas.microsoft.com/office/drawing/2014/main" id="{1496AAAC-4EAF-8C9C-22C7-50F87B4B0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12095" y="908720"/>
            <a:ext cx="6244481" cy="4394779"/>
          </a:xfrm>
          <a:prstGeom prst="rect">
            <a:avLst/>
          </a:prstGeom>
        </p:spPr>
      </p:pic>
      <p:pic>
        <p:nvPicPr>
          <p:cNvPr id="3075" name="Picture 3">
            <a:extLst>
              <a:ext uri="{FF2B5EF4-FFF2-40B4-BE49-F238E27FC236}">
                <a16:creationId xmlns:a16="http://schemas.microsoft.com/office/drawing/2014/main" id="{F0EF062C-1C3B-C1BD-94A0-FD24A3038A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08520" y="1484784"/>
            <a:ext cx="2727254" cy="3068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7AC1D46D-68C2-991E-B13A-2BC7A0451E9A}"/>
              </a:ext>
            </a:extLst>
          </p:cNvPr>
          <p:cNvSpPr txBox="1"/>
          <p:nvPr/>
        </p:nvSpPr>
        <p:spPr>
          <a:xfrm>
            <a:off x="1046329" y="5531136"/>
            <a:ext cx="8110247" cy="1154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Stan </a:t>
            </a:r>
            <a:r>
              <a:rPr lang="pl-PL" sz="1600" b="1" i="1" dirty="0"/>
              <a:t>płynie</a:t>
            </a:r>
            <a:r>
              <a:rPr lang="pl-PL" sz="1600" b="1" dirty="0"/>
              <a:t> w dół</a:t>
            </a:r>
            <a:r>
              <a:rPr lang="pl-PL" sz="1600" dirty="0"/>
              <a:t>: </a:t>
            </a:r>
            <a:r>
              <a:rPr lang="pl-PL" sz="1600" dirty="0" err="1"/>
              <a:t>HelloScreen</a:t>
            </a:r>
            <a:r>
              <a:rPr lang="pl-PL" sz="1600" dirty="0"/>
              <a:t> </a:t>
            </a:r>
            <a:r>
              <a:rPr lang="pl-PL" sz="1600" b="1" dirty="0"/>
              <a:t>przekazuje stan </a:t>
            </a:r>
            <a:r>
              <a:rPr lang="pl-PL" sz="1600" b="1" dirty="0" err="1"/>
              <a:t>name</a:t>
            </a:r>
            <a:r>
              <a:rPr lang="pl-PL" sz="1600" b="1" dirty="0"/>
              <a:t> </a:t>
            </a:r>
            <a:r>
              <a:rPr lang="pl-PL" sz="1600" dirty="0"/>
              <a:t>do </a:t>
            </a:r>
            <a:r>
              <a:rPr lang="pl-PL" sz="1600" dirty="0" err="1"/>
              <a:t>HelloContent</a:t>
            </a:r>
            <a:r>
              <a:rPr lang="pl-PL" sz="1600" dirty="0"/>
              <a:t>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l-PL" sz="1600" b="1" dirty="0"/>
              <a:t>Zdarzenia </a:t>
            </a:r>
            <a:r>
              <a:rPr lang="pl-PL" sz="1600" b="1" i="1" dirty="0"/>
              <a:t>płyną</a:t>
            </a:r>
            <a:r>
              <a:rPr lang="pl-PL" sz="1600" b="1" dirty="0"/>
              <a:t> w górę</a:t>
            </a:r>
            <a:r>
              <a:rPr lang="pl-PL" sz="1600" dirty="0"/>
              <a:t>: </a:t>
            </a:r>
            <a:r>
              <a:rPr lang="pl-PL" sz="1600" dirty="0" err="1"/>
              <a:t>HelloContent</a:t>
            </a:r>
            <a:r>
              <a:rPr lang="pl-PL" sz="1600" dirty="0"/>
              <a:t> </a:t>
            </a:r>
            <a:r>
              <a:rPr lang="pl-PL" sz="1600" b="1" dirty="0"/>
              <a:t>zgłasza zmiany stanu </a:t>
            </a:r>
            <a:r>
              <a:rPr lang="pl-PL" sz="1600" dirty="0"/>
              <a:t>do </a:t>
            </a:r>
            <a:r>
              <a:rPr lang="pl-PL" sz="1600" dirty="0" err="1"/>
              <a:t>HelloScreen</a:t>
            </a:r>
            <a:r>
              <a:rPr lang="pl-PL" sz="1600" dirty="0"/>
              <a:t> za pomocą </a:t>
            </a:r>
            <a:r>
              <a:rPr lang="pl-PL" sz="1600" b="1" dirty="0" err="1"/>
              <a:t>onNameChange</a:t>
            </a:r>
            <a:r>
              <a:rPr lang="pl-PL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05249029"/>
      </p:ext>
    </p:extLst>
  </p:cSld>
  <p:clrMapOvr>
    <a:masterClrMapping/>
  </p:clrMapOvr>
</p:sld>
</file>

<file path=ppt/theme/theme1.xml><?xml version="1.0" encoding="utf-8"?>
<a:theme xmlns:a="http://schemas.openxmlformats.org/drawingml/2006/main" name="uni.wroc_0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uni.wroc_01.potx</Template>
  <TotalTime>88372</TotalTime>
  <Pages>0</Pages>
  <Words>1392</Words>
  <Characters>0</Characters>
  <Application>Microsoft Office PowerPoint</Application>
  <PresentationFormat>Pokaz na ekranie (4:3)</PresentationFormat>
  <Lines>0</Lines>
  <Paragraphs>157</Paragraphs>
  <Slides>29</Slides>
  <Notes>29</Notes>
  <HiddenSlides>0</HiddenSlides>
  <MMClips>0</MMClips>
  <ScaleCrop>false</ScaleCrop>
  <HeadingPairs>
    <vt:vector size="6" baseType="variant">
      <vt:variant>
        <vt:lpstr>Używane czcionki</vt:lpstr>
      </vt:variant>
      <vt:variant>
        <vt:i4>4</vt:i4>
      </vt:variant>
      <vt:variant>
        <vt:lpstr>Motyw</vt:lpstr>
      </vt:variant>
      <vt:variant>
        <vt:i4>1</vt:i4>
      </vt:variant>
      <vt:variant>
        <vt:lpstr>Tytuły slajdów</vt:lpstr>
      </vt:variant>
      <vt:variant>
        <vt:i4>29</vt:i4>
      </vt:variant>
    </vt:vector>
  </HeadingPairs>
  <TitlesOfParts>
    <vt:vector size="34" baseType="lpstr">
      <vt:lpstr>Arial</vt:lpstr>
      <vt:lpstr>Calibri</vt:lpstr>
      <vt:lpstr>Courier New</vt:lpstr>
      <vt:lpstr>Verdana</vt:lpstr>
      <vt:lpstr>uni.wroc_01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Podręcznik użytkownika  Systemu Identyfikacji Wizualnej   cz. I  dla pracowników naukowych i administracyjnych</dc:title>
  <dc:subject/>
  <dc:creator>tolek</dc:creator>
  <cp:keywords/>
  <dc:description/>
  <cp:lastModifiedBy>Rafał Lewandków</cp:lastModifiedBy>
  <cp:revision>1321</cp:revision>
  <dcterms:modified xsi:type="dcterms:W3CDTF">2025-02-18T17:52:04Z</dcterms:modified>
  <cp:category/>
</cp:coreProperties>
</file>