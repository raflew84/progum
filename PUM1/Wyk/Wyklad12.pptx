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40"/>
  </p:notesMasterIdLst>
  <p:handoutMasterIdLst>
    <p:handoutMasterId r:id="rId41"/>
  </p:handoutMasterIdLst>
  <p:sldIdLst>
    <p:sldId id="346" r:id="rId2"/>
    <p:sldId id="503" r:id="rId3"/>
    <p:sldId id="505" r:id="rId4"/>
    <p:sldId id="506" r:id="rId5"/>
    <p:sldId id="507" r:id="rId6"/>
    <p:sldId id="508" r:id="rId7"/>
    <p:sldId id="509" r:id="rId8"/>
    <p:sldId id="511" r:id="rId9"/>
    <p:sldId id="510" r:id="rId10"/>
    <p:sldId id="512" r:id="rId11"/>
    <p:sldId id="513" r:id="rId12"/>
    <p:sldId id="514" r:id="rId13"/>
    <p:sldId id="515" r:id="rId14"/>
    <p:sldId id="516" r:id="rId15"/>
    <p:sldId id="517" r:id="rId16"/>
    <p:sldId id="518" r:id="rId17"/>
    <p:sldId id="519" r:id="rId18"/>
    <p:sldId id="522" r:id="rId19"/>
    <p:sldId id="520" r:id="rId20"/>
    <p:sldId id="521" r:id="rId21"/>
    <p:sldId id="523" r:id="rId22"/>
    <p:sldId id="524" r:id="rId23"/>
    <p:sldId id="525" r:id="rId24"/>
    <p:sldId id="526" r:id="rId25"/>
    <p:sldId id="527" r:id="rId26"/>
    <p:sldId id="528" r:id="rId27"/>
    <p:sldId id="529" r:id="rId28"/>
    <p:sldId id="530" r:id="rId29"/>
    <p:sldId id="531" r:id="rId30"/>
    <p:sldId id="532" r:id="rId31"/>
    <p:sldId id="533" r:id="rId32"/>
    <p:sldId id="534" r:id="rId33"/>
    <p:sldId id="535" r:id="rId34"/>
    <p:sldId id="536" r:id="rId35"/>
    <p:sldId id="537" r:id="rId36"/>
    <p:sldId id="538" r:id="rId37"/>
    <p:sldId id="539" r:id="rId38"/>
    <p:sldId id="540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292"/>
    <a:srgbClr val="0000FF"/>
    <a:srgbClr val="00FF00"/>
    <a:srgbClr val="00FFFF"/>
    <a:srgbClr val="FF00FF"/>
    <a:srgbClr val="00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892" autoAdjust="0"/>
  </p:normalViewPr>
  <p:slideViewPr>
    <p:cSldViewPr>
      <p:cViewPr varScale="1">
        <p:scale>
          <a:sx n="111" d="100"/>
          <a:sy n="111" d="100"/>
        </p:scale>
        <p:origin x="16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19.05.2025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19.05.2025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52A3A-602B-8755-484A-3BE4300E6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8C7D2-23D2-A303-FC66-950482A88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6D9EB-1758-C729-251E-41C7733B1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E0FF8-4081-E438-77E5-E308CC8FA8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45046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452BD-2DF5-196A-66A9-EF9398C2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42E6C-D457-3C84-9EF8-134FA3A2F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922CD-B018-FE89-26BB-DF98A1097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CCCF9-83C2-FE8F-7169-2C2EB6C71F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5796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B28AD-383B-2451-A4CA-B0CEDC28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8F332-854E-EFC4-8DA3-C4D0073CD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2FAB0-E2A2-6181-D09E-2A3890DAC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57622-2FCA-66F2-9A7A-6E332716F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4775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3FEA-64F6-2D4D-E1CF-9B052801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47D64-05CC-C12B-77F4-FDCA4819C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B077D-307E-C5CC-CA63-B9E9B5760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5E673-286B-B441-5C46-CD93D4377D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8469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F5244-6634-C21B-A790-B711A7BAC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02DA2-D578-6618-487D-B2D0F0F5C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E83DA-3839-3214-3F23-11906AD95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4F468-8746-4448-B204-D00C49DFE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72310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DFC1D-ACEE-D9C9-D78B-C5D520EB5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BA45A-155F-8EFF-8541-17A6BF997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9A9E7-6B5D-1A6D-7307-39DC05C8E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829DB-816E-70E2-C9C4-BB17CC951B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34751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3FE8-BF95-A4BE-6989-BD7669580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F9C9E-1865-832D-2470-E0A671984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78C7D-FBFD-E649-0328-8CDB6B4DD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7B52D-AF33-BB69-16D4-127264FD65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276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834CA-041D-00D4-9105-9FBBDDDF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003E8-6CC6-0751-CE5C-831D1EA40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A5FCF9-8C4D-CD2E-B37B-2A7349F8A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B1A4E-C313-B6FF-72CC-A2E7052DCE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47652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89743-0C15-A6CF-9001-4FE21E37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54AA5-00B6-AF44-953A-A29229A2F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A7707-A5E0-4459-5E1D-6DFAC3C41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1FBD5-F388-DB53-3861-D687F93D3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8753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5B434-D92D-5384-5A77-426791E7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56097-81A0-2640-ADF1-BA316E431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989EB-A649-4412-D81F-7BBFB89C8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9B054-DC0A-F2AA-B805-90BF538B80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2628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6552-94E1-BC80-1A3F-5EAF71EFB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821D0-1198-42C4-1848-88A0A485C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E5EDD5-0E09-8C4A-DB0E-9D30A6FB3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57C45-E884-8FA3-BEDF-C6F5A442A7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5575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353E5-052B-6C58-DAA5-4A9624261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B2819-59E3-87DB-FF90-32063292C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8E23B-6C6E-AC80-64CF-992C4DE43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AB4E1-42F9-5A96-D94C-2B4327A068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92733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9D857-BA8E-53FC-03CA-A29DED5AB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82BC5-0D8D-4012-EC4E-C00550A9E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CDA61-770B-61BD-946C-32972D568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4CD5C-75F1-7990-12FF-1AE001CEF1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3245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F5A7-DACE-617F-396A-5243E8780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501D0-03F5-6573-B323-07EB347EB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4DAEC0-2C55-3373-AE92-DD3969D2F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76D94-6D65-D9E1-18C4-F43E9153C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675502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54FAB-728C-4486-8572-87005C3B0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88CE3-E353-D055-8B4B-BF630D0E8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0B701-7D92-8410-B102-BD4E7B78A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4F5D0-A746-1F96-DCAF-2C8C21B768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93470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BDB81-C2CF-B388-AA77-A68BF1E0D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E5DD9-6AB0-38B2-7E05-CCDC3C021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0066D-07A2-F18F-4EC3-CACD68E7D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7EE45-4FC4-FD51-D5DE-E38306F55A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4970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7A682-1FCC-F75C-EF69-ABAA1F06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9C5FB-F0AC-E502-B0B2-AC6F596AE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280FA-28D9-B6B8-1805-CE5637315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9102E-6198-5ABB-07E2-57A38FAAEC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197153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C7657-0C76-18CF-29BB-E513A99DC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04806-AD68-7AC3-072D-68829F604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2348B5-233D-32F4-3752-0D7C9D165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BC6E5-5038-1326-738F-3C7AF9EC4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11613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74DAC-71A5-E712-FC4E-9DC85A803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6922B-A28D-5144-3E43-AF59C838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29600-E3C2-7439-EEB2-EC5025E73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16B3A-BE99-E19E-BF20-5ADD26B155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58679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6DDC0-1E2A-DB56-5873-4751A55B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9418F-9D59-82D3-B4A2-BC61E7510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13355-B621-470F-6888-732E0B112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711F4-1F88-EA11-5014-1036B78028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34672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2BCED-402B-679E-4087-E9E637FC4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88DFA-0F5A-A819-9C4A-715A58EDB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B4DE9-A5E8-5940-C47B-28204A148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CCC64-C8E0-712D-0901-C22DF59882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41204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EF21B-5EBA-3AAE-3E2D-C79455BD6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3EC608-75E6-7972-A3B2-5A502AF3B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32A444-3F9F-DEE1-7814-2ADCF8CD5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B64A1-2EB2-81F3-2B9D-1CC7B902E3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82197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5612A-000C-D6B1-119B-739E1E62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C56BF-838C-0E72-A24D-FCAFEE9A8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88D3F-A938-093C-29B3-71A9636B5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76597-C270-E63D-0BB2-C1CC059884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0276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93D8-9A83-539A-7D70-2FF072870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54FCC-D03C-5ACE-A889-DA700772F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71B93-C7A5-DF9C-CFB6-101751D12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F2137-D364-43ED-FDFD-8FA85F53F2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65254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EE67B-2120-C603-5628-4F1D2F99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B556B-C960-8268-E14C-6B6B45EB1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9CB5CE-A9CC-5936-F77D-968F33FD9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491DE-C7C6-100E-F204-9CDC1DE7CB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70476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112E1-DE75-83E9-9BDF-50FD12B7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7FAA17-4216-62CD-0AFA-D76D80FFB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B3918-4208-EE97-D798-511E2FDE7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94EF8-9985-0DFE-DC11-FFFDC7C28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679290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6636A-3BE0-FE84-E125-85E032E91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82E34-3DE0-6301-CE08-670136F80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76F14-C582-9F90-7779-3D7483E41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D8BB7-3CC1-24A5-101A-4360DE3E2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26643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02B36-5F08-BA87-D406-A0FF24EBC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1674B-21A4-8EAB-0066-FD1E2D4AE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E4EB5-FBEC-E36B-5F1A-EDED1C599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8EEEB-03DA-B60A-C49D-F3F1FF784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569200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37CC-C495-5448-E887-A4AB76B0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065DD-B2A0-DB17-EBBF-830F0C43F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BAF55-19B4-1316-BAFB-E55D1EF50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8FBC3-C5CA-C299-4F2E-ABC2CADB1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31803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761D-8BC8-CDC3-35C7-42193DEE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6FE69-30C4-7EDE-BACC-B44CAD19C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1C511-22E4-52D5-B99A-FA233A814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AF2C1-C21E-868C-73FE-13620FB22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415285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37BFF-C4AB-7776-3731-CDB4F85D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77AB3-261C-7793-BA37-992031E1B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0EC32-FCFB-2D3A-0900-25A7DA602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61AED-23DC-8413-6D7A-C9F0073140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7497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A30B-2477-6795-30E0-53AC5E80A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FC70A-65FA-8675-CED7-8A623AC36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462B5-76D1-57F8-A06E-59647369B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38E47-8054-5F6D-3D99-B993EDE878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953706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D30D9-F8C7-E105-0A38-DDC0E5F6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AF92E-55C0-19A9-735B-C127E80C0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03165-77AB-02A0-F66D-1D449FA26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CAD3A-914E-DF8F-FB58-A587EE82E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123275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805AF-C4AB-A939-2617-6FA7A03C4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2EEB47-A764-238C-945C-0A3063A4D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F64614-FBC1-B73D-E386-12132EF7B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1D425-EBB1-F80A-7151-9475C2A20B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93127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B75ED-F878-030B-5711-C3252E23C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6A6A8-F849-D619-22A6-65FA401CE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21F1F-92F3-D380-A078-1DC9C53D2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07C68-80D8-A586-F76B-B2BB1525E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41705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F0E48-B218-81D7-B3A1-E1E9D67EE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2A685-8E3A-ABDC-A277-5C41FF800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1A4E8-58C2-58D8-3E15-722DBFBF9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55D38-84D8-002F-E09B-580EC6EEDF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7901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19.05.2025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19.05.2025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19.05.2025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19.05.2025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19.05.2025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19.05.2025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19.05.2025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19.05.2025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19.05.2025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19.05.2025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19.05.2025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19.05.2025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1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12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31840" y="4437112"/>
            <a:ext cx="5472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Wybrane Strukturalne i Kreacyjne Wzorce Projektowe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Adnotacje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Wzorce projektowe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85B8E0F-CB40-BD44-15BF-7961403D36F6}"/>
              </a:ext>
            </a:extLst>
          </p:cNvPr>
          <p:cNvSpPr txBox="1"/>
          <p:nvPr/>
        </p:nvSpPr>
        <p:spPr>
          <a:xfrm>
            <a:off x="1043608" y="908720"/>
            <a:ext cx="8028385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i="1" dirty="0"/>
              <a:t>Wzorzec opisuje problem, który powtarza się wielokrotnie w danym środowisku, oraz podaje istotę jego rozwiązania w taki sposób, aby można było je zastosować miliony razy bez potrzeby powtarzania tej samej pracy.</a:t>
            </a:r>
          </a:p>
          <a:p>
            <a:pPr algn="r">
              <a:lnSpc>
                <a:spcPct val="150000"/>
              </a:lnSpc>
            </a:pPr>
            <a:r>
              <a:rPr lang="en-US" b="1" dirty="0"/>
              <a:t>Christopher Alexander "A pattern language", 1977</a:t>
            </a:r>
            <a:endParaRPr lang="pl-PL" b="1" dirty="0"/>
          </a:p>
        </p:txBody>
      </p:sp>
    </p:spTree>
    <p:extLst>
      <p:ext uri="{BB962C8B-B14F-4D97-AF65-F5344CB8AC3E}">
        <p14:creationId xmlns:p14="http://schemas.microsoft.com/office/powerpoint/2010/main" val="417582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751D8-AA1D-56FB-2026-6D5BD92DE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DB3DD1-7498-4B5F-4A97-2D594A607DD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Wzorce projektowe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8C0611F-6A0E-C335-6043-9223E823DBC6}"/>
              </a:ext>
            </a:extLst>
          </p:cNvPr>
          <p:cNvSpPr txBox="1"/>
          <p:nvPr/>
        </p:nvSpPr>
        <p:spPr>
          <a:xfrm>
            <a:off x="1043608" y="908720"/>
            <a:ext cx="8028385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i="1" dirty="0"/>
              <a:t>Wzorzec opisuje problem, który powtarza się wielokrotnie w danym środowisku, oraz podaje istotę jego rozwiązania w taki sposób, aby można było je zastosować miliony razy bez potrzeby powtarzania tej samej pracy.</a:t>
            </a:r>
          </a:p>
          <a:p>
            <a:pPr algn="r">
              <a:lnSpc>
                <a:spcPct val="150000"/>
              </a:lnSpc>
            </a:pPr>
            <a:r>
              <a:rPr lang="en-US" b="1" dirty="0"/>
              <a:t>Christopher Alexander "A pattern language", 1977</a:t>
            </a:r>
            <a:endParaRPr lang="pl-PL" b="1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F5F2AE1-7E59-7D5F-0EA3-FCB9DA144FC0}"/>
              </a:ext>
            </a:extLst>
          </p:cNvPr>
          <p:cNvSpPr txBox="1"/>
          <p:nvPr/>
        </p:nvSpPr>
        <p:spPr>
          <a:xfrm>
            <a:off x="1043608" y="179787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Wzorce projektowe </a:t>
            </a:r>
            <a:r>
              <a:rPr lang="pl-PL" sz="1600" dirty="0"/>
              <a:t>(ang. </a:t>
            </a:r>
            <a:r>
              <a:rPr lang="pl-PL" sz="1600" i="1" dirty="0"/>
              <a:t>design </a:t>
            </a:r>
            <a:r>
              <a:rPr lang="pl-PL" sz="1600" i="1" dirty="0" err="1"/>
              <a:t>patterns</a:t>
            </a:r>
            <a:r>
              <a:rPr lang="pl-PL" sz="1600" dirty="0"/>
              <a:t>) to sprawdzone i wielokrotnie przetestowane rozwiązania typowych problemów, które pojawiają się podczas projektowania oprogramowania. </a:t>
            </a:r>
            <a:endParaRPr lang="pl-PL" sz="1600" b="1" dirty="0"/>
          </a:p>
        </p:txBody>
      </p:sp>
    </p:spTree>
    <p:extLst>
      <p:ext uri="{BB962C8B-B14F-4D97-AF65-F5344CB8AC3E}">
        <p14:creationId xmlns:p14="http://schemas.microsoft.com/office/powerpoint/2010/main" val="199903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FD0DB8-F930-DB55-8820-5C662B213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515CC8-DC11-7F50-D3E6-64A8D54748B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Wzorce projektowe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88DAE31-B3A9-5269-433B-69E9A6CF7CA9}"/>
              </a:ext>
            </a:extLst>
          </p:cNvPr>
          <p:cNvSpPr txBox="1"/>
          <p:nvPr/>
        </p:nvSpPr>
        <p:spPr>
          <a:xfrm>
            <a:off x="1043608" y="908720"/>
            <a:ext cx="8028385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i="1" dirty="0"/>
              <a:t>Wzorzec opisuje problem, który powtarza się wielokrotnie w danym środowisku, oraz podaje istotę jego rozwiązania w taki sposób, aby można było je zastosować miliony razy bez potrzeby powtarzania tej samej pracy.</a:t>
            </a:r>
          </a:p>
          <a:p>
            <a:pPr algn="r">
              <a:lnSpc>
                <a:spcPct val="150000"/>
              </a:lnSpc>
            </a:pPr>
            <a:r>
              <a:rPr lang="en-US" b="1" dirty="0"/>
              <a:t>Christopher Alexander "A pattern language", 1977</a:t>
            </a:r>
            <a:endParaRPr lang="pl-PL" b="1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7830C0E-83A7-5131-54B5-3E63A78B9C61}"/>
              </a:ext>
            </a:extLst>
          </p:cNvPr>
          <p:cNvSpPr txBox="1"/>
          <p:nvPr/>
        </p:nvSpPr>
        <p:spPr>
          <a:xfrm>
            <a:off x="1043608" y="179787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Wzorce projektowe </a:t>
            </a:r>
            <a:r>
              <a:rPr lang="pl-PL" sz="1600" dirty="0"/>
              <a:t>(ang. </a:t>
            </a:r>
            <a:r>
              <a:rPr lang="pl-PL" sz="1600" i="1" dirty="0"/>
              <a:t>design </a:t>
            </a:r>
            <a:r>
              <a:rPr lang="pl-PL" sz="1600" i="1" dirty="0" err="1"/>
              <a:t>patterns</a:t>
            </a:r>
            <a:r>
              <a:rPr lang="pl-PL" sz="1600" dirty="0"/>
              <a:t>) to sprawdzone i wielokrotnie przetestowane rozwiązania typowych problemów, które pojawiają się podczas projektowania oprogramowania. </a:t>
            </a:r>
            <a:endParaRPr lang="pl-PL" sz="1600" b="1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9215CFA-BEDA-F9A4-CB6B-87EEFA0017CA}"/>
              </a:ext>
            </a:extLst>
          </p:cNvPr>
          <p:cNvSpPr txBox="1"/>
          <p:nvPr/>
        </p:nvSpPr>
        <p:spPr>
          <a:xfrm>
            <a:off x="1043608" y="2996952"/>
            <a:ext cx="7956377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1600"/>
            </a:lvl1pPr>
          </a:lstStyle>
          <a:p>
            <a:pPr>
              <a:lnSpc>
                <a:spcPct val="150000"/>
              </a:lnSpc>
            </a:pPr>
            <a:r>
              <a:rPr lang="pl-PL" dirty="0"/>
              <a:t>Kluczowe cechy wzorców projektowych: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Uniwersalność</a:t>
            </a:r>
            <a:r>
              <a:rPr lang="pl-PL" dirty="0"/>
              <a:t> – można je zastosować w różnych projektach i językach programowania.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Sprawdzone rozwiązania </a:t>
            </a:r>
            <a:r>
              <a:rPr lang="pl-PL" dirty="0"/>
              <a:t>– wynikają z doświadczeń wielu programistów.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Abstrakcyjność</a:t>
            </a:r>
            <a:r>
              <a:rPr lang="pl-PL" dirty="0"/>
              <a:t> – opisują koncepcję, a nie konkretną implementację.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Ułatwiają komunikację </a:t>
            </a:r>
            <a:r>
              <a:rPr lang="pl-PL" dirty="0"/>
              <a:t>– stanowią wspólny język dla zespołów deweloperskich.</a:t>
            </a:r>
          </a:p>
        </p:txBody>
      </p:sp>
    </p:spTree>
    <p:extLst>
      <p:ext uri="{BB962C8B-B14F-4D97-AF65-F5344CB8AC3E}">
        <p14:creationId xmlns:p14="http://schemas.microsoft.com/office/powerpoint/2010/main" val="4029756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3757A-DBE6-E7EF-63C5-D51C01005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4E26B1-B9EE-7548-C941-2CE6CB962B5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Wzorce projektowe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34A74B4-09D6-2344-F5DD-C670F7DD5637}"/>
              </a:ext>
            </a:extLst>
          </p:cNvPr>
          <p:cNvSpPr txBox="1"/>
          <p:nvPr/>
        </p:nvSpPr>
        <p:spPr>
          <a:xfrm>
            <a:off x="1043608" y="908720"/>
            <a:ext cx="8028385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i="1" dirty="0"/>
              <a:t>Wzorzec opisuje problem, który powtarza się wielokrotnie w danym środowisku, oraz podaje istotę jego rozwiązania w taki sposób, aby można było je zastosować miliony razy bez potrzeby powtarzania tej samej pracy.</a:t>
            </a:r>
          </a:p>
          <a:p>
            <a:pPr algn="r">
              <a:lnSpc>
                <a:spcPct val="150000"/>
              </a:lnSpc>
            </a:pPr>
            <a:r>
              <a:rPr lang="en-US" b="1" dirty="0"/>
              <a:t>Christopher Alexander "A pattern language", 1977</a:t>
            </a:r>
            <a:endParaRPr lang="pl-PL" b="1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62169DC-6147-3F23-5795-2DE1EC90FDF0}"/>
              </a:ext>
            </a:extLst>
          </p:cNvPr>
          <p:cNvSpPr txBox="1"/>
          <p:nvPr/>
        </p:nvSpPr>
        <p:spPr>
          <a:xfrm>
            <a:off x="1043608" y="179787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Wzorce projektowe </a:t>
            </a:r>
            <a:r>
              <a:rPr lang="pl-PL" sz="1600" dirty="0"/>
              <a:t>(ang. </a:t>
            </a:r>
            <a:r>
              <a:rPr lang="pl-PL" sz="1600" i="1" dirty="0"/>
              <a:t>design </a:t>
            </a:r>
            <a:r>
              <a:rPr lang="pl-PL" sz="1600" i="1" dirty="0" err="1"/>
              <a:t>patterns</a:t>
            </a:r>
            <a:r>
              <a:rPr lang="pl-PL" sz="1600" dirty="0"/>
              <a:t>) to sprawdzone i wielokrotnie przetestowane rozwiązania typowych problemów, które pojawiają się podczas projektowania oprogramowania. </a:t>
            </a:r>
            <a:endParaRPr lang="pl-PL" sz="1600" b="1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251955A-ECCC-7C37-7F31-FC650EE16D9B}"/>
              </a:ext>
            </a:extLst>
          </p:cNvPr>
          <p:cNvSpPr txBox="1"/>
          <p:nvPr/>
        </p:nvSpPr>
        <p:spPr>
          <a:xfrm>
            <a:off x="1043608" y="2996952"/>
            <a:ext cx="7956377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1600"/>
            </a:lvl1pPr>
          </a:lstStyle>
          <a:p>
            <a:pPr>
              <a:lnSpc>
                <a:spcPct val="150000"/>
              </a:lnSpc>
            </a:pPr>
            <a:r>
              <a:rPr lang="pl-PL" dirty="0"/>
              <a:t>Kluczowe cechy wzorców projektowych: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Uniwersalność</a:t>
            </a:r>
            <a:r>
              <a:rPr lang="pl-PL" dirty="0"/>
              <a:t> – można je zastosować w różnych projektach i językach programowania.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Sprawdzone rozwiązania </a:t>
            </a:r>
            <a:r>
              <a:rPr lang="pl-PL" dirty="0"/>
              <a:t>– wynikają z doświadczeń wielu programistów.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Abstrakcyjność</a:t>
            </a:r>
            <a:r>
              <a:rPr lang="pl-PL" dirty="0"/>
              <a:t> – opisują koncepcję, a nie konkretną implementację.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Ułatwiają komunikację </a:t>
            </a:r>
            <a:r>
              <a:rPr lang="pl-PL" dirty="0"/>
              <a:t>– stanowią wspólny język dla zespołów deweloperskich.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324A901-6454-3586-12E0-ECFF14F48296}"/>
              </a:ext>
            </a:extLst>
          </p:cNvPr>
          <p:cNvSpPr txBox="1"/>
          <p:nvPr/>
        </p:nvSpPr>
        <p:spPr>
          <a:xfrm>
            <a:off x="1043608" y="5259623"/>
            <a:ext cx="7668345" cy="1600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l-PL" sz="1600" dirty="0"/>
              <a:t>Podział wzorców projektowych (wg. "</a:t>
            </a:r>
            <a:r>
              <a:rPr lang="pl-PL" sz="1600" i="1" dirty="0"/>
              <a:t>Gang of </a:t>
            </a:r>
            <a:r>
              <a:rPr lang="pl-PL" sz="1600" i="1" dirty="0" err="1"/>
              <a:t>Four</a:t>
            </a:r>
            <a:r>
              <a:rPr lang="pl-PL" sz="1600" dirty="0"/>
              <a:t>" – </a:t>
            </a:r>
            <a:r>
              <a:rPr lang="pl-PL" sz="1600" dirty="0" err="1"/>
              <a:t>GoF</a:t>
            </a:r>
            <a:r>
              <a:rPr lang="pl-PL" sz="1600" dirty="0"/>
              <a:t>):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pl-PL" sz="1600" b="1" dirty="0"/>
              <a:t>Wzorce kreacyjne </a:t>
            </a:r>
            <a:r>
              <a:rPr lang="pl-PL" sz="1600" dirty="0"/>
              <a:t>– dotyczą tworzenia obiektów (np. Singleton, Fabryka).</a:t>
            </a:r>
          </a:p>
          <a:p>
            <a:pPr algn="l">
              <a:lnSpc>
                <a:spcPct val="15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pl-PL" sz="1600" b="1" dirty="0"/>
              <a:t>Wzorce strukturalne </a:t>
            </a:r>
            <a:r>
              <a:rPr lang="pl-PL" sz="1600" dirty="0"/>
              <a:t>– dotyczą kompozycji obiektów (np. Adapter, Dekorator).</a:t>
            </a:r>
          </a:p>
          <a:p>
            <a:pPr algn="l">
              <a:lnSpc>
                <a:spcPct val="15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pl-PL" sz="1600" b="1" dirty="0"/>
              <a:t>Wzorce behawioralne </a:t>
            </a:r>
            <a:r>
              <a:rPr lang="pl-PL" sz="1600" dirty="0"/>
              <a:t>– dotyczą komunikacji między obiektami (np. </a:t>
            </a:r>
            <a:r>
              <a:rPr lang="pl-PL" sz="1600" dirty="0" err="1"/>
              <a:t>Observer</a:t>
            </a:r>
            <a:r>
              <a:rPr lang="pl-PL" sz="1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52411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1E11D-84F4-06F7-3C54-8B1D36DB0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2A17F1-A350-9C51-E8AC-6A8C28511A2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Singleton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D7AD3C2-6FA9-2F95-D26A-BB517F4C9BF7}"/>
              </a:ext>
            </a:extLst>
          </p:cNvPr>
          <p:cNvSpPr txBox="1"/>
          <p:nvPr/>
        </p:nvSpPr>
        <p:spPr>
          <a:xfrm>
            <a:off x="1043608" y="908720"/>
            <a:ext cx="8028385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Singleton</a:t>
            </a:r>
            <a:r>
              <a:rPr lang="pl-PL" sz="1600" dirty="0"/>
              <a:t> to wzorzec kreacyjny, który gwarantuje istnienie tylko jednej instancji danej klasy w całym systemie i zapewnia globalny dostęp do niej. Jest często używany do zarządzania zasobami współdzielonymi (np. połączeniami do bazy danych, konfiguracją).</a:t>
            </a:r>
            <a:endParaRPr lang="pl-PL" sz="1600" b="1" dirty="0"/>
          </a:p>
        </p:txBody>
      </p:sp>
    </p:spTree>
    <p:extLst>
      <p:ext uri="{BB962C8B-B14F-4D97-AF65-F5344CB8AC3E}">
        <p14:creationId xmlns:p14="http://schemas.microsoft.com/office/powerpoint/2010/main" val="1526462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E47B19-F337-8B6E-C7F3-C10F3CBCD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BF38CA-AD26-0546-9CF4-F8A0C1B362A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Singleton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7E02B83-F370-EFBF-6F6C-E3ED6550761C}"/>
              </a:ext>
            </a:extLst>
          </p:cNvPr>
          <p:cNvSpPr txBox="1"/>
          <p:nvPr/>
        </p:nvSpPr>
        <p:spPr>
          <a:xfrm>
            <a:off x="1043608" y="908720"/>
            <a:ext cx="8028385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Singleton</a:t>
            </a:r>
            <a:r>
              <a:rPr lang="pl-PL" sz="1600" dirty="0"/>
              <a:t> to wzorzec kreacyjny, który gwarantuje istnienie tylko jednej instancji danej klasy w całym systemie i zapewnia globalny dostęp do niej. Jest często używany do zarządzania zasobami współdzielonymi (np. połączeniami do bazy danych, konfiguracją).</a:t>
            </a:r>
            <a:endParaRPr lang="pl-PL" sz="1600" b="1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B58524D-16D0-41EC-7BD8-6D93D56321F9}"/>
              </a:ext>
            </a:extLst>
          </p:cNvPr>
          <p:cNvSpPr txBox="1"/>
          <p:nvPr/>
        </p:nvSpPr>
        <p:spPr>
          <a:xfrm>
            <a:off x="1091830" y="2657505"/>
            <a:ext cx="8028385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Cechy Singletona: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Tylko jedna instancja obiektu.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Kontrolowany dostęp do tej instancji (np. przez metodę getInstance()).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Prywatny konstruktor (blokuje tworzenie nowych obiektów z zewnątrz).</a:t>
            </a:r>
          </a:p>
        </p:txBody>
      </p:sp>
    </p:spTree>
    <p:extLst>
      <p:ext uri="{BB962C8B-B14F-4D97-AF65-F5344CB8AC3E}">
        <p14:creationId xmlns:p14="http://schemas.microsoft.com/office/powerpoint/2010/main" val="3361984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4D3F39-5254-CB44-B040-FFC5ED818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0A16F6-1E39-8D37-E273-90860CE47AC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Singleton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106A2A1-AA0C-F6D3-AD98-A08C86C2A0B4}"/>
              </a:ext>
            </a:extLst>
          </p:cNvPr>
          <p:cNvSpPr txBox="1"/>
          <p:nvPr/>
        </p:nvSpPr>
        <p:spPr>
          <a:xfrm>
            <a:off x="1043608" y="908720"/>
            <a:ext cx="8028385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Singleton</a:t>
            </a:r>
            <a:r>
              <a:rPr lang="pl-PL" sz="1600" dirty="0"/>
              <a:t> to wzorzec kreacyjny, który gwarantuje istnienie tylko jednej instancji danej klasy w całym systemie i zapewnia globalny dostęp do niej. Jest często używany do zarządzania zasobami współdzielonymi (np. połączeniami do bazy danych, konfiguracją).</a:t>
            </a:r>
            <a:endParaRPr lang="pl-PL" sz="1600" b="1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A7FA628-AEBC-AE0D-C6B4-A6286A9126B5}"/>
              </a:ext>
            </a:extLst>
          </p:cNvPr>
          <p:cNvSpPr txBox="1"/>
          <p:nvPr/>
        </p:nvSpPr>
        <p:spPr>
          <a:xfrm>
            <a:off x="1091830" y="2657505"/>
            <a:ext cx="8028385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Cechy Singletona: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Tylko jedna instancja obiektu.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Kontrolowany dostęp do tej instancji (np. przez metodę getInstance()).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Prywatny konstruktor (blokuje tworzenie nowych obiektów z zewnątrz).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DCA4912-92B2-1D0E-9449-810F3DC81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4406290"/>
            <a:ext cx="6197890" cy="2271824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07741250-8F4D-0A6D-565E-61AC84132C28}"/>
              </a:ext>
            </a:extLst>
          </p:cNvPr>
          <p:cNvSpPr/>
          <p:nvPr/>
        </p:nvSpPr>
        <p:spPr>
          <a:xfrm>
            <a:off x="6804248" y="4170390"/>
            <a:ext cx="2160240" cy="43204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FA4EF71-9FBF-D32D-E4DA-9AFE57381A77}"/>
              </a:ext>
            </a:extLst>
          </p:cNvPr>
          <p:cNvSpPr txBox="1"/>
          <p:nvPr/>
        </p:nvSpPr>
        <p:spPr>
          <a:xfrm>
            <a:off x="6804248" y="4220775"/>
            <a:ext cx="285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Prywatny konstruktor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9122FF6A-4EA2-CE47-4BE9-DAB99C7FF920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868144" y="4390052"/>
            <a:ext cx="936104" cy="11906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966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56CCE-1C3B-AD58-7A65-52AD7F3BB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DD9B30-A738-3003-ABDA-CBFE9B60B28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Singleton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92AE748-D184-5F06-5282-40135D3CB1A7}"/>
              </a:ext>
            </a:extLst>
          </p:cNvPr>
          <p:cNvSpPr txBox="1"/>
          <p:nvPr/>
        </p:nvSpPr>
        <p:spPr>
          <a:xfrm>
            <a:off x="1043608" y="908720"/>
            <a:ext cx="8028385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Singleton</a:t>
            </a:r>
            <a:r>
              <a:rPr lang="pl-PL" sz="1600" dirty="0"/>
              <a:t> to wzorzec kreacyjny, który gwarantuje istnienie tylko jednej instancji danej klasy w całym systemie i zapewnia globalny dostęp do niej. Jest często używany do zarządzania zasobami współdzielonymi (np. połączeniami do bazy danych, konfiguracją).</a:t>
            </a:r>
            <a:endParaRPr lang="pl-PL" sz="1600" b="1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9717B62-E316-3874-707D-AB1197AF9E06}"/>
              </a:ext>
            </a:extLst>
          </p:cNvPr>
          <p:cNvSpPr txBox="1"/>
          <p:nvPr/>
        </p:nvSpPr>
        <p:spPr>
          <a:xfrm>
            <a:off x="1091830" y="2657505"/>
            <a:ext cx="8028385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Cechy Singletona: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Tylko jedna instancja obiektu.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Kontrolowany dostęp do tej instancji (np. przez metodę getInstance()).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Prywatny konstruktor (blokuje tworzenie nowych obiektów z zewnątrz).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B2FA60F-B92E-AE47-741A-71CA62205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4406290"/>
            <a:ext cx="6197890" cy="2271824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279075FD-CA97-9418-4CA1-C4C6F961FC54}"/>
              </a:ext>
            </a:extLst>
          </p:cNvPr>
          <p:cNvSpPr/>
          <p:nvPr/>
        </p:nvSpPr>
        <p:spPr>
          <a:xfrm>
            <a:off x="6804248" y="4170390"/>
            <a:ext cx="2160240" cy="43204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88834ED-B01B-931E-A150-2ECDCFEB4628}"/>
              </a:ext>
            </a:extLst>
          </p:cNvPr>
          <p:cNvSpPr txBox="1"/>
          <p:nvPr/>
        </p:nvSpPr>
        <p:spPr>
          <a:xfrm>
            <a:off x="6804248" y="4220775"/>
            <a:ext cx="285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Prywatny konstruktor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DDABAC6E-4DCB-C24D-D22F-301E99089C5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868144" y="4390052"/>
            <a:ext cx="936104" cy="11906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8727CBC8-1F1D-E46E-5BDE-E31B40D62B76}"/>
              </a:ext>
            </a:extLst>
          </p:cNvPr>
          <p:cNvSpPr/>
          <p:nvPr/>
        </p:nvSpPr>
        <p:spPr>
          <a:xfrm>
            <a:off x="147626" y="4556107"/>
            <a:ext cx="2160240" cy="6128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C1B2BE9F-2DFA-6EA9-B68B-E23A4E93EE3E}"/>
              </a:ext>
            </a:extLst>
          </p:cNvPr>
          <p:cNvSpPr txBox="1"/>
          <p:nvPr/>
        </p:nvSpPr>
        <p:spPr>
          <a:xfrm>
            <a:off x="165431" y="4559329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Umożliwia dostęp do instance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988B194E-FAA0-85E3-9DE8-16E91AE4856A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307866" y="4862551"/>
            <a:ext cx="535942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222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5E2F12-AADC-4342-DCB9-ADBAFD38A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1E49B4-70D3-66B1-69F6-15E727EE354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Singleton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EBD9016-6A43-A781-286B-3C08F5409B79}"/>
              </a:ext>
            </a:extLst>
          </p:cNvPr>
          <p:cNvSpPr txBox="1"/>
          <p:nvPr/>
        </p:nvSpPr>
        <p:spPr>
          <a:xfrm>
            <a:off x="1043608" y="908720"/>
            <a:ext cx="8028385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Singleton</a:t>
            </a:r>
            <a:r>
              <a:rPr lang="pl-PL" sz="1600" dirty="0"/>
              <a:t> to wzorzec kreacyjny, który gwarantuje istnienie tylko jednej instancji danej klasy w całym systemie i zapewnia globalny dostęp do niej. Jest często używany do zarządzania zasobami współdzielonymi (np. połączeniami do bazy danych, konfiguracją).</a:t>
            </a:r>
            <a:endParaRPr lang="pl-PL" sz="1600" b="1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89B5E69-B365-E846-6544-695592BBB617}"/>
              </a:ext>
            </a:extLst>
          </p:cNvPr>
          <p:cNvSpPr txBox="1"/>
          <p:nvPr/>
        </p:nvSpPr>
        <p:spPr>
          <a:xfrm>
            <a:off x="1091830" y="2657505"/>
            <a:ext cx="8028385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Cechy Singletona: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Tylko jedna instancja obiektu.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Kontrolowany dostęp do tej instancji (np. przez metodę getInstance()).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Prywatny konstruktor (blokuje tworzenie nowych obiektów z zewnątrz).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1D3B48D-C9A6-5426-33D9-37F1960E5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4406290"/>
            <a:ext cx="6197890" cy="2271824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547DD170-817C-42C9-C4AB-A26812521CDB}"/>
              </a:ext>
            </a:extLst>
          </p:cNvPr>
          <p:cNvSpPr/>
          <p:nvPr/>
        </p:nvSpPr>
        <p:spPr>
          <a:xfrm>
            <a:off x="6804248" y="4170390"/>
            <a:ext cx="2160240" cy="43204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1245EF3-35EC-27C2-026D-242F251CC945}"/>
              </a:ext>
            </a:extLst>
          </p:cNvPr>
          <p:cNvSpPr txBox="1"/>
          <p:nvPr/>
        </p:nvSpPr>
        <p:spPr>
          <a:xfrm>
            <a:off x="6804248" y="4220775"/>
            <a:ext cx="285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Prywatny konstruktor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FFFA8E07-6636-2FA0-49D4-C9053B6F61AD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868144" y="4390052"/>
            <a:ext cx="936104" cy="11906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22EE391B-E85F-579C-B691-DF5C59E903ED}"/>
              </a:ext>
            </a:extLst>
          </p:cNvPr>
          <p:cNvSpPr/>
          <p:nvPr/>
        </p:nvSpPr>
        <p:spPr>
          <a:xfrm>
            <a:off x="147626" y="4556107"/>
            <a:ext cx="2160240" cy="6128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658FA86-AFE6-2658-BCE8-2B5E10313B91}"/>
              </a:ext>
            </a:extLst>
          </p:cNvPr>
          <p:cNvSpPr txBox="1"/>
          <p:nvPr/>
        </p:nvSpPr>
        <p:spPr>
          <a:xfrm>
            <a:off x="165431" y="4559329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Umożliwia dostęp do instance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4F5D4405-3ADB-2FCC-3A35-6DE1CB3F0A8A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307866" y="4862551"/>
            <a:ext cx="535942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FD084608-BFCA-F405-94E9-896D9A8A7E73}"/>
              </a:ext>
            </a:extLst>
          </p:cNvPr>
          <p:cNvSpPr/>
          <p:nvPr/>
        </p:nvSpPr>
        <p:spPr>
          <a:xfrm>
            <a:off x="6544089" y="5333832"/>
            <a:ext cx="2510098" cy="1360476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9435F542-40D6-624A-8B41-7FF5B5E31E58}"/>
              </a:ext>
            </a:extLst>
          </p:cNvPr>
          <p:cNvSpPr txBox="1"/>
          <p:nvPr/>
        </p:nvSpPr>
        <p:spPr>
          <a:xfrm>
            <a:off x="6561893" y="5337054"/>
            <a:ext cx="25100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inicjalizuje obiekt dopiero przy pierwszym użyciu (</a:t>
            </a:r>
            <a:r>
              <a:rPr lang="pl-PL" sz="1600" b="1" dirty="0"/>
              <a:t>leniwa inicjalizacja</a:t>
            </a:r>
            <a:r>
              <a:rPr lang="pl-PL" sz="1600" dirty="0"/>
              <a:t>)</a:t>
            </a:r>
          </a:p>
          <a:p>
            <a:pPr algn="just"/>
            <a:r>
              <a:rPr lang="pl-PL" sz="1600" b="1" dirty="0" err="1"/>
              <a:t>lazy</a:t>
            </a:r>
            <a:r>
              <a:rPr lang="pl-PL" sz="1600" dirty="0"/>
              <a:t> w Kotlinie jest </a:t>
            </a:r>
            <a:r>
              <a:rPr lang="pl-PL" sz="1600" b="1" dirty="0" err="1"/>
              <a:t>thread-safe</a:t>
            </a:r>
            <a:endParaRPr lang="pl-PL" sz="1600" b="1" dirty="0"/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9AFE75D6-D711-EE8E-4B02-0FF582AE2714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6156176" y="5168995"/>
            <a:ext cx="405717" cy="82977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858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8C39E-E154-49EB-1BAB-D6EF9C8B4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A5EA8E-AA2A-AA5C-50DE-86F6DCBD5E4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Singleton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843259C1-D35F-87E9-DFA3-D59CAD43EA4A}"/>
              </a:ext>
            </a:extLst>
          </p:cNvPr>
          <p:cNvSpPr/>
          <p:nvPr/>
        </p:nvSpPr>
        <p:spPr>
          <a:xfrm>
            <a:off x="323528" y="980138"/>
            <a:ext cx="2160240" cy="6128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25FE85C6-777C-27A1-1ED5-0534813E724D}"/>
              </a:ext>
            </a:extLst>
          </p:cNvPr>
          <p:cNvSpPr txBox="1"/>
          <p:nvPr/>
        </p:nvSpPr>
        <p:spPr>
          <a:xfrm>
            <a:off x="611560" y="1104230"/>
            <a:ext cx="2088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Słowo kluczowe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F0775A97-80EB-85E6-8132-D108A605C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798" y="970152"/>
            <a:ext cx="3652347" cy="1190544"/>
          </a:xfrm>
          <a:prstGeom prst="rect">
            <a:avLst/>
          </a:prstGeom>
        </p:spPr>
      </p:pic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9CAD7B71-25D3-E7BF-C322-2483A05A2EFB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483768" y="1196752"/>
            <a:ext cx="576064" cy="8983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301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DE198-9226-FEC6-9930-6AF851008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7AC6F2BE-DC77-05A0-D6DF-3DD6AE759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312" y="2979995"/>
            <a:ext cx="5905543" cy="3438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3B00FBD-1806-5DC4-019C-EC910CAE421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Singleton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98D7E6EB-6CF7-6AFC-BF4E-61691A8B6E68}"/>
              </a:ext>
            </a:extLst>
          </p:cNvPr>
          <p:cNvCxnSpPr>
            <a:cxnSpLocks/>
          </p:cNvCxnSpPr>
          <p:nvPr/>
        </p:nvCxnSpPr>
        <p:spPr>
          <a:xfrm>
            <a:off x="5033969" y="2514348"/>
            <a:ext cx="42087" cy="5546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8C3FF938-C8CB-5A6F-C71A-C66722C9CE11}"/>
              </a:ext>
            </a:extLst>
          </p:cNvPr>
          <p:cNvSpPr/>
          <p:nvPr/>
        </p:nvSpPr>
        <p:spPr>
          <a:xfrm>
            <a:off x="323528" y="980138"/>
            <a:ext cx="2160240" cy="6128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FE7F595C-C385-7529-A95B-A0C2DE3C4DF7}"/>
              </a:ext>
            </a:extLst>
          </p:cNvPr>
          <p:cNvSpPr txBox="1"/>
          <p:nvPr/>
        </p:nvSpPr>
        <p:spPr>
          <a:xfrm>
            <a:off x="611560" y="1104230"/>
            <a:ext cx="2088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Słowo kluczowe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A67DAFC8-D53A-85F2-4C5C-3941330F5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798" y="970152"/>
            <a:ext cx="3652347" cy="1190544"/>
          </a:xfrm>
          <a:prstGeom prst="rect">
            <a:avLst/>
          </a:prstGeom>
        </p:spPr>
      </p:pic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2F96B630-B635-62D5-ED7E-CEBEF3700418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483768" y="1196752"/>
            <a:ext cx="576064" cy="8983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5F1305C1-50D7-4F88-5891-C9577616468C}"/>
              </a:ext>
            </a:extLst>
          </p:cNvPr>
          <p:cNvSpPr/>
          <p:nvPr/>
        </p:nvSpPr>
        <p:spPr>
          <a:xfrm>
            <a:off x="3995936" y="2036424"/>
            <a:ext cx="2160240" cy="43204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CF310E5-5227-A270-B25F-E2A351BAB457}"/>
              </a:ext>
            </a:extLst>
          </p:cNvPr>
          <p:cNvSpPr txBox="1"/>
          <p:nvPr/>
        </p:nvSpPr>
        <p:spPr>
          <a:xfrm>
            <a:off x="4071405" y="2077903"/>
            <a:ext cx="285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Prywatny konstruktor</a:t>
            </a:r>
          </a:p>
        </p:txBody>
      </p:sp>
    </p:spTree>
    <p:extLst>
      <p:ext uri="{BB962C8B-B14F-4D97-AF65-F5344CB8AC3E}">
        <p14:creationId xmlns:p14="http://schemas.microsoft.com/office/powerpoint/2010/main" val="3410497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ED5C0-7EA1-51E8-F707-F9550E1A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471EB792-0FAB-2ABB-A564-805A97987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312" y="2979995"/>
            <a:ext cx="5905543" cy="3438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23FB312-C0D9-0F16-5CCF-FC939D7AB7A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Singleton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34778D6A-9E91-A985-4118-2D57DDACCD59}"/>
              </a:ext>
            </a:extLst>
          </p:cNvPr>
          <p:cNvCxnSpPr>
            <a:cxnSpLocks/>
          </p:cNvCxnSpPr>
          <p:nvPr/>
        </p:nvCxnSpPr>
        <p:spPr>
          <a:xfrm>
            <a:off x="5033969" y="2514348"/>
            <a:ext cx="42087" cy="5546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4CD32AAD-357B-F655-4B1F-14FDD3FE2EB8}"/>
              </a:ext>
            </a:extLst>
          </p:cNvPr>
          <p:cNvSpPr/>
          <p:nvPr/>
        </p:nvSpPr>
        <p:spPr>
          <a:xfrm>
            <a:off x="323528" y="980138"/>
            <a:ext cx="2160240" cy="6128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5CBB044-05D0-3BF7-3C17-4C2B4D613C75}"/>
              </a:ext>
            </a:extLst>
          </p:cNvPr>
          <p:cNvSpPr txBox="1"/>
          <p:nvPr/>
        </p:nvSpPr>
        <p:spPr>
          <a:xfrm>
            <a:off x="611560" y="1104230"/>
            <a:ext cx="2088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Słowo kluczowe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30B9C40A-7732-6AC7-0917-704B18095A17}"/>
              </a:ext>
            </a:extLst>
          </p:cNvPr>
          <p:cNvSpPr/>
          <p:nvPr/>
        </p:nvSpPr>
        <p:spPr>
          <a:xfrm>
            <a:off x="-26330" y="3419421"/>
            <a:ext cx="2510098" cy="19746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A76567E6-E1C0-93C2-11C5-60D02945A77F}"/>
              </a:ext>
            </a:extLst>
          </p:cNvPr>
          <p:cNvSpPr txBox="1"/>
          <p:nvPr/>
        </p:nvSpPr>
        <p:spPr>
          <a:xfrm>
            <a:off x="-26331" y="3521002"/>
            <a:ext cx="25100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zapewnia, że zmiana wartości instance jest </a:t>
            </a:r>
            <a:r>
              <a:rPr lang="pl-PL" sz="1600" b="1" dirty="0"/>
              <a:t>natychmiast widoczna </a:t>
            </a:r>
            <a:r>
              <a:rPr lang="pl-PL" sz="1600" dirty="0"/>
              <a:t>dla wszystkich wątków (zapobiega problemom z </a:t>
            </a:r>
            <a:r>
              <a:rPr lang="pl-PL" sz="1600" b="1" dirty="0"/>
              <a:t>pamięcią podręczną </a:t>
            </a:r>
            <a:r>
              <a:rPr lang="pl-PL" sz="1600" dirty="0"/>
              <a:t>CPU).</a:t>
            </a:r>
            <a:endParaRPr lang="pl-PL" sz="1600" b="1" dirty="0"/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66D62BE7-9502-F926-20B3-3EDE22A727F9}"/>
              </a:ext>
            </a:extLst>
          </p:cNvPr>
          <p:cNvCxnSpPr>
            <a:cxnSpLocks/>
          </p:cNvCxnSpPr>
          <p:nvPr/>
        </p:nvCxnSpPr>
        <p:spPr>
          <a:xfrm flipV="1">
            <a:off x="2483768" y="3547665"/>
            <a:ext cx="576064" cy="996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895E0773-4667-6D84-F427-8F05882383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798" y="970152"/>
            <a:ext cx="3652347" cy="1190544"/>
          </a:xfrm>
          <a:prstGeom prst="rect">
            <a:avLst/>
          </a:prstGeom>
        </p:spPr>
      </p:pic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3B6EDAF5-21C9-DB12-8947-1830A83C95B6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483768" y="1196752"/>
            <a:ext cx="576064" cy="8983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EEE08B20-0A0F-5111-C4B3-1CDBA23EF17F}"/>
              </a:ext>
            </a:extLst>
          </p:cNvPr>
          <p:cNvSpPr/>
          <p:nvPr/>
        </p:nvSpPr>
        <p:spPr>
          <a:xfrm>
            <a:off x="3995936" y="2036424"/>
            <a:ext cx="2160240" cy="43204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2E1377E-E685-32EF-175F-F6E6CAA33E0B}"/>
              </a:ext>
            </a:extLst>
          </p:cNvPr>
          <p:cNvSpPr txBox="1"/>
          <p:nvPr/>
        </p:nvSpPr>
        <p:spPr>
          <a:xfrm>
            <a:off x="4071405" y="2077903"/>
            <a:ext cx="285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Prywatny konstruktor</a:t>
            </a:r>
          </a:p>
        </p:txBody>
      </p:sp>
    </p:spTree>
    <p:extLst>
      <p:ext uri="{BB962C8B-B14F-4D97-AF65-F5344CB8AC3E}">
        <p14:creationId xmlns:p14="http://schemas.microsoft.com/office/powerpoint/2010/main" val="970761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58AA5-E384-C8A8-DAEA-90627116E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C29D78AD-EDA3-70B6-990E-C29ACB14B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312" y="2979995"/>
            <a:ext cx="5905543" cy="3438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93B6D7F-B068-CD26-645F-A0C19911BEE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Singleton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0BE02DE5-2690-3C37-2CBB-8BA13B6F7EC6}"/>
              </a:ext>
            </a:extLst>
          </p:cNvPr>
          <p:cNvCxnSpPr>
            <a:cxnSpLocks/>
          </p:cNvCxnSpPr>
          <p:nvPr/>
        </p:nvCxnSpPr>
        <p:spPr>
          <a:xfrm>
            <a:off x="5033969" y="2514348"/>
            <a:ext cx="42087" cy="5546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18CED544-1417-993D-ED35-8AD76B883161}"/>
              </a:ext>
            </a:extLst>
          </p:cNvPr>
          <p:cNvSpPr/>
          <p:nvPr/>
        </p:nvSpPr>
        <p:spPr>
          <a:xfrm>
            <a:off x="323528" y="980138"/>
            <a:ext cx="2160240" cy="6128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D513450C-3E49-39D7-5CED-281A9167F037}"/>
              </a:ext>
            </a:extLst>
          </p:cNvPr>
          <p:cNvSpPr txBox="1"/>
          <p:nvPr/>
        </p:nvSpPr>
        <p:spPr>
          <a:xfrm>
            <a:off x="611560" y="1104230"/>
            <a:ext cx="2088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Słowo kluczowe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FA807CA0-E21C-B802-0E6F-99A11BCE1FEC}"/>
              </a:ext>
            </a:extLst>
          </p:cNvPr>
          <p:cNvSpPr/>
          <p:nvPr/>
        </p:nvSpPr>
        <p:spPr>
          <a:xfrm>
            <a:off x="-26330" y="3419421"/>
            <a:ext cx="2510098" cy="19746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74D671FE-BF3F-2F97-7472-E172C1585DC8}"/>
              </a:ext>
            </a:extLst>
          </p:cNvPr>
          <p:cNvSpPr txBox="1"/>
          <p:nvPr/>
        </p:nvSpPr>
        <p:spPr>
          <a:xfrm>
            <a:off x="-26331" y="3521002"/>
            <a:ext cx="25100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zapewnia, że zmiana wartości instance jest </a:t>
            </a:r>
            <a:r>
              <a:rPr lang="pl-PL" sz="1600" b="1" dirty="0"/>
              <a:t>natychmiast widoczna </a:t>
            </a:r>
            <a:r>
              <a:rPr lang="pl-PL" sz="1600" dirty="0"/>
              <a:t>dla wszystkich wątków (zapobiega problemom z </a:t>
            </a:r>
            <a:r>
              <a:rPr lang="pl-PL" sz="1600" b="1" dirty="0"/>
              <a:t>pamięcią podręczną </a:t>
            </a:r>
            <a:r>
              <a:rPr lang="pl-PL" sz="1600" dirty="0"/>
              <a:t>CPU).</a:t>
            </a:r>
            <a:endParaRPr lang="pl-PL" sz="1600" b="1" dirty="0"/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9B33EA2F-8D79-E7B9-08F8-C0C38350A083}"/>
              </a:ext>
            </a:extLst>
          </p:cNvPr>
          <p:cNvCxnSpPr>
            <a:cxnSpLocks/>
          </p:cNvCxnSpPr>
          <p:nvPr/>
        </p:nvCxnSpPr>
        <p:spPr>
          <a:xfrm flipV="1">
            <a:off x="2483768" y="3547665"/>
            <a:ext cx="576064" cy="996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F77C0CE3-305C-7732-129B-7449F1747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798" y="970152"/>
            <a:ext cx="3652347" cy="1190544"/>
          </a:xfrm>
          <a:prstGeom prst="rect">
            <a:avLst/>
          </a:prstGeom>
        </p:spPr>
      </p:pic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2AF884D3-2218-EE16-9E5E-1875FEF3129C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483768" y="1196752"/>
            <a:ext cx="576064" cy="8983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36D83899-5254-B1AF-5A5B-94C2DA0A5BEE}"/>
              </a:ext>
            </a:extLst>
          </p:cNvPr>
          <p:cNvSpPr/>
          <p:nvPr/>
        </p:nvSpPr>
        <p:spPr>
          <a:xfrm>
            <a:off x="6722790" y="2129500"/>
            <a:ext cx="2124753" cy="826245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4A1209FA-DCE1-32B4-F9BE-8F4D90D41007}"/>
              </a:ext>
            </a:extLst>
          </p:cNvPr>
          <p:cNvSpPr txBox="1"/>
          <p:nvPr/>
        </p:nvSpPr>
        <p:spPr>
          <a:xfrm>
            <a:off x="6744577" y="2145694"/>
            <a:ext cx="2113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przechowuje </a:t>
            </a:r>
            <a:r>
              <a:rPr lang="pl-PL" sz="1600" b="1" dirty="0"/>
              <a:t>jedyną instancję </a:t>
            </a:r>
            <a:r>
              <a:rPr lang="pl-PL" sz="1600" dirty="0"/>
              <a:t>Singletona (domyślnie </a:t>
            </a:r>
            <a:r>
              <a:rPr lang="pl-PL" sz="1600" dirty="0" err="1"/>
              <a:t>null</a:t>
            </a:r>
            <a:r>
              <a:rPr lang="pl-PL" sz="1600" dirty="0"/>
              <a:t>).</a:t>
            </a:r>
            <a:endParaRPr lang="pl-PL" sz="1600" b="1" dirty="0"/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AEA9A76D-C4B5-508A-43A5-54DEAFEE2491}"/>
              </a:ext>
            </a:extLst>
          </p:cNvPr>
          <p:cNvCxnSpPr>
            <a:cxnSpLocks/>
          </p:cNvCxnSpPr>
          <p:nvPr/>
        </p:nvCxnSpPr>
        <p:spPr>
          <a:xfrm flipH="1">
            <a:off x="5985915" y="2956848"/>
            <a:ext cx="794959" cy="65226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D4C13DA7-3B0C-9ACA-597C-BDFD98427A42}"/>
              </a:ext>
            </a:extLst>
          </p:cNvPr>
          <p:cNvSpPr/>
          <p:nvPr/>
        </p:nvSpPr>
        <p:spPr>
          <a:xfrm>
            <a:off x="3995936" y="2036424"/>
            <a:ext cx="2160240" cy="43204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2000113-AAA6-71AB-6BEF-8B95C5890FC4}"/>
              </a:ext>
            </a:extLst>
          </p:cNvPr>
          <p:cNvSpPr txBox="1"/>
          <p:nvPr/>
        </p:nvSpPr>
        <p:spPr>
          <a:xfrm>
            <a:off x="4071405" y="2077903"/>
            <a:ext cx="285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Prywatny konstruktor</a:t>
            </a:r>
          </a:p>
        </p:txBody>
      </p:sp>
    </p:spTree>
    <p:extLst>
      <p:ext uri="{BB962C8B-B14F-4D97-AF65-F5344CB8AC3E}">
        <p14:creationId xmlns:p14="http://schemas.microsoft.com/office/powerpoint/2010/main" val="932287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E4EDA-BB7C-006C-E489-B1A2F6F83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F6E2FB3B-5E85-BEC6-7C74-044FCD3BB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312" y="2979995"/>
            <a:ext cx="5905543" cy="3438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12A511-F5F9-F568-1255-8AEEC47A703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Singleton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F3312E2C-D24F-93DD-5874-7B47BD926BEA}"/>
              </a:ext>
            </a:extLst>
          </p:cNvPr>
          <p:cNvCxnSpPr>
            <a:cxnSpLocks/>
          </p:cNvCxnSpPr>
          <p:nvPr/>
        </p:nvCxnSpPr>
        <p:spPr>
          <a:xfrm>
            <a:off x="5033969" y="2514348"/>
            <a:ext cx="42087" cy="5546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699996B2-ECC4-6B44-8320-2C5E6EC1B853}"/>
              </a:ext>
            </a:extLst>
          </p:cNvPr>
          <p:cNvSpPr/>
          <p:nvPr/>
        </p:nvSpPr>
        <p:spPr>
          <a:xfrm>
            <a:off x="323528" y="980138"/>
            <a:ext cx="2160240" cy="6128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2CA800F1-B133-572E-C7D6-65F4530CF13D}"/>
              </a:ext>
            </a:extLst>
          </p:cNvPr>
          <p:cNvSpPr txBox="1"/>
          <p:nvPr/>
        </p:nvSpPr>
        <p:spPr>
          <a:xfrm>
            <a:off x="611560" y="1104230"/>
            <a:ext cx="2088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Słowo kluczowe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A2D9DDCC-E67F-4A58-B268-F83BB5B39D45}"/>
              </a:ext>
            </a:extLst>
          </p:cNvPr>
          <p:cNvSpPr/>
          <p:nvPr/>
        </p:nvSpPr>
        <p:spPr>
          <a:xfrm>
            <a:off x="-26330" y="3419421"/>
            <a:ext cx="2510098" cy="19746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96B92F7E-729E-B512-F2E8-BFE323988C7F}"/>
              </a:ext>
            </a:extLst>
          </p:cNvPr>
          <p:cNvSpPr txBox="1"/>
          <p:nvPr/>
        </p:nvSpPr>
        <p:spPr>
          <a:xfrm>
            <a:off x="-26331" y="3521002"/>
            <a:ext cx="25100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zapewnia, że zmiana wartości instance jest </a:t>
            </a:r>
            <a:r>
              <a:rPr lang="pl-PL" sz="1600" b="1" dirty="0"/>
              <a:t>natychmiast widoczna </a:t>
            </a:r>
            <a:r>
              <a:rPr lang="pl-PL" sz="1600" dirty="0"/>
              <a:t>dla wszystkich wątków (zapobiega problemom z </a:t>
            </a:r>
            <a:r>
              <a:rPr lang="pl-PL" sz="1600" b="1" dirty="0"/>
              <a:t>pamięcią podręczną </a:t>
            </a:r>
            <a:r>
              <a:rPr lang="pl-PL" sz="1600" dirty="0"/>
              <a:t>CPU).</a:t>
            </a:r>
            <a:endParaRPr lang="pl-PL" sz="1600" b="1" dirty="0"/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56609F06-8B27-B34F-5DC9-28F0F07B7BBA}"/>
              </a:ext>
            </a:extLst>
          </p:cNvPr>
          <p:cNvCxnSpPr>
            <a:cxnSpLocks/>
          </p:cNvCxnSpPr>
          <p:nvPr/>
        </p:nvCxnSpPr>
        <p:spPr>
          <a:xfrm flipV="1">
            <a:off x="2483768" y="3547665"/>
            <a:ext cx="576064" cy="996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25EAC6EE-377E-6170-A62A-F1D874141E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798" y="970152"/>
            <a:ext cx="3652347" cy="1190544"/>
          </a:xfrm>
          <a:prstGeom prst="rect">
            <a:avLst/>
          </a:prstGeom>
        </p:spPr>
      </p:pic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39FEEC36-0CCA-0F71-5290-E16BA7C8E5D4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483768" y="1196752"/>
            <a:ext cx="576064" cy="8983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B441E0E1-E590-3349-E094-026F39D29B85}"/>
              </a:ext>
            </a:extLst>
          </p:cNvPr>
          <p:cNvSpPr/>
          <p:nvPr/>
        </p:nvSpPr>
        <p:spPr>
          <a:xfrm>
            <a:off x="6722790" y="2129500"/>
            <a:ext cx="2124753" cy="826245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B387142E-0955-3E99-CD10-40D64F7EF889}"/>
              </a:ext>
            </a:extLst>
          </p:cNvPr>
          <p:cNvSpPr txBox="1"/>
          <p:nvPr/>
        </p:nvSpPr>
        <p:spPr>
          <a:xfrm>
            <a:off x="6744577" y="2145694"/>
            <a:ext cx="2113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przechowuje </a:t>
            </a:r>
            <a:r>
              <a:rPr lang="pl-PL" sz="1600" b="1" dirty="0"/>
              <a:t>jedyną instancję </a:t>
            </a:r>
            <a:r>
              <a:rPr lang="pl-PL" sz="1600" dirty="0"/>
              <a:t>Singletona (domyślnie </a:t>
            </a:r>
            <a:r>
              <a:rPr lang="pl-PL" sz="1600" dirty="0" err="1"/>
              <a:t>null</a:t>
            </a:r>
            <a:r>
              <a:rPr lang="pl-PL" sz="1600" dirty="0"/>
              <a:t>).</a:t>
            </a:r>
            <a:endParaRPr lang="pl-PL" sz="1600" b="1" dirty="0"/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8B64F748-C62C-9E20-BF3A-B3CCB949985F}"/>
              </a:ext>
            </a:extLst>
          </p:cNvPr>
          <p:cNvCxnSpPr>
            <a:cxnSpLocks/>
          </p:cNvCxnSpPr>
          <p:nvPr/>
        </p:nvCxnSpPr>
        <p:spPr>
          <a:xfrm flipH="1">
            <a:off x="5985915" y="2956848"/>
            <a:ext cx="794959" cy="65226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120AA263-2174-07E9-7935-CE17D20D45D1}"/>
              </a:ext>
            </a:extLst>
          </p:cNvPr>
          <p:cNvSpPr/>
          <p:nvPr/>
        </p:nvSpPr>
        <p:spPr>
          <a:xfrm>
            <a:off x="3995936" y="2036424"/>
            <a:ext cx="2160240" cy="43204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E8230DF-4B08-8C44-0A06-E8260F9BED7A}"/>
              </a:ext>
            </a:extLst>
          </p:cNvPr>
          <p:cNvSpPr txBox="1"/>
          <p:nvPr/>
        </p:nvSpPr>
        <p:spPr>
          <a:xfrm>
            <a:off x="4071405" y="2077903"/>
            <a:ext cx="285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Prywatny konstruktor</a:t>
            </a: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30CE76B8-E873-0ABF-3CE1-222C7186BB52}"/>
              </a:ext>
            </a:extLst>
          </p:cNvPr>
          <p:cNvSpPr/>
          <p:nvPr/>
        </p:nvSpPr>
        <p:spPr>
          <a:xfrm>
            <a:off x="6660235" y="3380520"/>
            <a:ext cx="2483766" cy="1083826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58852599-23A4-A447-75AB-097CDA6E4C87}"/>
              </a:ext>
            </a:extLst>
          </p:cNvPr>
          <p:cNvSpPr txBox="1"/>
          <p:nvPr/>
        </p:nvSpPr>
        <p:spPr>
          <a:xfrm>
            <a:off x="6680615" y="3383824"/>
            <a:ext cx="25100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blokuje</a:t>
            </a:r>
            <a:r>
              <a:rPr lang="pl-PL" sz="1600" dirty="0"/>
              <a:t> dostęp dla innych wątków, dopóki jeden wątek nie zakończy inicjalizacji.</a:t>
            </a:r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C4CB22FA-E2E7-2289-9667-29171688B473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6156176" y="3922433"/>
            <a:ext cx="504059" cy="42028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091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96773D-CCE3-D7FD-3E94-AA69C06DE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40426FC0-C20A-CBFD-00A9-8A539F8D7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312" y="2979995"/>
            <a:ext cx="5905543" cy="3438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F4A19F-76C9-2210-E57A-8A3E597E09D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Singleton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EBCCF1EA-FF6E-6423-495D-958875F93452}"/>
              </a:ext>
            </a:extLst>
          </p:cNvPr>
          <p:cNvCxnSpPr>
            <a:cxnSpLocks/>
          </p:cNvCxnSpPr>
          <p:nvPr/>
        </p:nvCxnSpPr>
        <p:spPr>
          <a:xfrm>
            <a:off x="5033969" y="2514348"/>
            <a:ext cx="42087" cy="5546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FFBD5E60-27B1-E088-E0BD-1D00353F40FA}"/>
              </a:ext>
            </a:extLst>
          </p:cNvPr>
          <p:cNvSpPr/>
          <p:nvPr/>
        </p:nvSpPr>
        <p:spPr>
          <a:xfrm>
            <a:off x="323528" y="980138"/>
            <a:ext cx="2160240" cy="6128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52A2730E-402E-EC96-2702-69B13B04703E}"/>
              </a:ext>
            </a:extLst>
          </p:cNvPr>
          <p:cNvSpPr txBox="1"/>
          <p:nvPr/>
        </p:nvSpPr>
        <p:spPr>
          <a:xfrm>
            <a:off x="611560" y="1104230"/>
            <a:ext cx="2088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Słowo kluczowe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D7719E92-C92E-09FF-54A9-7EE027607271}"/>
              </a:ext>
            </a:extLst>
          </p:cNvPr>
          <p:cNvSpPr/>
          <p:nvPr/>
        </p:nvSpPr>
        <p:spPr>
          <a:xfrm>
            <a:off x="-26330" y="3419421"/>
            <a:ext cx="2510098" cy="19746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8E235A2D-044C-3B1A-E879-9E9224B0B219}"/>
              </a:ext>
            </a:extLst>
          </p:cNvPr>
          <p:cNvSpPr txBox="1"/>
          <p:nvPr/>
        </p:nvSpPr>
        <p:spPr>
          <a:xfrm>
            <a:off x="-26331" y="3521002"/>
            <a:ext cx="25100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zapewnia, że zmiana wartości instance jest </a:t>
            </a:r>
            <a:r>
              <a:rPr lang="pl-PL" sz="1600" b="1" dirty="0"/>
              <a:t>natychmiast widoczna </a:t>
            </a:r>
            <a:r>
              <a:rPr lang="pl-PL" sz="1600" dirty="0"/>
              <a:t>dla wszystkich wątków (zapobiega problemom z </a:t>
            </a:r>
            <a:r>
              <a:rPr lang="pl-PL" sz="1600" b="1" dirty="0"/>
              <a:t>pamięcią podręczną </a:t>
            </a:r>
            <a:r>
              <a:rPr lang="pl-PL" sz="1600" dirty="0"/>
              <a:t>CPU).</a:t>
            </a:r>
            <a:endParaRPr lang="pl-PL" sz="1600" b="1" dirty="0"/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E6E381AA-92A3-05B6-0E35-F36118042230}"/>
              </a:ext>
            </a:extLst>
          </p:cNvPr>
          <p:cNvCxnSpPr>
            <a:cxnSpLocks/>
          </p:cNvCxnSpPr>
          <p:nvPr/>
        </p:nvCxnSpPr>
        <p:spPr>
          <a:xfrm flipV="1">
            <a:off x="2483768" y="3547665"/>
            <a:ext cx="576064" cy="996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4562A452-9538-C4DD-EA9D-24F375CACB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798" y="970152"/>
            <a:ext cx="3652347" cy="1190544"/>
          </a:xfrm>
          <a:prstGeom prst="rect">
            <a:avLst/>
          </a:prstGeom>
        </p:spPr>
      </p:pic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4B624419-2589-7607-60A6-33C84D496CE0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483768" y="1196752"/>
            <a:ext cx="576064" cy="8983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2398D171-7D85-187A-0B21-65D5A1E054CD}"/>
              </a:ext>
            </a:extLst>
          </p:cNvPr>
          <p:cNvSpPr/>
          <p:nvPr/>
        </p:nvSpPr>
        <p:spPr>
          <a:xfrm>
            <a:off x="6722790" y="2129500"/>
            <a:ext cx="2124753" cy="826245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02709EC3-29EC-3485-C40A-64307784A4DC}"/>
              </a:ext>
            </a:extLst>
          </p:cNvPr>
          <p:cNvSpPr txBox="1"/>
          <p:nvPr/>
        </p:nvSpPr>
        <p:spPr>
          <a:xfrm>
            <a:off x="6744577" y="2145694"/>
            <a:ext cx="2113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przechowuje </a:t>
            </a:r>
            <a:r>
              <a:rPr lang="pl-PL" sz="1600" b="1" dirty="0"/>
              <a:t>jedyną instancję </a:t>
            </a:r>
            <a:r>
              <a:rPr lang="pl-PL" sz="1600" dirty="0"/>
              <a:t>Singletona (domyślnie </a:t>
            </a:r>
            <a:r>
              <a:rPr lang="pl-PL" sz="1600" dirty="0" err="1"/>
              <a:t>null</a:t>
            </a:r>
            <a:r>
              <a:rPr lang="pl-PL" sz="1600" dirty="0"/>
              <a:t>).</a:t>
            </a:r>
            <a:endParaRPr lang="pl-PL" sz="1600" b="1" dirty="0"/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3198AEE3-42BA-18EA-7FD3-488835703F51}"/>
              </a:ext>
            </a:extLst>
          </p:cNvPr>
          <p:cNvCxnSpPr>
            <a:cxnSpLocks/>
          </p:cNvCxnSpPr>
          <p:nvPr/>
        </p:nvCxnSpPr>
        <p:spPr>
          <a:xfrm flipH="1">
            <a:off x="5985915" y="2956848"/>
            <a:ext cx="794959" cy="65226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5E69191A-F28F-69C6-B86C-D3B31419D045}"/>
              </a:ext>
            </a:extLst>
          </p:cNvPr>
          <p:cNvSpPr/>
          <p:nvPr/>
        </p:nvSpPr>
        <p:spPr>
          <a:xfrm>
            <a:off x="3995936" y="2036424"/>
            <a:ext cx="2160240" cy="43204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0083342-3D96-A74D-CD30-997D551BA0A9}"/>
              </a:ext>
            </a:extLst>
          </p:cNvPr>
          <p:cNvSpPr txBox="1"/>
          <p:nvPr/>
        </p:nvSpPr>
        <p:spPr>
          <a:xfrm>
            <a:off x="4071405" y="2077903"/>
            <a:ext cx="285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Prywatny konstruktor</a:t>
            </a: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F9BAC628-B770-AC4B-F525-A82D3C3DD7A9}"/>
              </a:ext>
            </a:extLst>
          </p:cNvPr>
          <p:cNvSpPr/>
          <p:nvPr/>
        </p:nvSpPr>
        <p:spPr>
          <a:xfrm>
            <a:off x="6660235" y="3380520"/>
            <a:ext cx="2483766" cy="1083826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C2AA014E-8A5B-B782-F311-F30A991A3E81}"/>
              </a:ext>
            </a:extLst>
          </p:cNvPr>
          <p:cNvSpPr txBox="1"/>
          <p:nvPr/>
        </p:nvSpPr>
        <p:spPr>
          <a:xfrm>
            <a:off x="6680615" y="3383824"/>
            <a:ext cx="25100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blokuje</a:t>
            </a:r>
            <a:r>
              <a:rPr lang="pl-PL" sz="1600" dirty="0"/>
              <a:t> dostęp dla innych wątków, dopóki jeden wątek nie zakończy inicjalizacji.</a:t>
            </a:r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56D6D8A5-79DF-CCBC-DF0A-0BC4D505733B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6156176" y="3922433"/>
            <a:ext cx="504059" cy="42028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Prostokąt: zaokrąglone rogi 35">
            <a:extLst>
              <a:ext uri="{FF2B5EF4-FFF2-40B4-BE49-F238E27FC236}">
                <a16:creationId xmlns:a16="http://schemas.microsoft.com/office/drawing/2014/main" id="{C0B9A45A-C22D-E126-581C-5BC9EE5367D5}"/>
              </a:ext>
            </a:extLst>
          </p:cNvPr>
          <p:cNvSpPr/>
          <p:nvPr/>
        </p:nvSpPr>
        <p:spPr>
          <a:xfrm>
            <a:off x="6489974" y="4925654"/>
            <a:ext cx="2483766" cy="1083826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7" name="pole tekstowe 36">
            <a:extLst>
              <a:ext uri="{FF2B5EF4-FFF2-40B4-BE49-F238E27FC236}">
                <a16:creationId xmlns:a16="http://schemas.microsoft.com/office/drawing/2014/main" id="{5C856929-6940-42DA-B63F-CDD8BA97BAF5}"/>
              </a:ext>
            </a:extLst>
          </p:cNvPr>
          <p:cNvSpPr txBox="1"/>
          <p:nvPr/>
        </p:nvSpPr>
        <p:spPr>
          <a:xfrm>
            <a:off x="6510354" y="4928958"/>
            <a:ext cx="25100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tworzy nową instancję </a:t>
            </a:r>
            <a:r>
              <a:rPr lang="pl-PL" sz="1600" b="1" dirty="0"/>
              <a:t>tylko</a:t>
            </a:r>
            <a:r>
              <a:rPr lang="pl-PL" sz="1600" dirty="0"/>
              <a:t>, jeśli instance jest </a:t>
            </a:r>
            <a:r>
              <a:rPr lang="pl-PL" sz="1600" b="1" dirty="0"/>
              <a:t>nadal </a:t>
            </a:r>
            <a:r>
              <a:rPr lang="pl-PL" sz="1600" b="1" dirty="0" err="1"/>
              <a:t>null</a:t>
            </a:r>
            <a:r>
              <a:rPr lang="pl-PL" sz="1600" b="1" dirty="0"/>
              <a:t> </a:t>
            </a:r>
            <a:r>
              <a:rPr lang="pl-PL" sz="1600" dirty="0"/>
              <a:t>wewnątrz bloku </a:t>
            </a:r>
            <a:r>
              <a:rPr lang="pl-PL" sz="1600" b="1" dirty="0" err="1"/>
              <a:t>synchronized</a:t>
            </a:r>
            <a:r>
              <a:rPr lang="pl-PL" sz="1600" dirty="0"/>
              <a:t>.</a:t>
            </a:r>
          </a:p>
        </p:txBody>
      </p:sp>
      <p:cxnSp>
        <p:nvCxnSpPr>
          <p:cNvPr id="38" name="Łącznik prosty ze strzałką 37">
            <a:extLst>
              <a:ext uri="{FF2B5EF4-FFF2-40B4-BE49-F238E27FC236}">
                <a16:creationId xmlns:a16="http://schemas.microsoft.com/office/drawing/2014/main" id="{C4175CB3-A970-4C00-4428-AE75C791A049}"/>
              </a:ext>
            </a:extLst>
          </p:cNvPr>
          <p:cNvCxnSpPr>
            <a:cxnSpLocks/>
            <a:stCxn id="36" idx="1"/>
          </p:cNvCxnSpPr>
          <p:nvPr/>
        </p:nvCxnSpPr>
        <p:spPr>
          <a:xfrm flipH="1" flipV="1">
            <a:off x="6084168" y="4670104"/>
            <a:ext cx="405806" cy="79746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054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6BC1F-D848-EAB6-9982-BEAB6739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AB8D2F-CB00-4A8E-3C54-4E8864F0D4E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Budowniczy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D830D3B-DA9B-02A5-E9B4-8383F3AC6CEE}"/>
              </a:ext>
            </a:extLst>
          </p:cNvPr>
          <p:cNvSpPr txBox="1"/>
          <p:nvPr/>
        </p:nvSpPr>
        <p:spPr>
          <a:xfrm>
            <a:off x="1043608" y="908720"/>
            <a:ext cx="8028385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Budowniczy</a:t>
            </a:r>
            <a:r>
              <a:rPr lang="pl-PL" sz="1600" dirty="0"/>
              <a:t> to wzorzec kreacyjny, który umożliwia konstruowanie złożonych obiektów krok po kroku, oddzielając proces budowania od jego reprezentacji. Jest szczególnie przydatny, gdy obiekt ma wiele pól konfiguracyjnych lub wymaga różnych wariantów konstrukcyjnych.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5AE66C41-A066-0C8F-9FA0-5765FCE4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934" y="2596358"/>
            <a:ext cx="6981142" cy="407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331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B6719D-0E0D-DFF4-A7A6-D7B2BB607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F596E5-15C8-9CE9-C998-72CAE44F070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Budowniczy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5CD2C95-FDE6-3640-4657-7C51903AB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920067"/>
            <a:ext cx="4809351" cy="2560110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246B490B-CA10-FBBA-1F69-71B276DDF7AB}"/>
              </a:ext>
            </a:extLst>
          </p:cNvPr>
          <p:cNvSpPr/>
          <p:nvPr/>
        </p:nvSpPr>
        <p:spPr>
          <a:xfrm>
            <a:off x="96241" y="897917"/>
            <a:ext cx="3014154" cy="1590916"/>
          </a:xfrm>
          <a:prstGeom prst="roundRect">
            <a:avLst>
              <a:gd name="adj" fmla="val 10114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2D361E0-0AB2-FF17-D476-65B8311F2E14}"/>
              </a:ext>
            </a:extLst>
          </p:cNvPr>
          <p:cNvSpPr txBox="1"/>
          <p:nvPr/>
        </p:nvSpPr>
        <p:spPr>
          <a:xfrm>
            <a:off x="96241" y="920066"/>
            <a:ext cx="301415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require</a:t>
            </a:r>
            <a:r>
              <a:rPr lang="pl-PL" sz="1600" dirty="0"/>
              <a:t> to funkcja wbudowana, która służy do </a:t>
            </a:r>
            <a:r>
              <a:rPr lang="pl-PL" sz="1600" b="1" dirty="0"/>
              <a:t>walidacji argumentów </a:t>
            </a:r>
            <a:r>
              <a:rPr lang="pl-PL" sz="1600" dirty="0"/>
              <a:t>lub stanu obiektu </a:t>
            </a:r>
            <a:r>
              <a:rPr lang="pl-PL" sz="1600" b="1" dirty="0"/>
              <a:t>na początku funkcji lub konstruktora</a:t>
            </a:r>
            <a:r>
              <a:rPr lang="pl-PL" sz="1600" dirty="0"/>
              <a:t>. </a:t>
            </a:r>
          </a:p>
          <a:p>
            <a:pPr algn="just"/>
            <a:r>
              <a:rPr lang="pl-PL" dirty="0">
                <a:latin typeface="Verbatim"/>
              </a:rPr>
              <a:t>require(warunek) { "Komunikat błędu" }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7C5E8E3E-9C89-5D2D-D8DD-58B627E03C18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603318" y="2488833"/>
            <a:ext cx="2536634" cy="23898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25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6B105-6CDF-5657-CD9D-7F7742536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6F70DC-C3A5-B657-B37E-AE5E781DD28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Budowniczy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9DD51AB-30ED-CCF9-CFA9-1A167302A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920067"/>
            <a:ext cx="4809351" cy="2560110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D16FA29C-D9F6-66D3-4415-79C8CD3E8153}"/>
              </a:ext>
            </a:extLst>
          </p:cNvPr>
          <p:cNvSpPr/>
          <p:nvPr/>
        </p:nvSpPr>
        <p:spPr>
          <a:xfrm>
            <a:off x="96241" y="897917"/>
            <a:ext cx="3014154" cy="1590916"/>
          </a:xfrm>
          <a:prstGeom prst="roundRect">
            <a:avLst>
              <a:gd name="adj" fmla="val 10114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92C587F-9BF2-1942-1209-5A977818F414}"/>
              </a:ext>
            </a:extLst>
          </p:cNvPr>
          <p:cNvSpPr txBox="1"/>
          <p:nvPr/>
        </p:nvSpPr>
        <p:spPr>
          <a:xfrm>
            <a:off x="96241" y="920066"/>
            <a:ext cx="301415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require</a:t>
            </a:r>
            <a:r>
              <a:rPr lang="pl-PL" sz="1600" dirty="0"/>
              <a:t> to funkcja wbudowana, która służy do </a:t>
            </a:r>
            <a:r>
              <a:rPr lang="pl-PL" sz="1600" b="1" dirty="0"/>
              <a:t>walidacji argumentów </a:t>
            </a:r>
            <a:r>
              <a:rPr lang="pl-PL" sz="1600" dirty="0"/>
              <a:t>lub stanu obiektu </a:t>
            </a:r>
            <a:r>
              <a:rPr lang="pl-PL" sz="1600" b="1" dirty="0"/>
              <a:t>na początku funkcji lub konstruktora</a:t>
            </a:r>
            <a:r>
              <a:rPr lang="pl-PL" sz="1600" dirty="0"/>
              <a:t>. </a:t>
            </a:r>
          </a:p>
          <a:p>
            <a:pPr algn="just"/>
            <a:r>
              <a:rPr lang="pl-PL" dirty="0">
                <a:latin typeface="Verbatim"/>
              </a:rPr>
              <a:t>require(warunek) { "Komunikat błędu" }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DEA01ADA-2419-F1F1-168B-882B1D69EA2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603318" y="2488833"/>
            <a:ext cx="2536634" cy="23898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Obraz 15">
            <a:extLst>
              <a:ext uri="{FF2B5EF4-FFF2-40B4-BE49-F238E27FC236}">
                <a16:creationId xmlns:a16="http://schemas.microsoft.com/office/drawing/2014/main" id="{38A3C16E-4B57-9B0A-81D8-E2B925E5E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633" y="3421389"/>
            <a:ext cx="5487737" cy="3445375"/>
          </a:xfrm>
          <a:prstGeom prst="rect">
            <a:avLst/>
          </a:prstGeom>
        </p:spPr>
      </p:pic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300E73F3-2005-1408-289D-A756EE9B2CF1}"/>
              </a:ext>
            </a:extLst>
          </p:cNvPr>
          <p:cNvSpPr/>
          <p:nvPr/>
        </p:nvSpPr>
        <p:spPr>
          <a:xfrm>
            <a:off x="3874699" y="3182405"/>
            <a:ext cx="4351074" cy="707886"/>
          </a:xfrm>
          <a:prstGeom prst="roundRect">
            <a:avLst>
              <a:gd name="adj" fmla="val 10114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1B1F940C-9DDD-94B0-973F-870F388EF2F7}"/>
              </a:ext>
            </a:extLst>
          </p:cNvPr>
          <p:cNvSpPr txBox="1"/>
          <p:nvPr/>
        </p:nvSpPr>
        <p:spPr>
          <a:xfrm>
            <a:off x="3904666" y="3200450"/>
            <a:ext cx="4240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2000" dirty="0" err="1">
                <a:latin typeface="Arabic Typesetting" panose="020F0502020204030204" pitchFamily="66" charset="-78"/>
                <a:cs typeface="Arabic Typesetting" panose="020F0502020204030204" pitchFamily="66" charset="-78"/>
              </a:rPr>
              <a:t>apply</a:t>
            </a:r>
            <a:r>
              <a:rPr lang="pl-PL" sz="200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  <a:t> {} </a:t>
            </a:r>
            <a:r>
              <a:rPr lang="pl-PL" sz="1600" dirty="0"/>
              <a:t>umożliwia </a:t>
            </a:r>
            <a:r>
              <a:rPr lang="pl-PL" sz="1600" b="1" dirty="0"/>
              <a:t>łańcuchowanie wywołań </a:t>
            </a:r>
            <a:r>
              <a:rPr lang="pl-PL" sz="1600" dirty="0"/>
              <a:t>(np. </a:t>
            </a:r>
            <a:r>
              <a:rPr lang="pl-PL"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builder.setCPU</a:t>
            </a:r>
            <a:r>
              <a:rPr lang="pl-PL"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(...).</a:t>
            </a:r>
            <a:r>
              <a:rPr lang="pl-PL"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setRAM</a:t>
            </a:r>
            <a:r>
              <a:rPr lang="pl-PL"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(...)</a:t>
            </a:r>
            <a:r>
              <a:rPr lang="pl-PL" sz="1600" dirty="0"/>
              <a:t>).</a:t>
            </a:r>
            <a:endParaRPr lang="pl-PL" dirty="0">
              <a:latin typeface="Verbatim"/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3775CB60-4792-C8C3-A9E9-D2216FD42EEF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2657751" y="3890291"/>
            <a:ext cx="3392485" cy="97348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91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13562-B0AD-120B-7A44-62149D54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34C1D7CA-6994-CCC2-16AE-563E0C594DE9}"/>
              </a:ext>
            </a:extLst>
          </p:cNvPr>
          <p:cNvSpPr/>
          <p:nvPr/>
        </p:nvSpPr>
        <p:spPr>
          <a:xfrm>
            <a:off x="5868144" y="4537841"/>
            <a:ext cx="2842476" cy="1533029"/>
          </a:xfrm>
          <a:prstGeom prst="roundRect">
            <a:avLst>
              <a:gd name="adj" fmla="val 10114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83356C-F531-3E1F-C126-D4AB88995D9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Budowniczy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5263A8F-F60F-7CB1-DBB9-891F4AC7D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920067"/>
            <a:ext cx="4809351" cy="2560110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72662EFF-CE36-374A-064C-9F9568246D34}"/>
              </a:ext>
            </a:extLst>
          </p:cNvPr>
          <p:cNvSpPr/>
          <p:nvPr/>
        </p:nvSpPr>
        <p:spPr>
          <a:xfrm>
            <a:off x="96241" y="897917"/>
            <a:ext cx="3014154" cy="1590916"/>
          </a:xfrm>
          <a:prstGeom prst="roundRect">
            <a:avLst>
              <a:gd name="adj" fmla="val 10114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77CE475-49D7-FDDA-E6B0-D0B2F0B7A941}"/>
              </a:ext>
            </a:extLst>
          </p:cNvPr>
          <p:cNvSpPr txBox="1"/>
          <p:nvPr/>
        </p:nvSpPr>
        <p:spPr>
          <a:xfrm>
            <a:off x="96241" y="920066"/>
            <a:ext cx="301415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require</a:t>
            </a:r>
            <a:r>
              <a:rPr lang="pl-PL" sz="1600" dirty="0"/>
              <a:t> to funkcja wbudowana, która służy do </a:t>
            </a:r>
            <a:r>
              <a:rPr lang="pl-PL" sz="1600" b="1" dirty="0"/>
              <a:t>walidacji argumentów </a:t>
            </a:r>
            <a:r>
              <a:rPr lang="pl-PL" sz="1600" dirty="0"/>
              <a:t>lub stanu obiektu </a:t>
            </a:r>
            <a:r>
              <a:rPr lang="pl-PL" sz="1600" b="1" dirty="0"/>
              <a:t>na początku funkcji lub konstruktora</a:t>
            </a:r>
            <a:r>
              <a:rPr lang="pl-PL" sz="1600" dirty="0"/>
              <a:t>. </a:t>
            </a:r>
          </a:p>
          <a:p>
            <a:pPr algn="just"/>
            <a:r>
              <a:rPr lang="pl-PL" dirty="0">
                <a:latin typeface="Verbatim"/>
              </a:rPr>
              <a:t>require(warunek) { "Komunikat błędu" }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07420F03-135F-5F6A-4646-7DA8E3EA4D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603318" y="2488833"/>
            <a:ext cx="2536634" cy="23898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Obraz 15">
            <a:extLst>
              <a:ext uri="{FF2B5EF4-FFF2-40B4-BE49-F238E27FC236}">
                <a16:creationId xmlns:a16="http://schemas.microsoft.com/office/drawing/2014/main" id="{79EF08BD-7DF5-2B69-5B7C-10AC51C21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633" y="3421389"/>
            <a:ext cx="5487737" cy="3445375"/>
          </a:xfrm>
          <a:prstGeom prst="rect">
            <a:avLst/>
          </a:prstGeom>
        </p:spPr>
      </p:pic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E08661FA-B308-EC1B-A676-DA322A96B0C2}"/>
              </a:ext>
            </a:extLst>
          </p:cNvPr>
          <p:cNvSpPr/>
          <p:nvPr/>
        </p:nvSpPr>
        <p:spPr>
          <a:xfrm>
            <a:off x="3874699" y="3182405"/>
            <a:ext cx="4351074" cy="707886"/>
          </a:xfrm>
          <a:prstGeom prst="roundRect">
            <a:avLst>
              <a:gd name="adj" fmla="val 10114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513C4C9F-38C1-C6E8-2CD0-573371413C47}"/>
              </a:ext>
            </a:extLst>
          </p:cNvPr>
          <p:cNvSpPr txBox="1"/>
          <p:nvPr/>
        </p:nvSpPr>
        <p:spPr>
          <a:xfrm>
            <a:off x="3904666" y="3200450"/>
            <a:ext cx="4240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2000" dirty="0" err="1">
                <a:latin typeface="Arabic Typesetting" panose="020F0502020204030204" pitchFamily="66" charset="-78"/>
                <a:cs typeface="Arabic Typesetting" panose="020F0502020204030204" pitchFamily="66" charset="-78"/>
              </a:rPr>
              <a:t>apply</a:t>
            </a:r>
            <a:r>
              <a:rPr lang="pl-PL" sz="200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  <a:t> {} </a:t>
            </a:r>
            <a:r>
              <a:rPr lang="pl-PL" sz="1600" dirty="0"/>
              <a:t>umożliwia </a:t>
            </a:r>
            <a:r>
              <a:rPr lang="pl-PL" sz="1600" b="1" dirty="0"/>
              <a:t>łańcuchowanie wywołań </a:t>
            </a:r>
            <a:r>
              <a:rPr lang="pl-PL" sz="1600" dirty="0"/>
              <a:t>(np. </a:t>
            </a:r>
            <a:r>
              <a:rPr lang="pl-PL"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builder.setCPU</a:t>
            </a:r>
            <a:r>
              <a:rPr lang="pl-PL"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(...).</a:t>
            </a:r>
            <a:r>
              <a:rPr lang="pl-PL"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setRAM</a:t>
            </a:r>
            <a:r>
              <a:rPr lang="pl-PL"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(...)</a:t>
            </a:r>
            <a:r>
              <a:rPr lang="pl-PL" sz="1600" dirty="0"/>
              <a:t>).</a:t>
            </a:r>
            <a:endParaRPr lang="pl-PL" dirty="0">
              <a:latin typeface="Verbatim"/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54C166DD-8102-4990-9BA4-B3FFF71084E9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2657751" y="3890291"/>
            <a:ext cx="3392485" cy="97348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Obraz 28">
            <a:extLst>
              <a:ext uri="{FF2B5EF4-FFF2-40B4-BE49-F238E27FC236}">
                <a16:creationId xmlns:a16="http://schemas.microsoft.com/office/drawing/2014/main" id="{34164E33-97D3-D225-8466-F4392E4B8A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4828" y="4594485"/>
            <a:ext cx="2600344" cy="147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947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2B6D68-F1F9-74E8-C4CA-380972F26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15">
            <a:extLst>
              <a:ext uri="{FF2B5EF4-FFF2-40B4-BE49-F238E27FC236}">
                <a16:creationId xmlns:a16="http://schemas.microsoft.com/office/drawing/2014/main" id="{37A3EB94-4694-98CE-135B-FBA93B1AE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33" y="3421389"/>
            <a:ext cx="5487737" cy="3445375"/>
          </a:xfrm>
          <a:prstGeom prst="rect">
            <a:avLst/>
          </a:prstGeom>
        </p:spPr>
      </p:pic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A7CE6B9F-A6A9-94AB-788A-F8F5035E6C4B}"/>
              </a:ext>
            </a:extLst>
          </p:cNvPr>
          <p:cNvSpPr/>
          <p:nvPr/>
        </p:nvSpPr>
        <p:spPr>
          <a:xfrm>
            <a:off x="5436096" y="4173750"/>
            <a:ext cx="3707904" cy="2351594"/>
          </a:xfrm>
          <a:prstGeom prst="roundRect">
            <a:avLst>
              <a:gd name="adj" fmla="val 5486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C78457-C642-844E-F3BE-C9A09DBC04A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Budowniczy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B66FAF3-1353-4CA0-FEAC-1C83F91FF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880" y="920067"/>
            <a:ext cx="4809351" cy="2560110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9FFB90CF-9E40-82D8-099A-1D8B62077A2B}"/>
              </a:ext>
            </a:extLst>
          </p:cNvPr>
          <p:cNvSpPr/>
          <p:nvPr/>
        </p:nvSpPr>
        <p:spPr>
          <a:xfrm>
            <a:off x="96241" y="897917"/>
            <a:ext cx="3014154" cy="1590916"/>
          </a:xfrm>
          <a:prstGeom prst="roundRect">
            <a:avLst>
              <a:gd name="adj" fmla="val 10114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FD46802-BAD2-8F5A-CDFA-AF0733D43594}"/>
              </a:ext>
            </a:extLst>
          </p:cNvPr>
          <p:cNvSpPr txBox="1"/>
          <p:nvPr/>
        </p:nvSpPr>
        <p:spPr>
          <a:xfrm>
            <a:off x="96241" y="920066"/>
            <a:ext cx="301415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require</a:t>
            </a:r>
            <a:r>
              <a:rPr lang="pl-PL" sz="1600" dirty="0"/>
              <a:t> to funkcja wbudowana, która służy do </a:t>
            </a:r>
            <a:r>
              <a:rPr lang="pl-PL" sz="1600" b="1" dirty="0"/>
              <a:t>walidacji argumentów </a:t>
            </a:r>
            <a:r>
              <a:rPr lang="pl-PL" sz="1600" dirty="0"/>
              <a:t>lub stanu obiektu </a:t>
            </a:r>
            <a:r>
              <a:rPr lang="pl-PL" sz="1600" b="1" dirty="0"/>
              <a:t>na początku funkcji lub konstruktora</a:t>
            </a:r>
            <a:r>
              <a:rPr lang="pl-PL" sz="1600" dirty="0"/>
              <a:t>. </a:t>
            </a:r>
          </a:p>
          <a:p>
            <a:pPr algn="just"/>
            <a:r>
              <a:rPr lang="pl-PL" dirty="0">
                <a:latin typeface="Verbatim"/>
              </a:rPr>
              <a:t>require(warunek) { "Komunikat błędu" }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EBE0E25F-2966-F43F-45CB-9A7A56841B4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603318" y="2488833"/>
            <a:ext cx="2536634" cy="23898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D88E5B50-9AAB-203F-A4C9-DDD78F8463B9}"/>
              </a:ext>
            </a:extLst>
          </p:cNvPr>
          <p:cNvSpPr/>
          <p:nvPr/>
        </p:nvSpPr>
        <p:spPr>
          <a:xfrm>
            <a:off x="3874699" y="3182405"/>
            <a:ext cx="4351074" cy="707886"/>
          </a:xfrm>
          <a:prstGeom prst="roundRect">
            <a:avLst>
              <a:gd name="adj" fmla="val 10114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D884CFD4-641A-DC8E-F6CC-89BB661615F8}"/>
              </a:ext>
            </a:extLst>
          </p:cNvPr>
          <p:cNvSpPr txBox="1"/>
          <p:nvPr/>
        </p:nvSpPr>
        <p:spPr>
          <a:xfrm>
            <a:off x="3904666" y="3200450"/>
            <a:ext cx="4240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2000" dirty="0" err="1">
                <a:latin typeface="Arabic Typesetting" panose="020F0502020204030204" pitchFamily="66" charset="-78"/>
                <a:cs typeface="Arabic Typesetting" panose="020F0502020204030204" pitchFamily="66" charset="-78"/>
              </a:rPr>
              <a:t>apply</a:t>
            </a:r>
            <a:r>
              <a:rPr lang="pl-PL" sz="200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  <a:t> {} </a:t>
            </a:r>
            <a:r>
              <a:rPr lang="pl-PL" sz="1600" dirty="0"/>
              <a:t>umożliwia </a:t>
            </a:r>
            <a:r>
              <a:rPr lang="pl-PL" sz="1600" b="1" dirty="0"/>
              <a:t>łańcuchowanie wywołań </a:t>
            </a:r>
            <a:r>
              <a:rPr lang="pl-PL" sz="1600" dirty="0"/>
              <a:t>(np. </a:t>
            </a:r>
            <a:r>
              <a:rPr lang="pl-PL"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builder.setCPU</a:t>
            </a:r>
            <a:r>
              <a:rPr lang="pl-PL"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(...).</a:t>
            </a:r>
            <a:r>
              <a:rPr lang="pl-PL"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setRAM</a:t>
            </a:r>
            <a:r>
              <a:rPr lang="pl-PL"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(...)</a:t>
            </a:r>
            <a:r>
              <a:rPr lang="pl-PL" sz="1600" dirty="0"/>
              <a:t>).</a:t>
            </a:r>
            <a:endParaRPr lang="pl-PL" dirty="0">
              <a:latin typeface="Verbatim"/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56A4AD16-D00A-10EF-2892-CD572782CA23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2657751" y="3890291"/>
            <a:ext cx="3392485" cy="97348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BEFBC191-B2E8-FCFC-8174-1FA831D7E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112" y="4316526"/>
            <a:ext cx="3512182" cy="1032496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16DE7D0C-EEA9-FCCD-309E-B94A996428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7260" y="5457099"/>
            <a:ext cx="2196071" cy="89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750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97444-C413-DBEC-FF28-749BCCF8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A374DC-681D-723B-C210-A625FEA20C1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Fabryka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878BEAF-9775-8EA4-DDA7-89140CE4D29F}"/>
              </a:ext>
            </a:extLst>
          </p:cNvPr>
          <p:cNvSpPr txBox="1"/>
          <p:nvPr/>
        </p:nvSpPr>
        <p:spPr>
          <a:xfrm>
            <a:off x="1043608" y="908720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Fabryka </a:t>
            </a:r>
            <a:r>
              <a:rPr lang="pl-PL" sz="1600" dirty="0"/>
              <a:t>to wzorzec kreacyjny, który oddziela proces tworzenia obiektów od ich konkretnych klas, pozwalając na wybór odpowiedniej implementacji bez bezpośredniego użycia konstruktorów.</a:t>
            </a:r>
          </a:p>
        </p:txBody>
      </p:sp>
    </p:spTree>
    <p:extLst>
      <p:ext uri="{BB962C8B-B14F-4D97-AF65-F5344CB8AC3E}">
        <p14:creationId xmlns:p14="http://schemas.microsoft.com/office/powerpoint/2010/main" val="2572399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6E3DAF-918C-9A8F-75C4-67BA903C2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E6CE0-D5F9-96C3-C94A-6AE93387318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Fabryka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7A9B77C-DADF-BACC-A3F6-5A5C6BC16D84}"/>
              </a:ext>
            </a:extLst>
          </p:cNvPr>
          <p:cNvSpPr txBox="1"/>
          <p:nvPr/>
        </p:nvSpPr>
        <p:spPr>
          <a:xfrm>
            <a:off x="1043608" y="908720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Fabryka </a:t>
            </a:r>
            <a:r>
              <a:rPr lang="pl-PL" sz="1600" dirty="0"/>
              <a:t>to wzorzec kreacyjny, który oddziela proces tworzenia obiektów od ich konkretnych klas, pozwalając na wybór odpowiedniej implementacji bez bezpośredniego użycia konstruktorów.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91C2D2C-F778-0195-6E5B-F4CF0C23F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526" y="2258206"/>
            <a:ext cx="5905543" cy="45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05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E36DFF-3F8C-FE83-17D1-F2C8B3BE4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A8737F-4A3D-938E-910A-B5EA476A2B2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Fabryka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E746AF8-4F19-B676-B8EA-00BB251B357C}"/>
              </a:ext>
            </a:extLst>
          </p:cNvPr>
          <p:cNvSpPr txBox="1"/>
          <p:nvPr/>
        </p:nvSpPr>
        <p:spPr>
          <a:xfrm>
            <a:off x="1043608" y="908720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Fabryka </a:t>
            </a:r>
            <a:r>
              <a:rPr lang="pl-PL" sz="1600" dirty="0"/>
              <a:t>to wzorzec kreacyjny, który oddziela proces tworzenia obiektów od ich konkretnych klas, pozwalając na wybór odpowiedniej implementacji bez bezpośredniego użycia konstruktorów.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7FE0D97-661B-F9F2-1522-9BCF96B7E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2708920"/>
            <a:ext cx="6429422" cy="279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25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2B7A7-8420-4EA6-BB95-7193693DD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8F3170-9E6D-2CA1-1FCF-4DC0ED6C1AF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Fabryka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7D521A7-CB77-16E3-3B12-9BCA871EF8C5}"/>
              </a:ext>
            </a:extLst>
          </p:cNvPr>
          <p:cNvSpPr txBox="1"/>
          <p:nvPr/>
        </p:nvSpPr>
        <p:spPr>
          <a:xfrm>
            <a:off x="1043608" y="908720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Fabryka </a:t>
            </a:r>
            <a:r>
              <a:rPr lang="pl-PL" sz="1600" dirty="0"/>
              <a:t>to wzorzec kreacyjny, który oddziela proces tworzenia obiektów od ich konkretnych klas, pozwalając na wybór odpowiedniej implementacji bez bezpośredniego użycia konstruktorów.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57345D2-1ED0-DEAA-3A6E-002DB9DB2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2492896"/>
            <a:ext cx="4114830" cy="315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8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9397E-1F05-30C0-EFC0-388F5F7F1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4C0D18-E20D-0C56-819E-D0E06844D93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Fabryka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733E7CC-DBDC-96D8-502E-7815828E0168}"/>
              </a:ext>
            </a:extLst>
          </p:cNvPr>
          <p:cNvSpPr txBox="1"/>
          <p:nvPr/>
        </p:nvSpPr>
        <p:spPr>
          <a:xfrm>
            <a:off x="1043608" y="908720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Fabryka </a:t>
            </a:r>
            <a:r>
              <a:rPr lang="pl-PL" sz="1600" dirty="0"/>
              <a:t>to wzorzec kreacyjny, który oddziela proces tworzenia obiektów od ich konkretnych klas, pozwalając na wybór odpowiedniej implementacji bez bezpośredniego użycia konstruktorów.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4C839BBB-4D74-C167-BE58-630013F29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3142" y="2420888"/>
            <a:ext cx="5629316" cy="2667019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5D045DCC-30EC-2CDB-F00B-98F65A474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4798" y="5589240"/>
            <a:ext cx="3514751" cy="495304"/>
          </a:xfrm>
          <a:prstGeom prst="rect">
            <a:avLst/>
          </a:prstGeom>
        </p:spPr>
      </p:pic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E29C5B78-59D6-0742-9B32-D9BA28209289}"/>
              </a:ext>
            </a:extLst>
          </p:cNvPr>
          <p:cNvSpPr/>
          <p:nvPr/>
        </p:nvSpPr>
        <p:spPr>
          <a:xfrm>
            <a:off x="6098977" y="3337581"/>
            <a:ext cx="3014154" cy="830997"/>
          </a:xfrm>
          <a:prstGeom prst="roundRect">
            <a:avLst>
              <a:gd name="adj" fmla="val 10114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A005B34-0A78-C4C2-BE95-A2E3C5C320A6}"/>
              </a:ext>
            </a:extLst>
          </p:cNvPr>
          <p:cNvSpPr txBox="1"/>
          <p:nvPr/>
        </p:nvSpPr>
        <p:spPr>
          <a:xfrm>
            <a:off x="6105974" y="3337581"/>
            <a:ext cx="30141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 err="1"/>
              <a:t>invoke</a:t>
            </a:r>
            <a:r>
              <a:rPr lang="pl-PL" sz="1600" dirty="0"/>
              <a:t>() to specjalna funkcja, która pozwala na wywołanie obiektu jak funkcji</a:t>
            </a:r>
            <a:endParaRPr lang="pl-PL" dirty="0">
              <a:latin typeface="Verbatim"/>
            </a:endParaRP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33FC0810-F933-4B1C-2456-1681A174ACF3}"/>
              </a:ext>
            </a:extLst>
          </p:cNvPr>
          <p:cNvCxnSpPr>
            <a:cxnSpLocks/>
          </p:cNvCxnSpPr>
          <p:nvPr/>
        </p:nvCxnSpPr>
        <p:spPr>
          <a:xfrm flipH="1">
            <a:off x="5436096" y="3876190"/>
            <a:ext cx="655883" cy="4129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025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840FC-AB22-81B0-3130-A2F3EF4E9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EE1B15-1567-7D6A-41A6-CD0265F0176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Adapter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EBD6459-6BD4-2F45-4453-853C2D0039FC}"/>
              </a:ext>
            </a:extLst>
          </p:cNvPr>
          <p:cNvSpPr txBox="1"/>
          <p:nvPr/>
        </p:nvSpPr>
        <p:spPr>
          <a:xfrm>
            <a:off x="1043608" y="908720"/>
            <a:ext cx="8028385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Adapter</a:t>
            </a:r>
            <a:r>
              <a:rPr lang="pl-PL" sz="1600" dirty="0"/>
              <a:t> to strukturalny wzorzec projektowy, który pozwala obiektom o niezgodnych interfejsach współpracować ze sobą.</a:t>
            </a:r>
          </a:p>
        </p:txBody>
      </p:sp>
    </p:spTree>
    <p:extLst>
      <p:ext uri="{BB962C8B-B14F-4D97-AF65-F5344CB8AC3E}">
        <p14:creationId xmlns:p14="http://schemas.microsoft.com/office/powerpoint/2010/main" val="3862237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2D76E-86BC-B270-5369-3C54B700C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FF2DD2-4974-A196-1711-E206EB7A41B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Adapter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5C3AC48-4E8F-7B33-EC1E-DB72C1AED21C}"/>
              </a:ext>
            </a:extLst>
          </p:cNvPr>
          <p:cNvSpPr txBox="1"/>
          <p:nvPr/>
        </p:nvSpPr>
        <p:spPr>
          <a:xfrm>
            <a:off x="1043608" y="908720"/>
            <a:ext cx="8028385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Adapter</a:t>
            </a:r>
            <a:r>
              <a:rPr lang="pl-PL" sz="1600" dirty="0"/>
              <a:t> to strukturalny wzorzec projektowy, który pozwala obiektom o niezgodnych interfejsach współpracować ze sobą.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0B6F4A7-7C2A-7701-737D-89906EEBC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14" y="2060848"/>
            <a:ext cx="6486572" cy="33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34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4F063-BB72-E6F8-3F4F-ECCA5517D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AAB3F2-5FA0-4F4E-3061-91865BB83CF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Adapter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FBE31ED-98CC-C800-E623-EAA37E9CEC40}"/>
              </a:ext>
            </a:extLst>
          </p:cNvPr>
          <p:cNvSpPr txBox="1"/>
          <p:nvPr/>
        </p:nvSpPr>
        <p:spPr>
          <a:xfrm>
            <a:off x="1043608" y="908720"/>
            <a:ext cx="8028385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Adapter</a:t>
            </a:r>
            <a:r>
              <a:rPr lang="pl-PL" sz="1600" dirty="0"/>
              <a:t> to strukturalny wzorzec projektowy, który pozwala obiektom o niezgodnych interfejsach współpracować ze sobą.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90DF4317-4197-120D-A9A7-E4E63BED2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732" y="1760107"/>
            <a:ext cx="3876703" cy="5067337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28C4A363-A522-91AD-E804-C2A2389C0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93" y="1795929"/>
            <a:ext cx="1800238" cy="149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4978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7379B-C620-8E58-DEA2-F19B9EAFF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9F57BA-430A-6E62-610A-147A58984CC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Adapter -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ViewHolder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D919328-D8C8-E930-F7CD-90611395F252}"/>
              </a:ext>
            </a:extLst>
          </p:cNvPr>
          <p:cNvSpPr txBox="1"/>
          <p:nvPr/>
        </p:nvSpPr>
        <p:spPr>
          <a:xfrm>
            <a:off x="1079593" y="855206"/>
            <a:ext cx="8028385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 err="1"/>
              <a:t>ViewHolder</a:t>
            </a:r>
            <a:r>
              <a:rPr lang="pl-PL" sz="1600" dirty="0"/>
              <a:t> to wzorzec projektowy (często uważany za część wzorca </a:t>
            </a:r>
            <a:r>
              <a:rPr lang="pl-PL" sz="1600" b="1" dirty="0"/>
              <a:t>Adapter</a:t>
            </a:r>
            <a:r>
              <a:rPr lang="pl-PL" sz="1600" dirty="0"/>
              <a:t>), stosowany głównie w Androidzie w celu optymalizacji wydajności list.</a:t>
            </a:r>
          </a:p>
          <a:p>
            <a:pPr algn="just">
              <a:lnSpc>
                <a:spcPct val="150000"/>
              </a:lnSpc>
            </a:pPr>
            <a:r>
              <a:rPr lang="pl-PL" sz="1600" dirty="0"/>
              <a:t>Cel wzorca </a:t>
            </a:r>
            <a:r>
              <a:rPr lang="pl-PL" sz="1600" dirty="0" err="1"/>
              <a:t>ViewHolder</a:t>
            </a:r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Gdy przewijasz listę, widoki są </a:t>
            </a:r>
            <a:r>
              <a:rPr lang="pl-PL" sz="1600" dirty="0" err="1"/>
              <a:t>recyklingowane</a:t>
            </a:r>
            <a:r>
              <a:rPr lang="pl-PL" sz="1600" dirty="0"/>
              <a:t> – zamiast tworzyć nowe obiekty za każdym razem, system używa istniejących.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Przechowuje referencje do widoków w pojedynczym elemencie listy,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Przyspiesza </a:t>
            </a:r>
            <a:r>
              <a:rPr lang="pl-PL" sz="1600" dirty="0" err="1"/>
              <a:t>renderowanie</a:t>
            </a:r>
            <a:r>
              <a:rPr lang="pl-PL" sz="1600" dirty="0"/>
              <a:t> i zmniejsza zużycie pamięci.</a:t>
            </a:r>
          </a:p>
        </p:txBody>
      </p:sp>
    </p:spTree>
    <p:extLst>
      <p:ext uri="{BB962C8B-B14F-4D97-AF65-F5344CB8AC3E}">
        <p14:creationId xmlns:p14="http://schemas.microsoft.com/office/powerpoint/2010/main" val="22423815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538CF-593B-CE6E-5651-D65D1E1F7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DB7B79-02C1-AB8B-DDAD-87B8FA7FEFF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Adapter -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ViewHolder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7A03456-5089-2CB5-C31C-D2C51615F8CC}"/>
              </a:ext>
            </a:extLst>
          </p:cNvPr>
          <p:cNvSpPr txBox="1"/>
          <p:nvPr/>
        </p:nvSpPr>
        <p:spPr>
          <a:xfrm>
            <a:off x="1079593" y="855206"/>
            <a:ext cx="8028385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 err="1"/>
              <a:t>ViewHolder</a:t>
            </a:r>
            <a:r>
              <a:rPr lang="pl-PL" sz="1600" dirty="0"/>
              <a:t> to wzorzec projektowy (często uważany za część wzorca </a:t>
            </a:r>
            <a:r>
              <a:rPr lang="pl-PL" sz="1600" b="1" dirty="0"/>
              <a:t>Adapter</a:t>
            </a:r>
            <a:r>
              <a:rPr lang="pl-PL" sz="1600" dirty="0"/>
              <a:t>), stosowany głównie w Androidzie w celu optymalizacji wydajności list.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622BC71-F338-243A-BD09-6CF620B20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732" y="1760107"/>
            <a:ext cx="3876703" cy="5067337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26E259C1-F023-FDF3-0727-293F12C5A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93" y="1795929"/>
            <a:ext cx="1800238" cy="149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421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1D962-D748-1E34-301C-11341FCC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C2DAF7-7882-E2E5-F5A6-548405E8F92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Adnotacje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2A9E2FC-AD9D-61A1-73F8-5D0E3ECA6AC9}"/>
              </a:ext>
            </a:extLst>
          </p:cNvPr>
          <p:cNvSpPr txBox="1"/>
          <p:nvPr/>
        </p:nvSpPr>
        <p:spPr>
          <a:xfrm>
            <a:off x="1079593" y="855206"/>
            <a:ext cx="8028385" cy="3370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Adnotacje</a:t>
            </a:r>
            <a:r>
              <a:rPr lang="pl-PL" sz="1600" dirty="0"/>
              <a:t> to metadane, które można dodawać do deklaracji klas, funkcji, właściwości, parametrów i innych elementów kodu. Nie wpływają bezpośrednio na logikę programu, ale </a:t>
            </a:r>
            <a:r>
              <a:rPr lang="pl-PL" sz="1600" b="1" dirty="0"/>
              <a:t>mogą być wykorzystywane przez kompilator</a:t>
            </a:r>
            <a:r>
              <a:rPr lang="pl-PL" sz="1600" dirty="0"/>
              <a:t>, narzędzia deweloperskie (np. Android Studio) lub tzw. </a:t>
            </a:r>
            <a:r>
              <a:rPr lang="pl-PL" sz="1600" b="1" dirty="0"/>
              <a:t>procesory adnotacji</a:t>
            </a:r>
            <a:r>
              <a:rPr lang="pl-PL" sz="1600" dirty="0"/>
              <a:t>.</a:t>
            </a:r>
          </a:p>
          <a:p>
            <a:pPr algn="just">
              <a:lnSpc>
                <a:spcPct val="150000"/>
              </a:lnSpc>
            </a:pPr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b="1" dirty="0"/>
              <a:t>Adnotacja to specjalny znacznik</a:t>
            </a:r>
            <a:r>
              <a:rPr lang="pl-PL" sz="1600" dirty="0"/>
              <a:t>, który może: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dodawać informacji do kodu,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wpływać na działanie kompilatora lub </a:t>
            </a:r>
            <a:r>
              <a:rPr lang="pl-PL" sz="1600" dirty="0" err="1"/>
              <a:t>frameworków</a:t>
            </a:r>
            <a:r>
              <a:rPr lang="pl-PL" sz="1600" dirty="0"/>
              <a:t>,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sterować generowaniem kodu.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246F268-106F-EB71-9E72-CE0AEDECB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768" y="4581128"/>
            <a:ext cx="3861184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183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1C33B-FDF8-DE8A-EB7E-0BC8E9F9C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B0A170-95AC-7F0A-4478-D900885F1E8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Adnotacje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997B51E-2D8F-D258-F944-EED478E891E6}"/>
              </a:ext>
            </a:extLst>
          </p:cNvPr>
          <p:cNvSpPr txBox="1"/>
          <p:nvPr/>
        </p:nvSpPr>
        <p:spPr>
          <a:xfrm>
            <a:off x="1079593" y="855206"/>
            <a:ext cx="8028385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Procesor adnotacji </a:t>
            </a:r>
            <a:r>
              <a:rPr lang="pl-PL" sz="1600" dirty="0"/>
              <a:t>(ang. </a:t>
            </a:r>
            <a:r>
              <a:rPr lang="pl-PL" sz="1600" dirty="0" err="1"/>
              <a:t>annotation</a:t>
            </a:r>
            <a:r>
              <a:rPr lang="pl-PL" sz="1600" dirty="0"/>
              <a:t> </a:t>
            </a:r>
            <a:r>
              <a:rPr lang="pl-PL" sz="1600" dirty="0" err="1"/>
              <a:t>processor</a:t>
            </a:r>
            <a:r>
              <a:rPr lang="pl-PL" sz="1600" dirty="0"/>
              <a:t>) to narzędzie, które analizuje adnotacje w czasie kompilacji i może generować dodatkowy kod, walidować strukturę kodu, itp. Programista oznacza kod adnotacjami. Kompilator uruchamia procesory adnotacji. Procesor odczytuje adnotacje i np. generuje klasy źródłowe, pliki XML, itp.</a:t>
            </a:r>
          </a:p>
        </p:txBody>
      </p:sp>
    </p:spTree>
    <p:extLst>
      <p:ext uri="{BB962C8B-B14F-4D97-AF65-F5344CB8AC3E}">
        <p14:creationId xmlns:p14="http://schemas.microsoft.com/office/powerpoint/2010/main" val="14544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F0CDD1-B9CB-B0B8-5322-6AEE8A9D4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84E485-AB07-98F2-5009-1C90A03FF50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Adnotacje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790B290-9BB8-0B2C-75D6-870091B33793}"/>
              </a:ext>
            </a:extLst>
          </p:cNvPr>
          <p:cNvSpPr txBox="1"/>
          <p:nvPr/>
        </p:nvSpPr>
        <p:spPr>
          <a:xfrm>
            <a:off x="1079593" y="855206"/>
            <a:ext cx="8028385" cy="373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Procesor adnotacji </a:t>
            </a:r>
            <a:r>
              <a:rPr lang="pl-PL" sz="1600" dirty="0"/>
              <a:t>(ang. </a:t>
            </a:r>
            <a:r>
              <a:rPr lang="pl-PL" sz="1600" dirty="0" err="1"/>
              <a:t>annotation</a:t>
            </a:r>
            <a:r>
              <a:rPr lang="pl-PL" sz="1600" dirty="0"/>
              <a:t> </a:t>
            </a:r>
            <a:r>
              <a:rPr lang="pl-PL" sz="1600" dirty="0" err="1"/>
              <a:t>processor</a:t>
            </a:r>
            <a:r>
              <a:rPr lang="pl-PL" sz="1600" dirty="0"/>
              <a:t>) to narzędzie, które analizuje adnotacje w czasie kompilacji i może generować dodatkowy kod, walidować strukturę kodu, itp. Programista oznacza kod adnotacjami. Kompilator uruchamia procesory adnotacji. Procesor odczytuje adnotacje i np. generuje klasy źródłowe, pliki XML, itp.</a:t>
            </a:r>
          </a:p>
          <a:p>
            <a:pPr algn="just">
              <a:lnSpc>
                <a:spcPct val="150000"/>
              </a:lnSpc>
            </a:pPr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 Narzędzia do przetwarzania adnotacji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kapt</a:t>
            </a:r>
            <a:r>
              <a:rPr lang="pl-PL" sz="1600" b="1" dirty="0"/>
              <a:t> - </a:t>
            </a:r>
            <a:r>
              <a:rPr lang="pl-PL" sz="1600" dirty="0"/>
              <a:t>Domyślne narzędzie do przetwarzania adnotacji w Kotlinie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ksp</a:t>
            </a:r>
            <a:r>
              <a:rPr lang="pl-PL" sz="1600" dirty="0"/>
              <a:t> (Kotlin Symbol Processing) - Nowsze i szybsze narzędzie niż </a:t>
            </a:r>
            <a:r>
              <a:rPr lang="pl-PL" sz="1600" dirty="0" err="1"/>
              <a:t>kapt</a:t>
            </a:r>
            <a:endParaRPr lang="pl-PL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annotationProcessor</a:t>
            </a:r>
            <a:r>
              <a:rPr lang="pl-PL" sz="1600" dirty="0"/>
              <a:t> (w Javie) - Używane w projektach Java, </a:t>
            </a:r>
            <a:r>
              <a:rPr lang="pl-PL" sz="1600" dirty="0" err="1"/>
              <a:t>interoperacyjne</a:t>
            </a:r>
            <a:r>
              <a:rPr lang="pl-PL" sz="1600" dirty="0"/>
              <a:t> z Kotlinem</a:t>
            </a:r>
          </a:p>
        </p:txBody>
      </p:sp>
    </p:spTree>
    <p:extLst>
      <p:ext uri="{BB962C8B-B14F-4D97-AF65-F5344CB8AC3E}">
        <p14:creationId xmlns:p14="http://schemas.microsoft.com/office/powerpoint/2010/main" val="29864006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51D9C-FDBE-EE91-05EB-A980137D5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B411F8-6EF7-13CC-896E-4EA976C9D43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Adnotacje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37B02C4-A903-9E71-9E14-ECD73F6D7CA7}"/>
              </a:ext>
            </a:extLst>
          </p:cNvPr>
          <p:cNvSpPr txBox="1"/>
          <p:nvPr/>
        </p:nvSpPr>
        <p:spPr>
          <a:xfrm>
            <a:off x="1079593" y="855206"/>
            <a:ext cx="8028385" cy="300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Procesor adnotacji </a:t>
            </a:r>
            <a:r>
              <a:rPr lang="pl-PL" sz="1600" dirty="0"/>
              <a:t>(ang. </a:t>
            </a:r>
            <a:r>
              <a:rPr lang="pl-PL" sz="1600" dirty="0" err="1"/>
              <a:t>annotation</a:t>
            </a:r>
            <a:r>
              <a:rPr lang="pl-PL" sz="1600" dirty="0"/>
              <a:t> </a:t>
            </a:r>
            <a:r>
              <a:rPr lang="pl-PL" sz="1600" dirty="0" err="1"/>
              <a:t>processor</a:t>
            </a:r>
            <a:r>
              <a:rPr lang="pl-PL" sz="1600" dirty="0"/>
              <a:t>) to narzędzie, które analizuje adnotacje w czasie kompilacji i może generować dodatkowy kod, walidować strukturę kodu, itp. Programista oznacza kod adnotacjami. Kompilator uruchamia procesory adnotacji. Procesor odczytuje adnotacje i np. generuje klasy źródłowe, pliki XML, itp.</a:t>
            </a:r>
          </a:p>
          <a:p>
            <a:pPr algn="just">
              <a:lnSpc>
                <a:spcPct val="150000"/>
              </a:lnSpc>
            </a:pPr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 Narzędzia do przetwarzania adnotacji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kapt</a:t>
            </a:r>
            <a:r>
              <a:rPr lang="pl-PL" sz="1600" b="1" dirty="0"/>
              <a:t> - </a:t>
            </a:r>
            <a:r>
              <a:rPr lang="pl-PL" sz="1600" dirty="0"/>
              <a:t>Domyślne narzędzie do przetwarzania adnotacji w Kotlinie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ksp</a:t>
            </a:r>
            <a:r>
              <a:rPr lang="pl-PL" sz="1600" dirty="0"/>
              <a:t> (Kotlin Symbol Processing) - Nowsze i szybsze narzędzie niż </a:t>
            </a:r>
            <a:r>
              <a:rPr lang="pl-PL" sz="1600" dirty="0" err="1"/>
              <a:t>kapt</a:t>
            </a:r>
            <a:endParaRPr lang="pl-PL" sz="16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3623B52-5CFC-6F28-81FC-777525395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3789040"/>
            <a:ext cx="6791375" cy="300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743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72299-46FB-AF77-6B33-E57D4AD7F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8E3028-59AA-9837-ACFD-602FAEF6B4F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Adnotacje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158C657-6F14-CA0D-9081-E92A771D4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88" y="1124744"/>
            <a:ext cx="6610398" cy="409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8550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453483-06B5-65EC-01F9-04106F72A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6E1F85-B69D-2921-A045-D882F6E81E1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ksp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3C3D34F-C287-F75B-425A-97DC8EBE7724}"/>
              </a:ext>
            </a:extLst>
          </p:cNvPr>
          <p:cNvSpPr txBox="1"/>
          <p:nvPr/>
        </p:nvSpPr>
        <p:spPr>
          <a:xfrm>
            <a:off x="1079593" y="855206"/>
            <a:ext cx="8028385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l-PL" sz="1600" dirty="0"/>
              <a:t>Uruchamia się podczas </a:t>
            </a:r>
            <a:r>
              <a:rPr lang="pl-PL" sz="1600" b="1" dirty="0"/>
              <a:t>kompilacji Kotlin </a:t>
            </a:r>
            <a:r>
              <a:rPr lang="pl-PL" sz="1600" dirty="0"/>
              <a:t>(nie JVM).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l-PL" sz="1600" dirty="0"/>
              <a:t>Otrzymuje </a:t>
            </a:r>
            <a:r>
              <a:rPr lang="pl-PL" sz="1600" b="1" dirty="0"/>
              <a:t>symboliczne reprezentacje </a:t>
            </a:r>
            <a:r>
              <a:rPr lang="pl-PL" sz="1600" dirty="0"/>
              <a:t>klas, funkcji, adnotacji itd. – np. </a:t>
            </a:r>
            <a:r>
              <a:rPr lang="pl-PL" sz="1600" dirty="0" err="1"/>
              <a:t>KSClassDeclaration</a:t>
            </a:r>
            <a:r>
              <a:rPr lang="pl-PL" sz="1600" dirty="0"/>
              <a:t>, </a:t>
            </a:r>
            <a:r>
              <a:rPr lang="pl-PL" sz="1600" dirty="0" err="1"/>
              <a:t>KSPropertyDeclaration</a:t>
            </a:r>
            <a:r>
              <a:rPr lang="pl-PL" sz="16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l-PL" sz="1600" dirty="0"/>
              <a:t>Analizuje je w kodzie źródłowym.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l-PL" sz="1600" dirty="0"/>
              <a:t>Generuje pliki Kotlin (.</a:t>
            </a:r>
            <a:r>
              <a:rPr lang="pl-PL" sz="1600" dirty="0" err="1"/>
              <a:t>kt</a:t>
            </a:r>
            <a:r>
              <a:rPr lang="pl-PL" sz="1600" dirty="0"/>
              <a:t>) lub inne (np. .</a:t>
            </a:r>
            <a:r>
              <a:rPr lang="pl-PL" sz="1600" dirty="0" err="1"/>
              <a:t>java</a:t>
            </a:r>
            <a:r>
              <a:rPr lang="pl-PL" sz="1600" dirty="0"/>
              <a:t>, .</a:t>
            </a:r>
            <a:r>
              <a:rPr lang="pl-PL" sz="1600" dirty="0" err="1"/>
              <a:t>xml</a:t>
            </a:r>
            <a:r>
              <a:rPr lang="pl-PL" sz="1600" dirty="0"/>
              <a:t>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l-PL" sz="1600" dirty="0"/>
              <a:t>Te pliki są dodawane do projektu i kompilowane razem z resztą kodu.</a:t>
            </a:r>
          </a:p>
        </p:txBody>
      </p:sp>
    </p:spTree>
    <p:extLst>
      <p:ext uri="{BB962C8B-B14F-4D97-AF65-F5344CB8AC3E}">
        <p14:creationId xmlns:p14="http://schemas.microsoft.com/office/powerpoint/2010/main" val="3955784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5A4E7E-E190-DC47-899B-655A9EC8C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A0B520-090F-F407-DEA7-EAA0824916C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ksp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8783B62-E56D-8773-EDF4-8A57C2BE784D}"/>
              </a:ext>
            </a:extLst>
          </p:cNvPr>
          <p:cNvSpPr txBox="1"/>
          <p:nvPr/>
        </p:nvSpPr>
        <p:spPr>
          <a:xfrm>
            <a:off x="1079593" y="855206"/>
            <a:ext cx="8028385" cy="4847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l-PL" sz="1600" dirty="0"/>
              <a:t>Uruchamia się podczas </a:t>
            </a:r>
            <a:r>
              <a:rPr lang="pl-PL" sz="1600" b="1" dirty="0"/>
              <a:t>kompilacji Kotlin </a:t>
            </a:r>
            <a:r>
              <a:rPr lang="pl-PL" sz="1600" dirty="0"/>
              <a:t>(nie JVM).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l-PL" sz="1600" dirty="0"/>
              <a:t>Otrzymuje </a:t>
            </a:r>
            <a:r>
              <a:rPr lang="pl-PL" sz="1600" b="1" dirty="0"/>
              <a:t>symboliczne reprezentacje </a:t>
            </a:r>
            <a:r>
              <a:rPr lang="pl-PL" sz="1600" dirty="0"/>
              <a:t>klas, funkcji, adnotacji itd. – np. </a:t>
            </a:r>
            <a:r>
              <a:rPr lang="pl-PL" sz="1600" dirty="0" err="1"/>
              <a:t>KSClassDeclaration</a:t>
            </a:r>
            <a:r>
              <a:rPr lang="pl-PL" sz="1600" dirty="0"/>
              <a:t>, </a:t>
            </a:r>
            <a:r>
              <a:rPr lang="pl-PL" sz="1600" dirty="0" err="1"/>
              <a:t>KSPropertyDeclaration</a:t>
            </a:r>
            <a:r>
              <a:rPr lang="pl-PL" sz="16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l-PL" sz="1600" dirty="0"/>
              <a:t>Analizuje je w kodzie źródłowym.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l-PL" sz="1600" dirty="0"/>
              <a:t>Generuje pliki Kotlin (.</a:t>
            </a:r>
            <a:r>
              <a:rPr lang="pl-PL" sz="1600" dirty="0" err="1"/>
              <a:t>kt</a:t>
            </a:r>
            <a:r>
              <a:rPr lang="pl-PL" sz="1600" dirty="0"/>
              <a:t>) lub inne (np. .</a:t>
            </a:r>
            <a:r>
              <a:rPr lang="pl-PL" sz="1600" dirty="0" err="1"/>
              <a:t>java</a:t>
            </a:r>
            <a:r>
              <a:rPr lang="pl-PL" sz="1600" dirty="0"/>
              <a:t>, .</a:t>
            </a:r>
            <a:r>
              <a:rPr lang="pl-PL" sz="1600" dirty="0" err="1"/>
              <a:t>xml</a:t>
            </a:r>
            <a:r>
              <a:rPr lang="pl-PL" sz="1600" dirty="0"/>
              <a:t>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l-PL" sz="1600" dirty="0"/>
              <a:t>Te pliki są dodawane do projektu i kompilowane razem z resztą kodu.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KSP API: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SymbolProcessor</a:t>
            </a:r>
            <a:r>
              <a:rPr lang="pl-PL" sz="1600" dirty="0"/>
              <a:t> - Główna klasa analizująca kod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Resolver</a:t>
            </a:r>
            <a:r>
              <a:rPr lang="pl-PL" sz="1600" dirty="0"/>
              <a:t> - Umożliwia wyszukiwanie adnotacji, klas, typów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KSAnnotated</a:t>
            </a:r>
            <a:r>
              <a:rPr lang="pl-PL" sz="1600" dirty="0"/>
              <a:t> - Dowolny element z adnotacją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KSClassDeclaration</a:t>
            </a:r>
            <a:r>
              <a:rPr lang="pl-PL" sz="1600" dirty="0"/>
              <a:t> - Deklaracja klasy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CodeGenerator</a:t>
            </a:r>
            <a:r>
              <a:rPr lang="pl-PL" sz="1600" dirty="0"/>
              <a:t> - Służy do generowania kodu źródłowego</a:t>
            </a:r>
          </a:p>
        </p:txBody>
      </p:sp>
    </p:spTree>
    <p:extLst>
      <p:ext uri="{BB962C8B-B14F-4D97-AF65-F5344CB8AC3E}">
        <p14:creationId xmlns:p14="http://schemas.microsoft.com/office/powerpoint/2010/main" val="812223596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89208</TotalTime>
  <Pages>0</Pages>
  <Words>1925</Words>
  <Characters>0</Characters>
  <Application>Microsoft Office PowerPoint</Application>
  <PresentationFormat>Pokaz na ekranie (4:3)</PresentationFormat>
  <Lines>0</Lines>
  <Paragraphs>216</Paragraphs>
  <Slides>38</Slides>
  <Notes>38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38</vt:i4>
      </vt:variant>
    </vt:vector>
  </HeadingPairs>
  <TitlesOfParts>
    <vt:vector size="45" baseType="lpstr">
      <vt:lpstr>Arabic Typesetting</vt:lpstr>
      <vt:lpstr>Arial</vt:lpstr>
      <vt:lpstr>Calibri</vt:lpstr>
      <vt:lpstr>Courier New</vt:lpstr>
      <vt:lpstr>Verbatim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1390</cp:revision>
  <dcterms:modified xsi:type="dcterms:W3CDTF">2025-05-19T15:31:02Z</dcterms:modified>
  <cp:category/>
</cp:coreProperties>
</file>