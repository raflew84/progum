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96" r:id="rId1"/>
  </p:sldMasterIdLst>
  <p:notesMasterIdLst>
    <p:notesMasterId r:id="rId37"/>
  </p:notesMasterIdLst>
  <p:handoutMasterIdLst>
    <p:handoutMasterId r:id="rId38"/>
  </p:handoutMasterIdLst>
  <p:sldIdLst>
    <p:sldId id="346" r:id="rId2"/>
    <p:sldId id="503" r:id="rId3"/>
    <p:sldId id="505" r:id="rId4"/>
    <p:sldId id="506" r:id="rId5"/>
    <p:sldId id="507" r:id="rId6"/>
    <p:sldId id="508" r:id="rId7"/>
    <p:sldId id="509" r:id="rId8"/>
    <p:sldId id="510" r:id="rId9"/>
    <p:sldId id="511" r:id="rId10"/>
    <p:sldId id="512" r:id="rId11"/>
    <p:sldId id="514" r:id="rId12"/>
    <p:sldId id="515" r:id="rId13"/>
    <p:sldId id="513" r:id="rId14"/>
    <p:sldId id="516" r:id="rId15"/>
    <p:sldId id="517" r:id="rId16"/>
    <p:sldId id="518" r:id="rId17"/>
    <p:sldId id="519" r:id="rId18"/>
    <p:sldId id="520" r:id="rId19"/>
    <p:sldId id="521" r:id="rId20"/>
    <p:sldId id="523" r:id="rId21"/>
    <p:sldId id="522" r:id="rId22"/>
    <p:sldId id="524" r:id="rId23"/>
    <p:sldId id="526" r:id="rId24"/>
    <p:sldId id="525" r:id="rId25"/>
    <p:sldId id="527" r:id="rId26"/>
    <p:sldId id="528" r:id="rId27"/>
    <p:sldId id="529" r:id="rId28"/>
    <p:sldId id="530" r:id="rId29"/>
    <p:sldId id="531" r:id="rId30"/>
    <p:sldId id="537" r:id="rId31"/>
    <p:sldId id="538" r:id="rId32"/>
    <p:sldId id="536" r:id="rId33"/>
    <p:sldId id="535" r:id="rId34"/>
    <p:sldId id="539" r:id="rId35"/>
    <p:sldId id="540" r:id="rId3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5pPr>
    <a:lvl6pPr marL="2286000" algn="l" defTabSz="914400" rtl="0" eaLnBrk="1" latinLnBrk="0" hangingPunct="1"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6pPr>
    <a:lvl7pPr marL="2743200" algn="l" defTabSz="914400" rtl="0" eaLnBrk="1" latinLnBrk="0" hangingPunct="1"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7pPr>
    <a:lvl8pPr marL="3200400" algn="l" defTabSz="914400" rtl="0" eaLnBrk="1" latinLnBrk="0" hangingPunct="1"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8pPr>
    <a:lvl9pPr marL="3657600" algn="l" defTabSz="914400" rtl="0" eaLnBrk="1" latinLnBrk="0" hangingPunct="1"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afi Lew" initials="RL" lastIdx="1" clrIdx="0">
    <p:extLst>
      <p:ext uri="{19B8F6BF-5375-455C-9EA6-DF929625EA0E}">
        <p15:presenceInfo xmlns:p15="http://schemas.microsoft.com/office/powerpoint/2012/main" userId="218299075d94207c" providerId="Windows Live"/>
      </p:ext>
    </p:extLst>
  </p:cmAuthor>
  <p:cmAuthor id="2" name="Rafał Lewandków" initials="RL" lastIdx="4" clrIdx="1">
    <p:extLst>
      <p:ext uri="{19B8F6BF-5375-455C-9EA6-DF929625EA0E}">
        <p15:presenceInfo xmlns:p15="http://schemas.microsoft.com/office/powerpoint/2012/main" userId="Rafał Lewandków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CE292"/>
    <a:srgbClr val="0000FF"/>
    <a:srgbClr val="00FF00"/>
    <a:srgbClr val="00FFFF"/>
    <a:srgbClr val="FF00FF"/>
    <a:srgbClr val="00660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2" autoAdjust="0"/>
    <p:restoredTop sz="94892" autoAdjust="0"/>
  </p:normalViewPr>
  <p:slideViewPr>
    <p:cSldViewPr>
      <p:cViewPr varScale="1">
        <p:scale>
          <a:sx n="96" d="100"/>
          <a:sy n="96" d="100"/>
        </p:scale>
        <p:origin x="1098" y="5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52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1" d="100"/>
          <a:sy n="61" d="100"/>
        </p:scale>
        <p:origin x="859" y="3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ommentAuthors" Target="commentAuthor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13504E-0C99-2340-A5F6-DD6E1A87C372}" type="datetimeFigureOut">
              <a:rPr lang="pl-PL" smtClean="0"/>
              <a:t>10.06.2025</a:t>
            </a:fld>
            <a:endParaRPr lang="pl-PL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6285F6-EDF4-6942-8E96-D0A50380D90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7508038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8C933E-44E9-2D43-91B0-0D2BEEFA7EB9}" type="datetimeFigureOut">
              <a:rPr lang="pl-PL" smtClean="0"/>
              <a:t>10.06.2025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CE77F9-1A7F-B148-A0AA-5828300D10B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3938265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endParaRPr lang="pl-P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681921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739818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130716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320A0D-4D57-44D8-BC45-532C01F1C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523788-29B7-C981-67D6-0961F96DC6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8A07FC-7C08-D865-B66D-62099FFE1D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4A3B84-AB53-A797-92CF-72D72A1698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978166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1715A-B977-E879-1617-6E101AC96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656A7F-7AB6-F17F-8A13-77348C56D0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97D608-7DFB-93CD-7D16-51BF6906DE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8EC350-0B27-4ECA-2478-877C98E623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683170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A2D264-43BA-0D48-36F0-E5A68B211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C62B6D-E6CC-B8C9-AED4-4B3E6C751E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F702C1-E34B-D89B-0EAE-55B8F7E846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B8FB16-495E-2E3E-58BF-5E03FD5E08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629186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90A87-067A-D2FB-89F2-85EBC9CAE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164350-2609-6846-2342-8977913EB0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4288C5-F149-13BD-DBC2-1FCD6D200B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168EA9-168F-FD07-D11C-E1CB2C3AB6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40779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CFF2F-6E35-88B3-FEBF-8CECEA7EF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482682-5940-DDEA-623D-1963BC5E62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920CB1-1750-8484-A1E3-77FC40A4AE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A3CE1C-B37C-F729-9F3F-FFE97C018F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229042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C7D2F4-5C72-7FB4-C88E-B2ADD9448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B7E327-3ABB-0E7A-3B5E-C4BC60E2E3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9E1107-3DDE-B6E8-F8F7-81973291AD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D25F21-D386-09C7-ABD1-6EAB9600FF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941072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87FEA-487D-FD76-5126-DF4435E38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0233D5-45E7-1585-FB83-2E19F25FF7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3F1983-6CB6-7604-E690-1E2E891076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B6B15F-B342-4AA8-86E6-BF29403C5F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10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52118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35E92-BB61-1BF1-2483-F86884DA4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F70561-7832-7310-94D9-AC93B7EEE6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5057E7-9C09-3260-7610-9037B7CCC3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66A535-22BA-1398-C384-ACD7E9893B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745158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239BD-00E7-42FB-EF6E-966464AA3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C9DAD6-7F22-6E96-9709-47CEBE67CC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1238C9-BF05-4C85-478C-CCB01FA2A8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96F613-85D7-9FD1-154F-E35F28F6ED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897011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A59714-9A14-A3CE-4695-54FAFD696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D83A6D-7F9F-1B4F-627F-1ECA040628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DF076F-FB9F-C75E-DE61-26BF28ABF8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5EB720-BBBA-C052-7BF3-7EE7779FF0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470611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E61C9-03CA-F920-AD90-C551425EC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045EB5-3681-42C5-2D2D-8BF7F02529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8129D9-CA6B-9C23-373E-78DDF56886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CC3940-81FE-8BE7-3532-363B252053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208135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A3882-0287-FBC1-B80F-E826337AE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52D1C7-A06F-CDC4-5F0E-5525543DA0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B64058-12F0-BB6C-3CDA-46A6B87E92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81C806-9980-A7CA-D477-8A59F25D4D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827406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74ED1-5478-15B9-58B5-B3F670627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5093FC-BC36-4CCE-203D-C0FB71151E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5E6FBF-4E0E-AF12-6752-FFA8A15470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3378ED-E423-FD6E-BFA0-A65EA46528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8739438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4BF83-F3B3-94D7-2ECA-49B4E440E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6698C0-E2B2-003A-5557-AECA10EA80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28C51E-662E-4A01-78B8-2C078834C5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B27831-2719-B582-9C2E-6CAD98CF8A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9959661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80966D-CAA3-126C-787B-A54C11A7F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DEE35E-4465-71EC-2043-5E56206656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B7CD6F-E7DE-09B0-EFB1-616D49218D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C847F7-437E-857E-01A3-AB0A17B10A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8398230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0738C-4F81-4E8D-9726-37A626F70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FAF4E6-B739-D421-9F3A-9E4E713751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61D5FF-312B-954A-AD4C-FF26640B8B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C13CC6-2C56-E6DD-42A8-905ABC16E1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1219213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1C9333-5133-679C-A815-5F34674BF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CDCD2E-6547-BE1A-DFE1-55F496422A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7FBC42-D13A-56F8-1BD3-E2F23FEBF0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D35055-B8DE-37EF-9617-5C81171B4D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20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0421309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6AD3A-A432-7355-CFA1-A9C991FC6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251377-B282-0A2A-D162-D6826F2ED4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2A6BAC-9F4D-C374-CB3E-5181985B93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95D294-C566-4CD9-4F03-2D2E351083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5337618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96987-68A9-50B5-7E7B-ADB6B5F26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AC1C32-8411-CEBB-1007-1AF72FDEE6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6569B7-6C5B-AAED-358B-0355DF6AA8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A8439F-44E9-18E9-944E-69E05B2314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7458139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E4F83-2168-4EB0-BE8F-632E060DA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BC05A4-8C48-0E6A-6E9E-A6E3DE54C2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07F727-D2BC-8B4A-EE56-9FB1EBBF32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1D712F-10C8-6C9A-6950-543D5BB3AD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0535221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9A018E-A5B5-DB1B-DEE8-ED10FBBC5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BD9629-42D9-FB0E-B1AD-E34B974DB1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B36EC1-BE54-F2D5-67D6-EE579A8EC6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32BF7A-F737-932D-7421-54A473440B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6977579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46143-5A82-4D41-BA28-7375BB442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1EB039-656A-3318-43DF-A73EDD8C38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004B31-A9D4-0F2F-2E2B-22A9F41552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001FD9-C079-6929-6E33-5AFC53A5AE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9917876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887145-005D-79AE-3F5A-2CB0F284D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D87D5F-A8A0-56B7-460A-D55CDC8E75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4EF4EF-2535-7B61-DF6C-952236A7C8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B81294-1680-7D14-CF11-E1E862F9C2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6019239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8A3C5-BC73-E321-54C3-F983D28E9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B98B2F-9CEA-C4C5-2A9D-D4C67D3B05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5DCD70-74A2-FB35-9A62-70700ABA80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55CDD8-BEC9-2028-D815-F7253C69A4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5965700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DFF48-C96D-0840-BAFF-418E9B49E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6A3B54-63F3-3943-484A-353DA8883A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281CEE-C2D0-67F1-48DE-7F89B3D34C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6737AC-D535-8EC6-B4A4-D890C11B33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1442698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44127-8FF1-1752-9AA4-54855F006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7E8D49-623C-BA2E-1149-11B2D7AB6C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8A714F-FFBC-5E20-F44E-AC98A37BA6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950CA8-F02E-43B6-A8C1-3ADA6AC0F3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1818743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1A2ED-27CB-B6D7-5CAD-DB7865A63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5E0E8F-E0BA-FA99-BB45-E131E72682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15C5AE-AFD6-D0E0-19C2-F55BA45760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5904AE-2CD2-5180-94C1-A3AE5E850A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30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6469990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23859-DBFD-A187-385E-7DFCC3985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BA90B1-4BD8-D4CA-68C9-98E1C625A6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E238E6-8633-D73C-995C-D158CDBDBE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54DB37-7CD0-5988-F404-98F2296C95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31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1006776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DB296-B687-CF90-B4D1-A9778FD66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654D8C-6042-6FC1-8AC7-1106EF269A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F9188F-2AB2-1665-DB3B-DBF05BF988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052679-6B88-9520-41AB-C0791E4702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32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6289512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ABD6D-EA47-6F46-108B-5F1806F05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62F6AF-070B-8D37-359F-23DA7B23B0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A3B885-EE99-8774-D829-87E81FF7CC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3B2162-FA41-D7FF-588F-B54F8342EE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33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5657518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DAA5C-1451-3462-4121-268B27D55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F8D6B7-99D5-EFAB-50E2-27EB19243A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5C560B-900D-02D0-7F5F-43C04249E3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CE278D-3309-1CFA-F192-CDEE3B3A0B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34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137717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7D026D-2D4D-BC48-E269-7BA4C006E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6C029A-D1CB-593C-C113-89E66EA5C9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20DEE6-E063-AEA3-DAE6-686E323DA2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282D79-1EEE-57BA-D6A3-89194112ED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35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406583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10.06.2025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3FEF5-976C-4EA3-84A7-FBC3543521F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97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10.06.2025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B2623-FECC-458E-8887-8971830FA0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404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10.06.2025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EC418-961B-4A97-8A49-C7EB1AA505E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816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10.06.2025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CE437-C745-4797-8E12-AE887F9C67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269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10.06.2025</a:t>
            </a:fld>
            <a:endParaRPr lang="pl-PL"/>
          </a:p>
        </p:txBody>
      </p:sp>
      <p:sp>
        <p:nvSpPr>
          <p:cNvPr id="8" name="Symbol zastępczy stop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D58DE-157A-47FB-B6FE-2BF3DBE089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114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daty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10.06.2025</a:t>
            </a:fld>
            <a:endParaRPr lang="pl-PL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53702-A4CE-4E37-AD1A-55778605B19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313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10.06.2025</a:t>
            </a:fld>
            <a:endParaRPr lang="pl-PL"/>
          </a:p>
        </p:txBody>
      </p:sp>
      <p:sp>
        <p:nvSpPr>
          <p:cNvPr id="3" name="Symbol zastępczy stop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E45C1-B7A3-4D83-AEC0-13697CCD1D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72454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10.06.2025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751C0-3663-4EFE-8A6A-10BE31BDC9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4853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l-PL"/>
              <a:t>Przeciągnij obraz na symbol zastępczy lub kliknij ikonę, aby go dodać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10.06.2025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FEB7E-1F88-4AE7-AA89-93BE3C1A9C1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119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tekstu pionowego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10.06.2025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C5AF-A148-4762-92DF-376362746B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363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tekstu pionowego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10.06.2025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DEFBB-CA7F-4380-AF49-7EC026DA26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695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017B01-0C30-B241-B19F-621BE4770608}" type="datetimeFigureOut">
              <a:rPr lang="pl-PL" smtClean="0"/>
              <a:t>10.06.2025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1E45C1-B7A3-4D83-AEC0-13697CCD1D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097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5896" y="260648"/>
            <a:ext cx="4752274" cy="398892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79512" y="1628800"/>
            <a:ext cx="842493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3200" b="1" dirty="0">
                <a:solidFill>
                  <a:schemeClr val="bg1"/>
                </a:solidFill>
              </a:rPr>
              <a:t>PROGRAMOWANIE URZĄDZEŃ</a:t>
            </a:r>
          </a:p>
          <a:p>
            <a:pPr algn="ctr"/>
            <a:r>
              <a:rPr lang="pl-PL" sz="3200" b="1" dirty="0">
                <a:solidFill>
                  <a:schemeClr val="bg1"/>
                </a:solidFill>
              </a:rPr>
              <a:t>MOBILNYCH 1</a:t>
            </a:r>
          </a:p>
        </p:txBody>
      </p:sp>
      <p:sp>
        <p:nvSpPr>
          <p:cNvPr id="5" name="TextBox 1">
            <a:extLst>
              <a:ext uri="{FF2B5EF4-FFF2-40B4-BE49-F238E27FC236}">
                <a16:creationId xmlns:a16="http://schemas.microsoft.com/office/drawing/2014/main" id="{B3CC2FAF-D489-4F42-90E1-D634E6FA5CAF}"/>
              </a:ext>
            </a:extLst>
          </p:cNvPr>
          <p:cNvSpPr txBox="1"/>
          <p:nvPr/>
        </p:nvSpPr>
        <p:spPr>
          <a:xfrm>
            <a:off x="171702" y="3861048"/>
            <a:ext cx="84249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2400" dirty="0">
                <a:solidFill>
                  <a:schemeClr val="bg1"/>
                </a:solidFill>
              </a:rPr>
              <a:t>WYKŁAD 14</a:t>
            </a: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A5201681-6767-4194-BF52-C2BE7C096DA3}"/>
              </a:ext>
            </a:extLst>
          </p:cNvPr>
          <p:cNvSpPr txBox="1"/>
          <p:nvPr/>
        </p:nvSpPr>
        <p:spPr>
          <a:xfrm>
            <a:off x="3131840" y="4437112"/>
            <a:ext cx="54726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pl-PL" sz="1800" dirty="0">
                <a:solidFill>
                  <a:schemeClr val="bg1"/>
                </a:solidFill>
              </a:rPr>
              <a:t>Aplikacja Hybrydowa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pl-PL" sz="1800" dirty="0" err="1">
                <a:solidFill>
                  <a:schemeClr val="bg1"/>
                </a:solidFill>
              </a:rPr>
              <a:t>SharedPreferences</a:t>
            </a:r>
            <a:endParaRPr lang="pl-PL" sz="1800" dirty="0">
              <a:solidFill>
                <a:schemeClr val="bg1"/>
              </a:solidFill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pl-PL" sz="1800" dirty="0">
                <a:solidFill>
                  <a:schemeClr val="bg1"/>
                </a:solidFill>
              </a:rPr>
              <a:t>Widżety</a:t>
            </a:r>
          </a:p>
        </p:txBody>
      </p:sp>
    </p:spTree>
    <p:extLst>
      <p:ext uri="{BB962C8B-B14F-4D97-AF65-F5344CB8AC3E}">
        <p14:creationId xmlns:p14="http://schemas.microsoft.com/office/powerpoint/2010/main" val="30983482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5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Architektura aplikacji</a:t>
            </a:r>
          </a:p>
        </p:txBody>
      </p:sp>
      <p:pic>
        <p:nvPicPr>
          <p:cNvPr id="3" name="bandicam 2025-06-10 14-41-08-166">
            <a:hlinkClick r:id="" action="ppaction://media"/>
            <a:extLst>
              <a:ext uri="{FF2B5EF4-FFF2-40B4-BE49-F238E27FC236}">
                <a16:creationId xmlns:a16="http://schemas.microsoft.com/office/drawing/2014/main" id="{E38BFC88-C6B2-3629-073F-0E339F09912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3635896" y="908720"/>
            <a:ext cx="2736304" cy="5892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824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13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Architektura aplikacji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B77F873F-1476-ED36-041A-C425E1D27CF3}"/>
              </a:ext>
            </a:extLst>
          </p:cNvPr>
          <p:cNvSpPr txBox="1"/>
          <p:nvPr/>
        </p:nvSpPr>
        <p:spPr>
          <a:xfrm>
            <a:off x="1115616" y="908720"/>
            <a:ext cx="79208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l-PL" sz="1400" b="1" dirty="0"/>
              <a:t>MainActivity</a:t>
            </a:r>
            <a:r>
              <a:rPr lang="pl-PL" sz="1400" dirty="0"/>
              <a:t> + </a:t>
            </a:r>
            <a:r>
              <a:rPr lang="pl-PL" sz="1400" b="1" dirty="0" err="1"/>
              <a:t>CounterApp</a:t>
            </a:r>
            <a:r>
              <a:rPr lang="pl-PL" sz="1400" dirty="0"/>
              <a:t> (</a:t>
            </a:r>
            <a:r>
              <a:rPr lang="pl-PL" sz="1400" dirty="0" err="1"/>
              <a:t>Jetpack</a:t>
            </a:r>
            <a:r>
              <a:rPr lang="pl-PL" sz="1400" dirty="0"/>
              <a:t> </a:t>
            </a:r>
            <a:r>
              <a:rPr lang="pl-PL" sz="1400" dirty="0" err="1"/>
              <a:t>Compose</a:t>
            </a:r>
            <a:r>
              <a:rPr lang="pl-PL" sz="1400" dirty="0"/>
              <a:t>) - Główny ekran aplikacji, zbudowany przy użyciu </a:t>
            </a:r>
            <a:r>
              <a:rPr lang="pl-PL" sz="1400" dirty="0" err="1"/>
              <a:t>Jetpack</a:t>
            </a:r>
            <a:r>
              <a:rPr lang="pl-PL" sz="1400" dirty="0"/>
              <a:t> </a:t>
            </a:r>
            <a:r>
              <a:rPr lang="pl-PL" sz="1400" dirty="0" err="1"/>
              <a:t>Compose</a:t>
            </a:r>
            <a:r>
              <a:rPr lang="pl-PL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381490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76C4E9-2B7C-6351-5128-75B758BF6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E61BAD3-2F8B-EC17-2A3D-9C32824C29D2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Architektura aplikacji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E7690C39-30EB-9885-5DD5-4F8D804442E2}"/>
              </a:ext>
            </a:extLst>
          </p:cNvPr>
          <p:cNvSpPr txBox="1"/>
          <p:nvPr/>
        </p:nvSpPr>
        <p:spPr>
          <a:xfrm>
            <a:off x="1115616" y="908720"/>
            <a:ext cx="792088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l-PL" sz="1400" b="1" dirty="0"/>
              <a:t>MainActivity</a:t>
            </a:r>
            <a:r>
              <a:rPr lang="pl-PL" sz="1400" dirty="0"/>
              <a:t> + </a:t>
            </a:r>
            <a:r>
              <a:rPr lang="pl-PL" sz="1400" b="1" dirty="0" err="1"/>
              <a:t>CounterApp</a:t>
            </a:r>
            <a:r>
              <a:rPr lang="pl-PL" sz="1400" dirty="0"/>
              <a:t> (</a:t>
            </a:r>
            <a:r>
              <a:rPr lang="pl-PL" sz="1400" dirty="0" err="1"/>
              <a:t>Jetpack</a:t>
            </a:r>
            <a:r>
              <a:rPr lang="pl-PL" sz="1400" dirty="0"/>
              <a:t> </a:t>
            </a:r>
            <a:r>
              <a:rPr lang="pl-PL" sz="1400" dirty="0" err="1"/>
              <a:t>Compose</a:t>
            </a:r>
            <a:r>
              <a:rPr lang="pl-PL" sz="1400" dirty="0"/>
              <a:t>) - Główny ekran aplikacji, zbudowany przy użyciu </a:t>
            </a:r>
            <a:r>
              <a:rPr lang="pl-PL" sz="1400" dirty="0" err="1"/>
              <a:t>Jetpack</a:t>
            </a:r>
            <a:r>
              <a:rPr lang="pl-PL" sz="1400" dirty="0"/>
              <a:t> </a:t>
            </a:r>
            <a:r>
              <a:rPr lang="pl-PL" sz="1400" dirty="0" err="1"/>
              <a:t>Compose</a:t>
            </a:r>
            <a:r>
              <a:rPr lang="pl-PL" sz="1400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pl-PL" sz="14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l-PL" sz="1400" dirty="0"/>
              <a:t>Stan zarządzany przez </a:t>
            </a:r>
            <a:r>
              <a:rPr lang="pl-PL" sz="1400" b="1" dirty="0" err="1"/>
              <a:t>SharedPreferences</a:t>
            </a:r>
            <a:r>
              <a:rPr lang="pl-PL" sz="1400" b="1" dirty="0"/>
              <a:t> - </a:t>
            </a:r>
            <a:r>
              <a:rPr lang="pl-PL" sz="1400" dirty="0"/>
              <a:t>Wartość licznika jest przechowywana w </a:t>
            </a:r>
            <a:r>
              <a:rPr lang="pl-PL" sz="1400" dirty="0" err="1"/>
              <a:t>SharedPreferences</a:t>
            </a:r>
            <a:r>
              <a:rPr lang="pl-PL" sz="1400" dirty="0"/>
              <a:t> (klucz "</a:t>
            </a:r>
            <a:r>
              <a:rPr lang="pl-PL" sz="1400" dirty="0" err="1"/>
              <a:t>count</a:t>
            </a:r>
            <a:r>
              <a:rPr lang="pl-PL" sz="1400" dirty="0"/>
              <a:t>"). Aplikacja subskrybuje zmiany za pomocą </a:t>
            </a:r>
            <a:r>
              <a:rPr lang="pl-PL" sz="1400" dirty="0" err="1"/>
              <a:t>OnSharedPreferenceChangeListener</a:t>
            </a:r>
            <a:r>
              <a:rPr lang="pl-PL" sz="1400" dirty="0"/>
              <a:t>, dzięki czemu UI automatycznie się aktualizuje.</a:t>
            </a:r>
            <a:endParaRPr lang="pl-PL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3401778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4988B1-C513-93E2-C759-9D36981CD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14DD07F-BDEA-F07B-CF51-53252C4F304E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Architektura aplikacji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A58A5B2A-268B-80EC-6C77-0EE7F308B149}"/>
              </a:ext>
            </a:extLst>
          </p:cNvPr>
          <p:cNvSpPr txBox="1"/>
          <p:nvPr/>
        </p:nvSpPr>
        <p:spPr>
          <a:xfrm>
            <a:off x="1115616" y="908720"/>
            <a:ext cx="7920880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l-PL" sz="1400" b="1" dirty="0"/>
              <a:t>MainActivity</a:t>
            </a:r>
            <a:r>
              <a:rPr lang="pl-PL" sz="1400" dirty="0"/>
              <a:t> + </a:t>
            </a:r>
            <a:r>
              <a:rPr lang="pl-PL" sz="1400" b="1" dirty="0" err="1"/>
              <a:t>CounterApp</a:t>
            </a:r>
            <a:r>
              <a:rPr lang="pl-PL" sz="1400" dirty="0"/>
              <a:t> (</a:t>
            </a:r>
            <a:r>
              <a:rPr lang="pl-PL" sz="1400" dirty="0" err="1"/>
              <a:t>Jetpack</a:t>
            </a:r>
            <a:r>
              <a:rPr lang="pl-PL" sz="1400" dirty="0"/>
              <a:t> </a:t>
            </a:r>
            <a:r>
              <a:rPr lang="pl-PL" sz="1400" dirty="0" err="1"/>
              <a:t>Compose</a:t>
            </a:r>
            <a:r>
              <a:rPr lang="pl-PL" sz="1400" dirty="0"/>
              <a:t>) - Główny ekran aplikacji, zbudowany przy użyciu </a:t>
            </a:r>
            <a:r>
              <a:rPr lang="pl-PL" sz="1400" dirty="0" err="1"/>
              <a:t>Jetpack</a:t>
            </a:r>
            <a:r>
              <a:rPr lang="pl-PL" sz="1400" dirty="0"/>
              <a:t> </a:t>
            </a:r>
            <a:r>
              <a:rPr lang="pl-PL" sz="1400" dirty="0" err="1"/>
              <a:t>Compose</a:t>
            </a:r>
            <a:r>
              <a:rPr lang="pl-PL" sz="1400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pl-PL" sz="14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l-PL" sz="1400" dirty="0"/>
              <a:t>Stan zarządzany przez </a:t>
            </a:r>
            <a:r>
              <a:rPr lang="pl-PL" sz="1400" b="1" dirty="0" err="1"/>
              <a:t>SharedPreferences</a:t>
            </a:r>
            <a:r>
              <a:rPr lang="pl-PL" sz="1400" b="1" dirty="0"/>
              <a:t> - </a:t>
            </a:r>
            <a:r>
              <a:rPr lang="pl-PL" sz="1400" dirty="0"/>
              <a:t>Wartość licznika jest przechowywana w </a:t>
            </a:r>
            <a:r>
              <a:rPr lang="pl-PL" sz="1400" dirty="0" err="1"/>
              <a:t>SharedPreferences</a:t>
            </a:r>
            <a:r>
              <a:rPr lang="pl-PL" sz="1400" dirty="0"/>
              <a:t> (klucz "</a:t>
            </a:r>
            <a:r>
              <a:rPr lang="pl-PL" sz="1400" dirty="0" err="1"/>
              <a:t>count</a:t>
            </a:r>
            <a:r>
              <a:rPr lang="pl-PL" sz="1400" dirty="0"/>
              <a:t>"). Aplikacja subskrybuje zmiany za pomocą </a:t>
            </a:r>
            <a:r>
              <a:rPr lang="pl-PL" sz="1400" dirty="0" err="1"/>
              <a:t>OnSharedPreferenceChangeListener</a:t>
            </a:r>
            <a:r>
              <a:rPr lang="pl-PL" sz="1400" dirty="0"/>
              <a:t>, dzięki czemu UI automatycznie się aktualizuje.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pl-PL" sz="14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l-PL" sz="1400" b="1" dirty="0" err="1"/>
              <a:t>CounterWidget</a:t>
            </a:r>
            <a:r>
              <a:rPr lang="pl-PL" sz="1400" dirty="0"/>
              <a:t> (</a:t>
            </a:r>
            <a:r>
              <a:rPr lang="pl-PL" sz="1400" b="1" dirty="0"/>
              <a:t>AppWidgetProvider</a:t>
            </a:r>
            <a:r>
              <a:rPr lang="pl-PL" sz="1400" dirty="0"/>
              <a:t>) - Widżet na ekranie głównym, który wyświetla ten sam licznik co aplikacja i pozwala na jego modyfikację. UI zdefiniowany w „tradycyjnym” XML (bo widżety nie obsługują </a:t>
            </a:r>
            <a:r>
              <a:rPr lang="pl-PL" sz="1400" dirty="0" err="1"/>
              <a:t>Compose</a:t>
            </a:r>
            <a:r>
              <a:rPr lang="pl-PL" sz="1400" dirty="0"/>
              <a:t>).</a:t>
            </a:r>
            <a:endParaRPr lang="pl-PL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4897591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39C5EE-A6D5-5D4A-6019-E9880EA7B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6EB8C79-F4F3-F123-78BD-654DA0BE0F54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Architektura aplikacji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4DFBBDFF-4039-0027-EC91-3B27071C981B}"/>
              </a:ext>
            </a:extLst>
          </p:cNvPr>
          <p:cNvSpPr txBox="1"/>
          <p:nvPr/>
        </p:nvSpPr>
        <p:spPr>
          <a:xfrm>
            <a:off x="1115616" y="908720"/>
            <a:ext cx="792088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l-PL" sz="1400" b="1" dirty="0"/>
              <a:t>MainActivity</a:t>
            </a:r>
            <a:r>
              <a:rPr lang="pl-PL" sz="1400" dirty="0"/>
              <a:t> + </a:t>
            </a:r>
            <a:r>
              <a:rPr lang="pl-PL" sz="1400" b="1" dirty="0" err="1"/>
              <a:t>CounterApp</a:t>
            </a:r>
            <a:r>
              <a:rPr lang="pl-PL" sz="1400" dirty="0"/>
              <a:t> (</a:t>
            </a:r>
            <a:r>
              <a:rPr lang="pl-PL" sz="1400" dirty="0" err="1"/>
              <a:t>Jetpack</a:t>
            </a:r>
            <a:r>
              <a:rPr lang="pl-PL" sz="1400" dirty="0"/>
              <a:t> </a:t>
            </a:r>
            <a:r>
              <a:rPr lang="pl-PL" sz="1400" dirty="0" err="1"/>
              <a:t>Compose</a:t>
            </a:r>
            <a:r>
              <a:rPr lang="pl-PL" sz="1400" dirty="0"/>
              <a:t>) - Główny ekran aplikacji, zbudowany przy użyciu </a:t>
            </a:r>
            <a:r>
              <a:rPr lang="pl-PL" sz="1400" dirty="0" err="1"/>
              <a:t>Jetpack</a:t>
            </a:r>
            <a:r>
              <a:rPr lang="pl-PL" sz="1400" dirty="0"/>
              <a:t> </a:t>
            </a:r>
            <a:r>
              <a:rPr lang="pl-PL" sz="1400" dirty="0" err="1"/>
              <a:t>Compose</a:t>
            </a:r>
            <a:r>
              <a:rPr lang="pl-PL" sz="1400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pl-PL" sz="14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l-PL" sz="1400" dirty="0"/>
              <a:t>Stan zarządzany przez </a:t>
            </a:r>
            <a:r>
              <a:rPr lang="pl-PL" sz="1400" b="1" dirty="0" err="1"/>
              <a:t>SharedPreferences</a:t>
            </a:r>
            <a:r>
              <a:rPr lang="pl-PL" sz="1400" b="1" dirty="0"/>
              <a:t> - </a:t>
            </a:r>
            <a:r>
              <a:rPr lang="pl-PL" sz="1400" dirty="0"/>
              <a:t>Wartość licznika jest przechowywana w </a:t>
            </a:r>
            <a:r>
              <a:rPr lang="pl-PL" sz="1400" dirty="0" err="1"/>
              <a:t>SharedPreferences</a:t>
            </a:r>
            <a:r>
              <a:rPr lang="pl-PL" sz="1400" dirty="0"/>
              <a:t> (klucz "</a:t>
            </a:r>
            <a:r>
              <a:rPr lang="pl-PL" sz="1400" dirty="0" err="1"/>
              <a:t>count</a:t>
            </a:r>
            <a:r>
              <a:rPr lang="pl-PL" sz="1400" dirty="0"/>
              <a:t>"). Aplikacja subskrybuje zmiany za pomocą </a:t>
            </a:r>
            <a:r>
              <a:rPr lang="pl-PL" sz="1400" dirty="0" err="1"/>
              <a:t>OnSharedPreferenceChangeListener</a:t>
            </a:r>
            <a:r>
              <a:rPr lang="pl-PL" sz="1400" dirty="0"/>
              <a:t>, dzięki czemu UI automatycznie się aktualizuje.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pl-PL" sz="14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l-PL" sz="1400" b="1" dirty="0" err="1"/>
              <a:t>CounterWidget</a:t>
            </a:r>
            <a:r>
              <a:rPr lang="pl-PL" sz="1400" dirty="0"/>
              <a:t> (</a:t>
            </a:r>
            <a:r>
              <a:rPr lang="pl-PL" sz="1400" b="1" dirty="0"/>
              <a:t>AppWidgetProvider</a:t>
            </a:r>
            <a:r>
              <a:rPr lang="pl-PL" sz="1400" dirty="0"/>
              <a:t>) - Widżet na ekranie głównym, który wyświetla ten sam licznik co aplikacja i pozwala na jego modyfikację. UI zdefiniowany w „tradycyjnym” XML (bo widżety nie obsługują </a:t>
            </a:r>
            <a:r>
              <a:rPr lang="pl-PL" sz="1400" dirty="0" err="1"/>
              <a:t>Compose</a:t>
            </a:r>
            <a:r>
              <a:rPr lang="pl-PL" sz="1400" dirty="0"/>
              <a:t>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pl-PL" sz="14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l-PL" sz="1400" b="1" dirty="0" err="1"/>
              <a:t>CounterReceiver</a:t>
            </a:r>
            <a:r>
              <a:rPr lang="pl-PL" sz="1400" dirty="0"/>
              <a:t> (</a:t>
            </a:r>
            <a:r>
              <a:rPr lang="pl-PL" sz="1400" b="1" dirty="0" err="1"/>
              <a:t>BroadcastReceiver</a:t>
            </a:r>
            <a:r>
              <a:rPr lang="pl-PL" sz="1400" dirty="0"/>
              <a:t>) - Odbiera i przetwarza akcje (INCREMENT, DECREMENT, RESET) wysyłane z widżetu. Po zmianie danych wywołuje </a:t>
            </a:r>
            <a:r>
              <a:rPr lang="pl-PL" sz="1400" dirty="0" err="1"/>
              <a:t>CounterWidget</a:t>
            </a:r>
            <a:r>
              <a:rPr lang="pl-PL" sz="1400" dirty="0"/>
              <a:t>().</a:t>
            </a:r>
            <a:r>
              <a:rPr lang="pl-PL" sz="1400" dirty="0" err="1"/>
              <a:t>onUpdate</a:t>
            </a:r>
            <a:r>
              <a:rPr lang="pl-PL" sz="1400" dirty="0"/>
              <a:t>(), aby odświeżyć UI widżetu.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pl-PL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812738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AE7F13-1CAB-5921-A079-166E83561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96E57D0-7B40-8B06-CF6E-8CED6677045F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Architektura aplikacji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B6433D7E-3467-5280-3C42-D8F35FDE9309}"/>
              </a:ext>
            </a:extLst>
          </p:cNvPr>
          <p:cNvSpPr txBox="1"/>
          <p:nvPr/>
        </p:nvSpPr>
        <p:spPr>
          <a:xfrm>
            <a:off x="1115616" y="908720"/>
            <a:ext cx="792088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l-PL" sz="1400" b="1" dirty="0"/>
              <a:t>MainActivity</a:t>
            </a:r>
            <a:r>
              <a:rPr lang="pl-PL" sz="1400" dirty="0"/>
              <a:t> + </a:t>
            </a:r>
            <a:r>
              <a:rPr lang="pl-PL" sz="1400" b="1" dirty="0" err="1"/>
              <a:t>CounterApp</a:t>
            </a:r>
            <a:r>
              <a:rPr lang="pl-PL" sz="1400" dirty="0"/>
              <a:t> (</a:t>
            </a:r>
            <a:r>
              <a:rPr lang="pl-PL" sz="1400" dirty="0" err="1"/>
              <a:t>Jetpack</a:t>
            </a:r>
            <a:r>
              <a:rPr lang="pl-PL" sz="1400" dirty="0"/>
              <a:t> </a:t>
            </a:r>
            <a:r>
              <a:rPr lang="pl-PL" sz="1400" dirty="0" err="1"/>
              <a:t>Compose</a:t>
            </a:r>
            <a:r>
              <a:rPr lang="pl-PL" sz="1400" dirty="0"/>
              <a:t>) - Główny ekran aplikacji, zbudowany przy użyciu </a:t>
            </a:r>
            <a:r>
              <a:rPr lang="pl-PL" sz="1400" dirty="0" err="1"/>
              <a:t>Jetpack</a:t>
            </a:r>
            <a:r>
              <a:rPr lang="pl-PL" sz="1400" dirty="0"/>
              <a:t> </a:t>
            </a:r>
            <a:r>
              <a:rPr lang="pl-PL" sz="1400" dirty="0" err="1"/>
              <a:t>Compose</a:t>
            </a:r>
            <a:r>
              <a:rPr lang="pl-PL" sz="1400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pl-PL" sz="14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l-PL" sz="1400" dirty="0"/>
              <a:t>Stan zarządzany przez </a:t>
            </a:r>
            <a:r>
              <a:rPr lang="pl-PL" sz="1400" b="1" dirty="0" err="1"/>
              <a:t>SharedPreferences</a:t>
            </a:r>
            <a:r>
              <a:rPr lang="pl-PL" sz="1400" b="1" dirty="0"/>
              <a:t> - </a:t>
            </a:r>
            <a:r>
              <a:rPr lang="pl-PL" sz="1400" dirty="0"/>
              <a:t>Wartość licznika jest przechowywana w </a:t>
            </a:r>
            <a:r>
              <a:rPr lang="pl-PL" sz="1400" dirty="0" err="1"/>
              <a:t>SharedPreferences</a:t>
            </a:r>
            <a:r>
              <a:rPr lang="pl-PL" sz="1400" dirty="0"/>
              <a:t> (klucz "</a:t>
            </a:r>
            <a:r>
              <a:rPr lang="pl-PL" sz="1400" dirty="0" err="1"/>
              <a:t>count</a:t>
            </a:r>
            <a:r>
              <a:rPr lang="pl-PL" sz="1400" dirty="0"/>
              <a:t>"). Aplikacja subskrybuje zmiany za pomocą </a:t>
            </a:r>
            <a:r>
              <a:rPr lang="pl-PL" sz="1400" dirty="0" err="1"/>
              <a:t>OnSharedPreferenceChangeListener</a:t>
            </a:r>
            <a:r>
              <a:rPr lang="pl-PL" sz="1400" dirty="0"/>
              <a:t>, dzięki czemu UI automatycznie się aktualizuje.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pl-PL" sz="14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l-PL" sz="1400" b="1" dirty="0" err="1"/>
              <a:t>CounterWidget</a:t>
            </a:r>
            <a:r>
              <a:rPr lang="pl-PL" sz="1400" dirty="0"/>
              <a:t> (</a:t>
            </a:r>
            <a:r>
              <a:rPr lang="pl-PL" sz="1400" b="1" dirty="0"/>
              <a:t>AppWidgetProvider</a:t>
            </a:r>
            <a:r>
              <a:rPr lang="pl-PL" sz="1400" dirty="0"/>
              <a:t>) - Widżet na ekranie głównym, który wyświetla ten sam licznik co aplikacja i pozwala na jego modyfikację. UI zdefiniowany w „tradycyjnym” XML (bo widżety nie obsługują </a:t>
            </a:r>
            <a:r>
              <a:rPr lang="pl-PL" sz="1400" dirty="0" err="1"/>
              <a:t>Compose</a:t>
            </a:r>
            <a:r>
              <a:rPr lang="pl-PL" sz="1400" dirty="0"/>
              <a:t>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pl-PL" sz="14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l-PL" sz="1400" b="1" dirty="0" err="1"/>
              <a:t>CounterReceiver</a:t>
            </a:r>
            <a:r>
              <a:rPr lang="pl-PL" sz="1400" dirty="0"/>
              <a:t> (</a:t>
            </a:r>
            <a:r>
              <a:rPr lang="pl-PL" sz="1400" b="1" dirty="0" err="1"/>
              <a:t>BroadcastReceiver</a:t>
            </a:r>
            <a:r>
              <a:rPr lang="pl-PL" sz="1400" dirty="0"/>
              <a:t>) - Odbiera i przetwarza akcje (INCREMENT, DECREMENT, RESET) wysyłane z widżetu. Po zmianie danych wywołuje </a:t>
            </a:r>
            <a:r>
              <a:rPr lang="pl-PL" sz="1400" dirty="0" err="1"/>
              <a:t>CounterWidget</a:t>
            </a:r>
            <a:r>
              <a:rPr lang="pl-PL" sz="1400" dirty="0"/>
              <a:t>().</a:t>
            </a:r>
            <a:r>
              <a:rPr lang="pl-PL" sz="1400" dirty="0" err="1"/>
              <a:t>onUpdate</a:t>
            </a:r>
            <a:r>
              <a:rPr lang="pl-PL" sz="1400" dirty="0"/>
              <a:t>(), aby odświeżyć UI widżetu.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pl-PL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pl-PL" dirty="0"/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0C5CBC9C-64BD-1D35-475D-B02B2833AABA}"/>
              </a:ext>
            </a:extLst>
          </p:cNvPr>
          <p:cNvSpPr txBox="1"/>
          <p:nvPr/>
        </p:nvSpPr>
        <p:spPr>
          <a:xfrm>
            <a:off x="1115616" y="4509120"/>
            <a:ext cx="7920880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l-PL" sz="1400" b="1" dirty="0"/>
              <a:t>MainActivity (</a:t>
            </a:r>
            <a:r>
              <a:rPr lang="pl-PL" sz="1400" b="1" dirty="0" err="1"/>
              <a:t>Compose</a:t>
            </a:r>
            <a:r>
              <a:rPr lang="pl-PL" sz="1400" b="1" dirty="0"/>
              <a:t>) –</a:t>
            </a:r>
            <a:r>
              <a:rPr lang="pl-PL" sz="1400" dirty="0"/>
              <a:t>UI, reagujący na zmiany w </a:t>
            </a:r>
            <a:r>
              <a:rPr lang="pl-PL" sz="1400" dirty="0" err="1"/>
              <a:t>SharedPreferences</a:t>
            </a:r>
            <a:r>
              <a:rPr lang="pl-PL" sz="140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pl-PL" sz="14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l-PL" sz="1400" b="1" dirty="0" err="1"/>
              <a:t>CounterWidget</a:t>
            </a:r>
            <a:r>
              <a:rPr lang="pl-PL" sz="1400" b="1" dirty="0"/>
              <a:t> (AppWidgetProvider) – </a:t>
            </a:r>
            <a:r>
              <a:rPr lang="pl-PL" sz="1400" dirty="0"/>
              <a:t>tradycyjny widżet, który komunikuje się przez Broadcast</a:t>
            </a:r>
            <a:r>
              <a:rPr lang="pl-PL" sz="1400" b="1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pl-PL" sz="14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l-PL" sz="1400" b="1" dirty="0" err="1"/>
              <a:t>CounterReceiver</a:t>
            </a:r>
            <a:r>
              <a:rPr lang="pl-PL" sz="1400" b="1" dirty="0"/>
              <a:t> – </a:t>
            </a:r>
            <a:r>
              <a:rPr lang="pl-PL" sz="1400" dirty="0"/>
              <a:t>pośrednik między widżetem a danymi</a:t>
            </a:r>
            <a:r>
              <a:rPr lang="pl-PL" sz="1400" b="1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pl-PL" sz="14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l-PL" sz="1400" b="1" dirty="0" err="1"/>
              <a:t>SharedPreferences</a:t>
            </a:r>
            <a:r>
              <a:rPr lang="pl-PL" sz="1400" b="1" dirty="0"/>
              <a:t> – </a:t>
            </a:r>
            <a:r>
              <a:rPr lang="pl-PL" sz="1400" dirty="0"/>
              <a:t>źródło prawdy, zapewniające spójność stanu.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336348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3E10FB-CC47-9032-FC5B-A56F3BFB1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D96521A-9A12-0C39-1EA1-65EA494AF706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SharedPreferences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18F4A8EF-AE85-017D-E984-B0206EFF4F81}"/>
              </a:ext>
            </a:extLst>
          </p:cNvPr>
          <p:cNvSpPr txBox="1"/>
          <p:nvPr/>
        </p:nvSpPr>
        <p:spPr>
          <a:xfrm>
            <a:off x="1187624" y="908720"/>
            <a:ext cx="7847856" cy="1345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000000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000000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000000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000000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000000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5pPr>
            <a:lvl6pPr marL="2286000" algn="l" defTabSz="914400" rtl="0" eaLnBrk="1" latinLnBrk="0" hangingPunct="1">
              <a:defRPr sz="1200" kern="1200">
                <a:solidFill>
                  <a:srgbClr val="000000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6pPr>
            <a:lvl7pPr marL="2743200" algn="l" defTabSz="914400" rtl="0" eaLnBrk="1" latinLnBrk="0" hangingPunct="1">
              <a:defRPr sz="1200" kern="1200">
                <a:solidFill>
                  <a:srgbClr val="000000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7pPr>
            <a:lvl8pPr marL="3200400" algn="l" defTabSz="914400" rtl="0" eaLnBrk="1" latinLnBrk="0" hangingPunct="1">
              <a:defRPr sz="1200" kern="1200">
                <a:solidFill>
                  <a:srgbClr val="000000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8pPr>
            <a:lvl9pPr marL="3657600" algn="l" defTabSz="914400" rtl="0" eaLnBrk="1" latinLnBrk="0" hangingPunct="1">
              <a:defRPr sz="1200" kern="1200">
                <a:solidFill>
                  <a:srgbClr val="000000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9pPr>
          </a:lstStyle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400" dirty="0"/>
              <a:t>Przechowuje dane w plikach </a:t>
            </a:r>
            <a:r>
              <a:rPr lang="pl-PL" sz="1400" b="1" dirty="0"/>
              <a:t>XML</a:t>
            </a:r>
            <a:r>
              <a:rPr lang="pl-PL" sz="1400" dirty="0"/>
              <a:t> i obsługuje tylko </a:t>
            </a:r>
            <a:r>
              <a:rPr lang="pl-PL" sz="1400" b="1" dirty="0"/>
              <a:t>typy proste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400" dirty="0"/>
              <a:t>Oferuje tylko operacje </a:t>
            </a:r>
            <a:r>
              <a:rPr lang="pl-PL" sz="1400" b="1" dirty="0"/>
              <a:t>synchroniczne</a:t>
            </a:r>
            <a:endParaRPr lang="pl-PL" sz="14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400" b="1" dirty="0"/>
              <a:t>Nie posiada </a:t>
            </a:r>
            <a:r>
              <a:rPr lang="pl-PL" sz="1400" dirty="0"/>
              <a:t>żadnych </a:t>
            </a:r>
            <a:r>
              <a:rPr lang="pl-PL" sz="1400" b="1" dirty="0"/>
              <a:t>wbudowanych</a:t>
            </a:r>
            <a:r>
              <a:rPr lang="pl-PL" sz="1400" dirty="0"/>
              <a:t> mechanizmów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400" b="1" dirty="0"/>
              <a:t>Nie oferuje </a:t>
            </a:r>
            <a:r>
              <a:rPr lang="pl-PL" sz="1400" dirty="0"/>
              <a:t>wbudowanej obsługi </a:t>
            </a:r>
            <a:r>
              <a:rPr lang="pl-PL" sz="1400" b="1" dirty="0"/>
              <a:t>reagowania</a:t>
            </a:r>
            <a:r>
              <a:rPr lang="pl-PL" sz="1400" dirty="0"/>
              <a:t> na zmiany danych</a:t>
            </a:r>
          </a:p>
        </p:txBody>
      </p:sp>
    </p:spTree>
    <p:extLst>
      <p:ext uri="{BB962C8B-B14F-4D97-AF65-F5344CB8AC3E}">
        <p14:creationId xmlns:p14="http://schemas.microsoft.com/office/powerpoint/2010/main" val="9264863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F569CF-B3B4-ABF2-BB58-980CDE4FA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Obraz 12">
            <a:extLst>
              <a:ext uri="{FF2B5EF4-FFF2-40B4-BE49-F238E27FC236}">
                <a16:creationId xmlns:a16="http://schemas.microsoft.com/office/drawing/2014/main" id="{7CC5069A-4CE9-9EC3-F1C0-AD71C13F8A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3431" y="4715324"/>
            <a:ext cx="7269305" cy="208823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6DF02E4-EA24-9EA4-92F2-174FB764EDAD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SharedPreferences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2C91537D-7157-A177-85C4-654A38C8BE27}"/>
              </a:ext>
            </a:extLst>
          </p:cNvPr>
          <p:cNvSpPr txBox="1"/>
          <p:nvPr/>
        </p:nvSpPr>
        <p:spPr>
          <a:xfrm>
            <a:off x="1187624" y="908720"/>
            <a:ext cx="7847856" cy="1345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000000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000000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000000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000000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000000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5pPr>
            <a:lvl6pPr marL="2286000" algn="l" defTabSz="914400" rtl="0" eaLnBrk="1" latinLnBrk="0" hangingPunct="1">
              <a:defRPr sz="1200" kern="1200">
                <a:solidFill>
                  <a:srgbClr val="000000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6pPr>
            <a:lvl7pPr marL="2743200" algn="l" defTabSz="914400" rtl="0" eaLnBrk="1" latinLnBrk="0" hangingPunct="1">
              <a:defRPr sz="1200" kern="1200">
                <a:solidFill>
                  <a:srgbClr val="000000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7pPr>
            <a:lvl8pPr marL="3200400" algn="l" defTabSz="914400" rtl="0" eaLnBrk="1" latinLnBrk="0" hangingPunct="1">
              <a:defRPr sz="1200" kern="1200">
                <a:solidFill>
                  <a:srgbClr val="000000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8pPr>
            <a:lvl9pPr marL="3657600" algn="l" defTabSz="914400" rtl="0" eaLnBrk="1" latinLnBrk="0" hangingPunct="1">
              <a:defRPr sz="1200" kern="1200">
                <a:solidFill>
                  <a:srgbClr val="000000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9pPr>
          </a:lstStyle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400" dirty="0"/>
              <a:t>Przechowuje dane w plikach </a:t>
            </a:r>
            <a:r>
              <a:rPr lang="pl-PL" sz="1400" b="1" dirty="0"/>
              <a:t>XML</a:t>
            </a:r>
            <a:r>
              <a:rPr lang="pl-PL" sz="1400" dirty="0"/>
              <a:t> i obsługuje tylko </a:t>
            </a:r>
            <a:r>
              <a:rPr lang="pl-PL" sz="1400" b="1" dirty="0"/>
              <a:t>typy proste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400" dirty="0"/>
              <a:t>Oferuje tylko operacje </a:t>
            </a:r>
            <a:r>
              <a:rPr lang="pl-PL" sz="1400" b="1" dirty="0"/>
              <a:t>synchroniczne</a:t>
            </a:r>
            <a:endParaRPr lang="pl-PL" sz="14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400" b="1" dirty="0"/>
              <a:t>Nie posiada </a:t>
            </a:r>
            <a:r>
              <a:rPr lang="pl-PL" sz="1400" dirty="0"/>
              <a:t>żadnych </a:t>
            </a:r>
            <a:r>
              <a:rPr lang="pl-PL" sz="1400" b="1" dirty="0"/>
              <a:t>wbudowanych</a:t>
            </a:r>
            <a:r>
              <a:rPr lang="pl-PL" sz="1400" dirty="0"/>
              <a:t> mechanizmów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400" b="1" dirty="0"/>
              <a:t>Nie oferuje </a:t>
            </a:r>
            <a:r>
              <a:rPr lang="pl-PL" sz="1400" dirty="0"/>
              <a:t>wbudowanej obsługi </a:t>
            </a:r>
            <a:r>
              <a:rPr lang="pl-PL" sz="1400" b="1" dirty="0"/>
              <a:t>reagowania</a:t>
            </a:r>
            <a:r>
              <a:rPr lang="pl-PL" sz="1400" dirty="0"/>
              <a:t> na zmiany danych</a:t>
            </a:r>
          </a:p>
        </p:txBody>
      </p:sp>
      <p:sp>
        <p:nvSpPr>
          <p:cNvPr id="4" name="Prostokąt: zaokrąglone rogi 3">
            <a:extLst>
              <a:ext uri="{FF2B5EF4-FFF2-40B4-BE49-F238E27FC236}">
                <a16:creationId xmlns:a16="http://schemas.microsoft.com/office/drawing/2014/main" id="{6FED118A-8B09-6D19-497D-8BE13F548325}"/>
              </a:ext>
            </a:extLst>
          </p:cNvPr>
          <p:cNvSpPr/>
          <p:nvPr/>
        </p:nvSpPr>
        <p:spPr>
          <a:xfrm>
            <a:off x="131948" y="2348880"/>
            <a:ext cx="3819568" cy="875470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5" name="Łącznik prosty ze strzałką 4">
            <a:extLst>
              <a:ext uri="{FF2B5EF4-FFF2-40B4-BE49-F238E27FC236}">
                <a16:creationId xmlns:a16="http://schemas.microsoft.com/office/drawing/2014/main" id="{EDF9DB51-FE2C-F33A-12D7-4B9D6FAD3D53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2041732" y="3224350"/>
            <a:ext cx="2098220" cy="1546641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pole tekstowe 6">
            <a:extLst>
              <a:ext uri="{FF2B5EF4-FFF2-40B4-BE49-F238E27FC236}">
                <a16:creationId xmlns:a16="http://schemas.microsoft.com/office/drawing/2014/main" id="{1F241B47-ED21-3328-6A9F-7B213D3A2B9C}"/>
              </a:ext>
            </a:extLst>
          </p:cNvPr>
          <p:cNvSpPr txBox="1"/>
          <p:nvPr/>
        </p:nvSpPr>
        <p:spPr>
          <a:xfrm>
            <a:off x="244800" y="2393353"/>
            <a:ext cx="35938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getSharedPreferences("nazwa", tryb) </a:t>
            </a:r>
            <a:r>
              <a:rPr lang="pl-PL" sz="1600" b="1" dirty="0"/>
              <a:t>Otwiera/tworzy </a:t>
            </a:r>
            <a:r>
              <a:rPr lang="pl-PL" sz="1600" dirty="0"/>
              <a:t>plik </a:t>
            </a:r>
            <a:r>
              <a:rPr lang="pl-PL" sz="1600" dirty="0" err="1"/>
              <a:t>preferences</a:t>
            </a:r>
            <a:r>
              <a:rPr lang="pl-PL" sz="1600" dirty="0"/>
              <a:t> na </a:t>
            </a:r>
            <a:r>
              <a:rPr lang="pl-PL" sz="1600" b="1" dirty="0"/>
              <a:t>wybranym kontekście</a:t>
            </a:r>
            <a:r>
              <a:rPr lang="pl-PL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467606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F93C1B-7C0A-C5E6-1E83-8FC5B16C6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Obraz 12">
            <a:extLst>
              <a:ext uri="{FF2B5EF4-FFF2-40B4-BE49-F238E27FC236}">
                <a16:creationId xmlns:a16="http://schemas.microsoft.com/office/drawing/2014/main" id="{8E5961A2-A87F-8AEA-FD48-B38F86C3DC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3431" y="4715324"/>
            <a:ext cx="7269305" cy="208823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C7F0215-ABEE-4F84-AAC4-21DEF27B5354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SharedPreferences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B541FB7B-96EF-DBDE-378B-9C8B56F176DF}"/>
              </a:ext>
            </a:extLst>
          </p:cNvPr>
          <p:cNvSpPr txBox="1"/>
          <p:nvPr/>
        </p:nvSpPr>
        <p:spPr>
          <a:xfrm>
            <a:off x="1187624" y="908720"/>
            <a:ext cx="7847856" cy="1345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000000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000000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000000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000000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000000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5pPr>
            <a:lvl6pPr marL="2286000" algn="l" defTabSz="914400" rtl="0" eaLnBrk="1" latinLnBrk="0" hangingPunct="1">
              <a:defRPr sz="1200" kern="1200">
                <a:solidFill>
                  <a:srgbClr val="000000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6pPr>
            <a:lvl7pPr marL="2743200" algn="l" defTabSz="914400" rtl="0" eaLnBrk="1" latinLnBrk="0" hangingPunct="1">
              <a:defRPr sz="1200" kern="1200">
                <a:solidFill>
                  <a:srgbClr val="000000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7pPr>
            <a:lvl8pPr marL="3200400" algn="l" defTabSz="914400" rtl="0" eaLnBrk="1" latinLnBrk="0" hangingPunct="1">
              <a:defRPr sz="1200" kern="1200">
                <a:solidFill>
                  <a:srgbClr val="000000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8pPr>
            <a:lvl9pPr marL="3657600" algn="l" defTabSz="914400" rtl="0" eaLnBrk="1" latinLnBrk="0" hangingPunct="1">
              <a:defRPr sz="1200" kern="1200">
                <a:solidFill>
                  <a:srgbClr val="000000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9pPr>
          </a:lstStyle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400" dirty="0"/>
              <a:t>Przechowuje dane w plikach </a:t>
            </a:r>
            <a:r>
              <a:rPr lang="pl-PL" sz="1400" b="1" dirty="0"/>
              <a:t>XML</a:t>
            </a:r>
            <a:r>
              <a:rPr lang="pl-PL" sz="1400" dirty="0"/>
              <a:t> i obsługuje tylko </a:t>
            </a:r>
            <a:r>
              <a:rPr lang="pl-PL" sz="1400" b="1" dirty="0"/>
              <a:t>typy proste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400" dirty="0"/>
              <a:t>Oferuje tylko operacje </a:t>
            </a:r>
            <a:r>
              <a:rPr lang="pl-PL" sz="1400" b="1" dirty="0"/>
              <a:t>synchroniczne</a:t>
            </a:r>
            <a:endParaRPr lang="pl-PL" sz="14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400" b="1" dirty="0"/>
              <a:t>Nie posiada </a:t>
            </a:r>
            <a:r>
              <a:rPr lang="pl-PL" sz="1400" dirty="0"/>
              <a:t>żadnych </a:t>
            </a:r>
            <a:r>
              <a:rPr lang="pl-PL" sz="1400" b="1" dirty="0"/>
              <a:t>wbudowanych</a:t>
            </a:r>
            <a:r>
              <a:rPr lang="pl-PL" sz="1400" dirty="0"/>
              <a:t> mechanizmów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400" b="1" dirty="0"/>
              <a:t>Nie oferuje </a:t>
            </a:r>
            <a:r>
              <a:rPr lang="pl-PL" sz="1400" dirty="0"/>
              <a:t>wbudowanej obsługi </a:t>
            </a:r>
            <a:r>
              <a:rPr lang="pl-PL" sz="1400" b="1" dirty="0"/>
              <a:t>reagowania</a:t>
            </a:r>
            <a:r>
              <a:rPr lang="pl-PL" sz="1400" dirty="0"/>
              <a:t> na zmiany danych</a:t>
            </a:r>
          </a:p>
        </p:txBody>
      </p:sp>
      <p:sp>
        <p:nvSpPr>
          <p:cNvPr id="4" name="Prostokąt: zaokrąglone rogi 3">
            <a:extLst>
              <a:ext uri="{FF2B5EF4-FFF2-40B4-BE49-F238E27FC236}">
                <a16:creationId xmlns:a16="http://schemas.microsoft.com/office/drawing/2014/main" id="{04FCDEA5-35F4-FBB9-60F4-4E94E80D0119}"/>
              </a:ext>
            </a:extLst>
          </p:cNvPr>
          <p:cNvSpPr/>
          <p:nvPr/>
        </p:nvSpPr>
        <p:spPr>
          <a:xfrm>
            <a:off x="131948" y="2348880"/>
            <a:ext cx="3819568" cy="875470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5" name="Łącznik prosty ze strzałką 4">
            <a:extLst>
              <a:ext uri="{FF2B5EF4-FFF2-40B4-BE49-F238E27FC236}">
                <a16:creationId xmlns:a16="http://schemas.microsoft.com/office/drawing/2014/main" id="{CE26F519-49E8-3C9A-3506-00AFCFA83B55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2041732" y="3224350"/>
            <a:ext cx="2098220" cy="1546641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pole tekstowe 6">
            <a:extLst>
              <a:ext uri="{FF2B5EF4-FFF2-40B4-BE49-F238E27FC236}">
                <a16:creationId xmlns:a16="http://schemas.microsoft.com/office/drawing/2014/main" id="{DD441185-3957-7AC9-7409-CF923EC6F6D4}"/>
              </a:ext>
            </a:extLst>
          </p:cNvPr>
          <p:cNvSpPr txBox="1"/>
          <p:nvPr/>
        </p:nvSpPr>
        <p:spPr>
          <a:xfrm>
            <a:off x="244800" y="2393353"/>
            <a:ext cx="35938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getSharedPreferences("nazwa", tryb) </a:t>
            </a:r>
            <a:r>
              <a:rPr lang="pl-PL" sz="1600" b="1" dirty="0"/>
              <a:t>Otwiera/tworzy </a:t>
            </a:r>
            <a:r>
              <a:rPr lang="pl-PL" sz="1600" dirty="0"/>
              <a:t>plik </a:t>
            </a:r>
            <a:r>
              <a:rPr lang="pl-PL" sz="1600" dirty="0" err="1"/>
              <a:t>preferences</a:t>
            </a:r>
            <a:r>
              <a:rPr lang="pl-PL" sz="1600" dirty="0"/>
              <a:t> na </a:t>
            </a:r>
            <a:r>
              <a:rPr lang="pl-PL" sz="1600" b="1" dirty="0"/>
              <a:t>wybranym kontekście</a:t>
            </a:r>
            <a:r>
              <a:rPr lang="pl-PL" sz="1600" dirty="0"/>
              <a:t>.</a:t>
            </a:r>
          </a:p>
        </p:txBody>
      </p:sp>
      <p:sp>
        <p:nvSpPr>
          <p:cNvPr id="15" name="Prostokąt: zaokrąglone rogi 14">
            <a:extLst>
              <a:ext uri="{FF2B5EF4-FFF2-40B4-BE49-F238E27FC236}">
                <a16:creationId xmlns:a16="http://schemas.microsoft.com/office/drawing/2014/main" id="{45DA349C-6633-C3F8-CA7B-2B327DBE63B2}"/>
              </a:ext>
            </a:extLst>
          </p:cNvPr>
          <p:cNvSpPr/>
          <p:nvPr/>
        </p:nvSpPr>
        <p:spPr>
          <a:xfrm>
            <a:off x="4139952" y="2253768"/>
            <a:ext cx="5004048" cy="2294680"/>
          </a:xfrm>
          <a:prstGeom prst="roundRect">
            <a:avLst>
              <a:gd name="adj" fmla="val 7138"/>
            </a:avLst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16" name="Łącznik prosty ze strzałką 15">
            <a:extLst>
              <a:ext uri="{FF2B5EF4-FFF2-40B4-BE49-F238E27FC236}">
                <a16:creationId xmlns:a16="http://schemas.microsoft.com/office/drawing/2014/main" id="{BF6C9732-AEC9-7896-3B9E-7982CB20F415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6641976" y="4548448"/>
            <a:ext cx="1098376" cy="222543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pole tekstowe 16">
            <a:extLst>
              <a:ext uri="{FF2B5EF4-FFF2-40B4-BE49-F238E27FC236}">
                <a16:creationId xmlns:a16="http://schemas.microsoft.com/office/drawing/2014/main" id="{0D07043E-EB49-4812-6A03-CC767364C1C2}"/>
              </a:ext>
            </a:extLst>
          </p:cNvPr>
          <p:cNvSpPr txBox="1"/>
          <p:nvPr/>
        </p:nvSpPr>
        <p:spPr>
          <a:xfrm>
            <a:off x="4186964" y="2271610"/>
            <a:ext cx="4902291" cy="2292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Tryby dostępu do pliku:</a:t>
            </a:r>
          </a:p>
          <a:p>
            <a:pPr algn="just">
              <a:spcAft>
                <a:spcPts val="600"/>
              </a:spcAft>
            </a:pPr>
            <a:r>
              <a:rPr lang="pl-PL" sz="1600" b="1" dirty="0"/>
              <a:t>MODE_APPEND </a:t>
            </a:r>
            <a:r>
              <a:rPr lang="pl-PL" sz="1600" dirty="0"/>
              <a:t>– dopisuje </a:t>
            </a:r>
            <a:r>
              <a:rPr lang="pl-PL" sz="1600" b="1" dirty="0"/>
              <a:t>bez nadpisywania</a:t>
            </a:r>
          </a:p>
          <a:p>
            <a:pPr algn="just">
              <a:spcAft>
                <a:spcPts val="600"/>
              </a:spcAft>
            </a:pPr>
            <a:r>
              <a:rPr lang="pl-PL" sz="1600" b="1" dirty="0"/>
              <a:t>MODE_PRIVATE </a:t>
            </a:r>
            <a:r>
              <a:rPr lang="pl-PL" sz="1600" dirty="0"/>
              <a:t>– dostęp do pliku tylko z </a:t>
            </a:r>
            <a:r>
              <a:rPr lang="pl-PL" sz="1600" b="1" dirty="0"/>
              <a:t>poziomu aplikacji</a:t>
            </a:r>
          </a:p>
          <a:p>
            <a:pPr algn="just">
              <a:spcAft>
                <a:spcPts val="600"/>
              </a:spcAft>
            </a:pPr>
            <a:r>
              <a:rPr lang="pl-PL" sz="1600" b="1" dirty="0"/>
              <a:t>MODE_WORLD_READABLE </a:t>
            </a:r>
            <a:r>
              <a:rPr lang="pl-PL" sz="1600" dirty="0"/>
              <a:t>– zezwala </a:t>
            </a:r>
            <a:r>
              <a:rPr lang="pl-PL" sz="1600" b="1" dirty="0"/>
              <a:t>innym</a:t>
            </a:r>
            <a:r>
              <a:rPr lang="pl-PL" sz="1600" dirty="0"/>
              <a:t> aplikacjom na odczyt</a:t>
            </a:r>
          </a:p>
          <a:p>
            <a:pPr algn="just">
              <a:spcAft>
                <a:spcPts val="600"/>
              </a:spcAft>
            </a:pPr>
            <a:r>
              <a:rPr lang="pl-PL" sz="1600" b="1" dirty="0"/>
              <a:t>MODE_WORLD_WRITABLE </a:t>
            </a:r>
            <a:r>
              <a:rPr lang="pl-PL" sz="1600" dirty="0"/>
              <a:t>– zezwala </a:t>
            </a:r>
            <a:r>
              <a:rPr lang="pl-PL" sz="1600" b="1" dirty="0"/>
              <a:t>innym</a:t>
            </a:r>
            <a:r>
              <a:rPr lang="pl-PL" sz="1600" dirty="0"/>
              <a:t> aplikacjom na zapis</a:t>
            </a:r>
          </a:p>
        </p:txBody>
      </p:sp>
    </p:spTree>
    <p:extLst>
      <p:ext uri="{BB962C8B-B14F-4D97-AF65-F5344CB8AC3E}">
        <p14:creationId xmlns:p14="http://schemas.microsoft.com/office/powerpoint/2010/main" val="42312713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33D30F-35F4-B699-0A18-D2DF7CDBC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Obraz 12">
            <a:extLst>
              <a:ext uri="{FF2B5EF4-FFF2-40B4-BE49-F238E27FC236}">
                <a16:creationId xmlns:a16="http://schemas.microsoft.com/office/drawing/2014/main" id="{21BF678A-8393-EBF2-9717-1E57385FC4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3431" y="4715324"/>
            <a:ext cx="7269305" cy="208823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0D45EC2-FDC1-3058-F55F-9C3742BD21EE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SharedPreferences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0B74B3C6-0CCA-E88A-A793-A5EE3289A5DE}"/>
              </a:ext>
            </a:extLst>
          </p:cNvPr>
          <p:cNvSpPr txBox="1"/>
          <p:nvPr/>
        </p:nvSpPr>
        <p:spPr>
          <a:xfrm>
            <a:off x="1187624" y="908720"/>
            <a:ext cx="7847856" cy="1345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000000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000000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000000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000000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000000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5pPr>
            <a:lvl6pPr marL="2286000" algn="l" defTabSz="914400" rtl="0" eaLnBrk="1" latinLnBrk="0" hangingPunct="1">
              <a:defRPr sz="1200" kern="1200">
                <a:solidFill>
                  <a:srgbClr val="000000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6pPr>
            <a:lvl7pPr marL="2743200" algn="l" defTabSz="914400" rtl="0" eaLnBrk="1" latinLnBrk="0" hangingPunct="1">
              <a:defRPr sz="1200" kern="1200">
                <a:solidFill>
                  <a:srgbClr val="000000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7pPr>
            <a:lvl8pPr marL="3200400" algn="l" defTabSz="914400" rtl="0" eaLnBrk="1" latinLnBrk="0" hangingPunct="1">
              <a:defRPr sz="1200" kern="1200">
                <a:solidFill>
                  <a:srgbClr val="000000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8pPr>
            <a:lvl9pPr marL="3657600" algn="l" defTabSz="914400" rtl="0" eaLnBrk="1" latinLnBrk="0" hangingPunct="1">
              <a:defRPr sz="1200" kern="1200">
                <a:solidFill>
                  <a:srgbClr val="000000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9pPr>
          </a:lstStyle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400" dirty="0"/>
              <a:t>Przechowuje dane w plikach </a:t>
            </a:r>
            <a:r>
              <a:rPr lang="pl-PL" sz="1400" b="1" dirty="0"/>
              <a:t>XML</a:t>
            </a:r>
            <a:r>
              <a:rPr lang="pl-PL" sz="1400" dirty="0"/>
              <a:t> i obsługuje tylko </a:t>
            </a:r>
            <a:r>
              <a:rPr lang="pl-PL" sz="1400" b="1" dirty="0"/>
              <a:t>typy proste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400" dirty="0"/>
              <a:t>Oferuje tylko operacje </a:t>
            </a:r>
            <a:r>
              <a:rPr lang="pl-PL" sz="1400" b="1" dirty="0"/>
              <a:t>synchroniczne</a:t>
            </a:r>
            <a:endParaRPr lang="pl-PL" sz="14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400" b="1" dirty="0"/>
              <a:t>Nie posiada </a:t>
            </a:r>
            <a:r>
              <a:rPr lang="pl-PL" sz="1400" dirty="0"/>
              <a:t>żadnych </a:t>
            </a:r>
            <a:r>
              <a:rPr lang="pl-PL" sz="1400" b="1" dirty="0"/>
              <a:t>wbudowanych</a:t>
            </a:r>
            <a:r>
              <a:rPr lang="pl-PL" sz="1400" dirty="0"/>
              <a:t> mechanizmów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400" b="1" dirty="0"/>
              <a:t>Nie oferuje </a:t>
            </a:r>
            <a:r>
              <a:rPr lang="pl-PL" sz="1400" dirty="0"/>
              <a:t>wbudowanej obsługi </a:t>
            </a:r>
            <a:r>
              <a:rPr lang="pl-PL" sz="1400" b="1" dirty="0"/>
              <a:t>reagowania</a:t>
            </a:r>
            <a:r>
              <a:rPr lang="pl-PL" sz="1400" dirty="0"/>
              <a:t> na zmiany danych</a:t>
            </a:r>
          </a:p>
        </p:txBody>
      </p:sp>
      <p:sp>
        <p:nvSpPr>
          <p:cNvPr id="4" name="Prostokąt: zaokrąglone rogi 3">
            <a:extLst>
              <a:ext uri="{FF2B5EF4-FFF2-40B4-BE49-F238E27FC236}">
                <a16:creationId xmlns:a16="http://schemas.microsoft.com/office/drawing/2014/main" id="{1E9EC7BB-8E55-A76D-B3D1-6C8E96606D1E}"/>
              </a:ext>
            </a:extLst>
          </p:cNvPr>
          <p:cNvSpPr/>
          <p:nvPr/>
        </p:nvSpPr>
        <p:spPr>
          <a:xfrm>
            <a:off x="131948" y="2348880"/>
            <a:ext cx="3819568" cy="875470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5" name="Łącznik prosty ze strzałką 4">
            <a:extLst>
              <a:ext uri="{FF2B5EF4-FFF2-40B4-BE49-F238E27FC236}">
                <a16:creationId xmlns:a16="http://schemas.microsoft.com/office/drawing/2014/main" id="{FDB60C1C-2096-68B2-7E44-05A34E7C86F6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2041732" y="3224350"/>
            <a:ext cx="2098220" cy="1546641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pole tekstowe 6">
            <a:extLst>
              <a:ext uri="{FF2B5EF4-FFF2-40B4-BE49-F238E27FC236}">
                <a16:creationId xmlns:a16="http://schemas.microsoft.com/office/drawing/2014/main" id="{07B75FE8-C4ED-39FE-EBD3-099CC4BFFD96}"/>
              </a:ext>
            </a:extLst>
          </p:cNvPr>
          <p:cNvSpPr txBox="1"/>
          <p:nvPr/>
        </p:nvSpPr>
        <p:spPr>
          <a:xfrm>
            <a:off x="244800" y="2393353"/>
            <a:ext cx="35938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getSharedPreferences("nazwa", tryb) </a:t>
            </a:r>
            <a:r>
              <a:rPr lang="pl-PL" sz="1600" b="1" dirty="0"/>
              <a:t>Otwiera/tworzy </a:t>
            </a:r>
            <a:r>
              <a:rPr lang="pl-PL" sz="1600" dirty="0"/>
              <a:t>plik </a:t>
            </a:r>
            <a:r>
              <a:rPr lang="pl-PL" sz="1600" dirty="0" err="1"/>
              <a:t>preferences</a:t>
            </a:r>
            <a:r>
              <a:rPr lang="pl-PL" sz="1600" dirty="0"/>
              <a:t> na </a:t>
            </a:r>
            <a:r>
              <a:rPr lang="pl-PL" sz="1600" b="1" dirty="0"/>
              <a:t>wybranym kontekście</a:t>
            </a:r>
            <a:r>
              <a:rPr lang="pl-PL" sz="1600" dirty="0"/>
              <a:t>.</a:t>
            </a:r>
          </a:p>
        </p:txBody>
      </p:sp>
      <p:sp>
        <p:nvSpPr>
          <p:cNvPr id="15" name="Prostokąt: zaokrąglone rogi 14">
            <a:extLst>
              <a:ext uri="{FF2B5EF4-FFF2-40B4-BE49-F238E27FC236}">
                <a16:creationId xmlns:a16="http://schemas.microsoft.com/office/drawing/2014/main" id="{1546B78A-0100-FDE1-84BE-E8F6B5E0C0A9}"/>
              </a:ext>
            </a:extLst>
          </p:cNvPr>
          <p:cNvSpPr/>
          <p:nvPr/>
        </p:nvSpPr>
        <p:spPr>
          <a:xfrm>
            <a:off x="4139952" y="2253768"/>
            <a:ext cx="5004048" cy="2294680"/>
          </a:xfrm>
          <a:prstGeom prst="roundRect">
            <a:avLst>
              <a:gd name="adj" fmla="val 7138"/>
            </a:avLst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16" name="Łącznik prosty ze strzałką 15">
            <a:extLst>
              <a:ext uri="{FF2B5EF4-FFF2-40B4-BE49-F238E27FC236}">
                <a16:creationId xmlns:a16="http://schemas.microsoft.com/office/drawing/2014/main" id="{91C587A5-6D31-4411-CC22-C79C777ADCC8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6641976" y="4548448"/>
            <a:ext cx="1098376" cy="222543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pole tekstowe 16">
            <a:extLst>
              <a:ext uri="{FF2B5EF4-FFF2-40B4-BE49-F238E27FC236}">
                <a16:creationId xmlns:a16="http://schemas.microsoft.com/office/drawing/2014/main" id="{A4E4AA36-22D1-E100-A409-853FFE73F662}"/>
              </a:ext>
            </a:extLst>
          </p:cNvPr>
          <p:cNvSpPr txBox="1"/>
          <p:nvPr/>
        </p:nvSpPr>
        <p:spPr>
          <a:xfrm>
            <a:off x="4186964" y="2271610"/>
            <a:ext cx="4902291" cy="2292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Tryby dostępu do pliku:</a:t>
            </a:r>
          </a:p>
          <a:p>
            <a:pPr algn="just">
              <a:spcAft>
                <a:spcPts val="600"/>
              </a:spcAft>
            </a:pPr>
            <a:r>
              <a:rPr lang="pl-PL" sz="1600" b="1" dirty="0"/>
              <a:t>MODE_APPEND </a:t>
            </a:r>
            <a:r>
              <a:rPr lang="pl-PL" sz="1600" dirty="0"/>
              <a:t>– dopisuje </a:t>
            </a:r>
            <a:r>
              <a:rPr lang="pl-PL" sz="1600" b="1" dirty="0"/>
              <a:t>bez nadpisywania</a:t>
            </a:r>
          </a:p>
          <a:p>
            <a:pPr algn="just">
              <a:spcAft>
                <a:spcPts val="600"/>
              </a:spcAft>
            </a:pPr>
            <a:r>
              <a:rPr lang="pl-PL" sz="1600" b="1" dirty="0"/>
              <a:t>MODE_PRIVATE </a:t>
            </a:r>
            <a:r>
              <a:rPr lang="pl-PL" sz="1600" dirty="0"/>
              <a:t>– dostęp do pliku tylko z </a:t>
            </a:r>
            <a:r>
              <a:rPr lang="pl-PL" sz="1600" b="1" dirty="0"/>
              <a:t>poziomu aplikacji</a:t>
            </a:r>
          </a:p>
          <a:p>
            <a:pPr algn="just">
              <a:spcAft>
                <a:spcPts val="600"/>
              </a:spcAft>
            </a:pPr>
            <a:r>
              <a:rPr lang="pl-PL" sz="1600" b="1" dirty="0"/>
              <a:t>MODE_WORLD_READABLE </a:t>
            </a:r>
            <a:r>
              <a:rPr lang="pl-PL" sz="1600" dirty="0"/>
              <a:t>– zezwala </a:t>
            </a:r>
            <a:r>
              <a:rPr lang="pl-PL" sz="1600" b="1" dirty="0"/>
              <a:t>innym</a:t>
            </a:r>
            <a:r>
              <a:rPr lang="pl-PL" sz="1600" dirty="0"/>
              <a:t> aplikacjom na odczyt</a:t>
            </a:r>
          </a:p>
          <a:p>
            <a:pPr algn="just">
              <a:spcAft>
                <a:spcPts val="600"/>
              </a:spcAft>
            </a:pPr>
            <a:r>
              <a:rPr lang="pl-PL" sz="1600" b="1" dirty="0"/>
              <a:t>MODE_WORLD_WRITABLE </a:t>
            </a:r>
            <a:r>
              <a:rPr lang="pl-PL" sz="1600" dirty="0"/>
              <a:t>– zezwala </a:t>
            </a:r>
            <a:r>
              <a:rPr lang="pl-PL" sz="1600" b="1" dirty="0"/>
              <a:t>innym</a:t>
            </a:r>
            <a:r>
              <a:rPr lang="pl-PL" sz="1600" dirty="0"/>
              <a:t> aplikacjom na zapis</a:t>
            </a:r>
          </a:p>
        </p:txBody>
      </p:sp>
      <p:sp>
        <p:nvSpPr>
          <p:cNvPr id="6" name="Prostokąt: zaokrąglone rogi 5">
            <a:extLst>
              <a:ext uri="{FF2B5EF4-FFF2-40B4-BE49-F238E27FC236}">
                <a16:creationId xmlns:a16="http://schemas.microsoft.com/office/drawing/2014/main" id="{9D71E2AB-5BFB-7E2C-596C-FE2DDBADB934}"/>
              </a:ext>
            </a:extLst>
          </p:cNvPr>
          <p:cNvSpPr/>
          <p:nvPr/>
        </p:nvSpPr>
        <p:spPr>
          <a:xfrm>
            <a:off x="5763779" y="5008207"/>
            <a:ext cx="3238719" cy="444681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36965556-C8ED-D94E-D346-ADC6BB261CA1}"/>
              </a:ext>
            </a:extLst>
          </p:cNvPr>
          <p:cNvSpPr txBox="1"/>
          <p:nvPr/>
        </p:nvSpPr>
        <p:spPr>
          <a:xfrm>
            <a:off x="5881465" y="5045376"/>
            <a:ext cx="31382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Odczytuje wartość pod kluczem.</a:t>
            </a:r>
          </a:p>
        </p:txBody>
      </p:sp>
      <p:cxnSp>
        <p:nvCxnSpPr>
          <p:cNvPr id="9" name="Łącznik prosty ze strzałką 8">
            <a:extLst>
              <a:ext uri="{FF2B5EF4-FFF2-40B4-BE49-F238E27FC236}">
                <a16:creationId xmlns:a16="http://schemas.microsoft.com/office/drawing/2014/main" id="{6DC021BF-B0A6-D4DA-DFA9-A1B623E4263C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5013727" y="5230548"/>
            <a:ext cx="750052" cy="295004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22404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E5D534-93FD-CF96-5892-BE551CF12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Obraz 12">
            <a:extLst>
              <a:ext uri="{FF2B5EF4-FFF2-40B4-BE49-F238E27FC236}">
                <a16:creationId xmlns:a16="http://schemas.microsoft.com/office/drawing/2014/main" id="{DCE949BA-CC4F-8078-556D-E25A7E34F1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3431" y="4715324"/>
            <a:ext cx="7269305" cy="208823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028F5D1-D049-B7D8-9F98-8C237078A7C5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SharedPreferences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737364E6-E11E-3712-26A9-9C0BA411AA05}"/>
              </a:ext>
            </a:extLst>
          </p:cNvPr>
          <p:cNvSpPr txBox="1"/>
          <p:nvPr/>
        </p:nvSpPr>
        <p:spPr>
          <a:xfrm>
            <a:off x="1187624" y="908720"/>
            <a:ext cx="7847856" cy="1345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000000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000000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000000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000000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000000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5pPr>
            <a:lvl6pPr marL="2286000" algn="l" defTabSz="914400" rtl="0" eaLnBrk="1" latinLnBrk="0" hangingPunct="1">
              <a:defRPr sz="1200" kern="1200">
                <a:solidFill>
                  <a:srgbClr val="000000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6pPr>
            <a:lvl7pPr marL="2743200" algn="l" defTabSz="914400" rtl="0" eaLnBrk="1" latinLnBrk="0" hangingPunct="1">
              <a:defRPr sz="1200" kern="1200">
                <a:solidFill>
                  <a:srgbClr val="000000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7pPr>
            <a:lvl8pPr marL="3200400" algn="l" defTabSz="914400" rtl="0" eaLnBrk="1" latinLnBrk="0" hangingPunct="1">
              <a:defRPr sz="1200" kern="1200">
                <a:solidFill>
                  <a:srgbClr val="000000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8pPr>
            <a:lvl9pPr marL="3657600" algn="l" defTabSz="914400" rtl="0" eaLnBrk="1" latinLnBrk="0" hangingPunct="1">
              <a:defRPr sz="1200" kern="1200">
                <a:solidFill>
                  <a:srgbClr val="000000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9pPr>
          </a:lstStyle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400" dirty="0"/>
              <a:t>Przechowuje dane w plikach </a:t>
            </a:r>
            <a:r>
              <a:rPr lang="pl-PL" sz="1400" b="1" dirty="0"/>
              <a:t>XML</a:t>
            </a:r>
            <a:r>
              <a:rPr lang="pl-PL" sz="1400" dirty="0"/>
              <a:t> i obsługuje tylko </a:t>
            </a:r>
            <a:r>
              <a:rPr lang="pl-PL" sz="1400" b="1" dirty="0"/>
              <a:t>typy proste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400" dirty="0"/>
              <a:t>Oferuje tylko operacje </a:t>
            </a:r>
            <a:r>
              <a:rPr lang="pl-PL" sz="1400" b="1" dirty="0"/>
              <a:t>synchroniczne</a:t>
            </a:r>
            <a:endParaRPr lang="pl-PL" sz="14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400" b="1" dirty="0"/>
              <a:t>Nie posiada </a:t>
            </a:r>
            <a:r>
              <a:rPr lang="pl-PL" sz="1400" dirty="0"/>
              <a:t>żadnych </a:t>
            </a:r>
            <a:r>
              <a:rPr lang="pl-PL" sz="1400" b="1" dirty="0"/>
              <a:t>wbudowanych</a:t>
            </a:r>
            <a:r>
              <a:rPr lang="pl-PL" sz="1400" dirty="0"/>
              <a:t> mechanizmów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400" b="1" dirty="0"/>
              <a:t>Nie oferuje </a:t>
            </a:r>
            <a:r>
              <a:rPr lang="pl-PL" sz="1400" dirty="0"/>
              <a:t>wbudowanej obsługi </a:t>
            </a:r>
            <a:r>
              <a:rPr lang="pl-PL" sz="1400" b="1" dirty="0"/>
              <a:t>reagowania</a:t>
            </a:r>
            <a:r>
              <a:rPr lang="pl-PL" sz="1400" dirty="0"/>
              <a:t> na zmiany danych</a:t>
            </a:r>
          </a:p>
        </p:txBody>
      </p:sp>
      <p:sp>
        <p:nvSpPr>
          <p:cNvPr id="4" name="Prostokąt: zaokrąglone rogi 3">
            <a:extLst>
              <a:ext uri="{FF2B5EF4-FFF2-40B4-BE49-F238E27FC236}">
                <a16:creationId xmlns:a16="http://schemas.microsoft.com/office/drawing/2014/main" id="{F47A1121-B185-ED19-E7CE-9523BE096B61}"/>
              </a:ext>
            </a:extLst>
          </p:cNvPr>
          <p:cNvSpPr/>
          <p:nvPr/>
        </p:nvSpPr>
        <p:spPr>
          <a:xfrm>
            <a:off x="131948" y="2348880"/>
            <a:ext cx="3819568" cy="875470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5" name="Łącznik prosty ze strzałką 4">
            <a:extLst>
              <a:ext uri="{FF2B5EF4-FFF2-40B4-BE49-F238E27FC236}">
                <a16:creationId xmlns:a16="http://schemas.microsoft.com/office/drawing/2014/main" id="{5B781794-F928-33CF-3D0D-9B850986840F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2041732" y="3224350"/>
            <a:ext cx="2098220" cy="1546641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pole tekstowe 6">
            <a:extLst>
              <a:ext uri="{FF2B5EF4-FFF2-40B4-BE49-F238E27FC236}">
                <a16:creationId xmlns:a16="http://schemas.microsoft.com/office/drawing/2014/main" id="{9A1EEEED-41A1-264C-2F5A-48BC2967E938}"/>
              </a:ext>
            </a:extLst>
          </p:cNvPr>
          <p:cNvSpPr txBox="1"/>
          <p:nvPr/>
        </p:nvSpPr>
        <p:spPr>
          <a:xfrm>
            <a:off x="244800" y="2393353"/>
            <a:ext cx="35938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getSharedPreferences("nazwa", tryb) </a:t>
            </a:r>
            <a:r>
              <a:rPr lang="pl-PL" sz="1600" b="1" dirty="0"/>
              <a:t>Otwiera/tworzy </a:t>
            </a:r>
            <a:r>
              <a:rPr lang="pl-PL" sz="1600" dirty="0"/>
              <a:t>plik </a:t>
            </a:r>
            <a:r>
              <a:rPr lang="pl-PL" sz="1600" dirty="0" err="1"/>
              <a:t>preferences</a:t>
            </a:r>
            <a:r>
              <a:rPr lang="pl-PL" sz="1600" dirty="0"/>
              <a:t> na </a:t>
            </a:r>
            <a:r>
              <a:rPr lang="pl-PL" sz="1600" b="1" dirty="0"/>
              <a:t>wybranym kontekście</a:t>
            </a:r>
            <a:r>
              <a:rPr lang="pl-PL" sz="1600" dirty="0"/>
              <a:t>.</a:t>
            </a:r>
          </a:p>
        </p:txBody>
      </p:sp>
      <p:sp>
        <p:nvSpPr>
          <p:cNvPr id="15" name="Prostokąt: zaokrąglone rogi 14">
            <a:extLst>
              <a:ext uri="{FF2B5EF4-FFF2-40B4-BE49-F238E27FC236}">
                <a16:creationId xmlns:a16="http://schemas.microsoft.com/office/drawing/2014/main" id="{069B4063-4206-2231-47AE-B3E3B7ED488F}"/>
              </a:ext>
            </a:extLst>
          </p:cNvPr>
          <p:cNvSpPr/>
          <p:nvPr/>
        </p:nvSpPr>
        <p:spPr>
          <a:xfrm>
            <a:off x="4139952" y="2253768"/>
            <a:ext cx="5004048" cy="2294680"/>
          </a:xfrm>
          <a:prstGeom prst="roundRect">
            <a:avLst>
              <a:gd name="adj" fmla="val 7138"/>
            </a:avLst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16" name="Łącznik prosty ze strzałką 15">
            <a:extLst>
              <a:ext uri="{FF2B5EF4-FFF2-40B4-BE49-F238E27FC236}">
                <a16:creationId xmlns:a16="http://schemas.microsoft.com/office/drawing/2014/main" id="{A48F623D-AD35-242E-5ED5-CC8144490768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6641976" y="4548448"/>
            <a:ext cx="1098376" cy="222543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pole tekstowe 16">
            <a:extLst>
              <a:ext uri="{FF2B5EF4-FFF2-40B4-BE49-F238E27FC236}">
                <a16:creationId xmlns:a16="http://schemas.microsoft.com/office/drawing/2014/main" id="{25082469-B85C-BF4E-D524-8A1DD516C36D}"/>
              </a:ext>
            </a:extLst>
          </p:cNvPr>
          <p:cNvSpPr txBox="1"/>
          <p:nvPr/>
        </p:nvSpPr>
        <p:spPr>
          <a:xfrm>
            <a:off x="4186964" y="2271610"/>
            <a:ext cx="4902291" cy="2292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Tryby dostępu do pliku:</a:t>
            </a:r>
          </a:p>
          <a:p>
            <a:pPr algn="just">
              <a:spcAft>
                <a:spcPts val="600"/>
              </a:spcAft>
            </a:pPr>
            <a:r>
              <a:rPr lang="pl-PL" sz="1600" b="1" dirty="0"/>
              <a:t>MODE_APPEND </a:t>
            </a:r>
            <a:r>
              <a:rPr lang="pl-PL" sz="1600" dirty="0"/>
              <a:t>– dopisuje </a:t>
            </a:r>
            <a:r>
              <a:rPr lang="pl-PL" sz="1600" b="1" dirty="0"/>
              <a:t>bez nadpisywania</a:t>
            </a:r>
          </a:p>
          <a:p>
            <a:pPr algn="just">
              <a:spcAft>
                <a:spcPts val="600"/>
              </a:spcAft>
            </a:pPr>
            <a:r>
              <a:rPr lang="pl-PL" sz="1600" b="1" dirty="0"/>
              <a:t>MODE_PRIVATE </a:t>
            </a:r>
            <a:r>
              <a:rPr lang="pl-PL" sz="1600" dirty="0"/>
              <a:t>– dostęp do pliku tylko z </a:t>
            </a:r>
            <a:r>
              <a:rPr lang="pl-PL" sz="1600" b="1" dirty="0"/>
              <a:t>poziomu aplikacji</a:t>
            </a:r>
          </a:p>
          <a:p>
            <a:pPr algn="just">
              <a:spcAft>
                <a:spcPts val="600"/>
              </a:spcAft>
            </a:pPr>
            <a:r>
              <a:rPr lang="pl-PL" sz="1600" b="1" dirty="0"/>
              <a:t>MODE_WORLD_READABLE </a:t>
            </a:r>
            <a:r>
              <a:rPr lang="pl-PL" sz="1600" dirty="0"/>
              <a:t>– zezwala </a:t>
            </a:r>
            <a:r>
              <a:rPr lang="pl-PL" sz="1600" b="1" dirty="0"/>
              <a:t>innym</a:t>
            </a:r>
            <a:r>
              <a:rPr lang="pl-PL" sz="1600" dirty="0"/>
              <a:t> aplikacjom na odczyt</a:t>
            </a:r>
          </a:p>
          <a:p>
            <a:pPr algn="just">
              <a:spcAft>
                <a:spcPts val="600"/>
              </a:spcAft>
            </a:pPr>
            <a:r>
              <a:rPr lang="pl-PL" sz="1600" b="1" dirty="0"/>
              <a:t>MODE_WORLD_WRITABLE </a:t>
            </a:r>
            <a:r>
              <a:rPr lang="pl-PL" sz="1600" dirty="0"/>
              <a:t>– zezwala </a:t>
            </a:r>
            <a:r>
              <a:rPr lang="pl-PL" sz="1600" b="1" dirty="0"/>
              <a:t>innym</a:t>
            </a:r>
            <a:r>
              <a:rPr lang="pl-PL" sz="1600" dirty="0"/>
              <a:t> aplikacjom na zapis</a:t>
            </a:r>
          </a:p>
        </p:txBody>
      </p:sp>
      <p:sp>
        <p:nvSpPr>
          <p:cNvPr id="6" name="Prostokąt: zaokrąglone rogi 5">
            <a:extLst>
              <a:ext uri="{FF2B5EF4-FFF2-40B4-BE49-F238E27FC236}">
                <a16:creationId xmlns:a16="http://schemas.microsoft.com/office/drawing/2014/main" id="{4B751DE5-10A9-36F2-0984-8FE04B494570}"/>
              </a:ext>
            </a:extLst>
          </p:cNvPr>
          <p:cNvSpPr/>
          <p:nvPr/>
        </p:nvSpPr>
        <p:spPr>
          <a:xfrm>
            <a:off x="5763779" y="5008207"/>
            <a:ext cx="3238719" cy="444681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1E449BA9-8175-9C6C-0CC0-CC61CD26DF7B}"/>
              </a:ext>
            </a:extLst>
          </p:cNvPr>
          <p:cNvSpPr txBox="1"/>
          <p:nvPr/>
        </p:nvSpPr>
        <p:spPr>
          <a:xfrm>
            <a:off x="5881465" y="5045376"/>
            <a:ext cx="31382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Odczytuje wartość pod kluczem.</a:t>
            </a:r>
          </a:p>
        </p:txBody>
      </p:sp>
      <p:cxnSp>
        <p:nvCxnSpPr>
          <p:cNvPr id="9" name="Łącznik prosty ze strzałką 8">
            <a:extLst>
              <a:ext uri="{FF2B5EF4-FFF2-40B4-BE49-F238E27FC236}">
                <a16:creationId xmlns:a16="http://schemas.microsoft.com/office/drawing/2014/main" id="{4B6A36FC-C595-3FB5-B85C-04D001C7E9D2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5013727" y="5230548"/>
            <a:ext cx="750052" cy="295004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Prostokąt: zaokrąglone rogi 11">
            <a:extLst>
              <a:ext uri="{FF2B5EF4-FFF2-40B4-BE49-F238E27FC236}">
                <a16:creationId xmlns:a16="http://schemas.microsoft.com/office/drawing/2014/main" id="{951C7037-CD9F-35D2-04CB-1ADE80F664AC}"/>
              </a:ext>
            </a:extLst>
          </p:cNvPr>
          <p:cNvSpPr/>
          <p:nvPr/>
        </p:nvSpPr>
        <p:spPr>
          <a:xfrm>
            <a:off x="5850537" y="5775473"/>
            <a:ext cx="2125458" cy="444681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347D3EFD-FA7B-9178-7198-53F49686EED8}"/>
              </a:ext>
            </a:extLst>
          </p:cNvPr>
          <p:cNvSpPr txBox="1"/>
          <p:nvPr/>
        </p:nvSpPr>
        <p:spPr>
          <a:xfrm>
            <a:off x="5968222" y="5812642"/>
            <a:ext cx="20601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Rozpoczyna edycję</a:t>
            </a:r>
          </a:p>
        </p:txBody>
      </p:sp>
      <p:cxnSp>
        <p:nvCxnSpPr>
          <p:cNvPr id="18" name="Łącznik prosty ze strzałką 17">
            <a:extLst>
              <a:ext uri="{FF2B5EF4-FFF2-40B4-BE49-F238E27FC236}">
                <a16:creationId xmlns:a16="http://schemas.microsoft.com/office/drawing/2014/main" id="{63D539E3-BC71-E1B5-601A-11203BD7930E}"/>
              </a:ext>
            </a:extLst>
          </p:cNvPr>
          <p:cNvCxnSpPr>
            <a:cxnSpLocks/>
          </p:cNvCxnSpPr>
          <p:nvPr/>
        </p:nvCxnSpPr>
        <p:spPr>
          <a:xfrm flipH="1" flipV="1">
            <a:off x="3707904" y="5893496"/>
            <a:ext cx="2125457" cy="60867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Prostokąt: zaokrąglone rogi 19">
            <a:extLst>
              <a:ext uri="{FF2B5EF4-FFF2-40B4-BE49-F238E27FC236}">
                <a16:creationId xmlns:a16="http://schemas.microsoft.com/office/drawing/2014/main" id="{C2E40D53-081C-8E5C-F7EC-D992E7808228}"/>
              </a:ext>
            </a:extLst>
          </p:cNvPr>
          <p:cNvSpPr/>
          <p:nvPr/>
        </p:nvSpPr>
        <p:spPr>
          <a:xfrm>
            <a:off x="5508104" y="6280080"/>
            <a:ext cx="3238719" cy="444681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1" name="pole tekstowe 20">
            <a:extLst>
              <a:ext uri="{FF2B5EF4-FFF2-40B4-BE49-F238E27FC236}">
                <a16:creationId xmlns:a16="http://schemas.microsoft.com/office/drawing/2014/main" id="{865325D7-3327-492A-8637-5BC3625285A2}"/>
              </a:ext>
            </a:extLst>
          </p:cNvPr>
          <p:cNvSpPr txBox="1"/>
          <p:nvPr/>
        </p:nvSpPr>
        <p:spPr>
          <a:xfrm>
            <a:off x="5625790" y="6317249"/>
            <a:ext cx="31382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Zapisuje wartość pod kluczem.</a:t>
            </a:r>
          </a:p>
        </p:txBody>
      </p:sp>
      <p:cxnSp>
        <p:nvCxnSpPr>
          <p:cNvPr id="22" name="Łącznik prosty ze strzałką 21">
            <a:extLst>
              <a:ext uri="{FF2B5EF4-FFF2-40B4-BE49-F238E27FC236}">
                <a16:creationId xmlns:a16="http://schemas.microsoft.com/office/drawing/2014/main" id="{195BEDDC-DE0C-7EC7-48A7-DD73E8D343E3}"/>
              </a:ext>
            </a:extLst>
          </p:cNvPr>
          <p:cNvCxnSpPr>
            <a:cxnSpLocks/>
          </p:cNvCxnSpPr>
          <p:nvPr/>
        </p:nvCxnSpPr>
        <p:spPr>
          <a:xfrm flipH="1" flipV="1">
            <a:off x="3995936" y="6280080"/>
            <a:ext cx="1486712" cy="152883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7273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3B8DD3-DAA6-2EEE-7D8F-F34169B71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Obraz 12">
            <a:extLst>
              <a:ext uri="{FF2B5EF4-FFF2-40B4-BE49-F238E27FC236}">
                <a16:creationId xmlns:a16="http://schemas.microsoft.com/office/drawing/2014/main" id="{5B2907A3-15A1-1EB8-1153-0118F91A0B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3431" y="4715324"/>
            <a:ext cx="7269305" cy="208823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5CB9A49-B26C-63A5-355B-3F8C2A59DC92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SharedPreferences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965FAB22-3F64-2B62-0D55-B771B99699E1}"/>
              </a:ext>
            </a:extLst>
          </p:cNvPr>
          <p:cNvSpPr txBox="1"/>
          <p:nvPr/>
        </p:nvSpPr>
        <p:spPr>
          <a:xfrm>
            <a:off x="1187624" y="908720"/>
            <a:ext cx="7847856" cy="1345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000000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000000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000000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000000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000000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5pPr>
            <a:lvl6pPr marL="2286000" algn="l" defTabSz="914400" rtl="0" eaLnBrk="1" latinLnBrk="0" hangingPunct="1">
              <a:defRPr sz="1200" kern="1200">
                <a:solidFill>
                  <a:srgbClr val="000000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6pPr>
            <a:lvl7pPr marL="2743200" algn="l" defTabSz="914400" rtl="0" eaLnBrk="1" latinLnBrk="0" hangingPunct="1">
              <a:defRPr sz="1200" kern="1200">
                <a:solidFill>
                  <a:srgbClr val="000000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7pPr>
            <a:lvl8pPr marL="3200400" algn="l" defTabSz="914400" rtl="0" eaLnBrk="1" latinLnBrk="0" hangingPunct="1">
              <a:defRPr sz="1200" kern="1200">
                <a:solidFill>
                  <a:srgbClr val="000000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8pPr>
            <a:lvl9pPr marL="3657600" algn="l" defTabSz="914400" rtl="0" eaLnBrk="1" latinLnBrk="0" hangingPunct="1">
              <a:defRPr sz="1200" kern="1200">
                <a:solidFill>
                  <a:srgbClr val="000000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9pPr>
          </a:lstStyle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400" dirty="0"/>
              <a:t>Przechowuje dane w plikach </a:t>
            </a:r>
            <a:r>
              <a:rPr lang="pl-PL" sz="1400" b="1" dirty="0"/>
              <a:t>XML</a:t>
            </a:r>
            <a:r>
              <a:rPr lang="pl-PL" sz="1400" dirty="0"/>
              <a:t> i obsługuje tylko </a:t>
            </a:r>
            <a:r>
              <a:rPr lang="pl-PL" sz="1400" b="1" dirty="0"/>
              <a:t>typy proste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400" dirty="0"/>
              <a:t>Oferuje tylko operacje </a:t>
            </a:r>
            <a:r>
              <a:rPr lang="pl-PL" sz="1400" b="1" dirty="0"/>
              <a:t>synchroniczne</a:t>
            </a:r>
            <a:endParaRPr lang="pl-PL" sz="14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400" b="1" dirty="0"/>
              <a:t>Nie posiada </a:t>
            </a:r>
            <a:r>
              <a:rPr lang="pl-PL" sz="1400" dirty="0"/>
              <a:t>żadnych </a:t>
            </a:r>
            <a:r>
              <a:rPr lang="pl-PL" sz="1400" b="1" dirty="0"/>
              <a:t>wbudowanych</a:t>
            </a:r>
            <a:r>
              <a:rPr lang="pl-PL" sz="1400" dirty="0"/>
              <a:t> mechanizmów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400" b="1" dirty="0"/>
              <a:t>Nie oferuje </a:t>
            </a:r>
            <a:r>
              <a:rPr lang="pl-PL" sz="1400" dirty="0"/>
              <a:t>wbudowanej obsługi </a:t>
            </a:r>
            <a:r>
              <a:rPr lang="pl-PL" sz="1400" b="1" dirty="0"/>
              <a:t>reagowania</a:t>
            </a:r>
            <a:r>
              <a:rPr lang="pl-PL" sz="1400" dirty="0"/>
              <a:t> na zmiany danych</a:t>
            </a:r>
          </a:p>
        </p:txBody>
      </p:sp>
      <p:sp>
        <p:nvSpPr>
          <p:cNvPr id="4" name="Prostokąt: zaokrąglone rogi 3">
            <a:extLst>
              <a:ext uri="{FF2B5EF4-FFF2-40B4-BE49-F238E27FC236}">
                <a16:creationId xmlns:a16="http://schemas.microsoft.com/office/drawing/2014/main" id="{FF50F41D-9F0C-240E-CED5-4C30FF7D43F6}"/>
              </a:ext>
            </a:extLst>
          </p:cNvPr>
          <p:cNvSpPr/>
          <p:nvPr/>
        </p:nvSpPr>
        <p:spPr>
          <a:xfrm>
            <a:off x="131948" y="2348880"/>
            <a:ext cx="3819568" cy="875470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5" name="Łącznik prosty ze strzałką 4">
            <a:extLst>
              <a:ext uri="{FF2B5EF4-FFF2-40B4-BE49-F238E27FC236}">
                <a16:creationId xmlns:a16="http://schemas.microsoft.com/office/drawing/2014/main" id="{7573B740-75F3-481F-5938-62B820CCB84E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2041732" y="3224350"/>
            <a:ext cx="2098220" cy="1546641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pole tekstowe 6">
            <a:extLst>
              <a:ext uri="{FF2B5EF4-FFF2-40B4-BE49-F238E27FC236}">
                <a16:creationId xmlns:a16="http://schemas.microsoft.com/office/drawing/2014/main" id="{7951C90A-5696-AFC1-A41F-06CE282F172A}"/>
              </a:ext>
            </a:extLst>
          </p:cNvPr>
          <p:cNvSpPr txBox="1"/>
          <p:nvPr/>
        </p:nvSpPr>
        <p:spPr>
          <a:xfrm>
            <a:off x="244800" y="2393353"/>
            <a:ext cx="35938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getSharedPreferences("nazwa", tryb) </a:t>
            </a:r>
            <a:r>
              <a:rPr lang="pl-PL" sz="1600" b="1" dirty="0"/>
              <a:t>Otwiera/tworzy </a:t>
            </a:r>
            <a:r>
              <a:rPr lang="pl-PL" sz="1600" dirty="0"/>
              <a:t>plik </a:t>
            </a:r>
            <a:r>
              <a:rPr lang="pl-PL" sz="1600" dirty="0" err="1"/>
              <a:t>preferences</a:t>
            </a:r>
            <a:r>
              <a:rPr lang="pl-PL" sz="1600" dirty="0"/>
              <a:t> na </a:t>
            </a:r>
            <a:r>
              <a:rPr lang="pl-PL" sz="1600" b="1" dirty="0"/>
              <a:t>wybranym kontekście</a:t>
            </a:r>
            <a:r>
              <a:rPr lang="pl-PL" sz="1600" dirty="0"/>
              <a:t>.</a:t>
            </a:r>
          </a:p>
        </p:txBody>
      </p:sp>
      <p:sp>
        <p:nvSpPr>
          <p:cNvPr id="15" name="Prostokąt: zaokrąglone rogi 14">
            <a:extLst>
              <a:ext uri="{FF2B5EF4-FFF2-40B4-BE49-F238E27FC236}">
                <a16:creationId xmlns:a16="http://schemas.microsoft.com/office/drawing/2014/main" id="{D938D42E-6773-EB58-689A-D3642AA85DD3}"/>
              </a:ext>
            </a:extLst>
          </p:cNvPr>
          <p:cNvSpPr/>
          <p:nvPr/>
        </p:nvSpPr>
        <p:spPr>
          <a:xfrm>
            <a:off x="4139952" y="2253768"/>
            <a:ext cx="5004048" cy="2294680"/>
          </a:xfrm>
          <a:prstGeom prst="roundRect">
            <a:avLst>
              <a:gd name="adj" fmla="val 7138"/>
            </a:avLst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16" name="Łącznik prosty ze strzałką 15">
            <a:extLst>
              <a:ext uri="{FF2B5EF4-FFF2-40B4-BE49-F238E27FC236}">
                <a16:creationId xmlns:a16="http://schemas.microsoft.com/office/drawing/2014/main" id="{A12F1AE4-C566-1A6A-9F9C-B6FD5E6D208C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6641976" y="4548448"/>
            <a:ext cx="1098376" cy="222543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pole tekstowe 16">
            <a:extLst>
              <a:ext uri="{FF2B5EF4-FFF2-40B4-BE49-F238E27FC236}">
                <a16:creationId xmlns:a16="http://schemas.microsoft.com/office/drawing/2014/main" id="{E3CC6489-DEE4-B4F1-CB68-E0C20DCF7059}"/>
              </a:ext>
            </a:extLst>
          </p:cNvPr>
          <p:cNvSpPr txBox="1"/>
          <p:nvPr/>
        </p:nvSpPr>
        <p:spPr>
          <a:xfrm>
            <a:off x="4186964" y="2271610"/>
            <a:ext cx="4902291" cy="2292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Tryby dostępu do pliku:</a:t>
            </a:r>
          </a:p>
          <a:p>
            <a:pPr algn="just">
              <a:spcAft>
                <a:spcPts val="600"/>
              </a:spcAft>
            </a:pPr>
            <a:r>
              <a:rPr lang="pl-PL" sz="1600" b="1" dirty="0"/>
              <a:t>MODE_APPEND </a:t>
            </a:r>
            <a:r>
              <a:rPr lang="pl-PL" sz="1600" dirty="0"/>
              <a:t>– dopisuje </a:t>
            </a:r>
            <a:r>
              <a:rPr lang="pl-PL" sz="1600" b="1" dirty="0"/>
              <a:t>bez nadpisywania</a:t>
            </a:r>
          </a:p>
          <a:p>
            <a:pPr algn="just">
              <a:spcAft>
                <a:spcPts val="600"/>
              </a:spcAft>
            </a:pPr>
            <a:r>
              <a:rPr lang="pl-PL" sz="1600" b="1" dirty="0"/>
              <a:t>MODE_PRIVATE </a:t>
            </a:r>
            <a:r>
              <a:rPr lang="pl-PL" sz="1600" dirty="0"/>
              <a:t>– dostęp do pliku tylko z </a:t>
            </a:r>
            <a:r>
              <a:rPr lang="pl-PL" sz="1600" b="1" dirty="0"/>
              <a:t>poziomu aplikacji</a:t>
            </a:r>
          </a:p>
          <a:p>
            <a:pPr algn="just">
              <a:spcAft>
                <a:spcPts val="600"/>
              </a:spcAft>
            </a:pPr>
            <a:r>
              <a:rPr lang="pl-PL" sz="1600" b="1" dirty="0"/>
              <a:t>MODE_WORLD_READABLE </a:t>
            </a:r>
            <a:r>
              <a:rPr lang="pl-PL" sz="1600" dirty="0"/>
              <a:t>– zezwala </a:t>
            </a:r>
            <a:r>
              <a:rPr lang="pl-PL" sz="1600" b="1" dirty="0"/>
              <a:t>innym</a:t>
            </a:r>
            <a:r>
              <a:rPr lang="pl-PL" sz="1600" dirty="0"/>
              <a:t> aplikacjom na odczyt</a:t>
            </a:r>
          </a:p>
          <a:p>
            <a:pPr algn="just">
              <a:spcAft>
                <a:spcPts val="600"/>
              </a:spcAft>
            </a:pPr>
            <a:r>
              <a:rPr lang="pl-PL" sz="1600" b="1" dirty="0"/>
              <a:t>MODE_WORLD_WRITABLE </a:t>
            </a:r>
            <a:r>
              <a:rPr lang="pl-PL" sz="1600" dirty="0"/>
              <a:t>– zezwala </a:t>
            </a:r>
            <a:r>
              <a:rPr lang="pl-PL" sz="1600" b="1" dirty="0"/>
              <a:t>innym</a:t>
            </a:r>
            <a:r>
              <a:rPr lang="pl-PL" sz="1600" dirty="0"/>
              <a:t> aplikacjom na zapis</a:t>
            </a:r>
          </a:p>
        </p:txBody>
      </p:sp>
      <p:sp>
        <p:nvSpPr>
          <p:cNvPr id="6" name="Prostokąt: zaokrąglone rogi 5">
            <a:extLst>
              <a:ext uri="{FF2B5EF4-FFF2-40B4-BE49-F238E27FC236}">
                <a16:creationId xmlns:a16="http://schemas.microsoft.com/office/drawing/2014/main" id="{485828C9-9480-7613-0E4C-F17DBC23B72D}"/>
              </a:ext>
            </a:extLst>
          </p:cNvPr>
          <p:cNvSpPr/>
          <p:nvPr/>
        </p:nvSpPr>
        <p:spPr>
          <a:xfrm>
            <a:off x="5763779" y="5008207"/>
            <a:ext cx="3238719" cy="444681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58A1F346-ACCB-F472-950B-09B2D7B48C52}"/>
              </a:ext>
            </a:extLst>
          </p:cNvPr>
          <p:cNvSpPr txBox="1"/>
          <p:nvPr/>
        </p:nvSpPr>
        <p:spPr>
          <a:xfrm>
            <a:off x="5881465" y="5045376"/>
            <a:ext cx="31382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Odczytuje wartość pod kluczem.</a:t>
            </a:r>
          </a:p>
        </p:txBody>
      </p:sp>
      <p:cxnSp>
        <p:nvCxnSpPr>
          <p:cNvPr id="9" name="Łącznik prosty ze strzałką 8">
            <a:extLst>
              <a:ext uri="{FF2B5EF4-FFF2-40B4-BE49-F238E27FC236}">
                <a16:creationId xmlns:a16="http://schemas.microsoft.com/office/drawing/2014/main" id="{63D3D984-573E-53E0-FE4E-6D501F3DF6A4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5013727" y="5230548"/>
            <a:ext cx="750052" cy="295004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Prostokąt: zaokrąglone rogi 11">
            <a:extLst>
              <a:ext uri="{FF2B5EF4-FFF2-40B4-BE49-F238E27FC236}">
                <a16:creationId xmlns:a16="http://schemas.microsoft.com/office/drawing/2014/main" id="{511620B0-083C-3D9A-6F1A-F9E7C4CA0F2F}"/>
              </a:ext>
            </a:extLst>
          </p:cNvPr>
          <p:cNvSpPr/>
          <p:nvPr/>
        </p:nvSpPr>
        <p:spPr>
          <a:xfrm>
            <a:off x="5850537" y="5775473"/>
            <a:ext cx="2125458" cy="444681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E6ACEB8F-805E-B068-90B4-BF326B1F0DA2}"/>
              </a:ext>
            </a:extLst>
          </p:cNvPr>
          <p:cNvSpPr txBox="1"/>
          <p:nvPr/>
        </p:nvSpPr>
        <p:spPr>
          <a:xfrm>
            <a:off x="5968222" y="5812642"/>
            <a:ext cx="20601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Rozpoczyna edycję</a:t>
            </a:r>
          </a:p>
        </p:txBody>
      </p:sp>
      <p:cxnSp>
        <p:nvCxnSpPr>
          <p:cNvPr id="18" name="Łącznik prosty ze strzałką 17">
            <a:extLst>
              <a:ext uri="{FF2B5EF4-FFF2-40B4-BE49-F238E27FC236}">
                <a16:creationId xmlns:a16="http://schemas.microsoft.com/office/drawing/2014/main" id="{AC6F5C14-727A-7F47-921F-D5AA340BFDBB}"/>
              </a:ext>
            </a:extLst>
          </p:cNvPr>
          <p:cNvCxnSpPr>
            <a:cxnSpLocks/>
          </p:cNvCxnSpPr>
          <p:nvPr/>
        </p:nvCxnSpPr>
        <p:spPr>
          <a:xfrm flipH="1" flipV="1">
            <a:off x="3707904" y="5893496"/>
            <a:ext cx="2125457" cy="60867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Prostokąt: zaokrąglone rogi 19">
            <a:extLst>
              <a:ext uri="{FF2B5EF4-FFF2-40B4-BE49-F238E27FC236}">
                <a16:creationId xmlns:a16="http://schemas.microsoft.com/office/drawing/2014/main" id="{1FF48422-9BC0-1311-6344-FDC95D50D260}"/>
              </a:ext>
            </a:extLst>
          </p:cNvPr>
          <p:cNvSpPr/>
          <p:nvPr/>
        </p:nvSpPr>
        <p:spPr>
          <a:xfrm>
            <a:off x="5508104" y="6280080"/>
            <a:ext cx="3238719" cy="444681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1" name="pole tekstowe 20">
            <a:extLst>
              <a:ext uri="{FF2B5EF4-FFF2-40B4-BE49-F238E27FC236}">
                <a16:creationId xmlns:a16="http://schemas.microsoft.com/office/drawing/2014/main" id="{BFFB6712-36A8-816E-5A8A-98B263455F84}"/>
              </a:ext>
            </a:extLst>
          </p:cNvPr>
          <p:cNvSpPr txBox="1"/>
          <p:nvPr/>
        </p:nvSpPr>
        <p:spPr>
          <a:xfrm>
            <a:off x="5625790" y="6317249"/>
            <a:ext cx="31382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Zapisuje wartość pod kluczem.</a:t>
            </a:r>
          </a:p>
        </p:txBody>
      </p:sp>
      <p:cxnSp>
        <p:nvCxnSpPr>
          <p:cNvPr id="22" name="Łącznik prosty ze strzałką 21">
            <a:extLst>
              <a:ext uri="{FF2B5EF4-FFF2-40B4-BE49-F238E27FC236}">
                <a16:creationId xmlns:a16="http://schemas.microsoft.com/office/drawing/2014/main" id="{B44EB19B-23C1-21FE-6407-7C2F470CD9C8}"/>
              </a:ext>
            </a:extLst>
          </p:cNvPr>
          <p:cNvCxnSpPr>
            <a:cxnSpLocks/>
          </p:cNvCxnSpPr>
          <p:nvPr/>
        </p:nvCxnSpPr>
        <p:spPr>
          <a:xfrm flipH="1" flipV="1">
            <a:off x="3995936" y="6280080"/>
            <a:ext cx="1486712" cy="152883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Prostokąt: zaokrąglone rogi 23">
            <a:extLst>
              <a:ext uri="{FF2B5EF4-FFF2-40B4-BE49-F238E27FC236}">
                <a16:creationId xmlns:a16="http://schemas.microsoft.com/office/drawing/2014/main" id="{F0E20A09-1F5E-EB2A-2DED-AD5A4DC07B3B}"/>
              </a:ext>
            </a:extLst>
          </p:cNvPr>
          <p:cNvSpPr/>
          <p:nvPr/>
        </p:nvSpPr>
        <p:spPr>
          <a:xfrm>
            <a:off x="61444" y="5175546"/>
            <a:ext cx="1649163" cy="1205782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5" name="pole tekstowe 24">
            <a:extLst>
              <a:ext uri="{FF2B5EF4-FFF2-40B4-BE49-F238E27FC236}">
                <a16:creationId xmlns:a16="http://schemas.microsoft.com/office/drawing/2014/main" id="{D0EF3DBF-5C63-0130-194D-65E78B2A4931}"/>
              </a:ext>
            </a:extLst>
          </p:cNvPr>
          <p:cNvSpPr txBox="1"/>
          <p:nvPr/>
        </p:nvSpPr>
        <p:spPr>
          <a:xfrm>
            <a:off x="85704" y="5220831"/>
            <a:ext cx="160772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Zapisuje dane synchronicznie (zwraca </a:t>
            </a:r>
            <a:r>
              <a:rPr lang="pl-PL" sz="1600" dirty="0" err="1"/>
              <a:t>true</a:t>
            </a:r>
            <a:r>
              <a:rPr lang="pl-PL" sz="1600" dirty="0"/>
              <a:t>/</a:t>
            </a:r>
            <a:r>
              <a:rPr lang="pl-PL" sz="1600" dirty="0" err="1"/>
              <a:t>false</a:t>
            </a:r>
            <a:r>
              <a:rPr lang="pl-PL" sz="1600" dirty="0"/>
              <a:t>).</a:t>
            </a:r>
          </a:p>
        </p:txBody>
      </p:sp>
      <p:cxnSp>
        <p:nvCxnSpPr>
          <p:cNvPr id="26" name="Łącznik prosty ze strzałką 25">
            <a:extLst>
              <a:ext uri="{FF2B5EF4-FFF2-40B4-BE49-F238E27FC236}">
                <a16:creationId xmlns:a16="http://schemas.microsoft.com/office/drawing/2014/main" id="{4B44D054-A7E7-7939-310C-88B491B0E4ED}"/>
              </a:ext>
            </a:extLst>
          </p:cNvPr>
          <p:cNvCxnSpPr>
            <a:cxnSpLocks/>
            <a:stCxn id="24" idx="3"/>
          </p:cNvCxnSpPr>
          <p:nvPr/>
        </p:nvCxnSpPr>
        <p:spPr>
          <a:xfrm>
            <a:off x="1710607" y="5778437"/>
            <a:ext cx="917177" cy="578084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32373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246065-F0DC-D464-5760-4B203AEF0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FAF5007-AA0C-803C-9E20-034B7311BADB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SharedPreferences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11" name="Obraz 10">
            <a:extLst>
              <a:ext uri="{FF2B5EF4-FFF2-40B4-BE49-F238E27FC236}">
                <a16:creationId xmlns:a16="http://schemas.microsoft.com/office/drawing/2014/main" id="{968D6FD1-C9FB-97BF-2D74-A482601AF5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1034" y="836712"/>
            <a:ext cx="6838803" cy="5987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3467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492446-EBA4-A138-E170-45E81BC77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9D9916B-9221-0021-6704-4347DA7DC4DD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DisposableEffect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4C433B61-E28A-FE56-9F82-26647F8146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3547" y="4941168"/>
            <a:ext cx="7753010" cy="1872208"/>
          </a:xfrm>
          <a:prstGeom prst="rect">
            <a:avLst/>
          </a:prstGeom>
        </p:spPr>
      </p:pic>
      <p:sp>
        <p:nvSpPr>
          <p:cNvPr id="7" name="pole tekstowe 6">
            <a:extLst>
              <a:ext uri="{FF2B5EF4-FFF2-40B4-BE49-F238E27FC236}">
                <a16:creationId xmlns:a16="http://schemas.microsoft.com/office/drawing/2014/main" id="{861DCCEE-6745-7DF3-1DBE-F012839126E5}"/>
              </a:ext>
            </a:extLst>
          </p:cNvPr>
          <p:cNvSpPr txBox="1"/>
          <p:nvPr/>
        </p:nvSpPr>
        <p:spPr>
          <a:xfrm>
            <a:off x="1115616" y="909295"/>
            <a:ext cx="79928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"</a:t>
            </a:r>
            <a:r>
              <a:rPr lang="pl-PL" sz="1600" b="1" dirty="0"/>
              <a:t>efekt uboczny</a:t>
            </a:r>
            <a:r>
              <a:rPr lang="pl-PL" sz="1600" dirty="0"/>
              <a:t>„ (</a:t>
            </a:r>
            <a:r>
              <a:rPr lang="pl-PL" sz="1600" dirty="0" err="1"/>
              <a:t>side</a:t>
            </a:r>
            <a:r>
              <a:rPr lang="pl-PL" sz="1600" dirty="0"/>
              <a:t> </a:t>
            </a:r>
            <a:r>
              <a:rPr lang="pl-PL" sz="1600" dirty="0" err="1"/>
              <a:t>effect</a:t>
            </a:r>
            <a:r>
              <a:rPr lang="pl-PL" sz="1600" dirty="0"/>
              <a:t>) w </a:t>
            </a:r>
            <a:r>
              <a:rPr lang="pl-PL" sz="1600" dirty="0" err="1"/>
              <a:t>Compose</a:t>
            </a:r>
            <a:r>
              <a:rPr lang="pl-PL" sz="1600" dirty="0"/>
              <a:t>, który wykonuje kod przy wejściu komponentu do kompozycji i sprząta przy wyjściu.</a:t>
            </a:r>
          </a:p>
        </p:txBody>
      </p:sp>
    </p:spTree>
    <p:extLst>
      <p:ext uri="{BB962C8B-B14F-4D97-AF65-F5344CB8AC3E}">
        <p14:creationId xmlns:p14="http://schemas.microsoft.com/office/powerpoint/2010/main" val="7376898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CC0A4B-253F-8E3A-1108-5D6A3314B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11C8E58-D052-8100-EC00-1AEC989980C0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DisposableEffect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E0681DE3-C274-801C-29E0-43F891E36D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3547" y="4941168"/>
            <a:ext cx="7753010" cy="1872208"/>
          </a:xfrm>
          <a:prstGeom prst="rect">
            <a:avLst/>
          </a:prstGeom>
        </p:spPr>
      </p:pic>
      <p:sp>
        <p:nvSpPr>
          <p:cNvPr id="7" name="pole tekstowe 6">
            <a:extLst>
              <a:ext uri="{FF2B5EF4-FFF2-40B4-BE49-F238E27FC236}">
                <a16:creationId xmlns:a16="http://schemas.microsoft.com/office/drawing/2014/main" id="{5C233037-8B82-EB9D-86DE-247279D96C9A}"/>
              </a:ext>
            </a:extLst>
          </p:cNvPr>
          <p:cNvSpPr txBox="1"/>
          <p:nvPr/>
        </p:nvSpPr>
        <p:spPr>
          <a:xfrm>
            <a:off x="1115616" y="909295"/>
            <a:ext cx="799288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"</a:t>
            </a:r>
            <a:r>
              <a:rPr lang="pl-PL" sz="1600" b="1" dirty="0"/>
              <a:t>efekt uboczny</a:t>
            </a:r>
            <a:r>
              <a:rPr lang="pl-PL" sz="1600" dirty="0"/>
              <a:t>„ (</a:t>
            </a:r>
            <a:r>
              <a:rPr lang="pl-PL" sz="1600" dirty="0" err="1"/>
              <a:t>side</a:t>
            </a:r>
            <a:r>
              <a:rPr lang="pl-PL" sz="1600" dirty="0"/>
              <a:t> </a:t>
            </a:r>
            <a:r>
              <a:rPr lang="pl-PL" sz="1600" dirty="0" err="1"/>
              <a:t>effect</a:t>
            </a:r>
            <a:r>
              <a:rPr lang="pl-PL" sz="1600" dirty="0"/>
              <a:t>) w </a:t>
            </a:r>
            <a:r>
              <a:rPr lang="pl-PL" sz="1600" dirty="0" err="1"/>
              <a:t>Compose</a:t>
            </a:r>
            <a:r>
              <a:rPr lang="pl-PL" sz="1600" dirty="0"/>
              <a:t>, który wykonuje kod przy wejściu komponentu do kompozycji i sprząta przy wyjściu.</a:t>
            </a:r>
          </a:p>
          <a:p>
            <a:pPr algn="just"/>
            <a:endParaRPr lang="pl-PL" sz="1600" dirty="0"/>
          </a:p>
          <a:p>
            <a:pPr algn="just"/>
            <a:r>
              <a:rPr lang="pl-PL" sz="1600" dirty="0"/>
              <a:t>Wykonanie kodu </a:t>
            </a:r>
            <a:r>
              <a:rPr lang="pl-PL" sz="1600" b="1" dirty="0"/>
              <a:t>przy wejściu komponentu do kompozycji </a:t>
            </a:r>
            <a:r>
              <a:rPr lang="pl-PL" sz="1600" dirty="0"/>
              <a:t>(analogia do </a:t>
            </a:r>
            <a:r>
              <a:rPr lang="pl-PL" sz="1600" dirty="0" err="1"/>
              <a:t>onCreate</a:t>
            </a:r>
            <a:r>
              <a:rPr lang="pl-PL" sz="1600" dirty="0"/>
              <a:t>() w Activity). Automatyczne sprzątanie </a:t>
            </a:r>
            <a:r>
              <a:rPr lang="pl-PL" sz="1600" b="1" dirty="0"/>
              <a:t>przy opuszczaniu kompozycji </a:t>
            </a:r>
            <a:r>
              <a:rPr lang="pl-PL" sz="1600" dirty="0"/>
              <a:t>(analogia do </a:t>
            </a:r>
            <a:r>
              <a:rPr lang="pl-PL" sz="1600" dirty="0" err="1"/>
              <a:t>onDestroy</a:t>
            </a:r>
            <a:r>
              <a:rPr lang="pl-PL" sz="1600" dirty="0"/>
              <a:t>())</a:t>
            </a:r>
          </a:p>
        </p:txBody>
      </p:sp>
    </p:spTree>
    <p:extLst>
      <p:ext uri="{BB962C8B-B14F-4D97-AF65-F5344CB8AC3E}">
        <p14:creationId xmlns:p14="http://schemas.microsoft.com/office/powerpoint/2010/main" val="25610604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68B839-1FDA-E84C-D7A7-A5D550841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50EC12A-3CAA-5641-0C4A-D2C9179BB61E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DisposableEffect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FA782F20-B154-1D0E-C62C-B65AB03208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3547" y="4941168"/>
            <a:ext cx="7753010" cy="1872208"/>
          </a:xfrm>
          <a:prstGeom prst="rect">
            <a:avLst/>
          </a:prstGeom>
        </p:spPr>
      </p:pic>
      <p:sp>
        <p:nvSpPr>
          <p:cNvPr id="7" name="pole tekstowe 6">
            <a:extLst>
              <a:ext uri="{FF2B5EF4-FFF2-40B4-BE49-F238E27FC236}">
                <a16:creationId xmlns:a16="http://schemas.microsoft.com/office/drawing/2014/main" id="{41C75B11-588D-9AB7-06B6-D516CC04299D}"/>
              </a:ext>
            </a:extLst>
          </p:cNvPr>
          <p:cNvSpPr txBox="1"/>
          <p:nvPr/>
        </p:nvSpPr>
        <p:spPr>
          <a:xfrm>
            <a:off x="1115616" y="909295"/>
            <a:ext cx="7992888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"</a:t>
            </a:r>
            <a:r>
              <a:rPr lang="pl-PL" sz="1600" b="1" dirty="0"/>
              <a:t>efekt uboczny</a:t>
            </a:r>
            <a:r>
              <a:rPr lang="pl-PL" sz="1600" dirty="0"/>
              <a:t>„ (</a:t>
            </a:r>
            <a:r>
              <a:rPr lang="pl-PL" sz="1600" dirty="0" err="1"/>
              <a:t>side</a:t>
            </a:r>
            <a:r>
              <a:rPr lang="pl-PL" sz="1600" dirty="0"/>
              <a:t> </a:t>
            </a:r>
            <a:r>
              <a:rPr lang="pl-PL" sz="1600" dirty="0" err="1"/>
              <a:t>effect</a:t>
            </a:r>
            <a:r>
              <a:rPr lang="pl-PL" sz="1600" dirty="0"/>
              <a:t>) w </a:t>
            </a:r>
            <a:r>
              <a:rPr lang="pl-PL" sz="1600" dirty="0" err="1"/>
              <a:t>Compose</a:t>
            </a:r>
            <a:r>
              <a:rPr lang="pl-PL" sz="1600" dirty="0"/>
              <a:t>, który wykonuje kod przy wejściu komponentu do kompozycji i sprząta przy wyjściu.</a:t>
            </a:r>
          </a:p>
          <a:p>
            <a:pPr algn="just"/>
            <a:endParaRPr lang="pl-PL" sz="1600" dirty="0"/>
          </a:p>
          <a:p>
            <a:pPr algn="just"/>
            <a:r>
              <a:rPr lang="pl-PL" sz="1600" dirty="0"/>
              <a:t>Wykonanie kodu </a:t>
            </a:r>
            <a:r>
              <a:rPr lang="pl-PL" sz="1600" b="1" dirty="0"/>
              <a:t>przy wejściu komponentu do kompozycji </a:t>
            </a:r>
            <a:r>
              <a:rPr lang="pl-PL" sz="1600" dirty="0"/>
              <a:t>(analogia do </a:t>
            </a:r>
            <a:r>
              <a:rPr lang="pl-PL" sz="1600" dirty="0" err="1"/>
              <a:t>onCreate</a:t>
            </a:r>
            <a:r>
              <a:rPr lang="pl-PL" sz="1600" dirty="0"/>
              <a:t>() w Activity). Automatyczne sprzątanie </a:t>
            </a:r>
            <a:r>
              <a:rPr lang="pl-PL" sz="1600" b="1" dirty="0"/>
              <a:t>przy opuszczaniu kompozycji </a:t>
            </a:r>
            <a:r>
              <a:rPr lang="pl-PL" sz="1600" dirty="0"/>
              <a:t>(analogia do </a:t>
            </a:r>
            <a:r>
              <a:rPr lang="pl-PL" sz="1600" dirty="0" err="1"/>
              <a:t>onDestroy</a:t>
            </a:r>
            <a:r>
              <a:rPr lang="pl-PL" sz="1600" dirty="0"/>
              <a:t>())</a:t>
            </a:r>
          </a:p>
          <a:p>
            <a:pPr algn="just"/>
            <a:endParaRPr lang="pl-PL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l-PL" sz="1600" dirty="0"/>
              <a:t>Wejście komponentu: Gdy funkcja </a:t>
            </a:r>
            <a:r>
              <a:rPr lang="pl-PL" sz="1600" b="1" dirty="0"/>
              <a:t>@Composable </a:t>
            </a:r>
            <a:r>
              <a:rPr lang="pl-PL" sz="1600" dirty="0"/>
              <a:t>po raz pierwszy pojawia się na ekranie.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l-PL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l-PL" sz="1600" dirty="0"/>
              <a:t>Ponowne komponowanie (</a:t>
            </a:r>
            <a:r>
              <a:rPr lang="pl-PL" sz="1600" b="1" dirty="0" err="1"/>
              <a:t>recomposition</a:t>
            </a:r>
            <a:r>
              <a:rPr lang="pl-PL" sz="1600" dirty="0"/>
              <a:t>): </a:t>
            </a:r>
            <a:r>
              <a:rPr lang="pl-PL" sz="1600" b="1" dirty="0"/>
              <a:t>Nie uruchamia się ponownie</a:t>
            </a:r>
            <a:r>
              <a:rPr lang="pl-PL" sz="1600" dirty="0"/>
              <a:t>, chyba że </a:t>
            </a:r>
            <a:r>
              <a:rPr lang="pl-PL" sz="1600" b="1" dirty="0"/>
              <a:t>zmienią się klucze </a:t>
            </a:r>
            <a:r>
              <a:rPr lang="pl-PL" sz="1600" dirty="0"/>
              <a:t>przekazane do </a:t>
            </a:r>
            <a:r>
              <a:rPr lang="pl-PL" sz="1600" dirty="0" err="1"/>
              <a:t>DisposableEffect</a:t>
            </a:r>
            <a:r>
              <a:rPr lang="pl-PL" sz="1600" dirty="0"/>
              <a:t> (tutaj Unit oznacza, że działa tylko raz).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l-PL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l-PL" sz="1600" dirty="0"/>
              <a:t>Wyjście komponentu: Gdy komponent jest trwale usuwany z UI (np. przy nawigacji wstecz).</a:t>
            </a:r>
          </a:p>
        </p:txBody>
      </p:sp>
    </p:spTree>
    <p:extLst>
      <p:ext uri="{BB962C8B-B14F-4D97-AF65-F5344CB8AC3E}">
        <p14:creationId xmlns:p14="http://schemas.microsoft.com/office/powerpoint/2010/main" val="12627097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88CF54-6F5B-A584-ADA3-85E304DEF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rostokąt: zaokrąglone rogi 2">
            <a:extLst>
              <a:ext uri="{FF2B5EF4-FFF2-40B4-BE49-F238E27FC236}">
                <a16:creationId xmlns:a16="http://schemas.microsoft.com/office/drawing/2014/main" id="{235404C6-B194-8AA4-B98D-C11215464105}"/>
              </a:ext>
            </a:extLst>
          </p:cNvPr>
          <p:cNvSpPr/>
          <p:nvPr/>
        </p:nvSpPr>
        <p:spPr>
          <a:xfrm>
            <a:off x="1043608" y="824516"/>
            <a:ext cx="2736304" cy="1581856"/>
          </a:xfrm>
          <a:prstGeom prst="roundRect">
            <a:avLst>
              <a:gd name="adj" fmla="val 10698"/>
            </a:avLst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446E87D-E737-3812-542A-08975DD084F2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DisposableEffect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5B1164DF-AC29-5EC7-D84E-E8437925B8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7624" y="3212976"/>
            <a:ext cx="7753010" cy="1872208"/>
          </a:xfrm>
          <a:prstGeom prst="rect">
            <a:avLst/>
          </a:prstGeom>
        </p:spPr>
      </p:pic>
      <p:sp>
        <p:nvSpPr>
          <p:cNvPr id="7" name="pole tekstowe 6">
            <a:extLst>
              <a:ext uri="{FF2B5EF4-FFF2-40B4-BE49-F238E27FC236}">
                <a16:creationId xmlns:a16="http://schemas.microsoft.com/office/drawing/2014/main" id="{0B593CD1-0189-333E-FF8D-14F9DF8D23CB}"/>
              </a:ext>
            </a:extLst>
          </p:cNvPr>
          <p:cNvSpPr txBox="1"/>
          <p:nvPr/>
        </p:nvSpPr>
        <p:spPr>
          <a:xfrm>
            <a:off x="1115616" y="836712"/>
            <a:ext cx="252028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"</a:t>
            </a:r>
            <a:r>
              <a:rPr lang="pl-PL" sz="1600" b="1" dirty="0"/>
              <a:t>efekt uboczny</a:t>
            </a:r>
            <a:r>
              <a:rPr lang="pl-PL" sz="1600" dirty="0"/>
              <a:t>„ (</a:t>
            </a:r>
            <a:r>
              <a:rPr lang="pl-PL" sz="1600" dirty="0" err="1"/>
              <a:t>side</a:t>
            </a:r>
            <a:r>
              <a:rPr lang="pl-PL" sz="1600" dirty="0"/>
              <a:t> </a:t>
            </a:r>
            <a:r>
              <a:rPr lang="pl-PL" sz="1600" dirty="0" err="1"/>
              <a:t>effect</a:t>
            </a:r>
            <a:r>
              <a:rPr lang="pl-PL" sz="1600" dirty="0"/>
              <a:t>) w </a:t>
            </a:r>
            <a:r>
              <a:rPr lang="pl-PL" sz="1600" dirty="0" err="1"/>
              <a:t>Compose</a:t>
            </a:r>
            <a:r>
              <a:rPr lang="pl-PL" sz="1600" dirty="0"/>
              <a:t>, który wykonuje kod przy wejściu komponentu do kompozycji i sprząta przy wyjściu.</a:t>
            </a:r>
          </a:p>
        </p:txBody>
      </p:sp>
      <p:cxnSp>
        <p:nvCxnSpPr>
          <p:cNvPr id="5" name="Łącznik prosty ze strzałką 4">
            <a:extLst>
              <a:ext uri="{FF2B5EF4-FFF2-40B4-BE49-F238E27FC236}">
                <a16:creationId xmlns:a16="http://schemas.microsoft.com/office/drawing/2014/main" id="{79354085-D198-E190-B22B-39B919B22C5E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2195736" y="2406372"/>
            <a:ext cx="180020" cy="878612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85442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C1E4E4-3B8E-AA8B-A4FE-EF4973563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rostokąt: zaokrąglone rogi 2">
            <a:extLst>
              <a:ext uri="{FF2B5EF4-FFF2-40B4-BE49-F238E27FC236}">
                <a16:creationId xmlns:a16="http://schemas.microsoft.com/office/drawing/2014/main" id="{46106A1E-D19C-D5BD-29FA-E09516BDC61F}"/>
              </a:ext>
            </a:extLst>
          </p:cNvPr>
          <p:cNvSpPr/>
          <p:nvPr/>
        </p:nvSpPr>
        <p:spPr>
          <a:xfrm>
            <a:off x="1043608" y="824516"/>
            <a:ext cx="2736304" cy="1581856"/>
          </a:xfrm>
          <a:prstGeom prst="roundRect">
            <a:avLst>
              <a:gd name="adj" fmla="val 10698"/>
            </a:avLst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0F65EBF-A20B-155F-0577-976D9D0840B0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DisposableEffect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24B04EAD-A87E-BEBA-2B7E-0856C6743F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7624" y="3212976"/>
            <a:ext cx="7753010" cy="1872208"/>
          </a:xfrm>
          <a:prstGeom prst="rect">
            <a:avLst/>
          </a:prstGeom>
        </p:spPr>
      </p:pic>
      <p:sp>
        <p:nvSpPr>
          <p:cNvPr id="7" name="pole tekstowe 6">
            <a:extLst>
              <a:ext uri="{FF2B5EF4-FFF2-40B4-BE49-F238E27FC236}">
                <a16:creationId xmlns:a16="http://schemas.microsoft.com/office/drawing/2014/main" id="{070D6CC6-4CB6-39D8-773B-0FBCA3B7427A}"/>
              </a:ext>
            </a:extLst>
          </p:cNvPr>
          <p:cNvSpPr txBox="1"/>
          <p:nvPr/>
        </p:nvSpPr>
        <p:spPr>
          <a:xfrm>
            <a:off x="1115616" y="836712"/>
            <a:ext cx="252028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"</a:t>
            </a:r>
            <a:r>
              <a:rPr lang="pl-PL" sz="1600" b="1" dirty="0"/>
              <a:t>efekt uboczny</a:t>
            </a:r>
            <a:r>
              <a:rPr lang="pl-PL" sz="1600" dirty="0"/>
              <a:t>„ (</a:t>
            </a:r>
            <a:r>
              <a:rPr lang="pl-PL" sz="1600" dirty="0" err="1"/>
              <a:t>side</a:t>
            </a:r>
            <a:r>
              <a:rPr lang="pl-PL" sz="1600" dirty="0"/>
              <a:t> </a:t>
            </a:r>
            <a:r>
              <a:rPr lang="pl-PL" sz="1600" dirty="0" err="1"/>
              <a:t>effect</a:t>
            </a:r>
            <a:r>
              <a:rPr lang="pl-PL" sz="1600" dirty="0"/>
              <a:t>) w </a:t>
            </a:r>
            <a:r>
              <a:rPr lang="pl-PL" sz="1600" dirty="0" err="1"/>
              <a:t>Compose</a:t>
            </a:r>
            <a:r>
              <a:rPr lang="pl-PL" sz="1600" dirty="0"/>
              <a:t>, który wykonuje kod przy wejściu komponentu do kompozycji i sprząta przy wyjściu.</a:t>
            </a:r>
          </a:p>
        </p:txBody>
      </p:sp>
      <p:cxnSp>
        <p:nvCxnSpPr>
          <p:cNvPr id="5" name="Łącznik prosty ze strzałką 4">
            <a:extLst>
              <a:ext uri="{FF2B5EF4-FFF2-40B4-BE49-F238E27FC236}">
                <a16:creationId xmlns:a16="http://schemas.microsoft.com/office/drawing/2014/main" id="{2B52B9B1-A905-59E3-2E3C-4D5F058FCD81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2195736" y="2406372"/>
            <a:ext cx="180020" cy="878612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Prostokąt: zaokrąglone rogi 9">
            <a:extLst>
              <a:ext uri="{FF2B5EF4-FFF2-40B4-BE49-F238E27FC236}">
                <a16:creationId xmlns:a16="http://schemas.microsoft.com/office/drawing/2014/main" id="{99B4CA95-01F4-D67F-4209-D48E624A3B23}"/>
              </a:ext>
            </a:extLst>
          </p:cNvPr>
          <p:cNvSpPr/>
          <p:nvPr/>
        </p:nvSpPr>
        <p:spPr>
          <a:xfrm>
            <a:off x="4785286" y="1112549"/>
            <a:ext cx="4155348" cy="876291"/>
          </a:xfrm>
          <a:prstGeom prst="roundRect">
            <a:avLst>
              <a:gd name="adj" fmla="val 10698"/>
            </a:avLst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6B0D5C43-1642-4AB7-C737-9359FEB69297}"/>
              </a:ext>
            </a:extLst>
          </p:cNvPr>
          <p:cNvSpPr txBox="1"/>
          <p:nvPr/>
        </p:nvSpPr>
        <p:spPr>
          <a:xfrm>
            <a:off x="4857294" y="1124744"/>
            <a:ext cx="39631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Nasłuchuje </a:t>
            </a:r>
            <a:r>
              <a:rPr lang="pl-PL" sz="1600" b="1" dirty="0"/>
              <a:t>zmian</a:t>
            </a:r>
            <a:r>
              <a:rPr lang="pl-PL" sz="1600" dirty="0"/>
              <a:t> w </a:t>
            </a:r>
            <a:r>
              <a:rPr lang="pl-PL" sz="1600" dirty="0" err="1"/>
              <a:t>SharedPreferences</a:t>
            </a:r>
            <a:r>
              <a:rPr lang="pl-PL" sz="1600" dirty="0"/>
              <a:t>.</a:t>
            </a:r>
          </a:p>
          <a:p>
            <a:pPr algn="just"/>
            <a:r>
              <a:rPr lang="pl-PL" sz="1600" dirty="0"/>
              <a:t>Gdy zmieni się wartość pod kluczem "</a:t>
            </a:r>
            <a:r>
              <a:rPr lang="pl-PL" sz="1600" dirty="0" err="1"/>
              <a:t>count</a:t>
            </a:r>
            <a:r>
              <a:rPr lang="pl-PL" sz="1600" dirty="0"/>
              <a:t>", aktualizuje zmienną </a:t>
            </a:r>
            <a:r>
              <a:rPr lang="pl-PL" sz="1600" dirty="0" err="1"/>
              <a:t>count</a:t>
            </a:r>
            <a:r>
              <a:rPr lang="pl-PL" sz="1600" dirty="0"/>
              <a:t>.</a:t>
            </a:r>
          </a:p>
        </p:txBody>
      </p:sp>
      <p:cxnSp>
        <p:nvCxnSpPr>
          <p:cNvPr id="12" name="Łącznik prosty ze strzałką 11">
            <a:extLst>
              <a:ext uri="{FF2B5EF4-FFF2-40B4-BE49-F238E27FC236}">
                <a16:creationId xmlns:a16="http://schemas.microsoft.com/office/drawing/2014/main" id="{2AA2D925-8006-A362-ACBD-0904E7E2F787}"/>
              </a:ext>
            </a:extLst>
          </p:cNvPr>
          <p:cNvCxnSpPr>
            <a:cxnSpLocks/>
            <a:stCxn id="10" idx="2"/>
          </p:cNvCxnSpPr>
          <p:nvPr/>
        </p:nvCxnSpPr>
        <p:spPr>
          <a:xfrm flipH="1">
            <a:off x="5937414" y="1988840"/>
            <a:ext cx="925546" cy="1584176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51535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8AE6B8-DC09-C64E-81AE-2A261854D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rostokąt: zaokrąglone rogi 2">
            <a:extLst>
              <a:ext uri="{FF2B5EF4-FFF2-40B4-BE49-F238E27FC236}">
                <a16:creationId xmlns:a16="http://schemas.microsoft.com/office/drawing/2014/main" id="{983F958F-A32B-0A5E-E571-B68BB9907C52}"/>
              </a:ext>
            </a:extLst>
          </p:cNvPr>
          <p:cNvSpPr/>
          <p:nvPr/>
        </p:nvSpPr>
        <p:spPr>
          <a:xfrm>
            <a:off x="1043608" y="824516"/>
            <a:ext cx="2736304" cy="1581856"/>
          </a:xfrm>
          <a:prstGeom prst="roundRect">
            <a:avLst>
              <a:gd name="adj" fmla="val 10698"/>
            </a:avLst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7323AE3-36C9-5730-30E2-BE0BF7E61CE8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DisposableEffect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EFBB60D9-F4FF-A2EE-404E-912DD0FF3A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7624" y="3212976"/>
            <a:ext cx="7753010" cy="1872208"/>
          </a:xfrm>
          <a:prstGeom prst="rect">
            <a:avLst/>
          </a:prstGeom>
        </p:spPr>
      </p:pic>
      <p:sp>
        <p:nvSpPr>
          <p:cNvPr id="7" name="pole tekstowe 6">
            <a:extLst>
              <a:ext uri="{FF2B5EF4-FFF2-40B4-BE49-F238E27FC236}">
                <a16:creationId xmlns:a16="http://schemas.microsoft.com/office/drawing/2014/main" id="{D0383E50-F921-67C0-F9AF-82104CE35730}"/>
              </a:ext>
            </a:extLst>
          </p:cNvPr>
          <p:cNvSpPr txBox="1"/>
          <p:nvPr/>
        </p:nvSpPr>
        <p:spPr>
          <a:xfrm>
            <a:off x="1115616" y="836712"/>
            <a:ext cx="252028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"</a:t>
            </a:r>
            <a:r>
              <a:rPr lang="pl-PL" sz="1600" b="1" dirty="0"/>
              <a:t>efekt uboczny</a:t>
            </a:r>
            <a:r>
              <a:rPr lang="pl-PL" sz="1600" dirty="0"/>
              <a:t>„ (</a:t>
            </a:r>
            <a:r>
              <a:rPr lang="pl-PL" sz="1600" dirty="0" err="1"/>
              <a:t>side</a:t>
            </a:r>
            <a:r>
              <a:rPr lang="pl-PL" sz="1600" dirty="0"/>
              <a:t> </a:t>
            </a:r>
            <a:r>
              <a:rPr lang="pl-PL" sz="1600" dirty="0" err="1"/>
              <a:t>effect</a:t>
            </a:r>
            <a:r>
              <a:rPr lang="pl-PL" sz="1600" dirty="0"/>
              <a:t>) w </a:t>
            </a:r>
            <a:r>
              <a:rPr lang="pl-PL" sz="1600" dirty="0" err="1"/>
              <a:t>Compose</a:t>
            </a:r>
            <a:r>
              <a:rPr lang="pl-PL" sz="1600" dirty="0"/>
              <a:t>, który wykonuje kod przy wejściu komponentu do kompozycji i sprząta przy wyjściu.</a:t>
            </a:r>
          </a:p>
        </p:txBody>
      </p:sp>
      <p:cxnSp>
        <p:nvCxnSpPr>
          <p:cNvPr id="5" name="Łącznik prosty ze strzałką 4">
            <a:extLst>
              <a:ext uri="{FF2B5EF4-FFF2-40B4-BE49-F238E27FC236}">
                <a16:creationId xmlns:a16="http://schemas.microsoft.com/office/drawing/2014/main" id="{494ECDC7-2546-C2BD-ABF5-070B2C54A3FA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2195736" y="2406372"/>
            <a:ext cx="180020" cy="878612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Prostokąt: zaokrąglone rogi 9">
            <a:extLst>
              <a:ext uri="{FF2B5EF4-FFF2-40B4-BE49-F238E27FC236}">
                <a16:creationId xmlns:a16="http://schemas.microsoft.com/office/drawing/2014/main" id="{2A93637E-D1EB-B35F-3A51-F8EFD78CFAC5}"/>
              </a:ext>
            </a:extLst>
          </p:cNvPr>
          <p:cNvSpPr/>
          <p:nvPr/>
        </p:nvSpPr>
        <p:spPr>
          <a:xfrm>
            <a:off x="4785286" y="1112549"/>
            <a:ext cx="4155348" cy="876291"/>
          </a:xfrm>
          <a:prstGeom prst="roundRect">
            <a:avLst>
              <a:gd name="adj" fmla="val 10698"/>
            </a:avLst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0E2133F2-39D9-6A26-B1D2-4028A1574C4F}"/>
              </a:ext>
            </a:extLst>
          </p:cNvPr>
          <p:cNvSpPr txBox="1"/>
          <p:nvPr/>
        </p:nvSpPr>
        <p:spPr>
          <a:xfrm>
            <a:off x="4857294" y="1124744"/>
            <a:ext cx="39631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Nasłuchuje </a:t>
            </a:r>
            <a:r>
              <a:rPr lang="pl-PL" sz="1600" b="1" dirty="0"/>
              <a:t>zmian</a:t>
            </a:r>
            <a:r>
              <a:rPr lang="pl-PL" sz="1600" dirty="0"/>
              <a:t> w </a:t>
            </a:r>
            <a:r>
              <a:rPr lang="pl-PL" sz="1600" dirty="0" err="1"/>
              <a:t>SharedPreferences</a:t>
            </a:r>
            <a:r>
              <a:rPr lang="pl-PL" sz="1600" dirty="0"/>
              <a:t>.</a:t>
            </a:r>
          </a:p>
          <a:p>
            <a:pPr algn="just"/>
            <a:r>
              <a:rPr lang="pl-PL" sz="1600" dirty="0"/>
              <a:t>Gdy zmieni się wartość pod kluczem "</a:t>
            </a:r>
            <a:r>
              <a:rPr lang="pl-PL" sz="1600" dirty="0" err="1"/>
              <a:t>count</a:t>
            </a:r>
            <a:r>
              <a:rPr lang="pl-PL" sz="1600" dirty="0"/>
              <a:t>", aktualizuje zmienną </a:t>
            </a:r>
            <a:r>
              <a:rPr lang="pl-PL" sz="1600" dirty="0" err="1"/>
              <a:t>count</a:t>
            </a:r>
            <a:r>
              <a:rPr lang="pl-PL" sz="1600" dirty="0"/>
              <a:t>.</a:t>
            </a:r>
          </a:p>
        </p:txBody>
      </p:sp>
      <p:cxnSp>
        <p:nvCxnSpPr>
          <p:cNvPr id="12" name="Łącznik prosty ze strzałką 11">
            <a:extLst>
              <a:ext uri="{FF2B5EF4-FFF2-40B4-BE49-F238E27FC236}">
                <a16:creationId xmlns:a16="http://schemas.microsoft.com/office/drawing/2014/main" id="{2DE4CDBE-7DAA-83FC-662B-AE5653DD8780}"/>
              </a:ext>
            </a:extLst>
          </p:cNvPr>
          <p:cNvCxnSpPr>
            <a:cxnSpLocks/>
            <a:stCxn id="10" idx="2"/>
          </p:cNvCxnSpPr>
          <p:nvPr/>
        </p:nvCxnSpPr>
        <p:spPr>
          <a:xfrm flipH="1">
            <a:off x="5937414" y="1988840"/>
            <a:ext cx="925546" cy="1584176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Prostokąt: zaokrąglone rogi 16">
            <a:extLst>
              <a:ext uri="{FF2B5EF4-FFF2-40B4-BE49-F238E27FC236}">
                <a16:creationId xmlns:a16="http://schemas.microsoft.com/office/drawing/2014/main" id="{7F0C265F-3597-A47F-8900-5D17145A547D}"/>
              </a:ext>
            </a:extLst>
          </p:cNvPr>
          <p:cNvSpPr/>
          <p:nvPr/>
        </p:nvSpPr>
        <p:spPr>
          <a:xfrm>
            <a:off x="5004048" y="5261717"/>
            <a:ext cx="3864578" cy="903587"/>
          </a:xfrm>
          <a:prstGeom prst="roundRect">
            <a:avLst>
              <a:gd name="adj" fmla="val 10698"/>
            </a:avLst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8" name="pole tekstowe 17">
            <a:extLst>
              <a:ext uri="{FF2B5EF4-FFF2-40B4-BE49-F238E27FC236}">
                <a16:creationId xmlns:a16="http://schemas.microsoft.com/office/drawing/2014/main" id="{018205E7-A8D9-3208-6FED-80B34C090A0D}"/>
              </a:ext>
            </a:extLst>
          </p:cNvPr>
          <p:cNvSpPr txBox="1"/>
          <p:nvPr/>
        </p:nvSpPr>
        <p:spPr>
          <a:xfrm>
            <a:off x="5148064" y="5273912"/>
            <a:ext cx="3600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Rejestracja/wyrejestrowanie </a:t>
            </a:r>
            <a:r>
              <a:rPr lang="pl-PL" sz="1600" dirty="0" err="1"/>
              <a:t>listener’a</a:t>
            </a:r>
            <a:r>
              <a:rPr lang="pl-PL" sz="1600" dirty="0"/>
              <a:t> będzie wywoływany przy każdej zmianie w </a:t>
            </a:r>
            <a:r>
              <a:rPr lang="pl-PL" sz="1600" dirty="0" err="1"/>
              <a:t>prefs</a:t>
            </a:r>
            <a:r>
              <a:rPr lang="pl-PL" sz="1600" dirty="0"/>
              <a:t>.</a:t>
            </a:r>
          </a:p>
        </p:txBody>
      </p:sp>
      <p:cxnSp>
        <p:nvCxnSpPr>
          <p:cNvPr id="19" name="Łącznik prosty ze strzałką 18">
            <a:extLst>
              <a:ext uri="{FF2B5EF4-FFF2-40B4-BE49-F238E27FC236}">
                <a16:creationId xmlns:a16="http://schemas.microsoft.com/office/drawing/2014/main" id="{F3D399A4-B6C7-566D-45CD-1D262BD417BD}"/>
              </a:ext>
            </a:extLst>
          </p:cNvPr>
          <p:cNvCxnSpPr>
            <a:cxnSpLocks/>
            <a:stCxn id="18" idx="0"/>
          </p:cNvCxnSpPr>
          <p:nvPr/>
        </p:nvCxnSpPr>
        <p:spPr>
          <a:xfrm flipH="1" flipV="1">
            <a:off x="5796136" y="4792650"/>
            <a:ext cx="1152128" cy="481262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49505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907968-5C19-4A46-06A3-24AC905E6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rostokąt: zaokrąglone rogi 2">
            <a:extLst>
              <a:ext uri="{FF2B5EF4-FFF2-40B4-BE49-F238E27FC236}">
                <a16:creationId xmlns:a16="http://schemas.microsoft.com/office/drawing/2014/main" id="{F787E11E-1D9D-804F-F46E-C411A3407B34}"/>
              </a:ext>
            </a:extLst>
          </p:cNvPr>
          <p:cNvSpPr/>
          <p:nvPr/>
        </p:nvSpPr>
        <p:spPr>
          <a:xfrm>
            <a:off x="1043608" y="824516"/>
            <a:ext cx="2736304" cy="1581856"/>
          </a:xfrm>
          <a:prstGeom prst="roundRect">
            <a:avLst>
              <a:gd name="adj" fmla="val 10698"/>
            </a:avLst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E440BA5-BC8D-79B4-83B6-3B71B7475113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DisposableEffect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3AD4B161-9271-EC10-A443-027E740B94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7624" y="3212976"/>
            <a:ext cx="7753010" cy="1872208"/>
          </a:xfrm>
          <a:prstGeom prst="rect">
            <a:avLst/>
          </a:prstGeom>
        </p:spPr>
      </p:pic>
      <p:sp>
        <p:nvSpPr>
          <p:cNvPr id="7" name="pole tekstowe 6">
            <a:extLst>
              <a:ext uri="{FF2B5EF4-FFF2-40B4-BE49-F238E27FC236}">
                <a16:creationId xmlns:a16="http://schemas.microsoft.com/office/drawing/2014/main" id="{AAFC1109-18DF-F0A1-1052-CD1E4F4EA35B}"/>
              </a:ext>
            </a:extLst>
          </p:cNvPr>
          <p:cNvSpPr txBox="1"/>
          <p:nvPr/>
        </p:nvSpPr>
        <p:spPr>
          <a:xfrm>
            <a:off x="1115616" y="836712"/>
            <a:ext cx="252028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"</a:t>
            </a:r>
            <a:r>
              <a:rPr lang="pl-PL" sz="1600" b="1" dirty="0"/>
              <a:t>efekt uboczny</a:t>
            </a:r>
            <a:r>
              <a:rPr lang="pl-PL" sz="1600" dirty="0"/>
              <a:t>„ (</a:t>
            </a:r>
            <a:r>
              <a:rPr lang="pl-PL" sz="1600" dirty="0" err="1"/>
              <a:t>side</a:t>
            </a:r>
            <a:r>
              <a:rPr lang="pl-PL" sz="1600" dirty="0"/>
              <a:t> </a:t>
            </a:r>
            <a:r>
              <a:rPr lang="pl-PL" sz="1600" dirty="0" err="1"/>
              <a:t>effect</a:t>
            </a:r>
            <a:r>
              <a:rPr lang="pl-PL" sz="1600" dirty="0"/>
              <a:t>) w </a:t>
            </a:r>
            <a:r>
              <a:rPr lang="pl-PL" sz="1600" dirty="0" err="1"/>
              <a:t>Compose</a:t>
            </a:r>
            <a:r>
              <a:rPr lang="pl-PL" sz="1600" dirty="0"/>
              <a:t>, który wykonuje kod przy wejściu komponentu do kompozycji i sprząta przy wyjściu.</a:t>
            </a:r>
          </a:p>
        </p:txBody>
      </p:sp>
      <p:cxnSp>
        <p:nvCxnSpPr>
          <p:cNvPr id="5" name="Łącznik prosty ze strzałką 4">
            <a:extLst>
              <a:ext uri="{FF2B5EF4-FFF2-40B4-BE49-F238E27FC236}">
                <a16:creationId xmlns:a16="http://schemas.microsoft.com/office/drawing/2014/main" id="{D6666580-DC51-8D5F-93BA-E55E0A8BB8F6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2195736" y="2406372"/>
            <a:ext cx="180020" cy="878612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Prostokąt: zaokrąglone rogi 9">
            <a:extLst>
              <a:ext uri="{FF2B5EF4-FFF2-40B4-BE49-F238E27FC236}">
                <a16:creationId xmlns:a16="http://schemas.microsoft.com/office/drawing/2014/main" id="{B9A57F38-A949-DBE6-EC21-0738A388562C}"/>
              </a:ext>
            </a:extLst>
          </p:cNvPr>
          <p:cNvSpPr/>
          <p:nvPr/>
        </p:nvSpPr>
        <p:spPr>
          <a:xfrm>
            <a:off x="4785286" y="1112549"/>
            <a:ext cx="4155348" cy="876291"/>
          </a:xfrm>
          <a:prstGeom prst="roundRect">
            <a:avLst>
              <a:gd name="adj" fmla="val 10698"/>
            </a:avLst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602F0F42-89CB-1C65-CA98-74B7452A12A2}"/>
              </a:ext>
            </a:extLst>
          </p:cNvPr>
          <p:cNvSpPr txBox="1"/>
          <p:nvPr/>
        </p:nvSpPr>
        <p:spPr>
          <a:xfrm>
            <a:off x="4857294" y="1124744"/>
            <a:ext cx="39631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Nasłuchuje </a:t>
            </a:r>
            <a:r>
              <a:rPr lang="pl-PL" sz="1600" b="1" dirty="0"/>
              <a:t>zmian</a:t>
            </a:r>
            <a:r>
              <a:rPr lang="pl-PL" sz="1600" dirty="0"/>
              <a:t> w </a:t>
            </a:r>
            <a:r>
              <a:rPr lang="pl-PL" sz="1600" dirty="0" err="1"/>
              <a:t>SharedPreferences</a:t>
            </a:r>
            <a:r>
              <a:rPr lang="pl-PL" sz="1600" dirty="0"/>
              <a:t>.</a:t>
            </a:r>
          </a:p>
          <a:p>
            <a:pPr algn="just"/>
            <a:r>
              <a:rPr lang="pl-PL" sz="1600" dirty="0"/>
              <a:t>Gdy zmieni się wartość pod kluczem "</a:t>
            </a:r>
            <a:r>
              <a:rPr lang="pl-PL" sz="1600" dirty="0" err="1"/>
              <a:t>count</a:t>
            </a:r>
            <a:r>
              <a:rPr lang="pl-PL" sz="1600" dirty="0"/>
              <a:t>", aktualizuje zmienną </a:t>
            </a:r>
            <a:r>
              <a:rPr lang="pl-PL" sz="1600" dirty="0" err="1"/>
              <a:t>count</a:t>
            </a:r>
            <a:r>
              <a:rPr lang="pl-PL" sz="1600" dirty="0"/>
              <a:t>.</a:t>
            </a:r>
          </a:p>
        </p:txBody>
      </p:sp>
      <p:cxnSp>
        <p:nvCxnSpPr>
          <p:cNvPr id="12" name="Łącznik prosty ze strzałką 11">
            <a:extLst>
              <a:ext uri="{FF2B5EF4-FFF2-40B4-BE49-F238E27FC236}">
                <a16:creationId xmlns:a16="http://schemas.microsoft.com/office/drawing/2014/main" id="{D3320395-F071-742B-A5D6-8ADD1AE46114}"/>
              </a:ext>
            </a:extLst>
          </p:cNvPr>
          <p:cNvCxnSpPr>
            <a:cxnSpLocks/>
            <a:stCxn id="10" idx="2"/>
          </p:cNvCxnSpPr>
          <p:nvPr/>
        </p:nvCxnSpPr>
        <p:spPr>
          <a:xfrm flipH="1">
            <a:off x="5937414" y="1988840"/>
            <a:ext cx="925546" cy="1584176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Prostokąt: zaokrąglone rogi 16">
            <a:extLst>
              <a:ext uri="{FF2B5EF4-FFF2-40B4-BE49-F238E27FC236}">
                <a16:creationId xmlns:a16="http://schemas.microsoft.com/office/drawing/2014/main" id="{04E3D18D-BA3F-58F1-DE63-C41B4261E5A2}"/>
              </a:ext>
            </a:extLst>
          </p:cNvPr>
          <p:cNvSpPr/>
          <p:nvPr/>
        </p:nvSpPr>
        <p:spPr>
          <a:xfrm>
            <a:off x="5004048" y="5261717"/>
            <a:ext cx="3864578" cy="903587"/>
          </a:xfrm>
          <a:prstGeom prst="roundRect">
            <a:avLst>
              <a:gd name="adj" fmla="val 10698"/>
            </a:avLst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8" name="pole tekstowe 17">
            <a:extLst>
              <a:ext uri="{FF2B5EF4-FFF2-40B4-BE49-F238E27FC236}">
                <a16:creationId xmlns:a16="http://schemas.microsoft.com/office/drawing/2014/main" id="{50E9545C-2951-540F-29AA-DA719438CEC9}"/>
              </a:ext>
            </a:extLst>
          </p:cNvPr>
          <p:cNvSpPr txBox="1"/>
          <p:nvPr/>
        </p:nvSpPr>
        <p:spPr>
          <a:xfrm>
            <a:off x="5148064" y="5273912"/>
            <a:ext cx="3600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Rejestracja/wyrejestrowanie </a:t>
            </a:r>
            <a:r>
              <a:rPr lang="pl-PL" sz="1600" dirty="0" err="1"/>
              <a:t>listener’a</a:t>
            </a:r>
            <a:r>
              <a:rPr lang="pl-PL" sz="1600" dirty="0"/>
              <a:t> będzie wywoływany przy każdej zmianie w </a:t>
            </a:r>
            <a:r>
              <a:rPr lang="pl-PL" sz="1600" dirty="0" err="1"/>
              <a:t>prefs</a:t>
            </a:r>
            <a:r>
              <a:rPr lang="pl-PL" sz="1600" dirty="0"/>
              <a:t>.</a:t>
            </a:r>
          </a:p>
        </p:txBody>
      </p:sp>
      <p:cxnSp>
        <p:nvCxnSpPr>
          <p:cNvPr id="19" name="Łącznik prosty ze strzałką 18">
            <a:extLst>
              <a:ext uri="{FF2B5EF4-FFF2-40B4-BE49-F238E27FC236}">
                <a16:creationId xmlns:a16="http://schemas.microsoft.com/office/drawing/2014/main" id="{5B353B52-A674-08AE-417B-79848E3F49FF}"/>
              </a:ext>
            </a:extLst>
          </p:cNvPr>
          <p:cNvCxnSpPr>
            <a:cxnSpLocks/>
            <a:stCxn id="18" idx="0"/>
          </p:cNvCxnSpPr>
          <p:nvPr/>
        </p:nvCxnSpPr>
        <p:spPr>
          <a:xfrm flipH="1" flipV="1">
            <a:off x="5796136" y="4792650"/>
            <a:ext cx="1152128" cy="481262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Prostokąt: zaokrąglone rogi 25">
            <a:extLst>
              <a:ext uri="{FF2B5EF4-FFF2-40B4-BE49-F238E27FC236}">
                <a16:creationId xmlns:a16="http://schemas.microsoft.com/office/drawing/2014/main" id="{A4004889-7A93-517E-C2B1-602D3709E83F}"/>
              </a:ext>
            </a:extLst>
          </p:cNvPr>
          <p:cNvSpPr/>
          <p:nvPr/>
        </p:nvSpPr>
        <p:spPr>
          <a:xfrm>
            <a:off x="1043608" y="5517232"/>
            <a:ext cx="3864578" cy="1152128"/>
          </a:xfrm>
          <a:prstGeom prst="roundRect">
            <a:avLst>
              <a:gd name="adj" fmla="val 10698"/>
            </a:avLst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7" name="pole tekstowe 26">
            <a:extLst>
              <a:ext uri="{FF2B5EF4-FFF2-40B4-BE49-F238E27FC236}">
                <a16:creationId xmlns:a16="http://schemas.microsoft.com/office/drawing/2014/main" id="{D20DB073-D851-6E6B-84FE-BBB9BA8349D6}"/>
              </a:ext>
            </a:extLst>
          </p:cNvPr>
          <p:cNvSpPr txBox="1"/>
          <p:nvPr/>
        </p:nvSpPr>
        <p:spPr>
          <a:xfrm>
            <a:off x="1187624" y="5529427"/>
            <a:ext cx="36004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Przy </a:t>
            </a:r>
            <a:r>
              <a:rPr lang="pl-PL" sz="1600" b="1" dirty="0"/>
              <a:t>wyjściu</a:t>
            </a:r>
            <a:r>
              <a:rPr lang="pl-PL" sz="1600" dirty="0"/>
              <a:t> z komponentu automatycznie wywołana jest metoda </a:t>
            </a:r>
            <a:r>
              <a:rPr lang="pl-PL" sz="1600" dirty="0" err="1"/>
              <a:t>onDispose</a:t>
            </a:r>
            <a:r>
              <a:rPr lang="pl-PL" sz="1600" dirty="0"/>
              <a:t>, usuwając </a:t>
            </a:r>
            <a:r>
              <a:rPr lang="pl-PL" sz="1600" dirty="0" err="1"/>
              <a:t>listenera</a:t>
            </a:r>
            <a:r>
              <a:rPr lang="pl-PL" sz="1600" dirty="0"/>
              <a:t>. Zapobiega </a:t>
            </a:r>
            <a:r>
              <a:rPr lang="pl-PL" sz="1600" b="1" dirty="0"/>
              <a:t>wyciekowi pamięci</a:t>
            </a:r>
          </a:p>
        </p:txBody>
      </p:sp>
      <p:cxnSp>
        <p:nvCxnSpPr>
          <p:cNvPr id="28" name="Łącznik prosty ze strzałką 27">
            <a:extLst>
              <a:ext uri="{FF2B5EF4-FFF2-40B4-BE49-F238E27FC236}">
                <a16:creationId xmlns:a16="http://schemas.microsoft.com/office/drawing/2014/main" id="{88934E61-EC5A-9EE4-62D2-3D23B85F994C}"/>
              </a:ext>
            </a:extLst>
          </p:cNvPr>
          <p:cNvCxnSpPr>
            <a:cxnSpLocks/>
          </p:cNvCxnSpPr>
          <p:nvPr/>
        </p:nvCxnSpPr>
        <p:spPr>
          <a:xfrm flipH="1" flipV="1">
            <a:off x="2051720" y="4728847"/>
            <a:ext cx="1010972" cy="727990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67386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DB4199-C824-008A-D479-947A44246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21441A6-DFC4-564B-43DA-1D81255DEA4E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AppWidgetProvider</a:t>
            </a:r>
          </a:p>
        </p:txBody>
      </p:sp>
      <p:pic>
        <p:nvPicPr>
          <p:cNvPr id="8" name="Obraz 7">
            <a:extLst>
              <a:ext uri="{FF2B5EF4-FFF2-40B4-BE49-F238E27FC236}">
                <a16:creationId xmlns:a16="http://schemas.microsoft.com/office/drawing/2014/main" id="{01D14D93-BCDD-2595-1C5B-E226993510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3379" y="895306"/>
            <a:ext cx="8105834" cy="5962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9956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4B4DA3-B109-2E44-C292-A381CD9DC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F28042E-9272-8837-F876-5BE6EFCE1EA6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Layout – widget_counter.xml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0C62B322-4791-A82E-A03D-666B92850B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7715" y="836712"/>
            <a:ext cx="7977052" cy="6021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6696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F3E936-2C8E-D976-A2A6-DF91DEE74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D53945B-AAF0-B5F9-CCE1-D20942C1C456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Info – widget_counter_info.xml</a:t>
            </a:r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95454A63-FB84-3895-6BAB-1477E2FD87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9632" y="1124744"/>
            <a:ext cx="7791180" cy="2088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6065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01EB7F-9AAB-D996-E481-DACBBEF59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23BA3F5-5154-9F77-6B25-24E2855695C8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AppWidgetProvider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75512B1B-F03A-6388-6044-13933949A4B1}"/>
              </a:ext>
            </a:extLst>
          </p:cNvPr>
          <p:cNvSpPr txBox="1"/>
          <p:nvPr/>
        </p:nvSpPr>
        <p:spPr>
          <a:xfrm>
            <a:off x="1115616" y="909295"/>
            <a:ext cx="799288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/>
              <a:t>AppWidgetProvider</a:t>
            </a:r>
            <a:r>
              <a:rPr lang="pl-PL" sz="1600" dirty="0"/>
              <a:t> to uproszczona klasa bazowa do tworzenia widżetów.</a:t>
            </a:r>
          </a:p>
          <a:p>
            <a:pPr algn="just"/>
            <a:endParaRPr lang="pl-PL" sz="1600" dirty="0"/>
          </a:p>
          <a:p>
            <a:pPr algn="just"/>
            <a:r>
              <a:rPr lang="pl-PL" sz="1600" b="1" dirty="0"/>
              <a:t>Automatycznie</a:t>
            </a:r>
            <a:r>
              <a:rPr lang="pl-PL" sz="1600" dirty="0"/>
              <a:t> obsługuje </a:t>
            </a:r>
            <a:r>
              <a:rPr lang="pl-PL" sz="1600" dirty="0" err="1"/>
              <a:t>broadcasty</a:t>
            </a:r>
            <a:r>
              <a:rPr lang="pl-PL" sz="1600" dirty="0"/>
              <a:t> systemowe związane z widżetami (np. aktualizacje).</a:t>
            </a:r>
          </a:p>
        </p:txBody>
      </p:sp>
      <p:pic>
        <p:nvPicPr>
          <p:cNvPr id="8" name="Obraz 7">
            <a:extLst>
              <a:ext uri="{FF2B5EF4-FFF2-40B4-BE49-F238E27FC236}">
                <a16:creationId xmlns:a16="http://schemas.microsoft.com/office/drawing/2014/main" id="{11547901-1643-178F-F8CD-FDAA86091B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9712" y="2214725"/>
            <a:ext cx="6222735" cy="2149890"/>
          </a:xfrm>
          <a:prstGeom prst="rect">
            <a:avLst/>
          </a:prstGeom>
        </p:spPr>
      </p:pic>
      <p:sp>
        <p:nvSpPr>
          <p:cNvPr id="9" name="pole tekstowe 8">
            <a:extLst>
              <a:ext uri="{FF2B5EF4-FFF2-40B4-BE49-F238E27FC236}">
                <a16:creationId xmlns:a16="http://schemas.microsoft.com/office/drawing/2014/main" id="{6AFA698B-24B1-0D46-1983-0A4E6750109D}"/>
              </a:ext>
            </a:extLst>
          </p:cNvPr>
          <p:cNvSpPr txBox="1"/>
          <p:nvPr/>
        </p:nvSpPr>
        <p:spPr>
          <a:xfrm>
            <a:off x="1115919" y="4618689"/>
            <a:ext cx="7992888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/>
              <a:t>Kiedy się wywołuje?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dirty="0"/>
              <a:t>Przy </a:t>
            </a:r>
            <a:r>
              <a:rPr lang="pl-PL" sz="1600" b="1" dirty="0"/>
              <a:t>pierwszym dodaniu </a:t>
            </a:r>
            <a:r>
              <a:rPr lang="pl-PL" sz="1600" dirty="0"/>
              <a:t>widżetu na ekran.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dirty="0"/>
              <a:t>Po upływie </a:t>
            </a:r>
            <a:r>
              <a:rPr lang="pl-PL" sz="1600" b="1" dirty="0"/>
              <a:t>interwału</a:t>
            </a:r>
            <a:r>
              <a:rPr lang="pl-PL" sz="1600" dirty="0"/>
              <a:t> aktualizacji (zdefiniowanego w widget_info.xml).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dirty="0"/>
              <a:t>Po </a:t>
            </a:r>
            <a:r>
              <a:rPr lang="pl-PL" sz="1600" b="1" dirty="0"/>
              <a:t>ręcznym odświeżeniu </a:t>
            </a:r>
            <a:r>
              <a:rPr lang="pl-PL" sz="1600" dirty="0"/>
              <a:t>przez użytkownika.</a:t>
            </a:r>
          </a:p>
          <a:p>
            <a:pPr algn="just"/>
            <a:endParaRPr lang="pl-PL" sz="1600" b="1" dirty="0"/>
          </a:p>
          <a:p>
            <a:pPr algn="just"/>
            <a:r>
              <a:rPr lang="pl-PL" sz="1600" b="1" dirty="0"/>
              <a:t>Co robi?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l-PL" sz="1600" dirty="0"/>
              <a:t>Dla </a:t>
            </a:r>
            <a:r>
              <a:rPr lang="pl-PL" sz="1600" b="1" dirty="0"/>
              <a:t>każdej instancji </a:t>
            </a:r>
            <a:r>
              <a:rPr lang="pl-PL" sz="1600" dirty="0"/>
              <a:t>widżetu (</a:t>
            </a:r>
            <a:r>
              <a:rPr lang="pl-PL" sz="1600" b="1" dirty="0"/>
              <a:t>może być wiele!) </a:t>
            </a:r>
            <a:r>
              <a:rPr lang="pl-PL" sz="1600" dirty="0"/>
              <a:t>wywołuje </a:t>
            </a:r>
            <a:r>
              <a:rPr lang="pl-PL" sz="1600" dirty="0" err="1"/>
              <a:t>updateAppWidget</a:t>
            </a:r>
            <a:r>
              <a:rPr lang="pl-PL" sz="1600" dirty="0"/>
              <a:t>().</a:t>
            </a:r>
          </a:p>
        </p:txBody>
      </p:sp>
    </p:spTree>
    <p:extLst>
      <p:ext uri="{BB962C8B-B14F-4D97-AF65-F5344CB8AC3E}">
        <p14:creationId xmlns:p14="http://schemas.microsoft.com/office/powerpoint/2010/main" val="11627311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9731D-6A8C-8488-0B38-61B52B7E8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C690B4E-0469-21A8-DE3C-7D7776A1C906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AppWidgetProvider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07BA3CE1-2244-50E6-12D0-8A19985DDD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80728"/>
            <a:ext cx="9250911" cy="5616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3792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008025-38CC-4AF7-C11E-A77C0F47E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1A74B2E-9C3A-0F00-B3A3-157A608177E9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AppWidgetProvider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527EA3F3-8B86-0941-7928-E6F1E983A2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616" y="1052736"/>
            <a:ext cx="7661694" cy="1397133"/>
          </a:xfrm>
          <a:prstGeom prst="rect">
            <a:avLst/>
          </a:prstGeom>
        </p:spPr>
      </p:pic>
      <p:sp>
        <p:nvSpPr>
          <p:cNvPr id="6" name="Prostokąt: zaokrąglone rogi 5">
            <a:extLst>
              <a:ext uri="{FF2B5EF4-FFF2-40B4-BE49-F238E27FC236}">
                <a16:creationId xmlns:a16="http://schemas.microsoft.com/office/drawing/2014/main" id="{B2321F95-84DD-2204-FC3A-082BDCB1BF6D}"/>
              </a:ext>
            </a:extLst>
          </p:cNvPr>
          <p:cNvSpPr/>
          <p:nvPr/>
        </p:nvSpPr>
        <p:spPr>
          <a:xfrm>
            <a:off x="107505" y="3084693"/>
            <a:ext cx="3960440" cy="2288523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7" name="Łącznik prosty ze strzałką 6">
            <a:extLst>
              <a:ext uri="{FF2B5EF4-FFF2-40B4-BE49-F238E27FC236}">
                <a16:creationId xmlns:a16="http://schemas.microsoft.com/office/drawing/2014/main" id="{3171BFBE-6403-275A-2FAF-A10A410FACA0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2087725" y="2442210"/>
            <a:ext cx="655725" cy="642483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pole tekstowe 7">
            <a:extLst>
              <a:ext uri="{FF2B5EF4-FFF2-40B4-BE49-F238E27FC236}">
                <a16:creationId xmlns:a16="http://schemas.microsoft.com/office/drawing/2014/main" id="{6BA1AEB6-4E1C-D9EB-32E9-D2CA718A2166}"/>
              </a:ext>
            </a:extLst>
          </p:cNvPr>
          <p:cNvSpPr txBox="1"/>
          <p:nvPr/>
        </p:nvSpPr>
        <p:spPr>
          <a:xfrm>
            <a:off x="179512" y="3155484"/>
            <a:ext cx="388843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Klasa pozwalająca na </a:t>
            </a:r>
            <a:r>
              <a:rPr lang="pl-PL" sz="1600" b="1" dirty="0"/>
              <a:t>manipulowanie</a:t>
            </a:r>
            <a:r>
              <a:rPr lang="pl-PL" sz="1600" dirty="0"/>
              <a:t> widżetem aplikacji </a:t>
            </a:r>
            <a:r>
              <a:rPr lang="pl-PL" sz="1600" b="1" dirty="0"/>
              <a:t>z poziomu kodu</a:t>
            </a:r>
            <a:r>
              <a:rPr lang="pl-PL" sz="1600" dirty="0"/>
              <a:t>. Widżety działają w </a:t>
            </a:r>
            <a:r>
              <a:rPr lang="pl-PL" sz="1600" b="1" dirty="0"/>
              <a:t>procesie systemowym </a:t>
            </a:r>
            <a:r>
              <a:rPr lang="pl-PL" sz="1600" dirty="0"/>
              <a:t>(nie w aplikacji!!!), więc nie można bezpośrednio modyfikować ich UI. </a:t>
            </a:r>
            <a:r>
              <a:rPr lang="pl-PL" sz="1600" dirty="0" err="1"/>
              <a:t>RemoteViews</a:t>
            </a:r>
            <a:r>
              <a:rPr lang="pl-PL" sz="1600" dirty="0"/>
              <a:t> to "most" między aplikacją a systemowym procesem </a:t>
            </a:r>
            <a:r>
              <a:rPr lang="pl-PL" sz="1600" dirty="0" err="1"/>
              <a:t>launchera</a:t>
            </a:r>
            <a:r>
              <a:rPr lang="pl-PL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950531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2068B0-06B3-280F-64D0-EEA9E7607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08712F8-0F61-DD2B-4645-79BD8003BA33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AppWidgetProvider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D34A1C2C-25A6-A176-825C-31087DC1A6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616" y="1052736"/>
            <a:ext cx="7661694" cy="1397133"/>
          </a:xfrm>
          <a:prstGeom prst="rect">
            <a:avLst/>
          </a:prstGeom>
        </p:spPr>
      </p:pic>
      <p:sp>
        <p:nvSpPr>
          <p:cNvPr id="6" name="Prostokąt: zaokrąglone rogi 5">
            <a:extLst>
              <a:ext uri="{FF2B5EF4-FFF2-40B4-BE49-F238E27FC236}">
                <a16:creationId xmlns:a16="http://schemas.microsoft.com/office/drawing/2014/main" id="{53B7FF58-66DD-EBC1-50C7-EF7EF28504E4}"/>
              </a:ext>
            </a:extLst>
          </p:cNvPr>
          <p:cNvSpPr/>
          <p:nvPr/>
        </p:nvSpPr>
        <p:spPr>
          <a:xfrm>
            <a:off x="107505" y="3084693"/>
            <a:ext cx="3960440" cy="2288523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7" name="Łącznik prosty ze strzałką 6">
            <a:extLst>
              <a:ext uri="{FF2B5EF4-FFF2-40B4-BE49-F238E27FC236}">
                <a16:creationId xmlns:a16="http://schemas.microsoft.com/office/drawing/2014/main" id="{CE43E0D5-3D8A-9C98-6782-7F90C4EDF0F3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2087725" y="2442210"/>
            <a:ext cx="655725" cy="642483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pole tekstowe 7">
            <a:extLst>
              <a:ext uri="{FF2B5EF4-FFF2-40B4-BE49-F238E27FC236}">
                <a16:creationId xmlns:a16="http://schemas.microsoft.com/office/drawing/2014/main" id="{E9DA6423-6550-322C-6E85-47B7E942CAA5}"/>
              </a:ext>
            </a:extLst>
          </p:cNvPr>
          <p:cNvSpPr txBox="1"/>
          <p:nvPr/>
        </p:nvSpPr>
        <p:spPr>
          <a:xfrm>
            <a:off x="179512" y="3155484"/>
            <a:ext cx="388843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Klasa pozwalająca na </a:t>
            </a:r>
            <a:r>
              <a:rPr lang="pl-PL" sz="1600" b="1" dirty="0"/>
              <a:t>manipulowanie</a:t>
            </a:r>
            <a:r>
              <a:rPr lang="pl-PL" sz="1600" dirty="0"/>
              <a:t> widżetem aplikacji </a:t>
            </a:r>
            <a:r>
              <a:rPr lang="pl-PL" sz="1600" b="1" dirty="0"/>
              <a:t>z poziomu kodu</a:t>
            </a:r>
            <a:r>
              <a:rPr lang="pl-PL" sz="1600" dirty="0"/>
              <a:t>. Widżety działają w </a:t>
            </a:r>
            <a:r>
              <a:rPr lang="pl-PL" sz="1600" b="1" dirty="0"/>
              <a:t>procesie systemowym </a:t>
            </a:r>
            <a:r>
              <a:rPr lang="pl-PL" sz="1600" dirty="0"/>
              <a:t>(nie w aplikacji!!!), więc nie można bezpośrednio modyfikować ich UI. </a:t>
            </a:r>
            <a:r>
              <a:rPr lang="pl-PL" sz="1600" dirty="0" err="1"/>
              <a:t>RemoteViews</a:t>
            </a:r>
            <a:r>
              <a:rPr lang="pl-PL" sz="1600" dirty="0"/>
              <a:t> to "most" między aplikacją a systemowym procesem </a:t>
            </a:r>
            <a:r>
              <a:rPr lang="pl-PL" sz="1600" dirty="0" err="1"/>
              <a:t>launchera</a:t>
            </a:r>
            <a:r>
              <a:rPr lang="pl-PL" sz="1600" dirty="0"/>
              <a:t>.</a:t>
            </a:r>
          </a:p>
        </p:txBody>
      </p:sp>
      <p:sp>
        <p:nvSpPr>
          <p:cNvPr id="13" name="Prostokąt: zaokrąglone rogi 12">
            <a:extLst>
              <a:ext uri="{FF2B5EF4-FFF2-40B4-BE49-F238E27FC236}">
                <a16:creationId xmlns:a16="http://schemas.microsoft.com/office/drawing/2014/main" id="{DA3BCFC5-AECF-D626-B379-1AFFF623C53F}"/>
              </a:ext>
            </a:extLst>
          </p:cNvPr>
          <p:cNvSpPr/>
          <p:nvPr/>
        </p:nvSpPr>
        <p:spPr>
          <a:xfrm>
            <a:off x="4153460" y="5217587"/>
            <a:ext cx="2556284" cy="1405155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14" name="Łącznik prosty ze strzałką 13">
            <a:extLst>
              <a:ext uri="{FF2B5EF4-FFF2-40B4-BE49-F238E27FC236}">
                <a16:creationId xmlns:a16="http://schemas.microsoft.com/office/drawing/2014/main" id="{39C75CC5-19F0-0898-C83E-BDAB49A719F5}"/>
              </a:ext>
            </a:extLst>
          </p:cNvPr>
          <p:cNvCxnSpPr>
            <a:cxnSpLocks/>
            <a:stCxn id="13" idx="0"/>
          </p:cNvCxnSpPr>
          <p:nvPr/>
        </p:nvCxnSpPr>
        <p:spPr>
          <a:xfrm flipH="1" flipV="1">
            <a:off x="4716016" y="2324799"/>
            <a:ext cx="715586" cy="2892788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pole tekstowe 14">
            <a:extLst>
              <a:ext uri="{FF2B5EF4-FFF2-40B4-BE49-F238E27FC236}">
                <a16:creationId xmlns:a16="http://schemas.microsoft.com/office/drawing/2014/main" id="{697FB4E7-E3C0-1F5B-B0DD-94786FAEA79D}"/>
              </a:ext>
            </a:extLst>
          </p:cNvPr>
          <p:cNvSpPr txBox="1"/>
          <p:nvPr/>
        </p:nvSpPr>
        <p:spPr>
          <a:xfrm>
            <a:off x="4199707" y="5242266"/>
            <a:ext cx="248427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Nazwa pakietu aplikacji. System musi „wiedzieć”, do której aplikacji należy widżet (i gdzie szukać zasobów).</a:t>
            </a:r>
          </a:p>
        </p:txBody>
      </p:sp>
      <p:sp>
        <p:nvSpPr>
          <p:cNvPr id="20" name="Prostokąt: zaokrąglone rogi 19">
            <a:extLst>
              <a:ext uri="{FF2B5EF4-FFF2-40B4-BE49-F238E27FC236}">
                <a16:creationId xmlns:a16="http://schemas.microsoft.com/office/drawing/2014/main" id="{5CF2ADD4-21A2-AD3B-355A-4A860A52255B}"/>
              </a:ext>
            </a:extLst>
          </p:cNvPr>
          <p:cNvSpPr/>
          <p:nvPr/>
        </p:nvSpPr>
        <p:spPr>
          <a:xfrm>
            <a:off x="5724128" y="3356993"/>
            <a:ext cx="3240360" cy="1224136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21" name="Łącznik prosty ze strzałką 20">
            <a:extLst>
              <a:ext uri="{FF2B5EF4-FFF2-40B4-BE49-F238E27FC236}">
                <a16:creationId xmlns:a16="http://schemas.microsoft.com/office/drawing/2014/main" id="{A05948BA-1802-75F0-E979-C0FF70713235}"/>
              </a:ext>
            </a:extLst>
          </p:cNvPr>
          <p:cNvCxnSpPr>
            <a:cxnSpLocks/>
            <a:stCxn id="20" idx="0"/>
          </p:cNvCxnSpPr>
          <p:nvPr/>
        </p:nvCxnSpPr>
        <p:spPr>
          <a:xfrm flipH="1" flipV="1">
            <a:off x="6516216" y="2420888"/>
            <a:ext cx="828092" cy="936105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pole tekstowe 21">
            <a:extLst>
              <a:ext uri="{FF2B5EF4-FFF2-40B4-BE49-F238E27FC236}">
                <a16:creationId xmlns:a16="http://schemas.microsoft.com/office/drawing/2014/main" id="{7A48A4A3-6957-CA29-7FF6-52D8998BEAA5}"/>
              </a:ext>
            </a:extLst>
          </p:cNvPr>
          <p:cNvSpPr txBox="1"/>
          <p:nvPr/>
        </p:nvSpPr>
        <p:spPr>
          <a:xfrm>
            <a:off x="5796135" y="3397849"/>
            <a:ext cx="316835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 err="1"/>
              <a:t>R.layout.widget_counter</a:t>
            </a:r>
            <a:r>
              <a:rPr lang="pl-PL" sz="1600" dirty="0"/>
              <a:t>:</a:t>
            </a:r>
          </a:p>
          <a:p>
            <a:pPr algn="just"/>
            <a:r>
              <a:rPr lang="pl-PL" sz="1600" dirty="0"/>
              <a:t>Wskazuje </a:t>
            </a:r>
            <a:r>
              <a:rPr lang="pl-PL" sz="1600" b="1" dirty="0"/>
              <a:t>plik XML </a:t>
            </a:r>
            <a:r>
              <a:rPr lang="pl-PL" sz="1600" dirty="0"/>
              <a:t>z </a:t>
            </a:r>
            <a:r>
              <a:rPr lang="pl-PL" sz="1600" b="1" dirty="0"/>
              <a:t>layoutem widżetu </a:t>
            </a:r>
          </a:p>
          <a:p>
            <a:pPr algn="just"/>
            <a:r>
              <a:rPr lang="pl-PL" sz="1600" dirty="0"/>
              <a:t>( res/layout/widget_counter.xml).</a:t>
            </a:r>
          </a:p>
        </p:txBody>
      </p:sp>
    </p:spTree>
    <p:extLst>
      <p:ext uri="{BB962C8B-B14F-4D97-AF65-F5344CB8AC3E}">
        <p14:creationId xmlns:p14="http://schemas.microsoft.com/office/powerpoint/2010/main" val="13232419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14D2B1-6502-D72F-6790-2878ED1DB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2619756-8687-E6CD-3A05-21F623D7478A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AppWidgetProvider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056F93B5-07C2-50E8-84DA-39F9D5DD48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7898" y="2025985"/>
            <a:ext cx="4171474" cy="1246505"/>
          </a:xfrm>
          <a:prstGeom prst="rect">
            <a:avLst/>
          </a:prstGeom>
        </p:spPr>
      </p:pic>
      <p:pic>
        <p:nvPicPr>
          <p:cNvPr id="10" name="Obraz 9">
            <a:extLst>
              <a:ext uri="{FF2B5EF4-FFF2-40B4-BE49-F238E27FC236}">
                <a16:creationId xmlns:a16="http://schemas.microsoft.com/office/drawing/2014/main" id="{94A9EAD3-0ABA-0E42-9706-8E2B8F0883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81600" y="1585271"/>
            <a:ext cx="4122623" cy="3687457"/>
          </a:xfrm>
          <a:prstGeom prst="rect">
            <a:avLst/>
          </a:prstGeom>
        </p:spPr>
      </p:pic>
      <p:sp>
        <p:nvSpPr>
          <p:cNvPr id="11" name="Prostokąt: zaokrąglone rogi 10">
            <a:extLst>
              <a:ext uri="{FF2B5EF4-FFF2-40B4-BE49-F238E27FC236}">
                <a16:creationId xmlns:a16="http://schemas.microsoft.com/office/drawing/2014/main" id="{75950204-9A85-EDD2-4DF8-D484D13D4B5F}"/>
              </a:ext>
            </a:extLst>
          </p:cNvPr>
          <p:cNvSpPr/>
          <p:nvPr/>
        </p:nvSpPr>
        <p:spPr>
          <a:xfrm>
            <a:off x="3851920" y="4005064"/>
            <a:ext cx="3015078" cy="677386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12" name="Łącznik prosty ze strzałką 11">
            <a:extLst>
              <a:ext uri="{FF2B5EF4-FFF2-40B4-BE49-F238E27FC236}">
                <a16:creationId xmlns:a16="http://schemas.microsoft.com/office/drawing/2014/main" id="{CC32A545-1E8D-919E-D5E7-31B6DF18CBC8}"/>
              </a:ext>
            </a:extLst>
          </p:cNvPr>
          <p:cNvCxnSpPr>
            <a:cxnSpLocks/>
          </p:cNvCxnSpPr>
          <p:nvPr/>
        </p:nvCxnSpPr>
        <p:spPr>
          <a:xfrm flipV="1">
            <a:off x="4716016" y="2636912"/>
            <a:ext cx="720080" cy="1331361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pole tekstowe 15">
            <a:extLst>
              <a:ext uri="{FF2B5EF4-FFF2-40B4-BE49-F238E27FC236}">
                <a16:creationId xmlns:a16="http://schemas.microsoft.com/office/drawing/2014/main" id="{E5DC4E89-FB5C-63EE-9F9A-254312214BE6}"/>
              </a:ext>
            </a:extLst>
          </p:cNvPr>
          <p:cNvSpPr txBox="1"/>
          <p:nvPr/>
        </p:nvSpPr>
        <p:spPr>
          <a:xfrm>
            <a:off x="3931334" y="4032974"/>
            <a:ext cx="28562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Identyfikator pola </a:t>
            </a:r>
            <a:r>
              <a:rPr lang="pl-PL" sz="1600" dirty="0" err="1"/>
              <a:t>TextView</a:t>
            </a:r>
            <a:r>
              <a:rPr lang="pl-PL" sz="1600" dirty="0"/>
              <a:t>, które będzie aktualizowane</a:t>
            </a:r>
          </a:p>
        </p:txBody>
      </p:sp>
      <p:cxnSp>
        <p:nvCxnSpPr>
          <p:cNvPr id="24" name="Łącznik prosty ze strzałką 23">
            <a:extLst>
              <a:ext uri="{FF2B5EF4-FFF2-40B4-BE49-F238E27FC236}">
                <a16:creationId xmlns:a16="http://schemas.microsoft.com/office/drawing/2014/main" id="{21324D96-38AC-06BC-D749-EF0D5A609101}"/>
              </a:ext>
            </a:extLst>
          </p:cNvPr>
          <p:cNvCxnSpPr>
            <a:cxnSpLocks/>
          </p:cNvCxnSpPr>
          <p:nvPr/>
        </p:nvCxnSpPr>
        <p:spPr>
          <a:xfrm flipH="1" flipV="1">
            <a:off x="3419872" y="3645024"/>
            <a:ext cx="1219507" cy="351159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27215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1EDC48-FC6A-FF84-D6C5-AB117EA3F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7F2FC62-3643-33D7-FCC2-2628221BA233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PendingIntent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1C95A7CB-BB93-00F5-6762-86072012C0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95" y="1811066"/>
            <a:ext cx="9058010" cy="2923424"/>
          </a:xfrm>
          <a:prstGeom prst="rect">
            <a:avLst/>
          </a:prstGeom>
        </p:spPr>
      </p:pic>
      <p:sp>
        <p:nvSpPr>
          <p:cNvPr id="6" name="pole tekstowe 5">
            <a:extLst>
              <a:ext uri="{FF2B5EF4-FFF2-40B4-BE49-F238E27FC236}">
                <a16:creationId xmlns:a16="http://schemas.microsoft.com/office/drawing/2014/main" id="{EE847590-B2DB-1CB2-8BAC-A74D484D62B1}"/>
              </a:ext>
            </a:extLst>
          </p:cNvPr>
          <p:cNvSpPr txBox="1"/>
          <p:nvPr/>
        </p:nvSpPr>
        <p:spPr>
          <a:xfrm>
            <a:off x="1043608" y="836712"/>
            <a:ext cx="799288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/>
              <a:t>PendingIntent</a:t>
            </a:r>
            <a:r>
              <a:rPr lang="pl-PL" sz="1600" dirty="0"/>
              <a:t> to </a:t>
            </a:r>
            <a:r>
              <a:rPr lang="pl-PL" sz="1600" b="1" dirty="0"/>
              <a:t>specjalny rodzaj intencji </a:t>
            </a:r>
            <a:r>
              <a:rPr lang="pl-PL" sz="1600" dirty="0"/>
              <a:t>w Androidzie, który pozwala </a:t>
            </a:r>
            <a:r>
              <a:rPr lang="pl-PL" sz="1600" b="1" dirty="0"/>
              <a:t>innym aplikacjom </a:t>
            </a:r>
            <a:r>
              <a:rPr lang="pl-PL" sz="1600" dirty="0"/>
              <a:t>lub systemowi </a:t>
            </a:r>
            <a:r>
              <a:rPr lang="pl-PL" sz="1600" b="1" dirty="0"/>
              <a:t>wykonać akcję </a:t>
            </a:r>
            <a:r>
              <a:rPr lang="pl-PL" sz="1600" dirty="0"/>
              <a:t>w „imieniu aplikacji”. Jest potrzebny dla widżetów, powiadomień i alarmów. Działa nawet gdy aplikacja jest zamknięta. Zapewnia autoryzację – tylko aplikacja może go użyć.</a:t>
            </a:r>
          </a:p>
        </p:txBody>
      </p:sp>
      <p:sp>
        <p:nvSpPr>
          <p:cNvPr id="7" name="Prostokąt: zaokrąglone rogi 6">
            <a:extLst>
              <a:ext uri="{FF2B5EF4-FFF2-40B4-BE49-F238E27FC236}">
                <a16:creationId xmlns:a16="http://schemas.microsoft.com/office/drawing/2014/main" id="{70E89385-BE01-39DA-F9F9-0A8BBF6ECBF9}"/>
              </a:ext>
            </a:extLst>
          </p:cNvPr>
          <p:cNvSpPr/>
          <p:nvPr/>
        </p:nvSpPr>
        <p:spPr>
          <a:xfrm>
            <a:off x="6436415" y="2138257"/>
            <a:ext cx="2564501" cy="677386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7D179263-79C0-EAB7-154F-EFD6BD213DDE}"/>
              </a:ext>
            </a:extLst>
          </p:cNvPr>
          <p:cNvSpPr txBox="1"/>
          <p:nvPr/>
        </p:nvSpPr>
        <p:spPr>
          <a:xfrm>
            <a:off x="6473219" y="2162395"/>
            <a:ext cx="24056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Kod żądania (używany do identyfikacji </a:t>
            </a:r>
            <a:r>
              <a:rPr lang="pl-PL" sz="1600" dirty="0" err="1"/>
              <a:t>intentów</a:t>
            </a:r>
            <a:r>
              <a:rPr lang="pl-PL" sz="1600" dirty="0"/>
              <a:t>)</a:t>
            </a:r>
          </a:p>
        </p:txBody>
      </p:sp>
      <p:cxnSp>
        <p:nvCxnSpPr>
          <p:cNvPr id="9" name="Łącznik prosty ze strzałką 8">
            <a:extLst>
              <a:ext uri="{FF2B5EF4-FFF2-40B4-BE49-F238E27FC236}">
                <a16:creationId xmlns:a16="http://schemas.microsoft.com/office/drawing/2014/main" id="{D9BA5109-0644-08A1-4A22-7C61C3CB9E3D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928604" y="2476950"/>
            <a:ext cx="5507811" cy="270220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996592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07C19A-DA5F-CAD9-9634-F91BBF9C8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1BAB695-F2D2-9CA9-3023-C50B90E40F3B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PendingIntent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0C305C07-6181-58BB-09F2-0178E59611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95" y="1811066"/>
            <a:ext cx="9058010" cy="2923424"/>
          </a:xfrm>
          <a:prstGeom prst="rect">
            <a:avLst/>
          </a:prstGeom>
        </p:spPr>
      </p:pic>
      <p:sp>
        <p:nvSpPr>
          <p:cNvPr id="6" name="pole tekstowe 5">
            <a:extLst>
              <a:ext uri="{FF2B5EF4-FFF2-40B4-BE49-F238E27FC236}">
                <a16:creationId xmlns:a16="http://schemas.microsoft.com/office/drawing/2014/main" id="{D0B5564E-F12A-4551-00BF-8D7FA7776C93}"/>
              </a:ext>
            </a:extLst>
          </p:cNvPr>
          <p:cNvSpPr txBox="1"/>
          <p:nvPr/>
        </p:nvSpPr>
        <p:spPr>
          <a:xfrm>
            <a:off x="1043608" y="836712"/>
            <a:ext cx="799288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/>
              <a:t>PendingIntent</a:t>
            </a:r>
            <a:r>
              <a:rPr lang="pl-PL" sz="1600" dirty="0"/>
              <a:t> to </a:t>
            </a:r>
            <a:r>
              <a:rPr lang="pl-PL" sz="1600" b="1" dirty="0"/>
              <a:t>specjalny rodzaj intencji </a:t>
            </a:r>
            <a:r>
              <a:rPr lang="pl-PL" sz="1600" dirty="0"/>
              <a:t>w Androidzie, który pozwala </a:t>
            </a:r>
            <a:r>
              <a:rPr lang="pl-PL" sz="1600" b="1" dirty="0"/>
              <a:t>innym aplikacjom </a:t>
            </a:r>
            <a:r>
              <a:rPr lang="pl-PL" sz="1600" dirty="0"/>
              <a:t>lub systemowi </a:t>
            </a:r>
            <a:r>
              <a:rPr lang="pl-PL" sz="1600" b="1" dirty="0"/>
              <a:t>wykonać akcję </a:t>
            </a:r>
            <a:r>
              <a:rPr lang="pl-PL" sz="1600" dirty="0"/>
              <a:t>w „imieniu aplikacji”. Jest potrzebny dla widżetów, powiadomień i alarmów. Działa nawet gdy aplikacja jest zamknięta. Zapewnia autoryzację – tylko aplikacja może go użyć.</a:t>
            </a:r>
          </a:p>
        </p:txBody>
      </p:sp>
      <p:sp>
        <p:nvSpPr>
          <p:cNvPr id="7" name="Prostokąt: zaokrąglone rogi 6">
            <a:extLst>
              <a:ext uri="{FF2B5EF4-FFF2-40B4-BE49-F238E27FC236}">
                <a16:creationId xmlns:a16="http://schemas.microsoft.com/office/drawing/2014/main" id="{32C6A570-C1CD-47D1-1C42-38B6BF19BEBC}"/>
              </a:ext>
            </a:extLst>
          </p:cNvPr>
          <p:cNvSpPr/>
          <p:nvPr/>
        </p:nvSpPr>
        <p:spPr>
          <a:xfrm>
            <a:off x="6436415" y="2138257"/>
            <a:ext cx="2564501" cy="677386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9ABC426A-DB2F-E2EF-34B3-5D07B9288508}"/>
              </a:ext>
            </a:extLst>
          </p:cNvPr>
          <p:cNvSpPr txBox="1"/>
          <p:nvPr/>
        </p:nvSpPr>
        <p:spPr>
          <a:xfrm>
            <a:off x="6473219" y="2162395"/>
            <a:ext cx="24056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Kod żądania (używany do identyfikacji </a:t>
            </a:r>
            <a:r>
              <a:rPr lang="pl-PL" sz="1600" dirty="0" err="1"/>
              <a:t>intentów</a:t>
            </a:r>
            <a:r>
              <a:rPr lang="pl-PL" sz="1600" dirty="0"/>
              <a:t>)</a:t>
            </a:r>
          </a:p>
        </p:txBody>
      </p:sp>
      <p:cxnSp>
        <p:nvCxnSpPr>
          <p:cNvPr id="9" name="Łącznik prosty ze strzałką 8">
            <a:extLst>
              <a:ext uri="{FF2B5EF4-FFF2-40B4-BE49-F238E27FC236}">
                <a16:creationId xmlns:a16="http://schemas.microsoft.com/office/drawing/2014/main" id="{6DC153B2-74D5-84C4-62F3-4B3C09B97637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928604" y="2476950"/>
            <a:ext cx="5507811" cy="270220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Prostokąt: zaokrąglone rogi 16">
            <a:extLst>
              <a:ext uri="{FF2B5EF4-FFF2-40B4-BE49-F238E27FC236}">
                <a16:creationId xmlns:a16="http://schemas.microsoft.com/office/drawing/2014/main" id="{2F370D37-0AB2-4140-6FD0-733A4C63CB33}"/>
              </a:ext>
            </a:extLst>
          </p:cNvPr>
          <p:cNvSpPr/>
          <p:nvPr/>
        </p:nvSpPr>
        <p:spPr>
          <a:xfrm>
            <a:off x="846659" y="3474248"/>
            <a:ext cx="3528392" cy="345553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8" name="pole tekstowe 17">
            <a:extLst>
              <a:ext uri="{FF2B5EF4-FFF2-40B4-BE49-F238E27FC236}">
                <a16:creationId xmlns:a16="http://schemas.microsoft.com/office/drawing/2014/main" id="{7334369C-9AC4-5D48-ADEB-C965ACD60457}"/>
              </a:ext>
            </a:extLst>
          </p:cNvPr>
          <p:cNvSpPr txBox="1"/>
          <p:nvPr/>
        </p:nvSpPr>
        <p:spPr>
          <a:xfrm>
            <a:off x="846659" y="3474249"/>
            <a:ext cx="35283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Aktualizuje istniejący PendingIntent</a:t>
            </a:r>
          </a:p>
        </p:txBody>
      </p:sp>
      <p:cxnSp>
        <p:nvCxnSpPr>
          <p:cNvPr id="19" name="Łącznik prosty ze strzałką 18">
            <a:extLst>
              <a:ext uri="{FF2B5EF4-FFF2-40B4-BE49-F238E27FC236}">
                <a16:creationId xmlns:a16="http://schemas.microsoft.com/office/drawing/2014/main" id="{AA9216BB-BA0F-52D1-19BF-460311648E47}"/>
              </a:ext>
            </a:extLst>
          </p:cNvPr>
          <p:cNvCxnSpPr>
            <a:cxnSpLocks/>
          </p:cNvCxnSpPr>
          <p:nvPr/>
        </p:nvCxnSpPr>
        <p:spPr>
          <a:xfrm flipV="1">
            <a:off x="2486714" y="3387754"/>
            <a:ext cx="530122" cy="79497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Prostokąt: zaokrąglone rogi 25">
            <a:extLst>
              <a:ext uri="{FF2B5EF4-FFF2-40B4-BE49-F238E27FC236}">
                <a16:creationId xmlns:a16="http://schemas.microsoft.com/office/drawing/2014/main" id="{6FF605EC-16A4-735D-8F68-067EDE3AF0A5}"/>
              </a:ext>
            </a:extLst>
          </p:cNvPr>
          <p:cNvSpPr/>
          <p:nvPr/>
        </p:nvSpPr>
        <p:spPr>
          <a:xfrm>
            <a:off x="4889044" y="3474248"/>
            <a:ext cx="3989848" cy="345553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7" name="pole tekstowe 26">
            <a:extLst>
              <a:ext uri="{FF2B5EF4-FFF2-40B4-BE49-F238E27FC236}">
                <a16:creationId xmlns:a16="http://schemas.microsoft.com/office/drawing/2014/main" id="{4AE4BA57-5C70-9083-D1B0-1E51FB6D4FBC}"/>
              </a:ext>
            </a:extLst>
          </p:cNvPr>
          <p:cNvSpPr txBox="1"/>
          <p:nvPr/>
        </p:nvSpPr>
        <p:spPr>
          <a:xfrm>
            <a:off x="4889044" y="3474249"/>
            <a:ext cx="39898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Wymagany ze względów bezpieczeństwa</a:t>
            </a:r>
          </a:p>
        </p:txBody>
      </p:sp>
      <p:cxnSp>
        <p:nvCxnSpPr>
          <p:cNvPr id="28" name="Łącznik prosty ze strzałką 27">
            <a:extLst>
              <a:ext uri="{FF2B5EF4-FFF2-40B4-BE49-F238E27FC236}">
                <a16:creationId xmlns:a16="http://schemas.microsoft.com/office/drawing/2014/main" id="{9AFFA8C6-6851-277E-C63F-FA3D7D1A7329}"/>
              </a:ext>
            </a:extLst>
          </p:cNvPr>
          <p:cNvCxnSpPr>
            <a:cxnSpLocks/>
          </p:cNvCxnSpPr>
          <p:nvPr/>
        </p:nvCxnSpPr>
        <p:spPr>
          <a:xfrm flipH="1" flipV="1">
            <a:off x="6113180" y="3348005"/>
            <a:ext cx="415919" cy="119246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73472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8E20CD-6C3A-FFE3-62D9-76CD40161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79A1600-3EF6-65DA-6F4C-93E30A3A7D11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PendingIntent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A5D41E5F-4FD4-89F0-8420-CC6B543FA7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95" y="1811066"/>
            <a:ext cx="9058010" cy="2923424"/>
          </a:xfrm>
          <a:prstGeom prst="rect">
            <a:avLst/>
          </a:prstGeom>
        </p:spPr>
      </p:pic>
      <p:sp>
        <p:nvSpPr>
          <p:cNvPr id="6" name="pole tekstowe 5">
            <a:extLst>
              <a:ext uri="{FF2B5EF4-FFF2-40B4-BE49-F238E27FC236}">
                <a16:creationId xmlns:a16="http://schemas.microsoft.com/office/drawing/2014/main" id="{520953C7-8D7B-1FA9-22E6-397BAE64FAC8}"/>
              </a:ext>
            </a:extLst>
          </p:cNvPr>
          <p:cNvSpPr txBox="1"/>
          <p:nvPr/>
        </p:nvSpPr>
        <p:spPr>
          <a:xfrm>
            <a:off x="1043608" y="836712"/>
            <a:ext cx="799288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/>
              <a:t>PendingIntent</a:t>
            </a:r>
            <a:r>
              <a:rPr lang="pl-PL" sz="1600" dirty="0"/>
              <a:t> to </a:t>
            </a:r>
            <a:r>
              <a:rPr lang="pl-PL" sz="1600" b="1" dirty="0"/>
              <a:t>specjalny rodzaj intencji </a:t>
            </a:r>
            <a:r>
              <a:rPr lang="pl-PL" sz="1600" dirty="0"/>
              <a:t>w Androidzie, który pozwala </a:t>
            </a:r>
            <a:r>
              <a:rPr lang="pl-PL" sz="1600" b="1" dirty="0"/>
              <a:t>innym aplikacjom </a:t>
            </a:r>
            <a:r>
              <a:rPr lang="pl-PL" sz="1600" dirty="0"/>
              <a:t>lub systemowi </a:t>
            </a:r>
            <a:r>
              <a:rPr lang="pl-PL" sz="1600" b="1" dirty="0"/>
              <a:t>wykonać akcję </a:t>
            </a:r>
            <a:r>
              <a:rPr lang="pl-PL" sz="1600" dirty="0"/>
              <a:t>w „imieniu aplikacji”. Jest potrzebny dla widżetów, powiadomień i alarmów. Działa nawet gdy aplikacja jest zamknięta. Zapewnia autoryzację – tylko aplikacja może go użyć.</a:t>
            </a:r>
          </a:p>
        </p:txBody>
      </p:sp>
      <p:sp>
        <p:nvSpPr>
          <p:cNvPr id="7" name="Prostokąt: zaokrąglone rogi 6">
            <a:extLst>
              <a:ext uri="{FF2B5EF4-FFF2-40B4-BE49-F238E27FC236}">
                <a16:creationId xmlns:a16="http://schemas.microsoft.com/office/drawing/2014/main" id="{2215A5E7-7B8B-120E-10B6-84924A88C51C}"/>
              </a:ext>
            </a:extLst>
          </p:cNvPr>
          <p:cNvSpPr/>
          <p:nvPr/>
        </p:nvSpPr>
        <p:spPr>
          <a:xfrm>
            <a:off x="6436415" y="2138257"/>
            <a:ext cx="2564501" cy="677386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108D84CB-CD23-5E22-5905-0A4BBD1AE09A}"/>
              </a:ext>
            </a:extLst>
          </p:cNvPr>
          <p:cNvSpPr txBox="1"/>
          <p:nvPr/>
        </p:nvSpPr>
        <p:spPr>
          <a:xfrm>
            <a:off x="6473219" y="2162395"/>
            <a:ext cx="24056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Kod żądania (używany do identyfikacji </a:t>
            </a:r>
            <a:r>
              <a:rPr lang="pl-PL" sz="1600" dirty="0" err="1"/>
              <a:t>intentów</a:t>
            </a:r>
            <a:r>
              <a:rPr lang="pl-PL" sz="1600" dirty="0"/>
              <a:t>)</a:t>
            </a:r>
          </a:p>
        </p:txBody>
      </p:sp>
      <p:cxnSp>
        <p:nvCxnSpPr>
          <p:cNvPr id="9" name="Łącznik prosty ze strzałką 8">
            <a:extLst>
              <a:ext uri="{FF2B5EF4-FFF2-40B4-BE49-F238E27FC236}">
                <a16:creationId xmlns:a16="http://schemas.microsoft.com/office/drawing/2014/main" id="{2537CF2E-DBE0-B51E-DFFD-3971D7FFBC31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928604" y="2476950"/>
            <a:ext cx="5507811" cy="270220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Prostokąt: zaokrąglone rogi 16">
            <a:extLst>
              <a:ext uri="{FF2B5EF4-FFF2-40B4-BE49-F238E27FC236}">
                <a16:creationId xmlns:a16="http://schemas.microsoft.com/office/drawing/2014/main" id="{D52E5FF1-B709-9EBA-3B33-EDDDC19E866B}"/>
              </a:ext>
            </a:extLst>
          </p:cNvPr>
          <p:cNvSpPr/>
          <p:nvPr/>
        </p:nvSpPr>
        <p:spPr>
          <a:xfrm>
            <a:off x="846659" y="3474248"/>
            <a:ext cx="3528392" cy="345553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8" name="pole tekstowe 17">
            <a:extLst>
              <a:ext uri="{FF2B5EF4-FFF2-40B4-BE49-F238E27FC236}">
                <a16:creationId xmlns:a16="http://schemas.microsoft.com/office/drawing/2014/main" id="{702F69DD-1AA2-532D-68A6-0E86E595DEFF}"/>
              </a:ext>
            </a:extLst>
          </p:cNvPr>
          <p:cNvSpPr txBox="1"/>
          <p:nvPr/>
        </p:nvSpPr>
        <p:spPr>
          <a:xfrm>
            <a:off x="846659" y="3474249"/>
            <a:ext cx="35283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Aktualizuje istniejący PendingIntent</a:t>
            </a:r>
          </a:p>
        </p:txBody>
      </p:sp>
      <p:cxnSp>
        <p:nvCxnSpPr>
          <p:cNvPr id="19" name="Łącznik prosty ze strzałką 18">
            <a:extLst>
              <a:ext uri="{FF2B5EF4-FFF2-40B4-BE49-F238E27FC236}">
                <a16:creationId xmlns:a16="http://schemas.microsoft.com/office/drawing/2014/main" id="{8BCBDDF4-000D-9360-3B50-E64696D4A8F6}"/>
              </a:ext>
            </a:extLst>
          </p:cNvPr>
          <p:cNvCxnSpPr>
            <a:cxnSpLocks/>
          </p:cNvCxnSpPr>
          <p:nvPr/>
        </p:nvCxnSpPr>
        <p:spPr>
          <a:xfrm flipV="1">
            <a:off x="2486714" y="3387754"/>
            <a:ext cx="530122" cy="79497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Prostokąt: zaokrąglone rogi 25">
            <a:extLst>
              <a:ext uri="{FF2B5EF4-FFF2-40B4-BE49-F238E27FC236}">
                <a16:creationId xmlns:a16="http://schemas.microsoft.com/office/drawing/2014/main" id="{2A56C915-14EF-B7F0-4FAF-2B312AA5D547}"/>
              </a:ext>
            </a:extLst>
          </p:cNvPr>
          <p:cNvSpPr/>
          <p:nvPr/>
        </p:nvSpPr>
        <p:spPr>
          <a:xfrm>
            <a:off x="4889044" y="3474248"/>
            <a:ext cx="3989848" cy="345553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7" name="pole tekstowe 26">
            <a:extLst>
              <a:ext uri="{FF2B5EF4-FFF2-40B4-BE49-F238E27FC236}">
                <a16:creationId xmlns:a16="http://schemas.microsoft.com/office/drawing/2014/main" id="{57D76EF8-39D0-6690-0D2D-6003098FAEFE}"/>
              </a:ext>
            </a:extLst>
          </p:cNvPr>
          <p:cNvSpPr txBox="1"/>
          <p:nvPr/>
        </p:nvSpPr>
        <p:spPr>
          <a:xfrm>
            <a:off x="4889044" y="3474249"/>
            <a:ext cx="39898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Wymagany ze względów bezpieczeństwa</a:t>
            </a:r>
          </a:p>
        </p:txBody>
      </p:sp>
      <p:cxnSp>
        <p:nvCxnSpPr>
          <p:cNvPr id="28" name="Łącznik prosty ze strzałką 27">
            <a:extLst>
              <a:ext uri="{FF2B5EF4-FFF2-40B4-BE49-F238E27FC236}">
                <a16:creationId xmlns:a16="http://schemas.microsoft.com/office/drawing/2014/main" id="{43502EDA-3841-4067-DB53-5C12C2DB0C93}"/>
              </a:ext>
            </a:extLst>
          </p:cNvPr>
          <p:cNvCxnSpPr>
            <a:cxnSpLocks/>
          </p:cNvCxnSpPr>
          <p:nvPr/>
        </p:nvCxnSpPr>
        <p:spPr>
          <a:xfrm flipH="1" flipV="1">
            <a:off x="6113180" y="3348005"/>
            <a:ext cx="415919" cy="119246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Prostokąt: zaokrąglone rogi 2">
            <a:extLst>
              <a:ext uri="{FF2B5EF4-FFF2-40B4-BE49-F238E27FC236}">
                <a16:creationId xmlns:a16="http://schemas.microsoft.com/office/drawing/2014/main" id="{ABAC52B7-9113-BBAC-A9E6-86BE5F460D1D}"/>
              </a:ext>
            </a:extLst>
          </p:cNvPr>
          <p:cNvSpPr/>
          <p:nvPr/>
        </p:nvSpPr>
        <p:spPr>
          <a:xfrm>
            <a:off x="136516" y="4935965"/>
            <a:ext cx="5126564" cy="928815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6F93491E-5546-97F9-3C72-B2D4B9874D68}"/>
              </a:ext>
            </a:extLst>
          </p:cNvPr>
          <p:cNvSpPr txBox="1"/>
          <p:nvPr/>
        </p:nvSpPr>
        <p:spPr>
          <a:xfrm>
            <a:off x="136516" y="4959575"/>
            <a:ext cx="50786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Każdy przycisk w widżecie dostaje swój PendingIntent</a:t>
            </a:r>
          </a:p>
          <a:p>
            <a:pPr algn="just"/>
            <a:r>
              <a:rPr lang="pl-PL" sz="1600" dirty="0"/>
              <a:t>Akcje są rozróżniane przez różne stringi ("INCREMENT", "DECREMENT", "RESET")</a:t>
            </a:r>
          </a:p>
        </p:txBody>
      </p:sp>
      <p:cxnSp>
        <p:nvCxnSpPr>
          <p:cNvPr id="10" name="Łącznik prosty ze strzałką 9">
            <a:extLst>
              <a:ext uri="{FF2B5EF4-FFF2-40B4-BE49-F238E27FC236}">
                <a16:creationId xmlns:a16="http://schemas.microsoft.com/office/drawing/2014/main" id="{4E07A827-D4EB-17A0-CEB6-D5912E00227B}"/>
              </a:ext>
            </a:extLst>
          </p:cNvPr>
          <p:cNvCxnSpPr>
            <a:cxnSpLocks/>
          </p:cNvCxnSpPr>
          <p:nvPr/>
        </p:nvCxnSpPr>
        <p:spPr>
          <a:xfrm flipH="1" flipV="1">
            <a:off x="1635801" y="4684330"/>
            <a:ext cx="2936199" cy="230368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184045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6BFE3C-E374-4ADE-3ED4-2AD6D4352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rostokąt: zaokrąglone rogi 12">
            <a:extLst>
              <a:ext uri="{FF2B5EF4-FFF2-40B4-BE49-F238E27FC236}">
                <a16:creationId xmlns:a16="http://schemas.microsoft.com/office/drawing/2014/main" id="{AE1F0D65-0401-E450-A0F2-1D4B616056AB}"/>
              </a:ext>
            </a:extLst>
          </p:cNvPr>
          <p:cNvSpPr/>
          <p:nvPr/>
        </p:nvSpPr>
        <p:spPr>
          <a:xfrm>
            <a:off x="5436095" y="4758628"/>
            <a:ext cx="3672313" cy="2046713"/>
          </a:xfrm>
          <a:prstGeom prst="roundRect">
            <a:avLst>
              <a:gd name="adj" fmla="val 5273"/>
            </a:avLst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1DBD67-4184-10B0-D7BA-D0632F5787A2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PendingIntent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7C145858-0B58-5E44-1A6E-8717AD4F4E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95" y="1811066"/>
            <a:ext cx="9058010" cy="2923424"/>
          </a:xfrm>
          <a:prstGeom prst="rect">
            <a:avLst/>
          </a:prstGeom>
        </p:spPr>
      </p:pic>
      <p:sp>
        <p:nvSpPr>
          <p:cNvPr id="6" name="pole tekstowe 5">
            <a:extLst>
              <a:ext uri="{FF2B5EF4-FFF2-40B4-BE49-F238E27FC236}">
                <a16:creationId xmlns:a16="http://schemas.microsoft.com/office/drawing/2014/main" id="{6256ED64-23FF-9144-EABC-6459947FAA73}"/>
              </a:ext>
            </a:extLst>
          </p:cNvPr>
          <p:cNvSpPr txBox="1"/>
          <p:nvPr/>
        </p:nvSpPr>
        <p:spPr>
          <a:xfrm>
            <a:off x="1043608" y="836712"/>
            <a:ext cx="799288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/>
              <a:t>PendingIntent</a:t>
            </a:r>
            <a:r>
              <a:rPr lang="pl-PL" sz="1600" dirty="0"/>
              <a:t> to </a:t>
            </a:r>
            <a:r>
              <a:rPr lang="pl-PL" sz="1600" b="1" dirty="0"/>
              <a:t>specjalny rodzaj intencji </a:t>
            </a:r>
            <a:r>
              <a:rPr lang="pl-PL" sz="1600" dirty="0"/>
              <a:t>w Androidzie, który pozwala </a:t>
            </a:r>
            <a:r>
              <a:rPr lang="pl-PL" sz="1600" b="1" dirty="0"/>
              <a:t>innym aplikacjom </a:t>
            </a:r>
            <a:r>
              <a:rPr lang="pl-PL" sz="1600" dirty="0"/>
              <a:t>lub systemowi </a:t>
            </a:r>
            <a:r>
              <a:rPr lang="pl-PL" sz="1600" b="1" dirty="0"/>
              <a:t>wykonać akcję </a:t>
            </a:r>
            <a:r>
              <a:rPr lang="pl-PL" sz="1600" dirty="0"/>
              <a:t>w „imieniu aplikacji”. Jest potrzebny dla widżetów, powiadomień i alarmów. Działa nawet gdy aplikacja jest zamknięta. Zapewnia autoryzację – tylko aplikacja może go użyć.</a:t>
            </a:r>
          </a:p>
        </p:txBody>
      </p:sp>
      <p:sp>
        <p:nvSpPr>
          <p:cNvPr id="7" name="Prostokąt: zaokrąglone rogi 6">
            <a:extLst>
              <a:ext uri="{FF2B5EF4-FFF2-40B4-BE49-F238E27FC236}">
                <a16:creationId xmlns:a16="http://schemas.microsoft.com/office/drawing/2014/main" id="{02F7AD33-FA4C-8EDC-B3AF-592DCECDA128}"/>
              </a:ext>
            </a:extLst>
          </p:cNvPr>
          <p:cNvSpPr/>
          <p:nvPr/>
        </p:nvSpPr>
        <p:spPr>
          <a:xfrm>
            <a:off x="6436415" y="2138257"/>
            <a:ext cx="2564501" cy="677386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54D6B2A6-85B1-FD56-B888-E5748461DA7C}"/>
              </a:ext>
            </a:extLst>
          </p:cNvPr>
          <p:cNvSpPr txBox="1"/>
          <p:nvPr/>
        </p:nvSpPr>
        <p:spPr>
          <a:xfrm>
            <a:off x="6473219" y="2162395"/>
            <a:ext cx="24056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Kod żądania (używany do identyfikacji </a:t>
            </a:r>
            <a:r>
              <a:rPr lang="pl-PL" sz="1600" dirty="0" err="1"/>
              <a:t>intentów</a:t>
            </a:r>
            <a:r>
              <a:rPr lang="pl-PL" sz="1600" dirty="0"/>
              <a:t>)</a:t>
            </a:r>
          </a:p>
        </p:txBody>
      </p:sp>
      <p:cxnSp>
        <p:nvCxnSpPr>
          <p:cNvPr id="9" name="Łącznik prosty ze strzałką 8">
            <a:extLst>
              <a:ext uri="{FF2B5EF4-FFF2-40B4-BE49-F238E27FC236}">
                <a16:creationId xmlns:a16="http://schemas.microsoft.com/office/drawing/2014/main" id="{07AE4DEC-B9A2-B75F-CEAD-D4432444F914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928604" y="2476950"/>
            <a:ext cx="5507811" cy="270220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Prostokąt: zaokrąglone rogi 16">
            <a:extLst>
              <a:ext uri="{FF2B5EF4-FFF2-40B4-BE49-F238E27FC236}">
                <a16:creationId xmlns:a16="http://schemas.microsoft.com/office/drawing/2014/main" id="{11B6E520-FC2B-7620-AFEF-68051FDA784A}"/>
              </a:ext>
            </a:extLst>
          </p:cNvPr>
          <p:cNvSpPr/>
          <p:nvPr/>
        </p:nvSpPr>
        <p:spPr>
          <a:xfrm>
            <a:off x="846659" y="3474248"/>
            <a:ext cx="3528392" cy="345553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8" name="pole tekstowe 17">
            <a:extLst>
              <a:ext uri="{FF2B5EF4-FFF2-40B4-BE49-F238E27FC236}">
                <a16:creationId xmlns:a16="http://schemas.microsoft.com/office/drawing/2014/main" id="{3FEB3E58-404B-E70F-D6A9-4571919A6002}"/>
              </a:ext>
            </a:extLst>
          </p:cNvPr>
          <p:cNvSpPr txBox="1"/>
          <p:nvPr/>
        </p:nvSpPr>
        <p:spPr>
          <a:xfrm>
            <a:off x="846659" y="3474249"/>
            <a:ext cx="35283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Aktualizuje istniejący PendingIntent</a:t>
            </a:r>
          </a:p>
        </p:txBody>
      </p:sp>
      <p:cxnSp>
        <p:nvCxnSpPr>
          <p:cNvPr id="19" name="Łącznik prosty ze strzałką 18">
            <a:extLst>
              <a:ext uri="{FF2B5EF4-FFF2-40B4-BE49-F238E27FC236}">
                <a16:creationId xmlns:a16="http://schemas.microsoft.com/office/drawing/2014/main" id="{FD803DD9-9BD8-27F6-7466-9772D8FFD003}"/>
              </a:ext>
            </a:extLst>
          </p:cNvPr>
          <p:cNvCxnSpPr>
            <a:cxnSpLocks/>
          </p:cNvCxnSpPr>
          <p:nvPr/>
        </p:nvCxnSpPr>
        <p:spPr>
          <a:xfrm flipV="1">
            <a:off x="2486714" y="3387754"/>
            <a:ext cx="530122" cy="79497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Prostokąt: zaokrąglone rogi 25">
            <a:extLst>
              <a:ext uri="{FF2B5EF4-FFF2-40B4-BE49-F238E27FC236}">
                <a16:creationId xmlns:a16="http://schemas.microsoft.com/office/drawing/2014/main" id="{E4A81171-9CAF-C38A-66CE-23A91B18E528}"/>
              </a:ext>
            </a:extLst>
          </p:cNvPr>
          <p:cNvSpPr/>
          <p:nvPr/>
        </p:nvSpPr>
        <p:spPr>
          <a:xfrm>
            <a:off x="4889044" y="3474248"/>
            <a:ext cx="3989848" cy="345553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7" name="pole tekstowe 26">
            <a:extLst>
              <a:ext uri="{FF2B5EF4-FFF2-40B4-BE49-F238E27FC236}">
                <a16:creationId xmlns:a16="http://schemas.microsoft.com/office/drawing/2014/main" id="{ACA04EE7-C7C1-04D6-7A07-393AC29B0EBB}"/>
              </a:ext>
            </a:extLst>
          </p:cNvPr>
          <p:cNvSpPr txBox="1"/>
          <p:nvPr/>
        </p:nvSpPr>
        <p:spPr>
          <a:xfrm>
            <a:off x="4889044" y="3474249"/>
            <a:ext cx="39898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Wymagany ze względów bezpieczeństwa</a:t>
            </a:r>
          </a:p>
        </p:txBody>
      </p:sp>
      <p:cxnSp>
        <p:nvCxnSpPr>
          <p:cNvPr id="28" name="Łącznik prosty ze strzałką 27">
            <a:extLst>
              <a:ext uri="{FF2B5EF4-FFF2-40B4-BE49-F238E27FC236}">
                <a16:creationId xmlns:a16="http://schemas.microsoft.com/office/drawing/2014/main" id="{9C6EB696-9551-8DE6-63C5-886D693AE8D8}"/>
              </a:ext>
            </a:extLst>
          </p:cNvPr>
          <p:cNvCxnSpPr>
            <a:cxnSpLocks/>
          </p:cNvCxnSpPr>
          <p:nvPr/>
        </p:nvCxnSpPr>
        <p:spPr>
          <a:xfrm flipH="1" flipV="1">
            <a:off x="6113180" y="3348005"/>
            <a:ext cx="415919" cy="119246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Prostokąt: zaokrąglone rogi 2">
            <a:extLst>
              <a:ext uri="{FF2B5EF4-FFF2-40B4-BE49-F238E27FC236}">
                <a16:creationId xmlns:a16="http://schemas.microsoft.com/office/drawing/2014/main" id="{B40B7E83-ED27-5810-E0BF-FE3325CEC39A}"/>
              </a:ext>
            </a:extLst>
          </p:cNvPr>
          <p:cNvSpPr/>
          <p:nvPr/>
        </p:nvSpPr>
        <p:spPr>
          <a:xfrm>
            <a:off x="136516" y="4935965"/>
            <a:ext cx="5126564" cy="928815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DC186E82-2DBC-1F44-E3B4-D4AC03EECF1E}"/>
              </a:ext>
            </a:extLst>
          </p:cNvPr>
          <p:cNvSpPr txBox="1"/>
          <p:nvPr/>
        </p:nvSpPr>
        <p:spPr>
          <a:xfrm>
            <a:off x="136516" y="4959575"/>
            <a:ext cx="50786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Każdy przycisk w widżecie dostaje swój PendingIntent</a:t>
            </a:r>
          </a:p>
          <a:p>
            <a:pPr algn="just"/>
            <a:r>
              <a:rPr lang="pl-PL" sz="1600" dirty="0"/>
              <a:t>Akcje są rozróżniane przez różne stringi ("INCREMENT", "DECREMENT", "RESET")</a:t>
            </a:r>
          </a:p>
        </p:txBody>
      </p:sp>
      <p:cxnSp>
        <p:nvCxnSpPr>
          <p:cNvPr id="10" name="Łącznik prosty ze strzałką 9">
            <a:extLst>
              <a:ext uri="{FF2B5EF4-FFF2-40B4-BE49-F238E27FC236}">
                <a16:creationId xmlns:a16="http://schemas.microsoft.com/office/drawing/2014/main" id="{CE888688-88B9-99F3-117A-7A82C96E4C79}"/>
              </a:ext>
            </a:extLst>
          </p:cNvPr>
          <p:cNvCxnSpPr>
            <a:cxnSpLocks/>
          </p:cNvCxnSpPr>
          <p:nvPr/>
        </p:nvCxnSpPr>
        <p:spPr>
          <a:xfrm flipH="1" flipV="1">
            <a:off x="1635801" y="4684330"/>
            <a:ext cx="2936199" cy="230368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9ACC0F5F-8A61-6BA1-D6C3-4FE73030F929}"/>
              </a:ext>
            </a:extLst>
          </p:cNvPr>
          <p:cNvSpPr txBox="1"/>
          <p:nvPr/>
        </p:nvSpPr>
        <p:spPr>
          <a:xfrm>
            <a:off x="5495313" y="4811286"/>
            <a:ext cx="3549905" cy="20467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Jak to działa w praktyce?</a:t>
            </a:r>
          </a:p>
          <a:p>
            <a:pPr algn="just">
              <a:spcAft>
                <a:spcPts val="600"/>
              </a:spcAft>
            </a:pPr>
            <a:r>
              <a:rPr lang="pl-PL" sz="1600" dirty="0"/>
              <a:t>Użytkownik klika przycisk w </a:t>
            </a:r>
            <a:r>
              <a:rPr lang="pl-PL" sz="1600" dirty="0" err="1"/>
              <a:t>widgecie</a:t>
            </a:r>
            <a:endParaRPr lang="pl-PL" sz="1600" dirty="0"/>
          </a:p>
          <a:p>
            <a:pPr algn="just">
              <a:spcAft>
                <a:spcPts val="600"/>
              </a:spcAft>
            </a:pPr>
            <a:r>
              <a:rPr lang="pl-PL" sz="1600" dirty="0"/>
              <a:t>System wykonuje PendingIntent</a:t>
            </a:r>
          </a:p>
          <a:p>
            <a:pPr algn="just">
              <a:spcAft>
                <a:spcPts val="600"/>
              </a:spcAft>
            </a:pPr>
            <a:r>
              <a:rPr lang="pl-PL" sz="1600" dirty="0"/>
              <a:t>Wysyłany jest broadcast do </a:t>
            </a:r>
            <a:r>
              <a:rPr lang="pl-PL" sz="1600" dirty="0" err="1"/>
              <a:t>CounterReceiver</a:t>
            </a:r>
            <a:endParaRPr lang="pl-PL" sz="1600" dirty="0"/>
          </a:p>
          <a:p>
            <a:pPr algn="just">
              <a:spcAft>
                <a:spcPts val="600"/>
              </a:spcAft>
            </a:pPr>
            <a:r>
              <a:rPr lang="pl-PL" sz="1600" dirty="0" err="1"/>
              <a:t>CounterReceiver</a:t>
            </a:r>
            <a:r>
              <a:rPr lang="pl-PL" sz="1600" dirty="0"/>
              <a:t> odbiera akcję i modyfikuje licznik</a:t>
            </a:r>
          </a:p>
        </p:txBody>
      </p:sp>
    </p:spTree>
    <p:extLst>
      <p:ext uri="{BB962C8B-B14F-4D97-AF65-F5344CB8AC3E}">
        <p14:creationId xmlns:p14="http://schemas.microsoft.com/office/powerpoint/2010/main" val="359420197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FDC02C-67B2-BBDA-0E85-ABDFE3EA6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1206ACF-6481-6C87-7530-A41401CBC7E9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BroadcastReceiver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14" name="Obraz 13">
            <a:extLst>
              <a:ext uri="{FF2B5EF4-FFF2-40B4-BE49-F238E27FC236}">
                <a16:creationId xmlns:a16="http://schemas.microsoft.com/office/drawing/2014/main" id="{270D2E48-7C49-F4D8-F7B5-724BD0D025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7664" y="1421487"/>
            <a:ext cx="7054263" cy="5436513"/>
          </a:xfrm>
          <a:prstGeom prst="rect">
            <a:avLst/>
          </a:prstGeom>
        </p:spPr>
      </p:pic>
      <p:sp>
        <p:nvSpPr>
          <p:cNvPr id="15" name="pole tekstowe 14">
            <a:extLst>
              <a:ext uri="{FF2B5EF4-FFF2-40B4-BE49-F238E27FC236}">
                <a16:creationId xmlns:a16="http://schemas.microsoft.com/office/drawing/2014/main" id="{E65C4BEA-F52A-9C8A-DA23-3D8842810D3D}"/>
              </a:ext>
            </a:extLst>
          </p:cNvPr>
          <p:cNvSpPr txBox="1"/>
          <p:nvPr/>
        </p:nvSpPr>
        <p:spPr>
          <a:xfrm>
            <a:off x="1043608" y="836712"/>
            <a:ext cx="79928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 err="1"/>
              <a:t>CounterReceiver</a:t>
            </a:r>
            <a:r>
              <a:rPr lang="pl-PL" sz="1600" dirty="0"/>
              <a:t> to </a:t>
            </a:r>
            <a:r>
              <a:rPr lang="pl-PL" sz="1600" b="1" dirty="0"/>
              <a:t>odbiornik </a:t>
            </a:r>
            <a:r>
              <a:rPr lang="pl-PL" sz="1600" b="1" dirty="0" err="1"/>
              <a:t>broadcastów</a:t>
            </a:r>
            <a:r>
              <a:rPr lang="pl-PL" sz="1600" dirty="0"/>
              <a:t>, który reaguje na akcje związane z </a:t>
            </a:r>
            <a:r>
              <a:rPr lang="pl-PL" sz="1600" b="1" dirty="0"/>
              <a:t>modyfikacją licznika </a:t>
            </a:r>
            <a:r>
              <a:rPr lang="pl-PL" sz="1600" dirty="0"/>
              <a:t>w </a:t>
            </a:r>
            <a:r>
              <a:rPr lang="pl-PL" sz="1600" dirty="0" err="1"/>
              <a:t>widgecie</a:t>
            </a:r>
            <a:r>
              <a:rPr lang="pl-PL" sz="1600" b="1" dirty="0"/>
              <a:t>.</a:t>
            </a:r>
            <a:endParaRPr lang="pl-PL" sz="1600" dirty="0"/>
          </a:p>
        </p:txBody>
      </p:sp>
    </p:spTree>
    <p:extLst>
      <p:ext uri="{BB962C8B-B14F-4D97-AF65-F5344CB8AC3E}">
        <p14:creationId xmlns:p14="http://schemas.microsoft.com/office/powerpoint/2010/main" val="7523860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53F8EA-BF5C-353E-EA6E-9EF6B14D3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F5BA272-5280-B638-51BD-5A68DAE03C7C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AndroidManifest.xml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091E642D-B84A-F31C-DA2D-E4901F3714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1720" y="908720"/>
            <a:ext cx="5699568" cy="5825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039046"/>
      </p:ext>
    </p:extLst>
  </p:cSld>
  <p:clrMapOvr>
    <a:masterClrMapping/>
  </p:clrMapOvr>
</p:sld>
</file>

<file path=ppt/theme/theme1.xml><?xml version="1.0" encoding="utf-8"?>
<a:theme xmlns:a="http://schemas.openxmlformats.org/drawingml/2006/main" name="uni.wroc_0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Motyw pakietu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Motyw pakietu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uni.wroc_01.potx</Template>
  <TotalTime>89249</TotalTime>
  <Pages>0</Pages>
  <Words>1874</Words>
  <Characters>0</Characters>
  <Application>Microsoft Office PowerPoint</Application>
  <PresentationFormat>Pokaz na ekranie (4:3)</PresentationFormat>
  <Lines>0</Lines>
  <Paragraphs>229</Paragraphs>
  <Slides>35</Slides>
  <Notes>35</Notes>
  <HiddenSlides>0</HiddenSlides>
  <MMClips>1</MMClips>
  <ScaleCrop>false</ScaleCrop>
  <HeadingPairs>
    <vt:vector size="6" baseType="variant">
      <vt:variant>
        <vt:lpstr>Używane czcionki</vt:lpstr>
      </vt:variant>
      <vt:variant>
        <vt:i4>4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35</vt:i4>
      </vt:variant>
    </vt:vector>
  </HeadingPairs>
  <TitlesOfParts>
    <vt:vector size="40" baseType="lpstr">
      <vt:lpstr>Arial</vt:lpstr>
      <vt:lpstr>Calibri</vt:lpstr>
      <vt:lpstr>Courier New</vt:lpstr>
      <vt:lpstr>Verdana</vt:lpstr>
      <vt:lpstr>uni.wroc_01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Podręcznik użytkownika  Systemu Identyfikacji Wizualnej   cz. I  dla pracowników naukowych i administracyjnych</dc:title>
  <dc:subject/>
  <dc:creator>tolek</dc:creator>
  <cp:keywords/>
  <dc:description/>
  <cp:lastModifiedBy>Rafał Lewandków</cp:lastModifiedBy>
  <cp:revision>1402</cp:revision>
  <dcterms:modified xsi:type="dcterms:W3CDTF">2025-06-10T16:13:52Z</dcterms:modified>
  <cp:category/>
</cp:coreProperties>
</file>