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6" r:id="rId1"/>
  </p:sldMasterIdLst>
  <p:notesMasterIdLst>
    <p:notesMasterId r:id="rId40"/>
  </p:notesMasterIdLst>
  <p:handoutMasterIdLst>
    <p:handoutMasterId r:id="rId41"/>
  </p:handoutMasterIdLst>
  <p:sldIdLst>
    <p:sldId id="346" r:id="rId2"/>
    <p:sldId id="503" r:id="rId3"/>
    <p:sldId id="504" r:id="rId4"/>
    <p:sldId id="505" r:id="rId5"/>
    <p:sldId id="506" r:id="rId6"/>
    <p:sldId id="507" r:id="rId7"/>
    <p:sldId id="508" r:id="rId8"/>
    <p:sldId id="509" r:id="rId9"/>
    <p:sldId id="510" r:id="rId10"/>
    <p:sldId id="511" r:id="rId11"/>
    <p:sldId id="512" r:id="rId12"/>
    <p:sldId id="513" r:id="rId13"/>
    <p:sldId id="514" r:id="rId14"/>
    <p:sldId id="515" r:id="rId15"/>
    <p:sldId id="516" r:id="rId16"/>
    <p:sldId id="517" r:id="rId17"/>
    <p:sldId id="518" r:id="rId18"/>
    <p:sldId id="519" r:id="rId19"/>
    <p:sldId id="520" r:id="rId20"/>
    <p:sldId id="521" r:id="rId21"/>
    <p:sldId id="522" r:id="rId22"/>
    <p:sldId id="523" r:id="rId23"/>
    <p:sldId id="524" r:id="rId24"/>
    <p:sldId id="525" r:id="rId25"/>
    <p:sldId id="526" r:id="rId26"/>
    <p:sldId id="527" r:id="rId27"/>
    <p:sldId id="528" r:id="rId28"/>
    <p:sldId id="529" r:id="rId29"/>
    <p:sldId id="530" r:id="rId30"/>
    <p:sldId id="531" r:id="rId31"/>
    <p:sldId id="533" r:id="rId32"/>
    <p:sldId id="532" r:id="rId33"/>
    <p:sldId id="534" r:id="rId34"/>
    <p:sldId id="535" r:id="rId35"/>
    <p:sldId id="536" r:id="rId36"/>
    <p:sldId id="537" r:id="rId37"/>
    <p:sldId id="538" r:id="rId38"/>
    <p:sldId id="539" r:id="rId3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5pPr>
    <a:lvl6pPr marL="22860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6pPr>
    <a:lvl7pPr marL="27432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7pPr>
    <a:lvl8pPr marL="32004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8pPr>
    <a:lvl9pPr marL="36576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i Lew" initials="RL" lastIdx="1" clrIdx="0">
    <p:extLst>
      <p:ext uri="{19B8F6BF-5375-455C-9EA6-DF929625EA0E}">
        <p15:presenceInfo xmlns:p15="http://schemas.microsoft.com/office/powerpoint/2012/main" userId="218299075d94207c" providerId="Windows Live"/>
      </p:ext>
    </p:extLst>
  </p:cmAuthor>
  <p:cmAuthor id="2" name="Rafał Lewandków" initials="RL" lastIdx="4" clrIdx="1">
    <p:extLst>
      <p:ext uri="{19B8F6BF-5375-455C-9EA6-DF929625EA0E}">
        <p15:presenceInfo xmlns:p15="http://schemas.microsoft.com/office/powerpoint/2012/main" userId="Rafał Lewandkó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E292"/>
    <a:srgbClr val="0000FF"/>
    <a:srgbClr val="00FF00"/>
    <a:srgbClr val="00FFFF"/>
    <a:srgbClr val="FF00FF"/>
    <a:srgbClr val="00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892" autoAdjust="0"/>
  </p:normalViewPr>
  <p:slideViewPr>
    <p:cSldViewPr>
      <p:cViewPr varScale="1">
        <p:scale>
          <a:sx n="111" d="100"/>
          <a:sy n="111" d="100"/>
        </p:scale>
        <p:origin x="165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859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3504E-0C99-2340-A5F6-DD6E1A87C372}" type="datetimeFigureOut">
              <a:rPr lang="pl-PL" smtClean="0"/>
              <a:t>20.05.2025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285F6-EDF4-6942-8E96-D0A50380D9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5080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C933E-44E9-2D43-91B0-0D2BEEFA7EB9}" type="datetimeFigureOut">
              <a:rPr lang="pl-PL" smtClean="0"/>
              <a:t>20.05.2025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E77F9-1A7F-B148-A0AA-5828300D10B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93826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8192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73981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6FA4B-A7FA-52E4-D149-F5875228D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F7E882-499C-7334-35C6-59AB5B5FD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13AAC7-7584-86D5-95BC-F02EC77F2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59DAE-FC28-42A8-7AD3-AC8AB20DF1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97398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0386E-8D27-25C3-C2ED-4DD817F97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59CA60-FA0C-1DE4-6EFD-5AE91D384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DF2A3-87FA-8E1C-7588-DBE9BEE09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A528F-0752-30FF-8097-9A5A5A9F00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59023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AE432-5E33-726A-56DF-1C8528C57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5F4C94-073B-BFE6-2679-D98EA676FD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C9F116-46AE-54AA-F50D-D7A4E2F9D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1B3D2-57A7-62A7-46EF-8E425AA495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57393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23086-CE1A-9C23-EA96-A9A16D08F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5E6BE-1DE3-7763-9846-3148ADE33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AFF32-C9C4-B63C-CC8C-EFCFA6CF8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D9F74-A5AA-5289-A2C7-A6B6DA37C2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403553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469EE-DFD4-9BAF-6831-D3C709F47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937599-55A3-14A5-ADA5-23CC89650C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B2696-8ED0-C30A-13EF-9266E0470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5BCB6-22F9-052C-0078-2C666EB229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30604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6DAC6-5D00-916D-A245-FC135EE1E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E5227B-6E83-611E-43CC-09698F2F75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67098-4200-801C-B562-F780E200D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620D2-2C98-7ED2-4001-CE299F28EA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4736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CF6DF-1E05-DC65-AA2F-2DA938ED1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9F851C-4EB0-DA1F-C498-18F3BE22B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A7787B-0E8C-9494-1852-126390B28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D328F-29B2-B9E2-810F-539592EAAA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81293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6628B-4F4B-FE59-3489-C6B48E114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EA3605-780A-0DF8-16D0-399CB64032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ACC08-653D-6E40-0DC3-BCB752122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4CF86-629C-A66D-3273-5E7A967156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29640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467EA-1DEF-ADC4-0F4D-D3D67B972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55A9B-DE38-EF8B-CAC3-6F6FAFB4A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111FC5-E52E-3590-67E1-DF4F5EEC3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D0727-D551-A2C5-501D-CC53F64D52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592956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38CC5-FB4B-5D38-FE7E-8F891BA41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B234ED-7ADD-C906-86C5-B18631112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4EA67D-C79A-1E37-10E3-326BE0C28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AC230-DF5B-B6FA-1BF0-549F148B51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849629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78F22-7A3D-BA2A-B653-7AF8FF786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56DCE-D3F5-15BC-BC11-FE705978E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B9CDBB-8AEA-590A-50B2-4B0C8A0AA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1AC0F-D5AC-2EFA-3E53-24FB5CD7F8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739240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E8880-BDE2-2F76-132A-39D600614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BDA770-1541-84D0-27BC-479319799A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E59CEA-0278-E4A6-6ED2-BFD253E20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9C4E9-CECD-A750-0A56-54AE735A25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902514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8E460-647F-71D2-15DA-105A5156D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3F3091-790E-3B0C-4134-044590401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A452A0-CEE0-08F4-C621-7996C6FC5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1DFDA-C54F-A50B-7A3A-A271586E79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157130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BAD03-A1A8-6D84-8808-95D8F3C56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3A573C-C42C-3201-35FF-F59E1E016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79448D-16A9-A676-53FC-8AB65C049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13454-3296-4606-2AFB-21229088A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177456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F89D9-FAC2-3BFB-7F04-BCD0630EF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83B3D0-23C9-5DBF-4505-408504FD3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0260C2-7008-61BF-1698-DB2A332CA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01D87-CB99-EBA7-C839-092834E3A8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182149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70C6A-638B-9FB7-9BA2-7657F2F17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B92345-6073-884F-3B41-1F4F715A2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435AB6-4606-A638-D1CC-F50AC6DB1D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AC683-723B-3D14-36F6-E4CE2D74EE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8203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8ED49-6BAA-FD27-483A-A30A867DB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2F424-7ACD-D82E-8C13-42D28C7A1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09B94D-C9F8-88A4-A60E-BB592EF0F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CE4DD-C06A-F1E1-9948-FB36CFDB90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923921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FDA4E-60CA-0ABA-CDF7-D3D1699C3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EFDC83-4EE4-1799-B41C-74F391728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7DA349-6731-9A42-1363-281CB3699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356B5-CF28-7897-4839-96A4F12916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972198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CA306-58FB-84E8-4031-0C21B0912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F3DF3F-37D1-5284-0E64-6BBDF52415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B9A24-447A-6D22-12A2-FEA7FE3E8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3DB60-3AEF-63C3-C602-91B3DE82C5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629071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AE0A6-DE48-2AF7-F7F6-8146C8E1E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D5F3FC-2E23-6D59-5C84-2B2936AA7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7A83A-31EA-EE0E-70FD-A08691514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AB1E3-D676-B628-83FC-C59FF5A75B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065857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18443-DA39-5A7F-CDCF-C48792E07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5166C6-674E-4C0B-96CB-DF96D5AC5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4DED34-99F8-3D13-9372-EC15AEF86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10B17-14D5-13B2-C607-41BDFF48DE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767411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25C1D-6E7E-BFCD-F44F-E6CEA42E6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A5DA4-BC11-F5DA-9C3C-5764FC54E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19288D-B03F-4C5C-F795-53AF6D340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51340-AE90-69F6-D275-07DE2DE6BE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766295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86393-B69D-954B-765B-71A127282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AA1527-92AC-A04E-230E-869DB9779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73709A-8DD3-48A6-AA97-FB6D5C729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DA42D-77B5-682B-4107-33FDFA59EF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49440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77F75-A0CF-F42E-C099-4FD005D49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B9FE32-63E1-30AA-921A-E84639F1D8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23D5E1-FDCE-8DEA-4B66-793834A44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0FA56-E4E8-7E2D-55F0-4F482F4AA6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001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7DA95-1870-CBAB-B5D6-2AA1453F8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ED4B2C-6C74-70C2-5F15-62D19F930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7B32D-E838-722D-53A6-70463E096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FFC21-059E-5E59-8116-7C95DF97FD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654502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FEA0B-E2BA-EEFD-48FA-48B99CE83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66A3B9-CAA0-6FD1-0DA7-9363DFA3C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789E0-5D06-A157-01EE-069C1237D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E2860-B263-1D70-6B5B-F194EEAD05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360110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FE8DE-8E73-FAA6-B601-2E1B89A09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21B7BA-9C81-9119-1FFB-9A4C2ADEC5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250357-02F2-D80E-EE30-B837F311B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C3382-51E1-638C-C36C-2D3098A2FF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688045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5E609-1A9A-23DF-0916-9535D9D70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86DB2-8739-42FC-5E26-2944325EA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E3101D-2002-3516-11DC-7DAEA5D32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29A53-AD40-5488-CFA1-5178A3C85D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096925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DF005-26D5-E7FD-177B-744841E6B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7AA936-218A-0810-4509-6AF5E6BCE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83767-97D0-0628-AF51-D6E2D6E37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F5CCC-3B04-60F3-B7D3-9078D28B66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7061866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4CDC0-AD6F-5D2A-7754-2C7A4064D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30838F-F8EA-0421-6237-37C711E8E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F0DA0-2663-EC0E-E21D-AA51C8EBE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65A43-B967-736A-676A-4C53F52905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717936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8DAF-FC3A-5C5E-82B9-D3FE67983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47502C-CF86-3EF0-5110-E72C5C0593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07D5A-FFBB-4D23-E34B-24D04C5BB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BADFF-A440-0A89-FAFC-D6CA50B92F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934431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D68A8-A9DE-A363-E75B-51CFF1F79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4CFAA8-3230-8945-9AF0-7CC838B6B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65F92B-24CA-6CB3-8E12-244CAE00C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6669F-B929-4109-AD59-EBD353CAAE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339994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AC699-BC81-78C8-A3BC-92130CA00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5A2B20-755F-0B12-B2A6-B5180A119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1BB5FF-F7B9-E7BE-6744-A0F4951B7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A0218-FD68-BF31-1C19-14FCCEDDFC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0167973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F26DB-EE9F-C1CE-79FA-D576C93D1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07B82-CC29-1DA9-4A34-97FAAD5C8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4D1B28-F91A-653F-9748-2DAFC0693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B14D7-BF6E-5245-1E93-37974E563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131545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47EFA-7FA4-CC7E-C5D1-43E759403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CA5C2C-B606-D7F2-9944-FA6C4B63A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1EDABE-6AF2-154E-2B27-9399F0A6A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4A7ED-7632-86F8-465D-D417C9786A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22378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37EB6-5964-9DF9-2806-D80EE55E5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6D8270-0D33-F77E-2059-C3EA6AB93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40BA2A-8E6B-3186-0453-C95E5F351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10F0F-FA1D-EFF1-8E91-6A39FA49C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99928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20.05.2025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FEF5-976C-4EA3-84A7-FBC3543521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20.05.2025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623-FECC-458E-8887-8971830FA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0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20.05.2025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418-961B-4A97-8A49-C7EB1AA505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1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20.05.2025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E437-C745-4797-8E12-AE887F9C6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6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20.05.2025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58DE-157A-47FB-B6FE-2BF3DBE0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1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20.05.2025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702-A4CE-4E37-AD1A-55778605B1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1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20.05.2025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245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20.05.2025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751C0-3663-4EFE-8A6A-10BE31BDC9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8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Przeciągnij obraz na symbol zastępczy lub kliknij ikonę, aby go dodać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20.05.2025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FEB7E-1F88-4AE7-AA89-93BE3C1A9C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1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20.05.2025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C5AF-A148-4762-92DF-376362746B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20.05.2025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EFBB-CA7F-4380-AF49-7EC026DA26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9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17B01-0C30-B241-B19F-621BE4770608}" type="datetimeFigureOut">
              <a:rPr lang="pl-PL" smtClean="0"/>
              <a:t>20.05.2025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9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260648"/>
            <a:ext cx="4752274" cy="3988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9512" y="1628800"/>
            <a:ext cx="842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PROGRAMOWANIE URZĄDZEŃ</a:t>
            </a:r>
          </a:p>
          <a:p>
            <a:pPr algn="ctr"/>
            <a:r>
              <a:rPr lang="pl-PL" sz="3200" b="1" dirty="0">
                <a:solidFill>
                  <a:schemeClr val="bg1"/>
                </a:solidFill>
              </a:rPr>
              <a:t>MOBILNYCH 1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B3CC2FAF-D489-4F42-90E1-D634E6FA5CAF}"/>
              </a:ext>
            </a:extLst>
          </p:cNvPr>
          <p:cNvSpPr txBox="1"/>
          <p:nvPr/>
        </p:nvSpPr>
        <p:spPr>
          <a:xfrm>
            <a:off x="179512" y="3861048"/>
            <a:ext cx="842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WYKŁAD 13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5201681-6767-4194-BF52-C2BE7C096DA3}"/>
              </a:ext>
            </a:extLst>
          </p:cNvPr>
          <p:cNvSpPr txBox="1"/>
          <p:nvPr/>
        </p:nvSpPr>
        <p:spPr>
          <a:xfrm>
            <a:off x="3131840" y="4437112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Wybrane Behawioralne Wzorce Projektowe</a:t>
            </a:r>
          </a:p>
        </p:txBody>
      </p:sp>
    </p:spTree>
    <p:extLst>
      <p:ext uri="{BB962C8B-B14F-4D97-AF65-F5344CB8AC3E}">
        <p14:creationId xmlns:p14="http://schemas.microsoft.com/office/powerpoint/2010/main" val="309834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Obserwator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B856A54-1094-29C1-C29D-591EC01FB2A9}"/>
              </a:ext>
            </a:extLst>
          </p:cNvPr>
          <p:cNvSpPr txBox="1"/>
          <p:nvPr/>
        </p:nvSpPr>
        <p:spPr>
          <a:xfrm>
            <a:off x="1043608" y="908720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 err="1"/>
              <a:t>Observer</a:t>
            </a:r>
            <a:r>
              <a:rPr lang="pl-PL" sz="1600" dirty="0"/>
              <a:t> to behawioralny wzorzec projektowy, który definiuje mechanizm subskrypcji pozwalający obiektom (obserwatorom) na reakcję na zmiany w innym obiekcie (obserwowanym).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F431263F-39E3-26BC-52B0-5B213C29F4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32" y="2636912"/>
            <a:ext cx="7740353" cy="3767031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24C01756-1F9C-F8F8-A7DC-7EAD5D27F3FB}"/>
              </a:ext>
            </a:extLst>
          </p:cNvPr>
          <p:cNvSpPr txBox="1"/>
          <p:nvPr/>
        </p:nvSpPr>
        <p:spPr>
          <a:xfrm>
            <a:off x="1403648" y="6390681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https://refactoring.guru</a:t>
            </a:r>
          </a:p>
        </p:txBody>
      </p:sp>
    </p:spTree>
    <p:extLst>
      <p:ext uri="{BB962C8B-B14F-4D97-AF65-F5344CB8AC3E}">
        <p14:creationId xmlns:p14="http://schemas.microsoft.com/office/powerpoint/2010/main" val="417582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5449FC-9FE1-932A-EB39-C563DF7E1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7BEA4E-4FDA-EBE1-A64E-CAA3CEC0512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Obserwator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2B1FE0A-9D9A-0052-0125-6B8076F04283}"/>
              </a:ext>
            </a:extLst>
          </p:cNvPr>
          <p:cNvSpPr txBox="1"/>
          <p:nvPr/>
        </p:nvSpPr>
        <p:spPr>
          <a:xfrm>
            <a:off x="1043608" y="908720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Kluczowe koncepty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/>
              <a:t>Subject</a:t>
            </a:r>
            <a:r>
              <a:rPr lang="pl-PL" sz="1600" dirty="0"/>
              <a:t> (obserwowany) – obiekt, który powiadamia obserwatorów o zmianach.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/>
              <a:t>Observer</a:t>
            </a:r>
            <a:r>
              <a:rPr lang="pl-PL" sz="1600" dirty="0"/>
              <a:t> (obserwator) – interfejs z metodą reakcji na update.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73C29B31-B6BD-BD7D-134A-12C47292F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021" y="2961069"/>
            <a:ext cx="7909972" cy="2988211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6C7C62CB-E031-D0E6-6657-8345ABC6C8C3}"/>
              </a:ext>
            </a:extLst>
          </p:cNvPr>
          <p:cNvSpPr txBox="1"/>
          <p:nvPr/>
        </p:nvSpPr>
        <p:spPr>
          <a:xfrm>
            <a:off x="1403648" y="6237312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https://refactoring.guru</a:t>
            </a:r>
          </a:p>
        </p:txBody>
      </p:sp>
    </p:spTree>
    <p:extLst>
      <p:ext uri="{BB962C8B-B14F-4D97-AF65-F5344CB8AC3E}">
        <p14:creationId xmlns:p14="http://schemas.microsoft.com/office/powerpoint/2010/main" val="3852158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BF7229-9A7A-FF69-0F7E-C5772E02C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76BF67-C795-E079-4632-8E411399299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Obserwator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2A74580-238B-5BB9-28D2-085332BFAA40}"/>
              </a:ext>
            </a:extLst>
          </p:cNvPr>
          <p:cNvSpPr txBox="1"/>
          <p:nvPr/>
        </p:nvSpPr>
        <p:spPr>
          <a:xfrm>
            <a:off x="1043608" y="908720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Kluczowe koncepty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/>
              <a:t>Subject</a:t>
            </a:r>
            <a:r>
              <a:rPr lang="pl-PL" sz="1600" dirty="0"/>
              <a:t> (obserwowany) – obiekt, który powiadamia obserwatorów o zmianach.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/>
              <a:t>Observer</a:t>
            </a:r>
            <a:r>
              <a:rPr lang="pl-PL" sz="1600" dirty="0"/>
              <a:t> (obserwator) – interfejs z metodą reakcji na update.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D0D7720E-72F1-90CE-5D19-2D401B5737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7422" y="2204864"/>
            <a:ext cx="5790506" cy="4606548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54F88CDE-1303-3028-CF68-7ACB1A225365}"/>
              </a:ext>
            </a:extLst>
          </p:cNvPr>
          <p:cNvSpPr txBox="1"/>
          <p:nvPr/>
        </p:nvSpPr>
        <p:spPr>
          <a:xfrm>
            <a:off x="1070666" y="6392361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https://refactoring.guru</a:t>
            </a:r>
          </a:p>
        </p:txBody>
      </p:sp>
    </p:spTree>
    <p:extLst>
      <p:ext uri="{BB962C8B-B14F-4D97-AF65-F5344CB8AC3E}">
        <p14:creationId xmlns:p14="http://schemas.microsoft.com/office/powerpoint/2010/main" val="88936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80283E-CF8A-8D93-D341-8A878CBBB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C71307-4795-28F1-4E8E-EC717A592E5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Obserwator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517CF9F3-6E58-F0A3-28CC-684D17E96ECE}"/>
              </a:ext>
            </a:extLst>
          </p:cNvPr>
          <p:cNvSpPr txBox="1"/>
          <p:nvPr/>
        </p:nvSpPr>
        <p:spPr>
          <a:xfrm>
            <a:off x="971600" y="685794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Kluczowe koncepty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/>
              <a:t>Subject</a:t>
            </a:r>
            <a:r>
              <a:rPr lang="pl-PL" sz="1600" dirty="0"/>
              <a:t> (obserwowany) – obiekt, który powiadamia obserwatorów o zmianach.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/>
              <a:t>Observer</a:t>
            </a:r>
            <a:r>
              <a:rPr lang="pl-PL" sz="1600" dirty="0"/>
              <a:t> (obserwator) – interfejs z metodą reakcji na update.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6E602D5E-EA46-5237-3A38-89CB355E1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840469"/>
            <a:ext cx="2619394" cy="723905"/>
          </a:xfrm>
          <a:prstGeom prst="rect">
            <a:avLst/>
          </a:prstGeom>
        </p:spPr>
      </p:pic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8A40AAC2-0C91-1ECB-5394-4332926D1FF0}"/>
              </a:ext>
            </a:extLst>
          </p:cNvPr>
          <p:cNvSpPr/>
          <p:nvPr/>
        </p:nvSpPr>
        <p:spPr>
          <a:xfrm>
            <a:off x="3995936" y="1814643"/>
            <a:ext cx="2997230" cy="63111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1E5C94EE-1EA1-32FE-8771-2BEEEAF77940}"/>
              </a:ext>
            </a:extLst>
          </p:cNvPr>
          <p:cNvSpPr txBox="1"/>
          <p:nvPr/>
        </p:nvSpPr>
        <p:spPr>
          <a:xfrm>
            <a:off x="3995936" y="1865029"/>
            <a:ext cx="2856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Każdy</a:t>
            </a:r>
            <a:r>
              <a:rPr lang="pl-PL" sz="1600" dirty="0"/>
              <a:t> obserwator posiada metodę </a:t>
            </a:r>
            <a:r>
              <a:rPr lang="pl-PL" sz="1600" b="1" dirty="0"/>
              <a:t>update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E332DCB4-B10C-2408-94BF-4350D2E99F80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3203848" y="1988840"/>
            <a:ext cx="792088" cy="16857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253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CC641E-DDA2-DA9E-C2D9-B131C1EA1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A05D7F-18FB-4DCE-8CEA-FC6A2771CD9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Obserwator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76A6C42-2833-1B2E-1882-BF4394119A6A}"/>
              </a:ext>
            </a:extLst>
          </p:cNvPr>
          <p:cNvSpPr txBox="1"/>
          <p:nvPr/>
        </p:nvSpPr>
        <p:spPr>
          <a:xfrm>
            <a:off x="971600" y="685794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Kluczowe koncepty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/>
              <a:t>Subject</a:t>
            </a:r>
            <a:r>
              <a:rPr lang="pl-PL" sz="1600" dirty="0"/>
              <a:t> (obserwowany) – obiekt, który powiadamia obserwatorów o zmianach.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/>
              <a:t>Observer</a:t>
            </a:r>
            <a:r>
              <a:rPr lang="pl-PL" sz="1600" dirty="0"/>
              <a:t> (obserwator) – interfejs z metodą reakcji na update.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F037D9EC-BF05-D3A0-F903-F86A3CA7F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373" y="1840469"/>
            <a:ext cx="2619394" cy="723905"/>
          </a:xfrm>
          <a:prstGeom prst="rect">
            <a:avLst/>
          </a:prstGeom>
        </p:spPr>
      </p:pic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678D24D0-908C-0136-197D-8B551D26DB49}"/>
              </a:ext>
            </a:extLst>
          </p:cNvPr>
          <p:cNvSpPr/>
          <p:nvPr/>
        </p:nvSpPr>
        <p:spPr>
          <a:xfrm>
            <a:off x="4067944" y="1838253"/>
            <a:ext cx="2997230" cy="63111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18460001-AA34-ABC6-184E-67986654AC08}"/>
              </a:ext>
            </a:extLst>
          </p:cNvPr>
          <p:cNvSpPr txBox="1"/>
          <p:nvPr/>
        </p:nvSpPr>
        <p:spPr>
          <a:xfrm>
            <a:off x="4067944" y="1888639"/>
            <a:ext cx="2856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Każdy</a:t>
            </a:r>
            <a:r>
              <a:rPr lang="pl-PL" sz="1600" dirty="0"/>
              <a:t> obserwator posiada metodę </a:t>
            </a:r>
            <a:r>
              <a:rPr lang="pl-PL" sz="1600" b="1" dirty="0"/>
              <a:t>update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A01B6208-DE95-CE94-7690-48E627F531CC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3059832" y="2018100"/>
            <a:ext cx="1008112" cy="16292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Obraz 5">
            <a:extLst>
              <a:ext uri="{FF2B5EF4-FFF2-40B4-BE49-F238E27FC236}">
                <a16:creationId xmlns:a16="http://schemas.microsoft.com/office/drawing/2014/main" id="{8107DA97-075C-713B-16E5-0B23569CA7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616" y="2651045"/>
            <a:ext cx="4505358" cy="427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182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DF429E-86D5-B90C-64BF-6E3EC46D2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554D36-7481-87CF-F785-07CF8E9AB31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Obserwator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3481673-3132-4A8B-6528-B5CAA89B81E5}"/>
              </a:ext>
            </a:extLst>
          </p:cNvPr>
          <p:cNvSpPr txBox="1"/>
          <p:nvPr/>
        </p:nvSpPr>
        <p:spPr>
          <a:xfrm>
            <a:off x="971600" y="685794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Kluczowe koncepty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/>
              <a:t>Subject</a:t>
            </a:r>
            <a:r>
              <a:rPr lang="pl-PL" sz="1600" dirty="0"/>
              <a:t> (obserwowany) – obiekt, który powiadamia obserwatorów o zmianach.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/>
              <a:t>Observer</a:t>
            </a:r>
            <a:r>
              <a:rPr lang="pl-PL" sz="1600" dirty="0"/>
              <a:t> (obserwator) – interfejs z metodą reakcji na update.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441ED93-8B6D-6C0C-BF8B-BA0B8E546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373" y="1840469"/>
            <a:ext cx="2619394" cy="723905"/>
          </a:xfrm>
          <a:prstGeom prst="rect">
            <a:avLst/>
          </a:prstGeom>
        </p:spPr>
      </p:pic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AB29C6D8-E51E-731C-2030-09F3350F460C}"/>
              </a:ext>
            </a:extLst>
          </p:cNvPr>
          <p:cNvSpPr/>
          <p:nvPr/>
        </p:nvSpPr>
        <p:spPr>
          <a:xfrm>
            <a:off x="4067944" y="1838253"/>
            <a:ext cx="2997230" cy="63111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58B444A8-F934-F8CA-D6E5-DCBD4C4B75A3}"/>
              </a:ext>
            </a:extLst>
          </p:cNvPr>
          <p:cNvSpPr txBox="1"/>
          <p:nvPr/>
        </p:nvSpPr>
        <p:spPr>
          <a:xfrm>
            <a:off x="4067944" y="1888639"/>
            <a:ext cx="2856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Każdy</a:t>
            </a:r>
            <a:r>
              <a:rPr lang="pl-PL" sz="1600" dirty="0"/>
              <a:t> obserwator posiada metodę </a:t>
            </a:r>
            <a:r>
              <a:rPr lang="pl-PL" sz="1600" b="1" dirty="0"/>
              <a:t>update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6179A7BC-8B4B-139E-95EA-44F643183A0D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3059832" y="2018100"/>
            <a:ext cx="1008112" cy="16292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Obraz 5">
            <a:extLst>
              <a:ext uri="{FF2B5EF4-FFF2-40B4-BE49-F238E27FC236}">
                <a16:creationId xmlns:a16="http://schemas.microsoft.com/office/drawing/2014/main" id="{04E48EAA-CBCE-2663-D5C7-07FB2FC678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616" y="2651045"/>
            <a:ext cx="4505358" cy="4276756"/>
          </a:xfrm>
          <a:prstGeom prst="rect">
            <a:avLst/>
          </a:prstGeom>
        </p:spPr>
      </p:pic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4B67613B-E095-7AFD-5B2A-70B940314468}"/>
              </a:ext>
            </a:extLst>
          </p:cNvPr>
          <p:cNvSpPr/>
          <p:nvPr/>
        </p:nvSpPr>
        <p:spPr>
          <a:xfrm>
            <a:off x="5666008" y="2932894"/>
            <a:ext cx="3082456" cy="388940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0DE286D1-4EA0-4588-72D2-767F4764F31A}"/>
              </a:ext>
            </a:extLst>
          </p:cNvPr>
          <p:cNvSpPr txBox="1"/>
          <p:nvPr/>
        </p:nvSpPr>
        <p:spPr>
          <a:xfrm>
            <a:off x="5666008" y="2983279"/>
            <a:ext cx="3082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Lista</a:t>
            </a:r>
            <a:r>
              <a:rPr lang="pl-PL" sz="1600" b="1" dirty="0"/>
              <a:t> wszystkich </a:t>
            </a:r>
            <a:r>
              <a:rPr lang="pl-PL" sz="1600" dirty="0"/>
              <a:t>obserwatorów</a:t>
            </a: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DE645ED3-19AD-2EF3-EA70-106F6D61C261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4657896" y="3112740"/>
            <a:ext cx="1008112" cy="3981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039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8E8A8E-B818-B370-4A9A-439803954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914629-DA1F-5E3E-F2E4-B893378ED45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Obserwator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62F5EE2-36CA-0B45-2300-166A5C01599B}"/>
              </a:ext>
            </a:extLst>
          </p:cNvPr>
          <p:cNvSpPr txBox="1"/>
          <p:nvPr/>
        </p:nvSpPr>
        <p:spPr>
          <a:xfrm>
            <a:off x="971600" y="685794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Kluczowe koncepty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/>
              <a:t>Subject</a:t>
            </a:r>
            <a:r>
              <a:rPr lang="pl-PL" sz="1600" dirty="0"/>
              <a:t> (obserwowany) – obiekt, który powiadamia obserwatorów o zmianach.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/>
              <a:t>Observer</a:t>
            </a:r>
            <a:r>
              <a:rPr lang="pl-PL" sz="1600" dirty="0"/>
              <a:t> (obserwator) – interfejs z metodą reakcji na update.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1A89D0D1-E071-A809-CF97-F380358F8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373" y="1840469"/>
            <a:ext cx="2619394" cy="723905"/>
          </a:xfrm>
          <a:prstGeom prst="rect">
            <a:avLst/>
          </a:prstGeom>
        </p:spPr>
      </p:pic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EBF1E0BE-79DF-0666-0919-A34023ED664D}"/>
              </a:ext>
            </a:extLst>
          </p:cNvPr>
          <p:cNvSpPr/>
          <p:nvPr/>
        </p:nvSpPr>
        <p:spPr>
          <a:xfrm>
            <a:off x="4067944" y="1838253"/>
            <a:ext cx="2997230" cy="63111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86171D54-1C50-6EA1-90B0-EA33FD431E9C}"/>
              </a:ext>
            </a:extLst>
          </p:cNvPr>
          <p:cNvSpPr txBox="1"/>
          <p:nvPr/>
        </p:nvSpPr>
        <p:spPr>
          <a:xfrm>
            <a:off x="4067944" y="1888639"/>
            <a:ext cx="2856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Każdy</a:t>
            </a:r>
            <a:r>
              <a:rPr lang="pl-PL" sz="1600" dirty="0"/>
              <a:t> obserwator posiada metodę </a:t>
            </a:r>
            <a:r>
              <a:rPr lang="pl-PL" sz="1600" b="1" dirty="0"/>
              <a:t>update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09BAA07B-41A7-C336-3DC4-F5504A521477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3059832" y="2018100"/>
            <a:ext cx="1008112" cy="16292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Obraz 5">
            <a:extLst>
              <a:ext uri="{FF2B5EF4-FFF2-40B4-BE49-F238E27FC236}">
                <a16:creationId xmlns:a16="http://schemas.microsoft.com/office/drawing/2014/main" id="{2A6CCDA8-2145-747E-062E-32B4149B0D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616" y="2651045"/>
            <a:ext cx="4505358" cy="4276756"/>
          </a:xfrm>
          <a:prstGeom prst="rect">
            <a:avLst/>
          </a:prstGeom>
        </p:spPr>
      </p:pic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9180BD8E-E114-4F83-2339-0F40C77A7DC1}"/>
              </a:ext>
            </a:extLst>
          </p:cNvPr>
          <p:cNvSpPr/>
          <p:nvPr/>
        </p:nvSpPr>
        <p:spPr>
          <a:xfrm>
            <a:off x="5666008" y="2932894"/>
            <a:ext cx="3082456" cy="388940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3AA4AA4F-BAB8-01D3-3ACF-896AA5FAEB16}"/>
              </a:ext>
            </a:extLst>
          </p:cNvPr>
          <p:cNvSpPr txBox="1"/>
          <p:nvPr/>
        </p:nvSpPr>
        <p:spPr>
          <a:xfrm>
            <a:off x="5666008" y="2983279"/>
            <a:ext cx="3082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Lista</a:t>
            </a:r>
            <a:r>
              <a:rPr lang="pl-PL" sz="1600" b="1" dirty="0"/>
              <a:t> wszystkich </a:t>
            </a:r>
            <a:r>
              <a:rPr lang="pl-PL" sz="1600" dirty="0"/>
              <a:t>obserwatorów</a:t>
            </a: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21F14702-D160-3998-41EE-37DAB263D963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4657896" y="3112740"/>
            <a:ext cx="1008112" cy="3981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7E027F4E-6031-B175-E724-E6B812922A7E}"/>
              </a:ext>
            </a:extLst>
          </p:cNvPr>
          <p:cNvSpPr/>
          <p:nvPr/>
        </p:nvSpPr>
        <p:spPr>
          <a:xfrm>
            <a:off x="5868144" y="3910774"/>
            <a:ext cx="3082456" cy="635160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30F52923-AF89-152B-45C0-52714598A354}"/>
              </a:ext>
            </a:extLst>
          </p:cNvPr>
          <p:cNvSpPr txBox="1"/>
          <p:nvPr/>
        </p:nvSpPr>
        <p:spPr>
          <a:xfrm>
            <a:off x="5868144" y="3961159"/>
            <a:ext cx="3082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Metody </a:t>
            </a:r>
            <a:r>
              <a:rPr lang="pl-PL" sz="1600" b="1" dirty="0"/>
              <a:t>dodania i usunięcia </a:t>
            </a:r>
            <a:r>
              <a:rPr lang="pl-PL" sz="1600" dirty="0"/>
              <a:t>obserwatora</a:t>
            </a:r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29B8772B-A9C2-F99D-CC22-F54325C74C8D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4427984" y="3536167"/>
            <a:ext cx="1440160" cy="71738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BF6E0866-0DAF-21CB-3C81-F1D3B28026E3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4657896" y="4228354"/>
            <a:ext cx="1210248" cy="18590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195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57EA0C-B798-92A9-3492-A7729B223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33F998-21D4-A1E1-7BFC-AEBB16442BE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Obserwator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17474BA-C304-2258-7D5F-F7FE1D47F440}"/>
              </a:ext>
            </a:extLst>
          </p:cNvPr>
          <p:cNvSpPr txBox="1"/>
          <p:nvPr/>
        </p:nvSpPr>
        <p:spPr>
          <a:xfrm>
            <a:off x="971600" y="685794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Kluczowe koncepty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/>
              <a:t>Subject</a:t>
            </a:r>
            <a:r>
              <a:rPr lang="pl-PL" sz="1600" dirty="0"/>
              <a:t> (obserwowany) – obiekt, który powiadamia obserwatorów o zmianach.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/>
              <a:t>Observer</a:t>
            </a:r>
            <a:r>
              <a:rPr lang="pl-PL" sz="1600" dirty="0"/>
              <a:t> (obserwator) – interfejs z metodą reakcji na update.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EBE2BEE-8B15-77A4-F724-91866BC8E5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373" y="1840469"/>
            <a:ext cx="2619394" cy="723905"/>
          </a:xfrm>
          <a:prstGeom prst="rect">
            <a:avLst/>
          </a:prstGeom>
        </p:spPr>
      </p:pic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5A2A5F39-1D23-49BB-4635-8C3B60D35AF4}"/>
              </a:ext>
            </a:extLst>
          </p:cNvPr>
          <p:cNvSpPr/>
          <p:nvPr/>
        </p:nvSpPr>
        <p:spPr>
          <a:xfrm>
            <a:off x="4067944" y="1838253"/>
            <a:ext cx="2997230" cy="63111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2DDA5C76-8F15-8221-F41C-7A6CB082688D}"/>
              </a:ext>
            </a:extLst>
          </p:cNvPr>
          <p:cNvSpPr txBox="1"/>
          <p:nvPr/>
        </p:nvSpPr>
        <p:spPr>
          <a:xfrm>
            <a:off x="4067944" y="1888639"/>
            <a:ext cx="2856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Każdy</a:t>
            </a:r>
            <a:r>
              <a:rPr lang="pl-PL" sz="1600" dirty="0"/>
              <a:t> obserwator posiada metodę </a:t>
            </a:r>
            <a:r>
              <a:rPr lang="pl-PL" sz="1600" b="1" dirty="0"/>
              <a:t>update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CEDE6855-301F-2177-AA0C-1F913C540123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3059832" y="2018100"/>
            <a:ext cx="1008112" cy="16292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Obraz 5">
            <a:extLst>
              <a:ext uri="{FF2B5EF4-FFF2-40B4-BE49-F238E27FC236}">
                <a16:creationId xmlns:a16="http://schemas.microsoft.com/office/drawing/2014/main" id="{BB5DE896-4F6A-DA6C-6134-89CE4DA23D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616" y="2651045"/>
            <a:ext cx="4505358" cy="4276756"/>
          </a:xfrm>
          <a:prstGeom prst="rect">
            <a:avLst/>
          </a:prstGeom>
        </p:spPr>
      </p:pic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6559B91F-A028-FC76-2712-5B2BC8AF41E0}"/>
              </a:ext>
            </a:extLst>
          </p:cNvPr>
          <p:cNvSpPr/>
          <p:nvPr/>
        </p:nvSpPr>
        <p:spPr>
          <a:xfrm>
            <a:off x="5666008" y="2932894"/>
            <a:ext cx="3082456" cy="388940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89D356D6-F622-5BF3-E1DF-FE74DF6626A8}"/>
              </a:ext>
            </a:extLst>
          </p:cNvPr>
          <p:cNvSpPr txBox="1"/>
          <p:nvPr/>
        </p:nvSpPr>
        <p:spPr>
          <a:xfrm>
            <a:off x="5666008" y="2983279"/>
            <a:ext cx="3082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Lista</a:t>
            </a:r>
            <a:r>
              <a:rPr lang="pl-PL" sz="1600" b="1" dirty="0"/>
              <a:t> wszystkich </a:t>
            </a:r>
            <a:r>
              <a:rPr lang="pl-PL" sz="1600" dirty="0"/>
              <a:t>obserwatorów</a:t>
            </a: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BFC110CE-6F3E-0148-C507-1B8EA22DB8D8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4657896" y="3112740"/>
            <a:ext cx="1008112" cy="3981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D1DC327F-650A-898E-C0AF-8015967D2B21}"/>
              </a:ext>
            </a:extLst>
          </p:cNvPr>
          <p:cNvSpPr/>
          <p:nvPr/>
        </p:nvSpPr>
        <p:spPr>
          <a:xfrm>
            <a:off x="5868144" y="3910774"/>
            <a:ext cx="3082456" cy="635160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56CE03D2-849E-C1EF-E1FA-B333F99676BF}"/>
              </a:ext>
            </a:extLst>
          </p:cNvPr>
          <p:cNvSpPr txBox="1"/>
          <p:nvPr/>
        </p:nvSpPr>
        <p:spPr>
          <a:xfrm>
            <a:off x="5868144" y="3961159"/>
            <a:ext cx="3082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Metody </a:t>
            </a:r>
            <a:r>
              <a:rPr lang="pl-PL" sz="1600" b="1" dirty="0"/>
              <a:t>dodania i usunięcia </a:t>
            </a:r>
            <a:r>
              <a:rPr lang="pl-PL" sz="1600" dirty="0"/>
              <a:t>obserwatora</a:t>
            </a:r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9718FE7B-43DF-A3CA-373D-23FF442D4C80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4427984" y="3536167"/>
            <a:ext cx="1440160" cy="71738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75B6D11A-F574-8E0A-8748-5B5B8E514A10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4657896" y="4228354"/>
            <a:ext cx="1210248" cy="18590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10409DFA-B603-E0D4-35AC-DCD1779A4C5A}"/>
              </a:ext>
            </a:extLst>
          </p:cNvPr>
          <p:cNvSpPr/>
          <p:nvPr/>
        </p:nvSpPr>
        <p:spPr>
          <a:xfrm>
            <a:off x="5657293" y="5042223"/>
            <a:ext cx="3262791" cy="635160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24AD6DF7-1591-4E82-2325-06F36A66CA2D}"/>
              </a:ext>
            </a:extLst>
          </p:cNvPr>
          <p:cNvSpPr txBox="1"/>
          <p:nvPr/>
        </p:nvSpPr>
        <p:spPr>
          <a:xfrm>
            <a:off x="5657294" y="5083508"/>
            <a:ext cx="32264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Metoda powiadamia</a:t>
            </a:r>
            <a:r>
              <a:rPr lang="pl-PL" sz="1600" b="1" dirty="0"/>
              <a:t> wszystkich </a:t>
            </a:r>
            <a:r>
              <a:rPr lang="pl-PL" sz="1600" dirty="0"/>
              <a:t>obserwatorów</a:t>
            </a:r>
          </a:p>
        </p:txBody>
      </p: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26415953-57DC-D4F7-1DC6-530680CBFD63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4599797" y="5147505"/>
            <a:ext cx="1057496" cy="21229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583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A4F810-C6C5-11EF-826C-691B2D62F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A775CD-1242-E38F-8BD5-0BF8B9F6D1D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Obserwator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29C11D7-7025-49B4-6D3A-069C20CDDCFA}"/>
              </a:ext>
            </a:extLst>
          </p:cNvPr>
          <p:cNvSpPr txBox="1"/>
          <p:nvPr/>
        </p:nvSpPr>
        <p:spPr>
          <a:xfrm>
            <a:off x="971600" y="685794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Kluczowe koncepty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/>
              <a:t>Subject</a:t>
            </a:r>
            <a:r>
              <a:rPr lang="pl-PL" sz="1600" dirty="0"/>
              <a:t> (obserwowany) – obiekt, który powiadamia obserwatorów o zmianach.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/>
              <a:t>Observer</a:t>
            </a:r>
            <a:r>
              <a:rPr lang="pl-PL" sz="1600" dirty="0"/>
              <a:t> (obserwator) – interfejs z metodą reakcji na update.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266F0B9-D6AE-AB95-158D-6489F33C1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373" y="1840469"/>
            <a:ext cx="2619394" cy="723905"/>
          </a:xfrm>
          <a:prstGeom prst="rect">
            <a:avLst/>
          </a:prstGeom>
        </p:spPr>
      </p:pic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FE3FEB80-B9D2-3ECF-D17F-A2294260B6BD}"/>
              </a:ext>
            </a:extLst>
          </p:cNvPr>
          <p:cNvSpPr/>
          <p:nvPr/>
        </p:nvSpPr>
        <p:spPr>
          <a:xfrm>
            <a:off x="4067944" y="1838253"/>
            <a:ext cx="2997230" cy="63111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096F0428-1A48-67A6-87AB-795310F74903}"/>
              </a:ext>
            </a:extLst>
          </p:cNvPr>
          <p:cNvSpPr txBox="1"/>
          <p:nvPr/>
        </p:nvSpPr>
        <p:spPr>
          <a:xfrm>
            <a:off x="4067944" y="1888639"/>
            <a:ext cx="2856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Każdy</a:t>
            </a:r>
            <a:r>
              <a:rPr lang="pl-PL" sz="1600" dirty="0"/>
              <a:t> obserwator posiada metodę </a:t>
            </a:r>
            <a:r>
              <a:rPr lang="pl-PL" sz="1600" b="1" dirty="0"/>
              <a:t>update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596B4B0D-8E2B-10BB-D004-EA53AB542E45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3059832" y="2018100"/>
            <a:ext cx="1008112" cy="16292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Obraz 5">
            <a:extLst>
              <a:ext uri="{FF2B5EF4-FFF2-40B4-BE49-F238E27FC236}">
                <a16:creationId xmlns:a16="http://schemas.microsoft.com/office/drawing/2014/main" id="{307C9B80-FDB4-BE15-DED1-CA6B130DE1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616" y="2651045"/>
            <a:ext cx="4505358" cy="4276756"/>
          </a:xfrm>
          <a:prstGeom prst="rect">
            <a:avLst/>
          </a:prstGeom>
        </p:spPr>
      </p:pic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76614632-DB69-AE48-E256-1B0BD8D9952D}"/>
              </a:ext>
            </a:extLst>
          </p:cNvPr>
          <p:cNvSpPr/>
          <p:nvPr/>
        </p:nvSpPr>
        <p:spPr>
          <a:xfrm>
            <a:off x="5666008" y="2932894"/>
            <a:ext cx="3082456" cy="388940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78599B1C-5E21-F676-21D6-1AE130EC09E0}"/>
              </a:ext>
            </a:extLst>
          </p:cNvPr>
          <p:cNvSpPr txBox="1"/>
          <p:nvPr/>
        </p:nvSpPr>
        <p:spPr>
          <a:xfrm>
            <a:off x="5666008" y="2983279"/>
            <a:ext cx="3082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Lista</a:t>
            </a:r>
            <a:r>
              <a:rPr lang="pl-PL" sz="1600" b="1" dirty="0"/>
              <a:t> wszystkich </a:t>
            </a:r>
            <a:r>
              <a:rPr lang="pl-PL" sz="1600" dirty="0"/>
              <a:t>obserwatorów</a:t>
            </a: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AB45ED86-EFEA-BDD4-DECC-10391ADF36EB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4657896" y="3112740"/>
            <a:ext cx="1008112" cy="3981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C462263E-F3AD-00E4-97B3-28E92288C412}"/>
              </a:ext>
            </a:extLst>
          </p:cNvPr>
          <p:cNvSpPr/>
          <p:nvPr/>
        </p:nvSpPr>
        <p:spPr>
          <a:xfrm>
            <a:off x="5868144" y="3910774"/>
            <a:ext cx="3082456" cy="635160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75632BB0-1561-7E9D-F994-3AB9764293BC}"/>
              </a:ext>
            </a:extLst>
          </p:cNvPr>
          <p:cNvSpPr txBox="1"/>
          <p:nvPr/>
        </p:nvSpPr>
        <p:spPr>
          <a:xfrm>
            <a:off x="5868144" y="3961159"/>
            <a:ext cx="3082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Metody </a:t>
            </a:r>
            <a:r>
              <a:rPr lang="pl-PL" sz="1600" b="1" dirty="0"/>
              <a:t>dodania i usunięcia </a:t>
            </a:r>
            <a:r>
              <a:rPr lang="pl-PL" sz="1600" dirty="0"/>
              <a:t>obserwatora</a:t>
            </a:r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01E03E60-59F6-AD6F-3857-65A1C47C4233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4427984" y="3536167"/>
            <a:ext cx="1440160" cy="71738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623516AF-ABCE-C4B5-2EEC-ADC31537F949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4657896" y="4228354"/>
            <a:ext cx="1210248" cy="18590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20B8FA03-1B8F-8874-65FB-3872FA492028}"/>
              </a:ext>
            </a:extLst>
          </p:cNvPr>
          <p:cNvSpPr/>
          <p:nvPr/>
        </p:nvSpPr>
        <p:spPr>
          <a:xfrm>
            <a:off x="5657293" y="5042223"/>
            <a:ext cx="3262791" cy="635160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4812A7F7-E924-69C0-3BE1-6463396E969D}"/>
              </a:ext>
            </a:extLst>
          </p:cNvPr>
          <p:cNvSpPr txBox="1"/>
          <p:nvPr/>
        </p:nvSpPr>
        <p:spPr>
          <a:xfrm>
            <a:off x="5657294" y="5083508"/>
            <a:ext cx="32264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Metoda powiadamia</a:t>
            </a:r>
            <a:r>
              <a:rPr lang="pl-PL" sz="1600" b="1" dirty="0"/>
              <a:t> wszystkich </a:t>
            </a:r>
            <a:r>
              <a:rPr lang="pl-PL" sz="1600" dirty="0"/>
              <a:t>obserwatorów</a:t>
            </a:r>
          </a:p>
        </p:txBody>
      </p: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1B9F5745-64DE-8EEB-C949-44FD1DE89ADF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4599797" y="5147505"/>
            <a:ext cx="1057496" cy="21229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rostokąt: zaokrąglone rogi 18">
            <a:extLst>
              <a:ext uri="{FF2B5EF4-FFF2-40B4-BE49-F238E27FC236}">
                <a16:creationId xmlns:a16="http://schemas.microsoft.com/office/drawing/2014/main" id="{1C5BCA2A-4EBE-610A-BB75-63C4A5AAF63E}"/>
              </a:ext>
            </a:extLst>
          </p:cNvPr>
          <p:cNvSpPr/>
          <p:nvPr/>
        </p:nvSpPr>
        <p:spPr>
          <a:xfrm>
            <a:off x="5773513" y="5971674"/>
            <a:ext cx="2182863" cy="48166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6B32D86E-245E-92C9-466D-E4C5DEBEEEDD}"/>
              </a:ext>
            </a:extLst>
          </p:cNvPr>
          <p:cNvSpPr txBox="1"/>
          <p:nvPr/>
        </p:nvSpPr>
        <p:spPr>
          <a:xfrm>
            <a:off x="5773514" y="6012959"/>
            <a:ext cx="21828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Metoda </a:t>
            </a:r>
            <a:r>
              <a:rPr lang="pl-PL" sz="1600" b="1" dirty="0"/>
              <a:t>publikująca</a:t>
            </a: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9F1CF7CB-9296-ABD1-F3A3-89F711A6040E}"/>
              </a:ext>
            </a:extLst>
          </p:cNvPr>
          <p:cNvCxnSpPr>
            <a:cxnSpLocks/>
            <a:stCxn id="19" idx="1"/>
          </p:cNvCxnSpPr>
          <p:nvPr/>
        </p:nvCxnSpPr>
        <p:spPr>
          <a:xfrm flipH="1" flipV="1">
            <a:off x="4716017" y="6076956"/>
            <a:ext cx="1057496" cy="13554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9578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342B7F-0F8E-8E0D-6586-C3678C2C9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4238D0-3A84-FFBA-D26C-75FBF1D08B2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Obserwator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12BC7ED-B773-EA4A-0794-F5FFDACBEEEF}"/>
              </a:ext>
            </a:extLst>
          </p:cNvPr>
          <p:cNvSpPr txBox="1"/>
          <p:nvPr/>
        </p:nvSpPr>
        <p:spPr>
          <a:xfrm>
            <a:off x="971600" y="685794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Kluczowe koncepty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/>
              <a:t>Subject</a:t>
            </a:r>
            <a:r>
              <a:rPr lang="pl-PL" sz="1600" dirty="0"/>
              <a:t> (obserwowany) – obiekt, który powiadamia obserwatorów o zmianach.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/>
              <a:t>Observer</a:t>
            </a:r>
            <a:r>
              <a:rPr lang="pl-PL" sz="1600" dirty="0"/>
              <a:t> (obserwator) – interfejs z metodą reakcji na update.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74C467BB-4688-E9DD-9929-53F47F796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94" y="1876291"/>
            <a:ext cx="2619394" cy="723905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8B834E95-ADAC-65E9-5F70-3CCC7300E6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00196"/>
            <a:ext cx="4505358" cy="4276756"/>
          </a:xfrm>
          <a:prstGeom prst="rect">
            <a:avLst/>
          </a:prstGeom>
        </p:spPr>
      </p:pic>
      <p:pic>
        <p:nvPicPr>
          <p:cNvPr id="25" name="Obraz 24">
            <a:extLst>
              <a:ext uri="{FF2B5EF4-FFF2-40B4-BE49-F238E27FC236}">
                <a16:creationId xmlns:a16="http://schemas.microsoft.com/office/drawing/2014/main" id="{9974776A-9F7B-EA12-89E5-3FA7D8808E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0032" y="1826439"/>
            <a:ext cx="4057680" cy="172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853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0A1916-EDCE-543D-8E3A-BCA34C405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92A963-7D61-E5F4-243F-FF3F68751C4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Obserwator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6CC1EA8-8FEA-1344-C61F-7B9B164BBDA5}"/>
              </a:ext>
            </a:extLst>
          </p:cNvPr>
          <p:cNvSpPr txBox="1"/>
          <p:nvPr/>
        </p:nvSpPr>
        <p:spPr>
          <a:xfrm>
            <a:off x="971600" y="685794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Kluczowe koncepty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/>
              <a:t>Subject</a:t>
            </a:r>
            <a:r>
              <a:rPr lang="pl-PL" sz="1600" dirty="0"/>
              <a:t> (obserwowany) – obiekt, który powiadamia obserwatorów o zmianach.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/>
              <a:t>Observer</a:t>
            </a:r>
            <a:r>
              <a:rPr lang="pl-PL" sz="1600" dirty="0"/>
              <a:t> (obserwator) – interfejs z metodą reakcji na update.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3B66726A-C36E-0B0C-6527-63E36A2923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94" y="1876291"/>
            <a:ext cx="2619394" cy="723905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2FA360FC-625D-2FDA-E91B-E10372756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00196"/>
            <a:ext cx="4505358" cy="4276756"/>
          </a:xfrm>
          <a:prstGeom prst="rect">
            <a:avLst/>
          </a:prstGeom>
        </p:spPr>
      </p:pic>
      <p:pic>
        <p:nvPicPr>
          <p:cNvPr id="25" name="Obraz 24">
            <a:extLst>
              <a:ext uri="{FF2B5EF4-FFF2-40B4-BE49-F238E27FC236}">
                <a16:creationId xmlns:a16="http://schemas.microsoft.com/office/drawing/2014/main" id="{622E856D-C957-1645-ED41-815DA293AC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0032" y="1826439"/>
            <a:ext cx="4057680" cy="1724038"/>
          </a:xfrm>
          <a:prstGeom prst="rect">
            <a:avLst/>
          </a:prstGeom>
        </p:spPr>
      </p:pic>
      <p:pic>
        <p:nvPicPr>
          <p:cNvPr id="27" name="Obraz 26">
            <a:extLst>
              <a:ext uri="{FF2B5EF4-FFF2-40B4-BE49-F238E27FC236}">
                <a16:creationId xmlns:a16="http://schemas.microsoft.com/office/drawing/2014/main" id="{60E6FF0D-7522-B7EF-B3E1-48042AF1E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697538"/>
            <a:ext cx="4543458" cy="297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39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D39952-49BF-A104-44FA-B537EC609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A90147-C5FB-50B5-FC89-1AFDB9A3C3E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Obserwator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E5E7157-9A64-D936-7207-CC19F506E44B}"/>
              </a:ext>
            </a:extLst>
          </p:cNvPr>
          <p:cNvSpPr txBox="1"/>
          <p:nvPr/>
        </p:nvSpPr>
        <p:spPr>
          <a:xfrm>
            <a:off x="971600" y="685794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Kluczowe koncepty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/>
              <a:t>Subject</a:t>
            </a:r>
            <a:r>
              <a:rPr lang="pl-PL" sz="1600" dirty="0"/>
              <a:t> (obserwowany) – obiekt, który powiadamia obserwatorów o zmianach.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/>
              <a:t>Observer</a:t>
            </a:r>
            <a:r>
              <a:rPr lang="pl-PL" sz="1600" dirty="0"/>
              <a:t> (obserwator) – interfejs z metodą reakcji na update.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78D2F412-97AA-CC1F-7758-61C7D2AE2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04" y="2348880"/>
            <a:ext cx="6263370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135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7EDBF7-416D-18EA-A60C-81D93263D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CD0FE6-7CAA-018A-064C-1D85401BB36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Obserwator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3B509D5-FF51-9929-0922-30E5BACD3EAF}"/>
              </a:ext>
            </a:extLst>
          </p:cNvPr>
          <p:cNvSpPr txBox="1"/>
          <p:nvPr/>
        </p:nvSpPr>
        <p:spPr>
          <a:xfrm>
            <a:off x="3131841" y="764704"/>
            <a:ext cx="4752528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System eventów w aplikacji Android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966C99F5-7F06-AA33-BD94-73D12C2AC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7950" y="1412776"/>
            <a:ext cx="5543591" cy="442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394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077FA8-D635-C032-49BD-D2A5499C5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C0491B-A47C-FDBF-F352-C7E111F0A4A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Obserwator –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ViewModel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+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LiveData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A46164B2-DA52-7700-FAB8-5E1D2A0BB8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980728"/>
            <a:ext cx="5114962" cy="263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341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1C9FBF-434B-F0C1-15A8-1ED76DCD0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EF1915-0406-13C2-D664-DF33C6EA2B6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Obserwator –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ViewModel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+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LiveData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37D6C899-0560-75B8-6F03-2BC1156E77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980728"/>
            <a:ext cx="5114962" cy="2638444"/>
          </a:xfrm>
          <a:prstGeom prst="rect">
            <a:avLst/>
          </a:prstGeom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FAAF6190-3F52-FEB4-4E00-6093C194AB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6862" y="3868057"/>
            <a:ext cx="5600741" cy="28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030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9B8DF-A87D-4050-4A18-CE5C76BD0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14B9C6-2266-B3EC-17CA-E653841117E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Stan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A5A4A7E-2EBE-F543-A602-D43492F33DF7}"/>
              </a:ext>
            </a:extLst>
          </p:cNvPr>
          <p:cNvSpPr txBox="1"/>
          <p:nvPr/>
        </p:nvSpPr>
        <p:spPr>
          <a:xfrm>
            <a:off x="971600" y="685794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 err="1"/>
              <a:t>State</a:t>
            </a:r>
            <a:r>
              <a:rPr lang="pl-PL" sz="1600" dirty="0"/>
              <a:t> to behawioralny wzorzec projektowy, który pozwala obiektowi </a:t>
            </a:r>
            <a:r>
              <a:rPr lang="pl-PL" sz="1600" b="1" dirty="0"/>
              <a:t>zmieniać swoje zachowanie w zależności od wewnętrznego stanu</a:t>
            </a:r>
            <a:r>
              <a:rPr lang="pl-PL" sz="1600" dirty="0"/>
              <a:t>. Traktuje stany jako </a:t>
            </a:r>
            <a:r>
              <a:rPr lang="pl-PL" sz="1600" b="1" dirty="0"/>
              <a:t>osobne obiekty </a:t>
            </a:r>
            <a:r>
              <a:rPr lang="pl-PL" sz="1600" dirty="0"/>
              <a:t>i </a:t>
            </a:r>
            <a:r>
              <a:rPr lang="pl-PL" sz="1600" b="1" dirty="0"/>
              <a:t>deleguje</a:t>
            </a:r>
            <a:r>
              <a:rPr lang="pl-PL" sz="1600" dirty="0"/>
              <a:t> do nich operacje, unikając rozgałęzień (</a:t>
            </a:r>
            <a:r>
              <a:rPr lang="pl-PL" sz="1600" dirty="0" err="1"/>
              <a:t>if</a:t>
            </a:r>
            <a:r>
              <a:rPr lang="pl-PL" sz="1600" dirty="0"/>
              <a:t>/</a:t>
            </a:r>
            <a:r>
              <a:rPr lang="pl-PL" sz="1600" dirty="0" err="1"/>
              <a:t>else</a:t>
            </a:r>
            <a:r>
              <a:rPr lang="pl-PL" sz="1600" dirty="0"/>
              <a:t> lub </a:t>
            </a:r>
            <a:r>
              <a:rPr lang="pl-PL" sz="1600" dirty="0" err="1"/>
              <a:t>when</a:t>
            </a:r>
            <a:r>
              <a:rPr lang="pl-PL" sz="16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229223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3E024-8B5C-0428-3340-8245623E0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3D8555-22B3-28FD-E436-CD546E9E6ED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Stan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81D68B5-9D3C-6FF0-B9B7-5F38B5E91CB5}"/>
              </a:ext>
            </a:extLst>
          </p:cNvPr>
          <p:cNvSpPr txBox="1"/>
          <p:nvPr/>
        </p:nvSpPr>
        <p:spPr>
          <a:xfrm>
            <a:off x="971600" y="685794"/>
            <a:ext cx="8028385" cy="3001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 err="1"/>
              <a:t>State</a:t>
            </a:r>
            <a:r>
              <a:rPr lang="pl-PL" sz="1600" dirty="0"/>
              <a:t> to behawioralny wzorzec projektowy, który pozwala obiektowi </a:t>
            </a:r>
            <a:r>
              <a:rPr lang="pl-PL" sz="1600" b="1" dirty="0"/>
              <a:t>zmieniać swoje zachowanie w zależności od wewnętrznego stanu</a:t>
            </a:r>
            <a:r>
              <a:rPr lang="pl-PL" sz="1600" dirty="0"/>
              <a:t>. Traktuje stany jako </a:t>
            </a:r>
            <a:r>
              <a:rPr lang="pl-PL" sz="1600" b="1" dirty="0"/>
              <a:t>osobne obiekty </a:t>
            </a:r>
            <a:r>
              <a:rPr lang="pl-PL" sz="1600" dirty="0"/>
              <a:t>i </a:t>
            </a:r>
            <a:r>
              <a:rPr lang="pl-PL" sz="1600" b="1" dirty="0"/>
              <a:t>deleguje</a:t>
            </a:r>
            <a:r>
              <a:rPr lang="pl-PL" sz="1600" dirty="0"/>
              <a:t> do nich operacje, unikając rozgałęzień (</a:t>
            </a:r>
            <a:r>
              <a:rPr lang="pl-PL" sz="1600" dirty="0" err="1"/>
              <a:t>if</a:t>
            </a:r>
            <a:r>
              <a:rPr lang="pl-PL" sz="1600" dirty="0"/>
              <a:t>/</a:t>
            </a:r>
            <a:r>
              <a:rPr lang="pl-PL" sz="1600" dirty="0" err="1"/>
              <a:t>else</a:t>
            </a:r>
            <a:r>
              <a:rPr lang="pl-PL" sz="1600" dirty="0"/>
              <a:t> lub </a:t>
            </a:r>
            <a:r>
              <a:rPr lang="pl-PL" sz="1600" dirty="0" err="1"/>
              <a:t>when</a:t>
            </a:r>
            <a:r>
              <a:rPr lang="pl-PL" sz="1600" dirty="0"/>
              <a:t>).</a:t>
            </a:r>
          </a:p>
          <a:p>
            <a:pPr algn="just">
              <a:lnSpc>
                <a:spcPct val="150000"/>
              </a:lnSpc>
            </a:pPr>
            <a:endParaRPr lang="pl-PL" sz="1600" dirty="0"/>
          </a:p>
          <a:p>
            <a:pPr algn="just">
              <a:lnSpc>
                <a:spcPct val="150000"/>
              </a:lnSpc>
            </a:pPr>
            <a:r>
              <a:rPr lang="pl-PL" sz="1600" dirty="0"/>
              <a:t>Przykłady zastosowań: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Automaty stanów </a:t>
            </a:r>
            <a:r>
              <a:rPr lang="pl-PL" sz="1600" dirty="0"/>
              <a:t>(np. odtwarzacz muzyki: </a:t>
            </a:r>
            <a:r>
              <a:rPr lang="pl-PL" sz="1600" dirty="0" err="1"/>
              <a:t>Playing</a:t>
            </a:r>
            <a:r>
              <a:rPr lang="pl-PL" sz="1600" dirty="0"/>
              <a:t>, </a:t>
            </a:r>
            <a:r>
              <a:rPr lang="pl-PL" sz="1600" dirty="0" err="1"/>
              <a:t>Paused</a:t>
            </a:r>
            <a:r>
              <a:rPr lang="pl-PL" sz="1600" dirty="0"/>
              <a:t>, </a:t>
            </a:r>
            <a:r>
              <a:rPr lang="pl-PL" sz="1600" dirty="0" err="1"/>
              <a:t>Stopped</a:t>
            </a:r>
            <a:r>
              <a:rPr lang="pl-PL" sz="1600" dirty="0"/>
              <a:t>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Zamówienia w e-commerce </a:t>
            </a:r>
            <a:r>
              <a:rPr lang="pl-PL" sz="1600" dirty="0"/>
              <a:t>(New, </a:t>
            </a:r>
            <a:r>
              <a:rPr lang="pl-PL" sz="1600" dirty="0" err="1"/>
              <a:t>Paid</a:t>
            </a:r>
            <a:r>
              <a:rPr lang="pl-PL" sz="1600" dirty="0"/>
              <a:t>, </a:t>
            </a:r>
            <a:r>
              <a:rPr lang="pl-PL" sz="1600" dirty="0" err="1"/>
              <a:t>Shipped</a:t>
            </a:r>
            <a:r>
              <a:rPr lang="pl-PL" sz="1600" dirty="0"/>
              <a:t>, </a:t>
            </a:r>
            <a:r>
              <a:rPr lang="pl-PL" sz="1600" dirty="0" err="1"/>
              <a:t>Cancelled</a:t>
            </a:r>
            <a:r>
              <a:rPr lang="pl-PL" sz="1600" dirty="0"/>
              <a:t>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Gry wideo </a:t>
            </a:r>
            <a:r>
              <a:rPr lang="pl-PL" sz="1600" dirty="0"/>
              <a:t>(postać: </a:t>
            </a:r>
            <a:r>
              <a:rPr lang="pl-PL" sz="1600" dirty="0" err="1"/>
              <a:t>Walking</a:t>
            </a:r>
            <a:r>
              <a:rPr lang="pl-PL" sz="1600" dirty="0"/>
              <a:t>, </a:t>
            </a:r>
            <a:r>
              <a:rPr lang="pl-PL" sz="1600" dirty="0" err="1"/>
              <a:t>Running</a:t>
            </a:r>
            <a:r>
              <a:rPr lang="pl-PL" sz="1600" dirty="0"/>
              <a:t>, Jumping).</a:t>
            </a:r>
          </a:p>
        </p:txBody>
      </p:sp>
    </p:spTree>
    <p:extLst>
      <p:ext uri="{BB962C8B-B14F-4D97-AF65-F5344CB8AC3E}">
        <p14:creationId xmlns:p14="http://schemas.microsoft.com/office/powerpoint/2010/main" val="170890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806E8B-F981-27D2-5766-E03D72ADA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31F8C1-E39D-94C3-6C7D-08580BBA6D1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Stan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3C6B724-4497-2277-6F71-36298F3CDBE3}"/>
              </a:ext>
            </a:extLst>
          </p:cNvPr>
          <p:cNvSpPr txBox="1"/>
          <p:nvPr/>
        </p:nvSpPr>
        <p:spPr>
          <a:xfrm>
            <a:off x="971600" y="685794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 err="1"/>
              <a:t>State</a:t>
            </a:r>
            <a:r>
              <a:rPr lang="pl-PL" sz="1600" dirty="0"/>
              <a:t> to behawioralny wzorzec projektowy, który pozwala obiektowi </a:t>
            </a:r>
            <a:r>
              <a:rPr lang="pl-PL" sz="1600" b="1" dirty="0"/>
              <a:t>zmieniać swoje zachowanie w zależności od wewnętrznego stanu</a:t>
            </a:r>
            <a:r>
              <a:rPr lang="pl-PL" sz="1600" dirty="0"/>
              <a:t>. Traktuje stany jako </a:t>
            </a:r>
            <a:r>
              <a:rPr lang="pl-PL" sz="1600" b="1" dirty="0"/>
              <a:t>osobne obiekty </a:t>
            </a:r>
            <a:r>
              <a:rPr lang="pl-PL" sz="1600" dirty="0"/>
              <a:t>i </a:t>
            </a:r>
            <a:r>
              <a:rPr lang="pl-PL" sz="1600" b="1" dirty="0"/>
              <a:t>deleguje</a:t>
            </a:r>
            <a:r>
              <a:rPr lang="pl-PL" sz="1600" dirty="0"/>
              <a:t> do nich operacje, unikając rozgałęzień (</a:t>
            </a:r>
            <a:r>
              <a:rPr lang="pl-PL" sz="1600" dirty="0" err="1"/>
              <a:t>if</a:t>
            </a:r>
            <a:r>
              <a:rPr lang="pl-PL" sz="1600" dirty="0"/>
              <a:t>/</a:t>
            </a:r>
            <a:r>
              <a:rPr lang="pl-PL" sz="1600" dirty="0" err="1"/>
              <a:t>else</a:t>
            </a:r>
            <a:r>
              <a:rPr lang="pl-PL" sz="1600" dirty="0"/>
              <a:t> lub </a:t>
            </a:r>
            <a:r>
              <a:rPr lang="pl-PL" sz="1600" dirty="0" err="1"/>
              <a:t>when</a:t>
            </a:r>
            <a:r>
              <a:rPr lang="pl-PL" sz="1600" dirty="0"/>
              <a:t>)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2D82DE08-2EF9-A412-041C-21A45A2B0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772816"/>
            <a:ext cx="2838471" cy="120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85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2EC2DA-3415-C7F5-ABC0-40174786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FEFA72-CECE-1672-9B6B-F85F7B21FF8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Stan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0D24AB3-1C27-C6F9-BF18-A84BA04A42CC}"/>
              </a:ext>
            </a:extLst>
          </p:cNvPr>
          <p:cNvSpPr txBox="1"/>
          <p:nvPr/>
        </p:nvSpPr>
        <p:spPr>
          <a:xfrm>
            <a:off x="971600" y="685794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 err="1"/>
              <a:t>State</a:t>
            </a:r>
            <a:r>
              <a:rPr lang="pl-PL" sz="1600" dirty="0"/>
              <a:t> to behawioralny wzorzec projektowy, który pozwala obiektowi </a:t>
            </a:r>
            <a:r>
              <a:rPr lang="pl-PL" sz="1600" b="1" dirty="0"/>
              <a:t>zmieniać swoje zachowanie w zależności od wewnętrznego stanu</a:t>
            </a:r>
            <a:r>
              <a:rPr lang="pl-PL" sz="1600" dirty="0"/>
              <a:t>. Traktuje stany jako </a:t>
            </a:r>
            <a:r>
              <a:rPr lang="pl-PL" sz="1600" b="1" dirty="0"/>
              <a:t>osobne obiekty </a:t>
            </a:r>
            <a:r>
              <a:rPr lang="pl-PL" sz="1600" dirty="0"/>
              <a:t>i </a:t>
            </a:r>
            <a:r>
              <a:rPr lang="pl-PL" sz="1600" b="1" dirty="0"/>
              <a:t>deleguje</a:t>
            </a:r>
            <a:r>
              <a:rPr lang="pl-PL" sz="1600" dirty="0"/>
              <a:t> do nich operacje, unikając rozgałęzień (</a:t>
            </a:r>
            <a:r>
              <a:rPr lang="pl-PL" sz="1600" dirty="0" err="1"/>
              <a:t>if</a:t>
            </a:r>
            <a:r>
              <a:rPr lang="pl-PL" sz="1600" dirty="0"/>
              <a:t>/</a:t>
            </a:r>
            <a:r>
              <a:rPr lang="pl-PL" sz="1600" dirty="0" err="1"/>
              <a:t>else</a:t>
            </a:r>
            <a:r>
              <a:rPr lang="pl-PL" sz="1600" dirty="0"/>
              <a:t> lub </a:t>
            </a:r>
            <a:r>
              <a:rPr lang="pl-PL" sz="1600" dirty="0" err="1"/>
              <a:t>when</a:t>
            </a:r>
            <a:r>
              <a:rPr lang="pl-PL" sz="1600" dirty="0"/>
              <a:t>)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F24D39A6-F706-A74E-D78B-D3C16A310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772816"/>
            <a:ext cx="2838471" cy="1209684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61A0BDF3-35A3-D054-EB9B-7526B7DA77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421" y="3212976"/>
            <a:ext cx="3667152" cy="327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5934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318F63-EF7A-CBBD-DFE5-40A43A7B1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926A5-9913-A038-7750-BA8E973F8D5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Stan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72E9223-4D54-8AFE-077F-29A0062F7F80}"/>
              </a:ext>
            </a:extLst>
          </p:cNvPr>
          <p:cNvSpPr txBox="1"/>
          <p:nvPr/>
        </p:nvSpPr>
        <p:spPr>
          <a:xfrm>
            <a:off x="971600" y="685794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 err="1"/>
              <a:t>State</a:t>
            </a:r>
            <a:r>
              <a:rPr lang="pl-PL" sz="1600" dirty="0"/>
              <a:t> to behawioralny wzorzec projektowy, który pozwala obiektowi </a:t>
            </a:r>
            <a:r>
              <a:rPr lang="pl-PL" sz="1600" b="1" dirty="0"/>
              <a:t>zmieniać swoje zachowanie w zależności od wewnętrznego stanu</a:t>
            </a:r>
            <a:r>
              <a:rPr lang="pl-PL" sz="1600" dirty="0"/>
              <a:t>. Traktuje stany jako </a:t>
            </a:r>
            <a:r>
              <a:rPr lang="pl-PL" sz="1600" b="1" dirty="0"/>
              <a:t>osobne obiekty </a:t>
            </a:r>
            <a:r>
              <a:rPr lang="pl-PL" sz="1600" dirty="0"/>
              <a:t>i </a:t>
            </a:r>
            <a:r>
              <a:rPr lang="pl-PL" sz="1600" b="1" dirty="0"/>
              <a:t>deleguje</a:t>
            </a:r>
            <a:r>
              <a:rPr lang="pl-PL" sz="1600" dirty="0"/>
              <a:t> do nich operacje, unikając rozgałęzień (</a:t>
            </a:r>
            <a:r>
              <a:rPr lang="pl-PL" sz="1600" dirty="0" err="1"/>
              <a:t>if</a:t>
            </a:r>
            <a:r>
              <a:rPr lang="pl-PL" sz="1600" dirty="0"/>
              <a:t>/</a:t>
            </a:r>
            <a:r>
              <a:rPr lang="pl-PL" sz="1600" dirty="0" err="1"/>
              <a:t>else</a:t>
            </a:r>
            <a:r>
              <a:rPr lang="pl-PL" sz="1600" dirty="0"/>
              <a:t> lub </a:t>
            </a:r>
            <a:r>
              <a:rPr lang="pl-PL" sz="1600" dirty="0" err="1"/>
              <a:t>when</a:t>
            </a:r>
            <a:r>
              <a:rPr lang="pl-PL" sz="1600" dirty="0"/>
              <a:t>)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F4B55CD0-B197-D8DE-E3F1-435377471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772816"/>
            <a:ext cx="2838471" cy="1209684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DBBAB19C-415D-82D0-A2A7-26358B7506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421" y="3212976"/>
            <a:ext cx="3667152" cy="3276624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1AB00B2C-D1D2-390A-F13D-3D1CC01A08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7904" y="3212976"/>
            <a:ext cx="3829078" cy="334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683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0648B2-DBE0-6B3E-E13D-96A5069B8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768A98-CD64-DF4B-81C6-8FFCD215352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Stan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2C870A1-D6AA-9C6C-10B0-E4F61FC12B53}"/>
              </a:ext>
            </a:extLst>
          </p:cNvPr>
          <p:cNvSpPr txBox="1"/>
          <p:nvPr/>
        </p:nvSpPr>
        <p:spPr>
          <a:xfrm>
            <a:off x="971600" y="685794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 err="1"/>
              <a:t>State</a:t>
            </a:r>
            <a:r>
              <a:rPr lang="pl-PL" sz="1600" dirty="0"/>
              <a:t> to behawioralny wzorzec projektowy, który pozwala obiektowi </a:t>
            </a:r>
            <a:r>
              <a:rPr lang="pl-PL" sz="1600" b="1" dirty="0"/>
              <a:t>zmieniać swoje zachowanie w zależności od wewnętrznego stanu</a:t>
            </a:r>
            <a:r>
              <a:rPr lang="pl-PL" sz="1600" dirty="0"/>
              <a:t>. Traktuje stany jako </a:t>
            </a:r>
            <a:r>
              <a:rPr lang="pl-PL" sz="1600" b="1" dirty="0"/>
              <a:t>osobne obiekty </a:t>
            </a:r>
            <a:r>
              <a:rPr lang="pl-PL" sz="1600" dirty="0"/>
              <a:t>i </a:t>
            </a:r>
            <a:r>
              <a:rPr lang="pl-PL" sz="1600" b="1" dirty="0"/>
              <a:t>deleguje</a:t>
            </a:r>
            <a:r>
              <a:rPr lang="pl-PL" sz="1600" dirty="0"/>
              <a:t> do nich operacje, unikając rozgałęzień (</a:t>
            </a:r>
            <a:r>
              <a:rPr lang="pl-PL" sz="1600" dirty="0" err="1"/>
              <a:t>if</a:t>
            </a:r>
            <a:r>
              <a:rPr lang="pl-PL" sz="1600" dirty="0"/>
              <a:t>/</a:t>
            </a:r>
            <a:r>
              <a:rPr lang="pl-PL" sz="1600" dirty="0" err="1"/>
              <a:t>else</a:t>
            </a:r>
            <a:r>
              <a:rPr lang="pl-PL" sz="1600" dirty="0"/>
              <a:t> lub </a:t>
            </a:r>
            <a:r>
              <a:rPr lang="pl-PL" sz="1600" dirty="0" err="1"/>
              <a:t>when</a:t>
            </a:r>
            <a:r>
              <a:rPr lang="pl-PL" sz="1600" dirty="0"/>
              <a:t>)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2236C3F-11EB-F3F6-AC74-40C5F8A1C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772816"/>
            <a:ext cx="2838471" cy="1209684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D4FBF30D-B784-E0A5-2CD6-90C5146BB3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421" y="3212976"/>
            <a:ext cx="3667152" cy="3276624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58277908-40F2-F72E-D345-354B1DC9A8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7461" y="3212976"/>
            <a:ext cx="3829078" cy="3343299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5CC89E3F-C233-658B-2DF4-934072F0C7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4288" y="3375830"/>
            <a:ext cx="5019712" cy="308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258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D4107D-B423-48B9-B9E0-3F4542C41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8C34F1-8E2F-18D6-3D67-CC8F90ED75F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Stan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363364A-8461-CE2F-0B7B-B6D1DE48BDDD}"/>
              </a:ext>
            </a:extLst>
          </p:cNvPr>
          <p:cNvSpPr txBox="1"/>
          <p:nvPr/>
        </p:nvSpPr>
        <p:spPr>
          <a:xfrm>
            <a:off x="971600" y="685794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 err="1"/>
              <a:t>State</a:t>
            </a:r>
            <a:r>
              <a:rPr lang="pl-PL" sz="1600" dirty="0"/>
              <a:t> to behawioralny wzorzec projektowy, który pozwala obiektowi </a:t>
            </a:r>
            <a:r>
              <a:rPr lang="pl-PL" sz="1600" b="1" dirty="0"/>
              <a:t>zmieniać swoje zachowanie w zależności od wewnętrznego stanu</a:t>
            </a:r>
            <a:r>
              <a:rPr lang="pl-PL" sz="1600" dirty="0"/>
              <a:t>. Traktuje stany jako </a:t>
            </a:r>
            <a:r>
              <a:rPr lang="pl-PL" sz="1600" b="1" dirty="0"/>
              <a:t>osobne obiekty </a:t>
            </a:r>
            <a:r>
              <a:rPr lang="pl-PL" sz="1600" dirty="0"/>
              <a:t>i </a:t>
            </a:r>
            <a:r>
              <a:rPr lang="pl-PL" sz="1600" b="1" dirty="0"/>
              <a:t>deleguje</a:t>
            </a:r>
            <a:r>
              <a:rPr lang="pl-PL" sz="1600" dirty="0"/>
              <a:t> do nich operacje, unikając rozgałęzień (</a:t>
            </a:r>
            <a:r>
              <a:rPr lang="pl-PL" sz="1600" dirty="0" err="1"/>
              <a:t>if</a:t>
            </a:r>
            <a:r>
              <a:rPr lang="pl-PL" sz="1600" dirty="0"/>
              <a:t>/</a:t>
            </a:r>
            <a:r>
              <a:rPr lang="pl-PL" sz="1600" dirty="0" err="1"/>
              <a:t>else</a:t>
            </a:r>
            <a:r>
              <a:rPr lang="pl-PL" sz="1600" dirty="0"/>
              <a:t> lub </a:t>
            </a:r>
            <a:r>
              <a:rPr lang="pl-PL" sz="1600" dirty="0" err="1"/>
              <a:t>when</a:t>
            </a:r>
            <a:r>
              <a:rPr lang="pl-PL" sz="1600" dirty="0"/>
              <a:t>)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24B1BE5-5CA4-8311-46F4-0F549E236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772816"/>
            <a:ext cx="2838471" cy="1209684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6A4881DC-66FC-5B67-FAA8-50FA0F5FAC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992" y="2045916"/>
            <a:ext cx="3848128" cy="4029104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8C869B2C-473B-242A-40CB-DF0477BC55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600" y="2975662"/>
            <a:ext cx="1868988" cy="1669953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51C8AE32-122B-B575-817C-A726395295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9019" y="2958671"/>
            <a:ext cx="1951514" cy="1703934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BE4F0E9A-2688-113F-3FCD-4607CEC230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6043" y="4707604"/>
            <a:ext cx="2558329" cy="157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8936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C6843E-7F73-6A2C-07B1-56F56649A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1DD7BA-7238-F2E8-79D3-385AE56235F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Stan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990B979-5ABF-B704-3EA2-147176DB5B96}"/>
              </a:ext>
            </a:extLst>
          </p:cNvPr>
          <p:cNvSpPr txBox="1"/>
          <p:nvPr/>
        </p:nvSpPr>
        <p:spPr>
          <a:xfrm>
            <a:off x="971600" y="685794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 err="1"/>
              <a:t>State</a:t>
            </a:r>
            <a:r>
              <a:rPr lang="pl-PL" sz="1600" dirty="0"/>
              <a:t> to behawioralny wzorzec projektowy, który pozwala obiektowi </a:t>
            </a:r>
            <a:r>
              <a:rPr lang="pl-PL" sz="1600" b="1" dirty="0"/>
              <a:t>zmieniać swoje zachowanie w zależności od wewnętrznego stanu</a:t>
            </a:r>
            <a:r>
              <a:rPr lang="pl-PL" sz="1600" dirty="0"/>
              <a:t>. Traktuje stany jako </a:t>
            </a:r>
            <a:r>
              <a:rPr lang="pl-PL" sz="1600" b="1" dirty="0"/>
              <a:t>osobne obiekty </a:t>
            </a:r>
            <a:r>
              <a:rPr lang="pl-PL" sz="1600" dirty="0"/>
              <a:t>i </a:t>
            </a:r>
            <a:r>
              <a:rPr lang="pl-PL" sz="1600" b="1" dirty="0"/>
              <a:t>deleguje</a:t>
            </a:r>
            <a:r>
              <a:rPr lang="pl-PL" sz="1600" dirty="0"/>
              <a:t> do nich operacje, unikając rozgałęzień (</a:t>
            </a:r>
            <a:r>
              <a:rPr lang="pl-PL" sz="1600" dirty="0" err="1"/>
              <a:t>if</a:t>
            </a:r>
            <a:r>
              <a:rPr lang="pl-PL" sz="1600" dirty="0"/>
              <a:t>/</a:t>
            </a:r>
            <a:r>
              <a:rPr lang="pl-PL" sz="1600" dirty="0" err="1"/>
              <a:t>else</a:t>
            </a:r>
            <a:r>
              <a:rPr lang="pl-PL" sz="1600" dirty="0"/>
              <a:t> lub </a:t>
            </a:r>
            <a:r>
              <a:rPr lang="pl-PL" sz="1600" dirty="0" err="1"/>
              <a:t>when</a:t>
            </a:r>
            <a:r>
              <a:rPr lang="pl-PL" sz="1600" dirty="0"/>
              <a:t>)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60972C6-9012-B574-D3EF-26C8A2390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772816"/>
            <a:ext cx="2838471" cy="1209684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8C05A7BF-A171-7898-86B6-8184905EF4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992" y="2045916"/>
            <a:ext cx="3848128" cy="4029104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2B599554-1B35-591F-CE9A-D44C0FBD2F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600" y="2975662"/>
            <a:ext cx="1868988" cy="1669953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DFD2A3AA-98FB-E417-F555-87E3BECC36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9019" y="2958671"/>
            <a:ext cx="1951514" cy="1703934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B56D9B7F-9B26-EAE0-77C5-88E36CA7F5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6043" y="4707604"/>
            <a:ext cx="2558329" cy="1572863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2A09DA81-0B6B-67A2-16B5-F500EAD281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5391351"/>
            <a:ext cx="5057812" cy="145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607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BC13DC-EF67-556E-2B62-04FB6B4B5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C92118-5C03-73D5-68ED-C06A686E714E}"/>
              </a:ext>
            </a:extLst>
          </p:cNvPr>
          <p:cNvSpPr/>
          <p:nvPr/>
        </p:nvSpPr>
        <p:spPr>
          <a:xfrm>
            <a:off x="1943200" y="193351"/>
            <a:ext cx="7200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Wzorzec Stan vs Stan w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Jetpack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Compose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1982DC5-3E2A-7FF3-F1C9-3AA632701E13}"/>
              </a:ext>
            </a:extLst>
          </p:cNvPr>
          <p:cNvSpPr txBox="1"/>
          <p:nvPr/>
        </p:nvSpPr>
        <p:spPr>
          <a:xfrm>
            <a:off x="971600" y="685794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 err="1"/>
              <a:t>State</a:t>
            </a:r>
            <a:r>
              <a:rPr lang="pl-PL" sz="1600" b="1" dirty="0"/>
              <a:t> w </a:t>
            </a:r>
            <a:r>
              <a:rPr lang="pl-PL" sz="1600" b="1" dirty="0" err="1"/>
              <a:t>Jetpack</a:t>
            </a:r>
            <a:r>
              <a:rPr lang="pl-PL" sz="1600" b="1" dirty="0"/>
              <a:t> </a:t>
            </a:r>
            <a:r>
              <a:rPr lang="pl-PL" sz="1600" b="1" dirty="0" err="1"/>
              <a:t>Compose</a:t>
            </a:r>
            <a:endParaRPr lang="pl-PL" sz="1600" dirty="0"/>
          </a:p>
          <a:p>
            <a:pPr algn="just">
              <a:lnSpc>
                <a:spcPct val="150000"/>
              </a:lnSpc>
            </a:pPr>
            <a:r>
              <a:rPr lang="pl-PL" sz="1600" b="1" dirty="0"/>
              <a:t>Mechanizm śledzenia zmian danych i automatycznego odświeżania UI</a:t>
            </a:r>
            <a:r>
              <a:rPr lang="pl-PL" sz="16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pl-PL" sz="1600" dirty="0"/>
              <a:t>Używany głównie przez </a:t>
            </a:r>
            <a:r>
              <a:rPr lang="pl-PL" sz="1600" b="1" dirty="0" err="1"/>
              <a:t>mutableStateOf</a:t>
            </a:r>
            <a:r>
              <a:rPr lang="pl-PL" sz="1600" dirty="0"/>
              <a:t>, </a:t>
            </a:r>
            <a:r>
              <a:rPr lang="pl-PL" sz="1600" b="1" dirty="0" err="1"/>
              <a:t>remember</a:t>
            </a:r>
            <a:r>
              <a:rPr lang="pl-PL" sz="1600" dirty="0"/>
              <a:t>, </a:t>
            </a:r>
            <a:r>
              <a:rPr lang="pl-PL" sz="1600" b="1" dirty="0" err="1"/>
              <a:t>ViewModel</a:t>
            </a:r>
            <a:r>
              <a:rPr lang="pl-PL" sz="1600" dirty="0"/>
              <a:t> i </a:t>
            </a:r>
            <a:r>
              <a:rPr lang="pl-PL" sz="1600" b="1" dirty="0" err="1"/>
              <a:t>StateFlow</a:t>
            </a:r>
            <a:r>
              <a:rPr lang="pl-PL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4404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686DB0-F0E7-FD1C-583E-43319DBC3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894D8D-3A9E-B296-4390-66897DCBD90B}"/>
              </a:ext>
            </a:extLst>
          </p:cNvPr>
          <p:cNvSpPr/>
          <p:nvPr/>
        </p:nvSpPr>
        <p:spPr>
          <a:xfrm>
            <a:off x="1943200" y="193351"/>
            <a:ext cx="7200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Wzorzec Stan vs Stan w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Jetpack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Compose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09FE6BE-42EC-0D59-0BCB-299E718805EA}"/>
              </a:ext>
            </a:extLst>
          </p:cNvPr>
          <p:cNvSpPr txBox="1"/>
          <p:nvPr/>
        </p:nvSpPr>
        <p:spPr>
          <a:xfrm>
            <a:off x="971600" y="685794"/>
            <a:ext cx="8028385" cy="3001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 err="1"/>
              <a:t>State</a:t>
            </a:r>
            <a:r>
              <a:rPr lang="pl-PL" sz="1600" b="1" dirty="0"/>
              <a:t> w </a:t>
            </a:r>
            <a:r>
              <a:rPr lang="pl-PL" sz="1600" b="1" dirty="0" err="1"/>
              <a:t>Jetpack</a:t>
            </a:r>
            <a:r>
              <a:rPr lang="pl-PL" sz="1600" b="1" dirty="0"/>
              <a:t> </a:t>
            </a:r>
            <a:r>
              <a:rPr lang="pl-PL" sz="1600" b="1" dirty="0" err="1"/>
              <a:t>Compose</a:t>
            </a:r>
            <a:endParaRPr lang="pl-PL" sz="1600" dirty="0"/>
          </a:p>
          <a:p>
            <a:pPr algn="just">
              <a:lnSpc>
                <a:spcPct val="150000"/>
              </a:lnSpc>
            </a:pPr>
            <a:r>
              <a:rPr lang="pl-PL" sz="1600" b="1" dirty="0"/>
              <a:t>Mechanizm śledzenia zmian danych i automatycznego odświeżania UI</a:t>
            </a:r>
            <a:r>
              <a:rPr lang="pl-PL" sz="16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pl-PL" sz="1600" dirty="0"/>
              <a:t>Używany głównie przez </a:t>
            </a:r>
            <a:r>
              <a:rPr lang="pl-PL" sz="1600" b="1" dirty="0" err="1"/>
              <a:t>mutableStateOf</a:t>
            </a:r>
            <a:r>
              <a:rPr lang="pl-PL" sz="1600" dirty="0"/>
              <a:t>, </a:t>
            </a:r>
            <a:r>
              <a:rPr lang="pl-PL" sz="1600" b="1" dirty="0" err="1"/>
              <a:t>remember</a:t>
            </a:r>
            <a:r>
              <a:rPr lang="pl-PL" sz="1600" dirty="0"/>
              <a:t>, </a:t>
            </a:r>
            <a:r>
              <a:rPr lang="pl-PL" sz="1600" b="1" dirty="0" err="1"/>
              <a:t>ViewModel</a:t>
            </a:r>
            <a:r>
              <a:rPr lang="pl-PL" sz="1600" dirty="0"/>
              <a:t> i </a:t>
            </a:r>
            <a:r>
              <a:rPr lang="pl-PL" sz="1600" b="1" dirty="0" err="1"/>
              <a:t>StateFlow</a:t>
            </a:r>
            <a:r>
              <a:rPr lang="pl-PL" sz="1600" dirty="0"/>
              <a:t>.</a:t>
            </a:r>
          </a:p>
          <a:p>
            <a:pPr algn="just">
              <a:lnSpc>
                <a:spcPct val="150000"/>
              </a:lnSpc>
            </a:pPr>
            <a:endParaRPr lang="pl-PL" sz="1600" dirty="0"/>
          </a:p>
          <a:p>
            <a:pPr algn="just">
              <a:lnSpc>
                <a:spcPct val="150000"/>
              </a:lnSpc>
            </a:pPr>
            <a:r>
              <a:rPr lang="pl-PL" sz="1600" b="1" dirty="0"/>
              <a:t>Wzorzec </a:t>
            </a:r>
            <a:r>
              <a:rPr lang="pl-PL" sz="1600" b="1" dirty="0" err="1"/>
              <a:t>State</a:t>
            </a:r>
            <a:r>
              <a:rPr lang="pl-PL" sz="1600" b="1" dirty="0"/>
              <a:t> </a:t>
            </a:r>
            <a:r>
              <a:rPr lang="pl-PL" sz="1600" b="1" dirty="0" err="1"/>
              <a:t>Pattern</a:t>
            </a:r>
            <a:endParaRPr lang="pl-PL" sz="1600" b="1" dirty="0"/>
          </a:p>
          <a:p>
            <a:pPr algn="just">
              <a:lnSpc>
                <a:spcPct val="150000"/>
              </a:lnSpc>
            </a:pPr>
            <a:r>
              <a:rPr lang="pl-PL" sz="1600" dirty="0"/>
              <a:t>Wzorzec projektowy, który </a:t>
            </a:r>
            <a:r>
              <a:rPr lang="pl-PL" sz="1600" b="1" dirty="0" err="1"/>
              <a:t>enkapsuluje</a:t>
            </a:r>
            <a:r>
              <a:rPr lang="pl-PL" sz="1600" b="1" dirty="0"/>
              <a:t> zachowanie obiektu </a:t>
            </a:r>
            <a:r>
              <a:rPr lang="pl-PL" sz="1600" dirty="0"/>
              <a:t>w zależności od jego stanu.</a:t>
            </a:r>
          </a:p>
          <a:p>
            <a:pPr algn="just">
              <a:lnSpc>
                <a:spcPct val="150000"/>
              </a:lnSpc>
            </a:pPr>
            <a:r>
              <a:rPr lang="pl-PL" sz="1600" dirty="0"/>
              <a:t>Stany są reprezentowane jako osobne klasy (np. </a:t>
            </a:r>
            <a:r>
              <a:rPr lang="pl-PL" sz="1600" b="1" dirty="0" err="1"/>
              <a:t>PlayingState</a:t>
            </a:r>
            <a:r>
              <a:rPr lang="pl-PL" sz="1600" dirty="0"/>
              <a:t>, </a:t>
            </a:r>
            <a:r>
              <a:rPr lang="pl-PL" sz="1600" b="1" dirty="0" err="1"/>
              <a:t>PausedState</a:t>
            </a:r>
            <a:r>
              <a:rPr lang="pl-PL" sz="1600" dirty="0"/>
              <a:t>).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FE714F4-1E15-DA9A-8119-6D6FD4CDC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680018"/>
              </p:ext>
            </p:extLst>
          </p:nvPr>
        </p:nvGraphicFramePr>
        <p:xfrm>
          <a:off x="1049965" y="3882139"/>
          <a:ext cx="8075240" cy="2945130"/>
        </p:xfrm>
        <a:graphic>
          <a:graphicData uri="http://schemas.openxmlformats.org/drawingml/2006/table">
            <a:tbl>
              <a:tblPr/>
              <a:tblGrid>
                <a:gridCol w="3181268">
                  <a:extLst>
                    <a:ext uri="{9D8B030D-6E8A-4147-A177-3AD203B41FA5}">
                      <a16:colId xmlns:a16="http://schemas.microsoft.com/office/drawing/2014/main" val="1872921568"/>
                    </a:ext>
                  </a:extLst>
                </a:gridCol>
                <a:gridCol w="2446986">
                  <a:extLst>
                    <a:ext uri="{9D8B030D-6E8A-4147-A177-3AD203B41FA5}">
                      <a16:colId xmlns:a16="http://schemas.microsoft.com/office/drawing/2014/main" val="3443997125"/>
                    </a:ext>
                  </a:extLst>
                </a:gridCol>
                <a:gridCol w="2446986">
                  <a:extLst>
                    <a:ext uri="{9D8B030D-6E8A-4147-A177-3AD203B41FA5}">
                      <a16:colId xmlns:a16="http://schemas.microsoft.com/office/drawing/2014/main" val="7037429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pl-PL" b="1" dirty="0">
                          <a:effectLst/>
                        </a:rPr>
                        <a:t>Cecha</a:t>
                      </a:r>
                    </a:p>
                  </a:txBody>
                  <a:tcPr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l-PL" b="1">
                          <a:effectLst/>
                        </a:rPr>
                        <a:t>State w Compose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l-PL" b="1">
                          <a:effectLst/>
                        </a:rPr>
                        <a:t>Wzorzec State Pattern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344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l-PL" b="1" dirty="0">
                          <a:effectLst/>
                        </a:rPr>
                        <a:t>Cel</a:t>
                      </a:r>
                      <a:endParaRPr lang="pl-PL" dirty="0">
                        <a:effectLst/>
                      </a:endParaRPr>
                    </a:p>
                  </a:txBody>
                  <a:tcPr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dirty="0">
                          <a:effectLst/>
                        </a:rPr>
                        <a:t>Reaktywność UI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>
                          <a:effectLst/>
                        </a:rPr>
                        <a:t>Zarządzanie zachowaniem obiektu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288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l-PL" b="1">
                          <a:effectLst/>
                        </a:rPr>
                        <a:t>Implementacja</a:t>
                      </a:r>
                      <a:endParaRPr lang="pl-PL">
                        <a:effectLst/>
                      </a:endParaRPr>
                    </a:p>
                  </a:txBody>
                  <a:tcPr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dirty="0" err="1">
                          <a:effectLst/>
                        </a:rPr>
                        <a:t>mutableStateOf</a:t>
                      </a:r>
                      <a:r>
                        <a:rPr lang="pl-PL" dirty="0">
                          <a:effectLst/>
                        </a:rPr>
                        <a:t>, </a:t>
                      </a:r>
                    </a:p>
                    <a:p>
                      <a:r>
                        <a:rPr lang="pl-PL" dirty="0" err="1">
                          <a:effectLst/>
                        </a:rPr>
                        <a:t>ViewModel</a:t>
                      </a:r>
                      <a:endParaRPr lang="pl-PL" dirty="0">
                        <a:effectLst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>
                          <a:effectLst/>
                        </a:rPr>
                        <a:t>Interfejsy + klasy stanów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231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l-PL" b="1">
                          <a:effectLst/>
                        </a:rPr>
                        <a:t>Złożoność</a:t>
                      </a:r>
                      <a:endParaRPr lang="pl-PL">
                        <a:effectLst/>
                      </a:endParaRPr>
                    </a:p>
                  </a:txBody>
                  <a:tcPr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>
                          <a:effectLst/>
                        </a:rPr>
                        <a:t>Niska (dla prostych przypadków)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dirty="0">
                          <a:effectLst/>
                        </a:rPr>
                        <a:t>Wysoka (dla skomplikowanej logiki stanów)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588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pl-PL" dirty="0">
                        <a:effectLst/>
                      </a:endParaRPr>
                    </a:p>
                  </a:txBody>
                  <a:tcPr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dirty="0">
                        <a:effectLst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dirty="0">
                        <a:effectLst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926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0368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8C8C63-36CE-6829-5DF6-532220ABB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8EA124-9AB8-A325-1F95-92F93AA3A3E3}"/>
              </a:ext>
            </a:extLst>
          </p:cNvPr>
          <p:cNvSpPr/>
          <p:nvPr/>
        </p:nvSpPr>
        <p:spPr>
          <a:xfrm>
            <a:off x="1943200" y="193351"/>
            <a:ext cx="7200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Strategia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FF028010-D21F-A216-34E4-7744E05304DD}"/>
              </a:ext>
            </a:extLst>
          </p:cNvPr>
          <p:cNvSpPr txBox="1"/>
          <p:nvPr/>
        </p:nvSpPr>
        <p:spPr>
          <a:xfrm>
            <a:off x="971600" y="685794"/>
            <a:ext cx="8028385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Strategia</a:t>
            </a:r>
            <a:r>
              <a:rPr lang="pl-PL" sz="1600" dirty="0"/>
              <a:t> to behawioralny wzorzec projektowy, który definiuje rodzinę wymiennych algorytmów i pozwala wybierać je w czasie działania programu.</a:t>
            </a:r>
          </a:p>
        </p:txBody>
      </p:sp>
    </p:spTree>
    <p:extLst>
      <p:ext uri="{BB962C8B-B14F-4D97-AF65-F5344CB8AC3E}">
        <p14:creationId xmlns:p14="http://schemas.microsoft.com/office/powerpoint/2010/main" val="40170621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AAEBDE-5464-B42E-6A4A-AFD1C389A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04374E-5C0D-DB85-9805-418FF0023E16}"/>
              </a:ext>
            </a:extLst>
          </p:cNvPr>
          <p:cNvSpPr/>
          <p:nvPr/>
        </p:nvSpPr>
        <p:spPr>
          <a:xfrm>
            <a:off x="1943200" y="193351"/>
            <a:ext cx="7200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Strategia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264A489-A1DF-AE3F-8D91-5593E954C396}"/>
              </a:ext>
            </a:extLst>
          </p:cNvPr>
          <p:cNvSpPr txBox="1"/>
          <p:nvPr/>
        </p:nvSpPr>
        <p:spPr>
          <a:xfrm>
            <a:off x="971600" y="685794"/>
            <a:ext cx="8028385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Strategia</a:t>
            </a:r>
            <a:r>
              <a:rPr lang="pl-PL" sz="1600" dirty="0"/>
              <a:t> to behawioralny wzorzec projektowy, który definiuje rodzinę wymiennych algorytmów i pozwala wybierać je w czasie działania programu.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AFDD4B2A-145F-23F8-1B0E-3A21046EB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471137"/>
            <a:ext cx="3076597" cy="771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8588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142CAC-AEA3-C274-7190-4A0160F29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C140EC-D831-D8A4-E63B-1794EE49FE62}"/>
              </a:ext>
            </a:extLst>
          </p:cNvPr>
          <p:cNvSpPr/>
          <p:nvPr/>
        </p:nvSpPr>
        <p:spPr>
          <a:xfrm>
            <a:off x="1943200" y="193351"/>
            <a:ext cx="7200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Strategia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4B4734C8-DF95-9038-3E3D-9E43EF2A44A2}"/>
              </a:ext>
            </a:extLst>
          </p:cNvPr>
          <p:cNvSpPr txBox="1"/>
          <p:nvPr/>
        </p:nvSpPr>
        <p:spPr>
          <a:xfrm>
            <a:off x="971600" y="685794"/>
            <a:ext cx="8028385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Strategia</a:t>
            </a:r>
            <a:r>
              <a:rPr lang="pl-PL" sz="1600" dirty="0"/>
              <a:t> to behawioralny wzorzec projektowy, który definiuje rodzinę wymiennych algorytmów i pozwala wybierać je w czasie działania programu.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D3BCA728-8C01-14E7-E9DE-65F15E1E51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471137"/>
            <a:ext cx="3076597" cy="771531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D1E95D58-C389-098B-938F-13543377A0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1888" y="2420888"/>
            <a:ext cx="3886228" cy="363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8877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E185B6-78BF-3C53-E9F5-A9859317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7BBC94-10A1-ACE6-2A16-3A608039A062}"/>
              </a:ext>
            </a:extLst>
          </p:cNvPr>
          <p:cNvSpPr/>
          <p:nvPr/>
        </p:nvSpPr>
        <p:spPr>
          <a:xfrm>
            <a:off x="1943200" y="193351"/>
            <a:ext cx="7200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Strategia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D45D1936-F442-C9E9-B724-543B50564CA4}"/>
              </a:ext>
            </a:extLst>
          </p:cNvPr>
          <p:cNvSpPr txBox="1"/>
          <p:nvPr/>
        </p:nvSpPr>
        <p:spPr>
          <a:xfrm>
            <a:off x="971600" y="685794"/>
            <a:ext cx="8028385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Strategia</a:t>
            </a:r>
            <a:r>
              <a:rPr lang="pl-PL" sz="1600" dirty="0"/>
              <a:t> to behawioralny wzorzec projektowy, który definiuje rodzinę wymiennych algorytmów i pozwala wybierać je w czasie działania programu.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115C560D-0096-BADF-F419-B00DCA660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471137"/>
            <a:ext cx="3076597" cy="771531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834F0807-47DD-1281-FCF9-ABF3D27B8D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1888" y="2420888"/>
            <a:ext cx="3886228" cy="3638577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41262E79-A6FF-9FAD-1C2D-7ED794D1D9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227" y="1471137"/>
            <a:ext cx="4276756" cy="235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0867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59C547-8E7B-DE9A-8778-C566F80B7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54A2C1-C316-211C-BBE1-5307193CB8C5}"/>
              </a:ext>
            </a:extLst>
          </p:cNvPr>
          <p:cNvSpPr/>
          <p:nvPr/>
        </p:nvSpPr>
        <p:spPr>
          <a:xfrm>
            <a:off x="1943200" y="193351"/>
            <a:ext cx="7200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Strategia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C0204C1-E032-0289-6C2F-F539017D3BFA}"/>
              </a:ext>
            </a:extLst>
          </p:cNvPr>
          <p:cNvSpPr txBox="1"/>
          <p:nvPr/>
        </p:nvSpPr>
        <p:spPr>
          <a:xfrm>
            <a:off x="971600" y="685794"/>
            <a:ext cx="8028385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Strategia</a:t>
            </a:r>
            <a:r>
              <a:rPr lang="pl-PL" sz="1600" dirty="0"/>
              <a:t> to behawioralny wzorzec projektowy, który definiuje rodzinę wymiennych algorytmów i pozwala wybierać je w czasie działania programu.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227DDC2E-987C-172F-AE82-7EBDB732F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471137"/>
            <a:ext cx="3076597" cy="771531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1F0F0007-0D29-D1B1-021C-D3F1DAA761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1888" y="2420888"/>
            <a:ext cx="3886228" cy="3638577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D04D834D-5F81-FE9D-7FEA-4AF3A4EA01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227" y="1471137"/>
            <a:ext cx="4276756" cy="2352692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3824667A-6A31-AA06-781E-11A4C71966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852" y="4354478"/>
            <a:ext cx="4229131" cy="170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9499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D9FC41-95D6-674C-17FC-F086B0FEE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AF4663-CD18-4308-171D-6992975E04A7}"/>
              </a:ext>
            </a:extLst>
          </p:cNvPr>
          <p:cNvSpPr/>
          <p:nvPr/>
        </p:nvSpPr>
        <p:spPr>
          <a:xfrm>
            <a:off x="1943200" y="193351"/>
            <a:ext cx="7200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Strategia vs Stan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42A9B65-97DC-72D9-5F66-2E3292D8FBD9}"/>
              </a:ext>
            </a:extLst>
          </p:cNvPr>
          <p:cNvSpPr txBox="1"/>
          <p:nvPr/>
        </p:nvSpPr>
        <p:spPr>
          <a:xfrm>
            <a:off x="971600" y="685794"/>
            <a:ext cx="8028385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Strategia</a:t>
            </a:r>
            <a:r>
              <a:rPr lang="pl-PL" sz="1600" dirty="0"/>
              <a:t> to behawioralny wzorzec projektowy, który definiuje rodzinę wymiennych algorytmów i pozwala wybierać je w czasie działania programu.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ECAEF261-9C5A-EA1A-5F6F-D61571818A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495393"/>
              </p:ext>
            </p:extLst>
          </p:nvPr>
        </p:nvGraphicFramePr>
        <p:xfrm>
          <a:off x="1115615" y="2060848"/>
          <a:ext cx="8028385" cy="2205990"/>
        </p:xfrm>
        <a:graphic>
          <a:graphicData uri="http://schemas.openxmlformats.org/drawingml/2006/table">
            <a:tbl>
              <a:tblPr/>
              <a:tblGrid>
                <a:gridCol w="4631072">
                  <a:extLst>
                    <a:ext uri="{9D8B030D-6E8A-4147-A177-3AD203B41FA5}">
                      <a16:colId xmlns:a16="http://schemas.microsoft.com/office/drawing/2014/main" val="3809518178"/>
                    </a:ext>
                  </a:extLst>
                </a:gridCol>
                <a:gridCol w="3397313">
                  <a:extLst>
                    <a:ext uri="{9D8B030D-6E8A-4147-A177-3AD203B41FA5}">
                      <a16:colId xmlns:a16="http://schemas.microsoft.com/office/drawing/2014/main" val="24883799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pl-PL" b="1" dirty="0">
                          <a:effectLst/>
                        </a:rPr>
                        <a:t>Strategia</a:t>
                      </a:r>
                    </a:p>
                  </a:txBody>
                  <a:tcPr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l-PL" b="1">
                          <a:effectLst/>
                        </a:rPr>
                        <a:t>State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153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l-PL" dirty="0">
                          <a:effectLst/>
                        </a:rPr>
                        <a:t>Algorytmy są </a:t>
                      </a:r>
                      <a:r>
                        <a:rPr lang="pl-PL" b="1" dirty="0">
                          <a:effectLst/>
                        </a:rPr>
                        <a:t>niezależne od siebie</a:t>
                      </a:r>
                      <a:endParaRPr lang="pl-PL" dirty="0">
                        <a:effectLst/>
                      </a:endParaRPr>
                    </a:p>
                  </a:txBody>
                  <a:tcPr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>
                          <a:effectLst/>
                        </a:rPr>
                        <a:t>Stany </a:t>
                      </a:r>
                      <a:r>
                        <a:rPr lang="pl-PL" b="1">
                          <a:effectLst/>
                        </a:rPr>
                        <a:t>znają inne stany</a:t>
                      </a:r>
                      <a:r>
                        <a:rPr lang="pl-PL">
                          <a:effectLst/>
                        </a:rPr>
                        <a:t> (np. PausedState wie o PlayingState)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789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l-PL">
                          <a:effectLst/>
                        </a:rPr>
                        <a:t>Wybór strategii jest </a:t>
                      </a:r>
                      <a:r>
                        <a:rPr lang="pl-PL" b="1">
                          <a:effectLst/>
                        </a:rPr>
                        <a:t>świadomy</a:t>
                      </a:r>
                      <a:r>
                        <a:rPr lang="pl-PL">
                          <a:effectLst/>
                        </a:rPr>
                        <a:t> (np. wybór płatności)</a:t>
                      </a:r>
                    </a:p>
                  </a:txBody>
                  <a:tcPr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dirty="0">
                          <a:effectLst/>
                        </a:rPr>
                        <a:t>Zmiana stanu </a:t>
                      </a:r>
                      <a:r>
                        <a:rPr lang="pl-PL" b="1" dirty="0">
                          <a:effectLst/>
                        </a:rPr>
                        <a:t>dzieje się automatycznie</a:t>
                      </a:r>
                      <a:r>
                        <a:rPr lang="pl-PL" dirty="0">
                          <a:effectLst/>
                        </a:rPr>
                        <a:t> (np. po kliknięciu "</a:t>
                      </a:r>
                      <a:r>
                        <a:rPr lang="pl-PL" dirty="0" err="1">
                          <a:effectLst/>
                        </a:rPr>
                        <a:t>pause</a:t>
                      </a:r>
                      <a:r>
                        <a:rPr lang="pl-PL" dirty="0">
                          <a:effectLst/>
                        </a:rPr>
                        <a:t>")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72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38266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F8DA43-CDAE-FC52-33C2-C1E4A3F7A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7B8547-9EA1-865D-C4DD-0104B09417FF}"/>
              </a:ext>
            </a:extLst>
          </p:cNvPr>
          <p:cNvSpPr/>
          <p:nvPr/>
        </p:nvSpPr>
        <p:spPr>
          <a:xfrm>
            <a:off x="1943200" y="193351"/>
            <a:ext cx="7200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Mediator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6428AD18-69D9-2BD4-8512-D4C5867BDFEE}"/>
              </a:ext>
            </a:extLst>
          </p:cNvPr>
          <p:cNvSpPr txBox="1"/>
          <p:nvPr/>
        </p:nvSpPr>
        <p:spPr>
          <a:xfrm>
            <a:off x="971600" y="685794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Mediator</a:t>
            </a:r>
            <a:r>
              <a:rPr lang="pl-PL" sz="1600" dirty="0"/>
              <a:t> to behawioralny wzorzec projektowy, który centralizuje komunikację między obiektami w systemie, zamiast pozwalać im odwoływać się do siebie bezpośrednio. Działa jak "router" lub "dyspozytor" zdarzeń.</a:t>
            </a:r>
          </a:p>
        </p:txBody>
      </p:sp>
    </p:spTree>
    <p:extLst>
      <p:ext uri="{BB962C8B-B14F-4D97-AF65-F5344CB8AC3E}">
        <p14:creationId xmlns:p14="http://schemas.microsoft.com/office/powerpoint/2010/main" val="7921772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F35116-4A74-7D12-21E0-B8D19376C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2CD27B-C396-249C-6923-5D926BBEA7BD}"/>
              </a:ext>
            </a:extLst>
          </p:cNvPr>
          <p:cNvSpPr/>
          <p:nvPr/>
        </p:nvSpPr>
        <p:spPr>
          <a:xfrm>
            <a:off x="1943200" y="193351"/>
            <a:ext cx="7200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Mediator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15D235C-C475-BC64-7557-732B0C8FD1BC}"/>
              </a:ext>
            </a:extLst>
          </p:cNvPr>
          <p:cNvSpPr txBox="1"/>
          <p:nvPr/>
        </p:nvSpPr>
        <p:spPr>
          <a:xfrm>
            <a:off x="971600" y="685794"/>
            <a:ext cx="8028385" cy="3001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Mediator</a:t>
            </a:r>
            <a:r>
              <a:rPr lang="pl-PL" sz="1600" dirty="0"/>
              <a:t> to behawioralny wzorzec projektowy, który centralizuje komunikację między obiektami w systemie, zamiast pozwalać im odwoływać się do siebie bezpośrednio. Działa jak "router" lub "dyspozytor" zdarzeń.</a:t>
            </a:r>
          </a:p>
          <a:p>
            <a:pPr algn="just">
              <a:lnSpc>
                <a:spcPct val="150000"/>
              </a:lnSpc>
            </a:pPr>
            <a:endParaRPr lang="pl-PL" sz="1600" dirty="0"/>
          </a:p>
          <a:p>
            <a:pPr algn="just">
              <a:lnSpc>
                <a:spcPct val="150000"/>
              </a:lnSpc>
            </a:pPr>
            <a:r>
              <a:rPr lang="pl-PL" sz="1600" dirty="0"/>
              <a:t>Kluczowe elementy</a:t>
            </a:r>
          </a:p>
          <a:p>
            <a:pPr algn="just">
              <a:lnSpc>
                <a:spcPct val="150000"/>
              </a:lnSpc>
            </a:pPr>
            <a:r>
              <a:rPr lang="pl-PL" sz="1600" b="1" dirty="0"/>
              <a:t>Mediator</a:t>
            </a:r>
            <a:r>
              <a:rPr lang="pl-PL" sz="1600" dirty="0"/>
              <a:t> – interfejs lub klasa pośrednicząca w komunikacji.</a:t>
            </a:r>
          </a:p>
          <a:p>
            <a:pPr algn="just">
              <a:lnSpc>
                <a:spcPct val="150000"/>
              </a:lnSpc>
            </a:pPr>
            <a:r>
              <a:rPr lang="pl-PL" sz="1600" b="1" dirty="0" err="1"/>
              <a:t>Colleague</a:t>
            </a:r>
            <a:r>
              <a:rPr lang="pl-PL" sz="1600" dirty="0"/>
              <a:t> (Komponent) – obiekty, które komunikują się przez Mediatora (zamiast bezpośrednio).</a:t>
            </a:r>
          </a:p>
        </p:txBody>
      </p:sp>
    </p:spTree>
    <p:extLst>
      <p:ext uri="{BB962C8B-B14F-4D97-AF65-F5344CB8AC3E}">
        <p14:creationId xmlns:p14="http://schemas.microsoft.com/office/powerpoint/2010/main" val="36961562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655ABD-C59B-AA4F-19E3-B5EE54106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BD43AC-5B38-7836-9CB2-642ABF3E8ECA}"/>
              </a:ext>
            </a:extLst>
          </p:cNvPr>
          <p:cNvSpPr/>
          <p:nvPr/>
        </p:nvSpPr>
        <p:spPr>
          <a:xfrm>
            <a:off x="1943200" y="193351"/>
            <a:ext cx="7200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Mediator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163CE21-D46F-B2B5-5C85-B9F385144F99}"/>
              </a:ext>
            </a:extLst>
          </p:cNvPr>
          <p:cNvSpPr txBox="1"/>
          <p:nvPr/>
        </p:nvSpPr>
        <p:spPr>
          <a:xfrm>
            <a:off x="971600" y="685794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Mediator</a:t>
            </a:r>
            <a:r>
              <a:rPr lang="pl-PL" sz="1600" dirty="0"/>
              <a:t> to behawioralny wzorzec projektowy, który centralizuje komunikację między obiektami w systemie, zamiast pozwalać im odwoływać się do siebie bezpośrednio. Działa jak "router" lub "dyspozytor" zdarzeń.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3306618E-9162-BCD3-39A1-64D097BB7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1879288"/>
            <a:ext cx="4010054" cy="93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3871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540801-B135-CF41-5459-3131D9E01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E40407-8DE7-3F28-E7F4-9DA5FEFF1520}"/>
              </a:ext>
            </a:extLst>
          </p:cNvPr>
          <p:cNvSpPr/>
          <p:nvPr/>
        </p:nvSpPr>
        <p:spPr>
          <a:xfrm>
            <a:off x="1943200" y="193351"/>
            <a:ext cx="7200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Mediator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B68BB47-A75C-8753-4CA4-B2D9AAE432FE}"/>
              </a:ext>
            </a:extLst>
          </p:cNvPr>
          <p:cNvSpPr txBox="1"/>
          <p:nvPr/>
        </p:nvSpPr>
        <p:spPr>
          <a:xfrm>
            <a:off x="971600" y="685794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Mediator</a:t>
            </a:r>
            <a:r>
              <a:rPr lang="pl-PL" sz="1600" dirty="0"/>
              <a:t> to behawioralny wzorzec projektowy, który centralizuje komunikację między obiektami w systemie, zamiast pozwalać im odwoływać się do siebie bezpośrednio. Działa jak "router" lub "dyspozytor" zdarzeń.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2D23656C-9F2C-DFDD-96C2-BE63F77C2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1879288"/>
            <a:ext cx="4010054" cy="933457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7F0D627D-2FC8-237E-17CD-A4DE13F79D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7624" y="2924157"/>
            <a:ext cx="3838603" cy="324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2662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E3993E-133D-C687-DA17-C148DC869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F3BAC9-1ECE-B62D-182C-3A86E0A9C8DA}"/>
              </a:ext>
            </a:extLst>
          </p:cNvPr>
          <p:cNvSpPr/>
          <p:nvPr/>
        </p:nvSpPr>
        <p:spPr>
          <a:xfrm>
            <a:off x="1943200" y="193351"/>
            <a:ext cx="7200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Mediator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F1D28AB-6210-0969-2D6C-3A2C22EEFA92}"/>
              </a:ext>
            </a:extLst>
          </p:cNvPr>
          <p:cNvSpPr txBox="1"/>
          <p:nvPr/>
        </p:nvSpPr>
        <p:spPr>
          <a:xfrm>
            <a:off x="971600" y="685794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Mediator</a:t>
            </a:r>
            <a:r>
              <a:rPr lang="pl-PL" sz="1600" dirty="0"/>
              <a:t> to behawioralny wzorzec projektowy, który centralizuje komunikację między obiektami w systemie, zamiast pozwalać im odwoływać się do siebie bezpośrednio. Działa jak "router" lub "dyspozytor" zdarzeń.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9C401E79-18D4-F295-37FE-597BC9972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1879288"/>
            <a:ext cx="4010054" cy="933457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7B7000D3-0DFB-58D0-E51D-72FB414B50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7624" y="2924157"/>
            <a:ext cx="3838603" cy="3248049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6FA1FE22-EB0B-E547-5079-13C76ADBBC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0907" y="1879288"/>
            <a:ext cx="3829078" cy="34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2793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A1574C-906C-36DE-9131-940822774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F26B72-4C5A-1F3E-1C7A-DD30C116D4E4}"/>
              </a:ext>
            </a:extLst>
          </p:cNvPr>
          <p:cNvSpPr/>
          <p:nvPr/>
        </p:nvSpPr>
        <p:spPr>
          <a:xfrm>
            <a:off x="1943200" y="193351"/>
            <a:ext cx="7200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Mediator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8785035-627B-0709-E549-00AF352DB3C8}"/>
              </a:ext>
            </a:extLst>
          </p:cNvPr>
          <p:cNvSpPr txBox="1"/>
          <p:nvPr/>
        </p:nvSpPr>
        <p:spPr>
          <a:xfrm>
            <a:off x="971600" y="685794"/>
            <a:ext cx="8028385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Mediator</a:t>
            </a:r>
            <a:r>
              <a:rPr lang="pl-PL" sz="1600" dirty="0"/>
              <a:t> to behawioralny wzorzec projektowy, który centralizuje komunikację między obiektami w systemie, zamiast pozwalać im odwoływać się do siebie bezpośrednio. Działa jak "router" lub "dyspozytor" zdarzeń.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403D0945-C0BE-0CB1-698F-C0E780E58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1879288"/>
            <a:ext cx="4010054" cy="933457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64CB6483-8761-B89C-EFE6-CD7189B587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7624" y="2924157"/>
            <a:ext cx="3838603" cy="3248049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D98D2C3D-17B3-50FD-41AE-B9753B2C6F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0907" y="1879288"/>
            <a:ext cx="3829078" cy="3400450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ADA51C65-1FBE-DCCD-C31C-DE31BFAD27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4128" y="5357376"/>
            <a:ext cx="3152798" cy="1228734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656B536B-2C2A-C96E-02DE-8F0FC9D4DF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4126" y="5869126"/>
            <a:ext cx="3219474" cy="83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349035"/>
      </p:ext>
    </p:extLst>
  </p:cSld>
  <p:clrMapOvr>
    <a:masterClrMapping/>
  </p:clrMapOvr>
</p:sld>
</file>

<file path=ppt/theme/theme1.xml><?xml version="1.0" encoding="utf-8"?>
<a:theme xmlns:a="http://schemas.openxmlformats.org/drawingml/2006/main" name="uni.wroc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uni.wroc_01.potx</Template>
  <TotalTime>89112</TotalTime>
  <Pages>0</Pages>
  <Words>1365</Words>
  <Characters>0</Characters>
  <Application>Microsoft Office PowerPoint</Application>
  <PresentationFormat>Pokaz na ekranie (4:3)</PresentationFormat>
  <Lines>0</Lines>
  <Paragraphs>191</Paragraphs>
  <Slides>38</Slides>
  <Notes>38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38</vt:i4>
      </vt:variant>
    </vt:vector>
  </HeadingPairs>
  <TitlesOfParts>
    <vt:vector size="43" baseType="lpstr">
      <vt:lpstr>Arial</vt:lpstr>
      <vt:lpstr>Calibri</vt:lpstr>
      <vt:lpstr>Courier New</vt:lpstr>
      <vt:lpstr>Verdana</vt:lpstr>
      <vt:lpstr>uni.wroc_01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Podręcznik użytkownika  Systemu Identyfikacji Wizualnej   cz. I  dla pracowników naukowych i administracyjnych</dc:title>
  <dc:subject/>
  <dc:creator>tolek</dc:creator>
  <cp:keywords/>
  <dc:description/>
  <cp:lastModifiedBy>Rafał Lewandków</cp:lastModifiedBy>
  <cp:revision>1378</cp:revision>
  <dcterms:modified xsi:type="dcterms:W3CDTF">2025-05-20T12:54:23Z</dcterms:modified>
  <cp:category/>
</cp:coreProperties>
</file>