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96" r:id="rId1"/>
  </p:sldMasterIdLst>
  <p:notesMasterIdLst>
    <p:notesMasterId r:id="rId16"/>
  </p:notesMasterIdLst>
  <p:handoutMasterIdLst>
    <p:handoutMasterId r:id="rId17"/>
  </p:handoutMasterIdLst>
  <p:sldIdLst>
    <p:sldId id="346" r:id="rId2"/>
    <p:sldId id="503" r:id="rId3"/>
    <p:sldId id="504" r:id="rId4"/>
    <p:sldId id="506" r:id="rId5"/>
    <p:sldId id="508" r:id="rId6"/>
    <p:sldId id="509" r:id="rId7"/>
    <p:sldId id="510" r:id="rId8"/>
    <p:sldId id="515" r:id="rId9"/>
    <p:sldId id="518" r:id="rId10"/>
    <p:sldId id="519" r:id="rId11"/>
    <p:sldId id="520" r:id="rId12"/>
    <p:sldId id="521" r:id="rId13"/>
    <p:sldId id="522" r:id="rId14"/>
    <p:sldId id="523" r:id="rId15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1200" kern="1200">
        <a:solidFill>
          <a:srgbClr val="000000"/>
        </a:solidFill>
        <a:latin typeface="Arial" charset="0"/>
        <a:ea typeface="ヒラギノ角ゴ ProN W3" charset="0"/>
        <a:cs typeface="ヒラギノ角ゴ ProN W3" charset="0"/>
        <a:sym typeface="Arial" charset="0"/>
      </a:defRPr>
    </a:lvl1pPr>
    <a:lvl2pPr marL="457200" algn="l" rtl="0" fontAlgn="base">
      <a:spcBef>
        <a:spcPct val="0"/>
      </a:spcBef>
      <a:spcAft>
        <a:spcPct val="0"/>
      </a:spcAft>
      <a:defRPr sz="1200" kern="1200">
        <a:solidFill>
          <a:srgbClr val="000000"/>
        </a:solidFill>
        <a:latin typeface="Arial" charset="0"/>
        <a:ea typeface="ヒラギノ角ゴ ProN W3" charset="0"/>
        <a:cs typeface="ヒラギノ角ゴ ProN W3" charset="0"/>
        <a:sym typeface="Arial" charset="0"/>
      </a:defRPr>
    </a:lvl2pPr>
    <a:lvl3pPr marL="914400" algn="l" rtl="0" fontAlgn="base">
      <a:spcBef>
        <a:spcPct val="0"/>
      </a:spcBef>
      <a:spcAft>
        <a:spcPct val="0"/>
      </a:spcAft>
      <a:defRPr sz="1200" kern="1200">
        <a:solidFill>
          <a:srgbClr val="000000"/>
        </a:solidFill>
        <a:latin typeface="Arial" charset="0"/>
        <a:ea typeface="ヒラギノ角ゴ ProN W3" charset="0"/>
        <a:cs typeface="ヒラギノ角ゴ ProN W3" charset="0"/>
        <a:sym typeface="Arial" charset="0"/>
      </a:defRPr>
    </a:lvl3pPr>
    <a:lvl4pPr marL="1371600" algn="l" rtl="0" fontAlgn="base">
      <a:spcBef>
        <a:spcPct val="0"/>
      </a:spcBef>
      <a:spcAft>
        <a:spcPct val="0"/>
      </a:spcAft>
      <a:defRPr sz="1200" kern="1200">
        <a:solidFill>
          <a:srgbClr val="000000"/>
        </a:solidFill>
        <a:latin typeface="Arial" charset="0"/>
        <a:ea typeface="ヒラギノ角ゴ ProN W3" charset="0"/>
        <a:cs typeface="ヒラギノ角ゴ ProN W3" charset="0"/>
        <a:sym typeface="Arial" charset="0"/>
      </a:defRPr>
    </a:lvl4pPr>
    <a:lvl5pPr marL="1828800" algn="l" rtl="0" fontAlgn="base">
      <a:spcBef>
        <a:spcPct val="0"/>
      </a:spcBef>
      <a:spcAft>
        <a:spcPct val="0"/>
      </a:spcAft>
      <a:defRPr sz="1200" kern="1200">
        <a:solidFill>
          <a:srgbClr val="000000"/>
        </a:solidFill>
        <a:latin typeface="Arial" charset="0"/>
        <a:ea typeface="ヒラギノ角ゴ ProN W3" charset="0"/>
        <a:cs typeface="ヒラギノ角ゴ ProN W3" charset="0"/>
        <a:sym typeface="Arial" charset="0"/>
      </a:defRPr>
    </a:lvl5pPr>
    <a:lvl6pPr marL="2286000" algn="l" defTabSz="914400" rtl="0" eaLnBrk="1" latinLnBrk="0" hangingPunct="1">
      <a:defRPr sz="1200" kern="1200">
        <a:solidFill>
          <a:srgbClr val="000000"/>
        </a:solidFill>
        <a:latin typeface="Arial" charset="0"/>
        <a:ea typeface="ヒラギノ角ゴ ProN W3" charset="0"/>
        <a:cs typeface="ヒラギノ角ゴ ProN W3" charset="0"/>
        <a:sym typeface="Arial" charset="0"/>
      </a:defRPr>
    </a:lvl6pPr>
    <a:lvl7pPr marL="2743200" algn="l" defTabSz="914400" rtl="0" eaLnBrk="1" latinLnBrk="0" hangingPunct="1">
      <a:defRPr sz="1200" kern="1200">
        <a:solidFill>
          <a:srgbClr val="000000"/>
        </a:solidFill>
        <a:latin typeface="Arial" charset="0"/>
        <a:ea typeface="ヒラギノ角ゴ ProN W3" charset="0"/>
        <a:cs typeface="ヒラギノ角ゴ ProN W3" charset="0"/>
        <a:sym typeface="Arial" charset="0"/>
      </a:defRPr>
    </a:lvl7pPr>
    <a:lvl8pPr marL="3200400" algn="l" defTabSz="914400" rtl="0" eaLnBrk="1" latinLnBrk="0" hangingPunct="1">
      <a:defRPr sz="1200" kern="1200">
        <a:solidFill>
          <a:srgbClr val="000000"/>
        </a:solidFill>
        <a:latin typeface="Arial" charset="0"/>
        <a:ea typeface="ヒラギノ角ゴ ProN W3" charset="0"/>
        <a:cs typeface="ヒラギノ角ゴ ProN W3" charset="0"/>
        <a:sym typeface="Arial" charset="0"/>
      </a:defRPr>
    </a:lvl8pPr>
    <a:lvl9pPr marL="3657600" algn="l" defTabSz="914400" rtl="0" eaLnBrk="1" latinLnBrk="0" hangingPunct="1">
      <a:defRPr sz="1200" kern="1200">
        <a:solidFill>
          <a:srgbClr val="000000"/>
        </a:solidFill>
        <a:latin typeface="Arial" charset="0"/>
        <a:ea typeface="ヒラギノ角ゴ ProN W3" charset="0"/>
        <a:cs typeface="ヒラギノ角ゴ ProN W3" charset="0"/>
        <a:sym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Rafi Lew" initials="RL" lastIdx="1" clrIdx="0">
    <p:extLst>
      <p:ext uri="{19B8F6BF-5375-455C-9EA6-DF929625EA0E}">
        <p15:presenceInfo xmlns:p15="http://schemas.microsoft.com/office/powerpoint/2012/main" userId="218299075d94207c" providerId="Windows Live"/>
      </p:ext>
    </p:extLst>
  </p:cmAuthor>
  <p:cmAuthor id="2" name="Rafał Lewandków" initials="RL" lastIdx="4" clrIdx="1">
    <p:extLst>
      <p:ext uri="{19B8F6BF-5375-455C-9EA6-DF929625EA0E}">
        <p15:presenceInfo xmlns:p15="http://schemas.microsoft.com/office/powerpoint/2012/main" userId="Rafał Lewandków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00FF00"/>
    <a:srgbClr val="00FFFF"/>
    <a:srgbClr val="FF00FF"/>
    <a:srgbClr val="006600"/>
    <a:srgbClr val="BCE292"/>
    <a:srgbClr val="FF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 pośredni 2 — Ak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2" autoAdjust="0"/>
    <p:restoredTop sz="94892" autoAdjust="0"/>
  </p:normalViewPr>
  <p:slideViewPr>
    <p:cSldViewPr>
      <p:cViewPr varScale="1">
        <p:scale>
          <a:sx n="113" d="100"/>
          <a:sy n="113" d="100"/>
        </p:scale>
        <p:origin x="1512" y="4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152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61" d="100"/>
          <a:sy n="61" d="100"/>
        </p:scale>
        <p:origin x="859" y="3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commentAuthors" Target="commentAuthors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nagłówka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l-PL"/>
          </a:p>
        </p:txBody>
      </p:sp>
      <p:sp>
        <p:nvSpPr>
          <p:cNvPr id="3" name="Symbol zastępczy daty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113504E-0C99-2340-A5F6-DD6E1A87C372}" type="datetimeFigureOut">
              <a:rPr lang="pl-PL" smtClean="0"/>
              <a:t>26.02.2025</a:t>
            </a:fld>
            <a:endParaRPr lang="pl-PL"/>
          </a:p>
        </p:txBody>
      </p:sp>
      <p:sp>
        <p:nvSpPr>
          <p:cNvPr id="4" name="Symbol zastępczy stopki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l-PL"/>
          </a:p>
        </p:txBody>
      </p:sp>
      <p:sp>
        <p:nvSpPr>
          <p:cNvPr id="5" name="Symbol zastępczy numeru slajdu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96285F6-EDF4-6942-8E96-D0A50380D901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175080383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nagłówka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l-PL"/>
          </a:p>
        </p:txBody>
      </p:sp>
      <p:sp>
        <p:nvSpPr>
          <p:cNvPr id="3" name="Symbol zastępczy daty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78C933E-44E9-2D43-91B0-0D2BEEFA7EB9}" type="datetimeFigureOut">
              <a:rPr lang="pl-PL" smtClean="0"/>
              <a:t>26.02.2025</a:t>
            </a:fld>
            <a:endParaRPr lang="pl-PL"/>
          </a:p>
        </p:txBody>
      </p:sp>
      <p:sp>
        <p:nvSpPr>
          <p:cNvPr id="4" name="Symbol zastępczy obrazu slajdu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l-PL"/>
          </a:p>
        </p:txBody>
      </p:sp>
      <p:sp>
        <p:nvSpPr>
          <p:cNvPr id="5" name="Symbol zastępczy notatek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6" name="Symbol zastępczy stopki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l-PL"/>
          </a:p>
        </p:txBody>
      </p:sp>
      <p:sp>
        <p:nvSpPr>
          <p:cNvPr id="7" name="Symbol zastępczy numeru slajdu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9CE77F9-1A7F-B148-A0AA-5828300D10BC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039382659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endParaRPr lang="pl-P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CE77F9-1A7F-B148-A0AA-5828300D10BC}" type="slidenum">
              <a:rPr lang="pl-PL" smtClean="0"/>
              <a:t>1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16819215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endParaRPr lang="pl-PL" dirty="0">
              <a:effectLst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CE77F9-1A7F-B148-A0AA-5828300D10BC}" type="slidenum">
              <a:rPr lang="pl-PL" smtClean="0"/>
              <a:t>2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47398183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endParaRPr lang="pl-PL" dirty="0">
              <a:effectLst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CE77F9-1A7F-B148-A0AA-5828300D10BC}" type="slidenum">
              <a:rPr lang="pl-PL" smtClean="0"/>
              <a:t>3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4060498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endParaRPr lang="pl-PL" dirty="0">
              <a:effectLst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CE77F9-1A7F-B148-A0AA-5828300D10BC}" type="slidenum">
              <a:rPr lang="pl-PL" smtClean="0"/>
              <a:t>4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19758534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endParaRPr lang="pl-PL" dirty="0">
              <a:effectLst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CE77F9-1A7F-B148-A0AA-5828300D10BC}" type="slidenum">
              <a:rPr lang="pl-PL" smtClean="0"/>
              <a:t>5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28382706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endParaRPr lang="pl-PL" dirty="0">
              <a:effectLst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CE77F9-1A7F-B148-A0AA-5828300D10BC}" type="slidenum">
              <a:rPr lang="pl-PL" smtClean="0"/>
              <a:t>6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03793955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endParaRPr lang="pl-PL" dirty="0">
              <a:effectLst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CE77F9-1A7F-B148-A0AA-5828300D10BC}" type="slidenum">
              <a:rPr lang="pl-PL" smtClean="0"/>
              <a:t>7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47398183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endParaRPr lang="pl-PL" dirty="0">
              <a:effectLst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CE77F9-1A7F-B148-A0AA-5828300D10BC}" type="slidenum">
              <a:rPr lang="pl-PL" smtClean="0"/>
              <a:t>8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94639653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9CFF8E-D8D4-0A3A-2952-40E1AE15BA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D1B434F-87BD-3FED-7C94-3A7C47D780B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FA1E13D-0C08-1997-6BB7-A9C5971B594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endParaRPr lang="pl-PL" dirty="0">
              <a:effectLst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CFA25F5-8928-F9B9-F31E-9A797DB529B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CE77F9-1A7F-B148-A0AA-5828300D10BC}" type="slidenum">
              <a:rPr lang="pl-PL" smtClean="0"/>
              <a:t>9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02511292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3D82A2-1BEC-78EF-0D4E-F61753CB3E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BFC1BE2-0ACE-D22F-3025-4E169D06229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2C4EA01-63F2-89E6-DC1A-5CCB9936F0D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endParaRPr lang="pl-PL" dirty="0">
              <a:effectLst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759DCB4-4762-1939-1CEA-7E4D42A1B1C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CE77F9-1A7F-B148-A0AA-5828300D10BC}" type="slidenum">
              <a:rPr lang="pl-PL" smtClean="0"/>
              <a:t>10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65926958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1CFBA9-34AE-EB50-2A76-AD9246D310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E789F36-4562-D03A-3B92-F60282ED823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5E4BC5E-6F77-258A-8F54-0B5BE911DC5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endParaRPr lang="pl-PL" dirty="0">
              <a:effectLst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2742609-88A2-C9AF-8E8A-9BE3118C64E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CE77F9-1A7F-B148-A0AA-5828300D10BC}" type="slidenum">
              <a:rPr lang="pl-PL" smtClean="0"/>
              <a:t>11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50713266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9DDB11-F072-29CF-7C0E-88B11434A5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31F670E-A63B-7563-2691-78BBDCB3D8B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47F1A9B-0F35-3C12-4BF0-6906C58E711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endParaRPr lang="pl-PL" dirty="0">
              <a:effectLst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1B4E345-CDFB-29DB-94FC-2ADCE10755D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CE77F9-1A7F-B148-A0AA-5828300D10BC}" type="slidenum">
              <a:rPr lang="pl-PL" smtClean="0"/>
              <a:t>12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43220208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0166B3-3EE0-613E-928D-255131B24B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3FBEBFE-1D01-FB93-F8F9-2C94AAE1A4F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AB87259-6322-7EB9-636E-26C246D7ABB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endParaRPr lang="pl-PL" dirty="0">
              <a:effectLst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438E10-4EA5-72B8-9FAD-5C8A628C36D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CE77F9-1A7F-B148-A0AA-5828300D10BC}" type="slidenum">
              <a:rPr lang="pl-PL" smtClean="0"/>
              <a:t>13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15819417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734167-4556-212E-B680-B3BB3C919C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42DECA4-2AA8-7DAE-0875-CFB067F6AEA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4C01026-D44B-8FC2-3AF9-E3FED37F3BA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endParaRPr lang="pl-PL" dirty="0">
              <a:effectLst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6E4C1C1-7CDA-7AAB-F745-837E1C2AF3F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CE77F9-1A7F-B148-A0AA-5828300D10BC}" type="slidenum">
              <a:rPr lang="pl-PL" smtClean="0"/>
              <a:t>14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17761473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ajd tytuł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pl-PL"/>
              <a:t>Kliknij, aby edyt. styl wz. tyt.</a:t>
            </a:r>
          </a:p>
        </p:txBody>
      </p:sp>
      <p:sp>
        <p:nvSpPr>
          <p:cNvPr id="3" name="Podtytuł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l-PL"/>
              <a:t>Kliknij, aby edytować styl wzorca podtytułu</a:t>
            </a:r>
          </a:p>
        </p:txBody>
      </p:sp>
      <p:sp>
        <p:nvSpPr>
          <p:cNvPr id="4" name="Symbol zastępczy daty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017B01-0C30-B241-B19F-621BE4770608}" type="datetimeFigureOut">
              <a:rPr lang="pl-PL" smtClean="0"/>
              <a:t>26.02.2025</a:t>
            </a:fld>
            <a:endParaRPr lang="pl-PL"/>
          </a:p>
        </p:txBody>
      </p:sp>
      <p:sp>
        <p:nvSpPr>
          <p:cNvPr id="5" name="Symbol zastępczy stopki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03FEF5-976C-4EA3-84A7-FBC3543521F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2972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ytuł i zawartoś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edyt. styl wz. tyt.</a:t>
            </a:r>
          </a:p>
        </p:txBody>
      </p:sp>
      <p:sp>
        <p:nvSpPr>
          <p:cNvPr id="3" name="Symbol zastępczy zawartości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017B01-0C30-B241-B19F-621BE4770608}" type="datetimeFigureOut">
              <a:rPr lang="pl-PL" smtClean="0"/>
              <a:t>26.02.2025</a:t>
            </a:fld>
            <a:endParaRPr lang="pl-PL"/>
          </a:p>
        </p:txBody>
      </p:sp>
      <p:sp>
        <p:nvSpPr>
          <p:cNvPr id="5" name="Symbol zastępczy stopki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9B2623-FECC-458E-8887-8971830FA08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44047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Nagłówek sekcj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pl-PL"/>
              <a:t>Kliknij, aby edyt. styl wz. tyt.</a:t>
            </a:r>
          </a:p>
        </p:txBody>
      </p:sp>
      <p:sp>
        <p:nvSpPr>
          <p:cNvPr id="3" name="Symbol zastępczy tekstu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Symbol zastępczy daty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017B01-0C30-B241-B19F-621BE4770608}" type="datetimeFigureOut">
              <a:rPr lang="pl-PL" smtClean="0"/>
              <a:t>26.02.2025</a:t>
            </a:fld>
            <a:endParaRPr lang="pl-PL"/>
          </a:p>
        </p:txBody>
      </p:sp>
      <p:sp>
        <p:nvSpPr>
          <p:cNvPr id="5" name="Symbol zastępczy stopki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EC418-961B-4A97-8A49-C7EB1AA505E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3816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wa elementy zawartośc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edyt. styl wz. tyt.</a:t>
            </a:r>
          </a:p>
        </p:txBody>
      </p:sp>
      <p:sp>
        <p:nvSpPr>
          <p:cNvPr id="3" name="Symbol zastępczy zawartości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zawartości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5" name="Symbol zastępczy daty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017B01-0C30-B241-B19F-621BE4770608}" type="datetimeFigureOut">
              <a:rPr lang="pl-PL" smtClean="0"/>
              <a:t>26.02.2025</a:t>
            </a:fld>
            <a:endParaRPr lang="pl-PL"/>
          </a:p>
        </p:txBody>
      </p:sp>
      <p:sp>
        <p:nvSpPr>
          <p:cNvPr id="6" name="Symbol zastępczy stopki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ymbol zastępczy numeru slajd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BCE437-C745-4797-8E12-AE887F9C67E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12692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ównan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l-PL"/>
              <a:t>Kliknij, aby edyt. styl wz. tyt.</a:t>
            </a:r>
          </a:p>
        </p:txBody>
      </p:sp>
      <p:sp>
        <p:nvSpPr>
          <p:cNvPr id="3" name="Symbol zastępczy tekstu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Symbol zastępczy zawartości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5" name="Symbol zastępczy tekstu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6" name="Symbol zastępczy zawartości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7" name="Symbol zastępczy daty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017B01-0C30-B241-B19F-621BE4770608}" type="datetimeFigureOut">
              <a:rPr lang="pl-PL" smtClean="0"/>
              <a:t>26.02.2025</a:t>
            </a:fld>
            <a:endParaRPr lang="pl-PL"/>
          </a:p>
        </p:txBody>
      </p:sp>
      <p:sp>
        <p:nvSpPr>
          <p:cNvPr id="8" name="Symbol zastępczy stopki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9" name="Symbol zastępczy numeru slajdu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ED58DE-157A-47FB-B6FE-2BF3DBE0897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41143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ylko tytu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edyt. styl wz. tyt.</a:t>
            </a:r>
          </a:p>
        </p:txBody>
      </p:sp>
      <p:sp>
        <p:nvSpPr>
          <p:cNvPr id="3" name="Symbol zastępczy daty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017B01-0C30-B241-B19F-621BE4770608}" type="datetimeFigureOut">
              <a:rPr lang="pl-PL" smtClean="0"/>
              <a:t>26.02.2025</a:t>
            </a:fld>
            <a:endParaRPr lang="pl-PL"/>
          </a:p>
        </p:txBody>
      </p:sp>
      <p:sp>
        <p:nvSpPr>
          <p:cNvPr id="4" name="Symbol zastępczy stopki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5" name="Symbol zastępczy numeru slajdu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B53702-A4CE-4E37-AD1A-55778605B19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63130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us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daty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017B01-0C30-B241-B19F-621BE4770608}" type="datetimeFigureOut">
              <a:rPr lang="pl-PL" smtClean="0"/>
              <a:t>26.02.2025</a:t>
            </a:fld>
            <a:endParaRPr lang="pl-PL"/>
          </a:p>
        </p:txBody>
      </p:sp>
      <p:sp>
        <p:nvSpPr>
          <p:cNvPr id="3" name="Symbol zastępczy stopki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1E45C1-B7A3-4D83-AEC0-13697CCD1D3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0724548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Zawartość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l-PL"/>
              <a:t>Kliknij, aby edyt. styl wz. tyt.</a:t>
            </a:r>
          </a:p>
        </p:txBody>
      </p:sp>
      <p:sp>
        <p:nvSpPr>
          <p:cNvPr id="3" name="Symbol zastępczy zawartości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tekstu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5" name="Symbol zastępczy daty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017B01-0C30-B241-B19F-621BE4770608}" type="datetimeFigureOut">
              <a:rPr lang="pl-PL" smtClean="0"/>
              <a:t>26.02.2025</a:t>
            </a:fld>
            <a:endParaRPr lang="pl-PL"/>
          </a:p>
        </p:txBody>
      </p:sp>
      <p:sp>
        <p:nvSpPr>
          <p:cNvPr id="6" name="Symbol zastępczy stopki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ymbol zastępczy numeru slajd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F751C0-3663-4EFE-8A6A-10BE31BDC91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34853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az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l-PL"/>
              <a:t>Kliknij, aby edyt. styl wz. tyt.</a:t>
            </a:r>
          </a:p>
        </p:txBody>
      </p:sp>
      <p:sp>
        <p:nvSpPr>
          <p:cNvPr id="3" name="Symbol zastępczy obrazu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pl-PL"/>
              <a:t>Przeciągnij obraz na symbol zastępczy lub kliknij ikonę, aby go dodać</a:t>
            </a:r>
          </a:p>
        </p:txBody>
      </p:sp>
      <p:sp>
        <p:nvSpPr>
          <p:cNvPr id="4" name="Symbol zastępczy tekstu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5" name="Symbol zastępczy daty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017B01-0C30-B241-B19F-621BE4770608}" type="datetimeFigureOut">
              <a:rPr lang="pl-PL" smtClean="0"/>
              <a:t>26.02.2025</a:t>
            </a:fld>
            <a:endParaRPr lang="pl-PL"/>
          </a:p>
        </p:txBody>
      </p:sp>
      <p:sp>
        <p:nvSpPr>
          <p:cNvPr id="6" name="Symbol zastępczy stopki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ymbol zastępczy numeru slajd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BFEB7E-1F88-4AE7-AA89-93BE3C1A9C1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21195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ytuł i tekst pion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edyt. styl wz. tyt.</a:t>
            </a:r>
          </a:p>
        </p:txBody>
      </p:sp>
      <p:sp>
        <p:nvSpPr>
          <p:cNvPr id="3" name="Symbol zastępczy tekstu pionowego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017B01-0C30-B241-B19F-621BE4770608}" type="datetimeFigureOut">
              <a:rPr lang="pl-PL" smtClean="0"/>
              <a:t>26.02.2025</a:t>
            </a:fld>
            <a:endParaRPr lang="pl-PL"/>
          </a:p>
        </p:txBody>
      </p:sp>
      <p:sp>
        <p:nvSpPr>
          <p:cNvPr id="5" name="Symbol zastępczy stopki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C4C5AF-A148-4762-92DF-376362746BF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1363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ytuł pionowy i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pionowy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l-PL"/>
              <a:t>Kliknij, aby edyt. styl wz. tyt.</a:t>
            </a:r>
          </a:p>
        </p:txBody>
      </p:sp>
      <p:sp>
        <p:nvSpPr>
          <p:cNvPr id="3" name="Symbol zastępczy tekstu pionowego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017B01-0C30-B241-B19F-621BE4770608}" type="datetimeFigureOut">
              <a:rPr lang="pl-PL" smtClean="0"/>
              <a:t>26.02.2025</a:t>
            </a:fld>
            <a:endParaRPr lang="pl-PL"/>
          </a:p>
        </p:txBody>
      </p:sp>
      <p:sp>
        <p:nvSpPr>
          <p:cNvPr id="5" name="Symbol zastępczy stopki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DDEFBB-CA7F-4380-AF49-7EC026DA26A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36957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tytułu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l-PL"/>
              <a:t>Kliknij, aby edyt. styl wz. tyt.</a:t>
            </a:r>
          </a:p>
        </p:txBody>
      </p:sp>
      <p:sp>
        <p:nvSpPr>
          <p:cNvPr id="3" name="Symbol zastępczy tekstu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1017B01-0C30-B241-B19F-621BE4770608}" type="datetimeFigureOut">
              <a:rPr lang="pl-PL" smtClean="0"/>
              <a:t>26.02.2025</a:t>
            </a:fld>
            <a:endParaRPr lang="pl-PL"/>
          </a:p>
        </p:txBody>
      </p:sp>
      <p:sp>
        <p:nvSpPr>
          <p:cNvPr id="5" name="Symbol zastępczy stopki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l-PL"/>
          </a:p>
        </p:txBody>
      </p:sp>
      <p:sp>
        <p:nvSpPr>
          <p:cNvPr id="6" name="Symbol zastępczy numeru slajdu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01E45C1-B7A3-4D83-AEC0-13697CCD1D3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80979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hf sldNum="0" hdr="0" ftr="0" dt="0"/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l-PL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developer.android.com/courses" TargetMode="External"/><Relationship Id="rId5" Type="http://schemas.openxmlformats.org/officeDocument/2006/relationships/hyperlink" Target="https://kotlinlang.org/docs/home.html" TargetMode="External"/><Relationship Id="rId4" Type="http://schemas.openxmlformats.org/officeDocument/2006/relationships/hyperlink" Target="https://github.com/RafLew84/ProgUM" TargetMode="Externa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jp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35896" y="260648"/>
            <a:ext cx="4752274" cy="398892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179512" y="1628800"/>
            <a:ext cx="8424936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l-PL" sz="3200" b="1" dirty="0">
                <a:solidFill>
                  <a:schemeClr val="bg1"/>
                </a:solidFill>
              </a:rPr>
              <a:t>PROGRAMOWANIE URZĄDZEŃ</a:t>
            </a:r>
          </a:p>
          <a:p>
            <a:pPr algn="ctr"/>
            <a:r>
              <a:rPr lang="pl-PL" sz="3200" b="1" dirty="0">
                <a:solidFill>
                  <a:schemeClr val="bg1"/>
                </a:solidFill>
              </a:rPr>
              <a:t>MOBILNYCH 1</a:t>
            </a:r>
          </a:p>
        </p:txBody>
      </p:sp>
      <p:sp>
        <p:nvSpPr>
          <p:cNvPr id="5" name="TextBox 1">
            <a:extLst>
              <a:ext uri="{FF2B5EF4-FFF2-40B4-BE49-F238E27FC236}">
                <a16:creationId xmlns:a16="http://schemas.microsoft.com/office/drawing/2014/main" id="{B3CC2FAF-D489-4F42-90E1-D634E6FA5CAF}"/>
              </a:ext>
            </a:extLst>
          </p:cNvPr>
          <p:cNvSpPr txBox="1"/>
          <p:nvPr/>
        </p:nvSpPr>
        <p:spPr>
          <a:xfrm>
            <a:off x="179512" y="3861048"/>
            <a:ext cx="84249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l-PL" sz="2400" dirty="0">
                <a:solidFill>
                  <a:schemeClr val="bg1"/>
                </a:solidFill>
              </a:rPr>
              <a:t>WYKŁAD 0</a:t>
            </a:r>
          </a:p>
        </p:txBody>
      </p:sp>
      <p:sp>
        <p:nvSpPr>
          <p:cNvPr id="6" name="TextBox 1">
            <a:extLst>
              <a:ext uri="{FF2B5EF4-FFF2-40B4-BE49-F238E27FC236}">
                <a16:creationId xmlns:a16="http://schemas.microsoft.com/office/drawing/2014/main" id="{A5201681-6767-4194-BF52-C2BE7C096DA3}"/>
              </a:ext>
            </a:extLst>
          </p:cNvPr>
          <p:cNvSpPr txBox="1"/>
          <p:nvPr/>
        </p:nvSpPr>
        <p:spPr>
          <a:xfrm>
            <a:off x="3116266" y="4767535"/>
            <a:ext cx="547260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Courier New" panose="02070309020205020404" pitchFamily="49" charset="0"/>
              <a:buChar char="o"/>
            </a:pPr>
            <a:r>
              <a:rPr lang="pl-PL" sz="1800" dirty="0">
                <a:solidFill>
                  <a:schemeClr val="bg1"/>
                </a:solidFill>
              </a:rPr>
              <a:t>PODSTAWOWE INFORMACJE</a:t>
            </a:r>
          </a:p>
          <a:p>
            <a:pPr marL="342900" indent="-342900">
              <a:buFont typeface="Courier New" panose="02070309020205020404" pitchFamily="49" charset="0"/>
              <a:buChar char="o"/>
            </a:pPr>
            <a:r>
              <a:rPr lang="pl-PL" sz="1800" dirty="0">
                <a:solidFill>
                  <a:schemeClr val="bg1"/>
                </a:solidFill>
              </a:rPr>
              <a:t>TREŚCI PROGRAMOWE</a:t>
            </a:r>
          </a:p>
          <a:p>
            <a:pPr marL="342900" indent="-342900">
              <a:buFont typeface="Courier New" panose="02070309020205020404" pitchFamily="49" charset="0"/>
              <a:buChar char="o"/>
            </a:pPr>
            <a:r>
              <a:rPr lang="pl-PL" sz="1800" dirty="0">
                <a:solidFill>
                  <a:schemeClr val="bg1"/>
                </a:solidFill>
              </a:rPr>
              <a:t>ZASADY ZALICZENIA</a:t>
            </a:r>
          </a:p>
        </p:txBody>
      </p:sp>
    </p:spTree>
    <p:extLst>
      <p:ext uri="{BB962C8B-B14F-4D97-AF65-F5344CB8AC3E}">
        <p14:creationId xmlns:p14="http://schemas.microsoft.com/office/powerpoint/2010/main" val="30983482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979712" y="188640"/>
            <a:ext cx="6696744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l-PL" sz="2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PODSTAWOWE INFORMACJE</a:t>
            </a:r>
          </a:p>
        </p:txBody>
      </p:sp>
      <p:sp>
        <p:nvSpPr>
          <p:cNvPr id="7" name="TextBox 1">
            <a:extLst>
              <a:ext uri="{FF2B5EF4-FFF2-40B4-BE49-F238E27FC236}">
                <a16:creationId xmlns:a16="http://schemas.microsoft.com/office/drawing/2014/main" id="{D22229DB-0C83-4CF8-A4E0-AF9994C3705D}"/>
              </a:ext>
            </a:extLst>
          </p:cNvPr>
          <p:cNvSpPr txBox="1"/>
          <p:nvPr/>
        </p:nvSpPr>
        <p:spPr>
          <a:xfrm>
            <a:off x="2267744" y="836712"/>
            <a:ext cx="547260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l-PL" sz="2400" dirty="0">
                <a:solidFill>
                  <a:schemeClr val="tx1"/>
                </a:solidFill>
              </a:rPr>
              <a:t>Rafał Lewandków</a:t>
            </a:r>
          </a:p>
          <a:p>
            <a:pPr algn="ctr"/>
            <a:r>
              <a:rPr lang="pl-PL" sz="2400" dirty="0">
                <a:solidFill>
                  <a:schemeClr val="tx1"/>
                </a:solidFill>
              </a:rPr>
              <a:t>pokój 075</a:t>
            </a:r>
          </a:p>
          <a:p>
            <a:pPr algn="ctr"/>
            <a:r>
              <a:rPr lang="pl-PL" sz="2400" dirty="0">
                <a:solidFill>
                  <a:schemeClr val="tx1"/>
                </a:solidFill>
              </a:rPr>
              <a:t>rafal.lewandkow2@uwr.edu.pl</a:t>
            </a:r>
          </a:p>
        </p:txBody>
      </p:sp>
      <p:sp>
        <p:nvSpPr>
          <p:cNvPr id="11" name="TextBox 1">
            <a:extLst>
              <a:ext uri="{FF2B5EF4-FFF2-40B4-BE49-F238E27FC236}">
                <a16:creationId xmlns:a16="http://schemas.microsoft.com/office/drawing/2014/main" id="{6B4540DE-57F4-48C6-B18B-7596EFCB8521}"/>
              </a:ext>
            </a:extLst>
          </p:cNvPr>
          <p:cNvSpPr txBox="1"/>
          <p:nvPr/>
        </p:nvSpPr>
        <p:spPr>
          <a:xfrm>
            <a:off x="1115616" y="1959500"/>
            <a:ext cx="8172401" cy="4893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l-PL" sz="2400" dirty="0">
                <a:solidFill>
                  <a:schemeClr val="tx1"/>
                </a:solidFill>
              </a:rPr>
              <a:t>Forma zajęć i liczba godzin:</a:t>
            </a:r>
          </a:p>
          <a:p>
            <a:pPr algn="just"/>
            <a:r>
              <a:rPr lang="pl-PL" sz="2400" dirty="0">
                <a:solidFill>
                  <a:schemeClr val="tx1"/>
                </a:solidFill>
              </a:rPr>
              <a:t>Wykład 15 godz. /Laboratorium 30 godz.</a:t>
            </a:r>
          </a:p>
          <a:p>
            <a:pPr algn="just"/>
            <a:r>
              <a:rPr lang="pl-PL" sz="2400" dirty="0">
                <a:solidFill>
                  <a:schemeClr val="tx1"/>
                </a:solidFill>
              </a:rPr>
              <a:t>Materiały do zajęć: </a:t>
            </a:r>
            <a:r>
              <a:rPr lang="pl-PL" sz="2400" dirty="0">
                <a:solidFill>
                  <a:schemeClr val="tx1"/>
                </a:solidFill>
                <a:hlinkClick r:id="rId4"/>
              </a:rPr>
              <a:t>https://github.com/RafLew84/ProgUM</a:t>
            </a:r>
            <a:endParaRPr lang="pl-PL" sz="2400" dirty="0">
              <a:solidFill>
                <a:schemeClr val="tx1"/>
              </a:solidFill>
            </a:endParaRPr>
          </a:p>
          <a:p>
            <a:pPr algn="just"/>
            <a:endParaRPr lang="pl-PL" sz="2400" dirty="0">
              <a:solidFill>
                <a:schemeClr val="tx1"/>
              </a:solidFill>
            </a:endParaRPr>
          </a:p>
          <a:p>
            <a:pPr algn="just"/>
            <a:r>
              <a:rPr lang="pl-PL" sz="2400" dirty="0">
                <a:solidFill>
                  <a:schemeClr val="tx1"/>
                </a:solidFill>
              </a:rPr>
              <a:t>Literatura obowiązkowa i zalecana:</a:t>
            </a:r>
          </a:p>
          <a:p>
            <a:pPr algn="just"/>
            <a:r>
              <a:rPr lang="pl-PL" sz="2400" dirty="0">
                <a:solidFill>
                  <a:schemeClr val="tx1"/>
                </a:solidFill>
              </a:rPr>
              <a:t>•   </a:t>
            </a:r>
            <a:r>
              <a:rPr lang="pl-PL" sz="2400" dirty="0">
                <a:solidFill>
                  <a:schemeClr val="tx1"/>
                </a:solidFill>
                <a:hlinkClick r:id="rId5"/>
              </a:rPr>
              <a:t>https://kotlinlang.org/docs/home.html</a:t>
            </a:r>
            <a:endParaRPr lang="pl-PL" sz="2400" dirty="0">
              <a:solidFill>
                <a:schemeClr val="tx1"/>
              </a:solidFill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pl-PL" sz="2400" dirty="0">
                <a:solidFill>
                  <a:schemeClr val="tx1"/>
                </a:solidFill>
                <a:hlinkClick r:id="rId6"/>
              </a:rPr>
              <a:t>https://developer.android.com/courses</a:t>
            </a:r>
            <a:endParaRPr lang="pl-PL" sz="2400" dirty="0">
              <a:solidFill>
                <a:schemeClr val="tx1"/>
              </a:solidFill>
            </a:endParaRPr>
          </a:p>
          <a:p>
            <a:pPr algn="just"/>
            <a:endParaRPr lang="pl-PL" sz="2400" dirty="0">
              <a:solidFill>
                <a:schemeClr val="tx1"/>
              </a:solidFill>
            </a:endParaRPr>
          </a:p>
          <a:p>
            <a:pPr algn="just"/>
            <a:endParaRPr lang="pl-PL" sz="2400" dirty="0">
              <a:solidFill>
                <a:schemeClr val="tx1"/>
              </a:solidFill>
            </a:endParaRPr>
          </a:p>
          <a:p>
            <a:pPr algn="just"/>
            <a:r>
              <a:rPr lang="pl-PL" sz="2400" dirty="0">
                <a:solidFill>
                  <a:schemeClr val="tx1"/>
                </a:solidFill>
              </a:rPr>
              <a:t>Nakład pracy studenta:</a:t>
            </a:r>
          </a:p>
          <a:p>
            <a:pPr algn="just"/>
            <a:r>
              <a:rPr lang="pl-PL" sz="2400" dirty="0">
                <a:solidFill>
                  <a:schemeClr val="tx1"/>
                </a:solidFill>
              </a:rPr>
              <a:t>Praca własna studenta: 30 godz.</a:t>
            </a:r>
          </a:p>
          <a:p>
            <a:pPr algn="just"/>
            <a:r>
              <a:rPr lang="pl-PL" sz="2400" dirty="0">
                <a:solidFill>
                  <a:schemeClr val="tx1"/>
                </a:solidFill>
              </a:rPr>
              <a:t>Łączna liczba godzin 75</a:t>
            </a:r>
          </a:p>
          <a:p>
            <a:pPr algn="just"/>
            <a:r>
              <a:rPr lang="pl-PL" sz="2400" dirty="0">
                <a:solidFill>
                  <a:schemeClr val="tx1"/>
                </a:solidFill>
              </a:rPr>
              <a:t>Liczba punktów ECTS: 3</a:t>
            </a:r>
          </a:p>
        </p:txBody>
      </p:sp>
    </p:spTree>
    <p:extLst>
      <p:ext uri="{BB962C8B-B14F-4D97-AF65-F5344CB8AC3E}">
        <p14:creationId xmlns:p14="http://schemas.microsoft.com/office/powerpoint/2010/main" val="41758240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979712" y="188640"/>
            <a:ext cx="6696744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l-PL" sz="2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ZASADY ZALICZENIA</a:t>
            </a:r>
          </a:p>
        </p:txBody>
      </p:sp>
      <p:sp>
        <p:nvSpPr>
          <p:cNvPr id="5" name="TextBox 1">
            <a:extLst>
              <a:ext uri="{FF2B5EF4-FFF2-40B4-BE49-F238E27FC236}">
                <a16:creationId xmlns:a16="http://schemas.microsoft.com/office/drawing/2014/main" id="{5286C2FE-3D37-42C9-AFA2-106F80EDBDEA}"/>
              </a:ext>
            </a:extLst>
          </p:cNvPr>
          <p:cNvSpPr txBox="1"/>
          <p:nvPr/>
        </p:nvSpPr>
        <p:spPr>
          <a:xfrm>
            <a:off x="971600" y="681083"/>
            <a:ext cx="8244408" cy="62750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pl-PL" sz="1800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Warunkiem zaliczenia laboratorium jest uzyskanie pozytywnej oceny z list zadań.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l-PL" sz="1800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Na zajęcia przewidzianych jest </a:t>
            </a:r>
            <a:r>
              <a:rPr lang="pl-PL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  <a:r>
              <a:rPr lang="pl-PL" sz="1800" b="1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list zadań</a:t>
            </a:r>
            <a:r>
              <a:rPr lang="pl-PL" sz="1800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pl-PL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l-PL" sz="1800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Z każdej listy wystawiana jest </a:t>
            </a:r>
            <a:r>
              <a:rPr lang="pl-PL" sz="1800" b="1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osobna ocena</a:t>
            </a:r>
            <a:r>
              <a:rPr lang="pl-PL" sz="1800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pl-PL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l-PL" sz="1800" b="1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Nie jest konieczne </a:t>
            </a:r>
            <a:r>
              <a:rPr lang="pl-PL" sz="1800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zaliczenie wszystkich list aby otrzymać ocenę pozytywną</a:t>
            </a:r>
            <a:br>
              <a:rPr lang="pl-PL" sz="1800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pl-PL" sz="1800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z laboratorium.</a:t>
            </a:r>
            <a:r>
              <a:rPr lang="pl-PL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Dopuszczalne jest nieoddanie/niezaliczenie dwóch list.</a:t>
            </a:r>
            <a:endParaRPr lang="pl-PL" sz="1800" b="0" i="0" dirty="0"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l-PL" sz="1800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Każda lista posiada informację o </a:t>
            </a:r>
            <a:r>
              <a:rPr lang="pl-PL" sz="1800" b="1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liczbie punktów </a:t>
            </a:r>
            <a:r>
              <a:rPr lang="pl-PL" sz="180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wymaganych na konkretną ocenę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l-PL" sz="1800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Każda lista posiada </a:t>
            </a:r>
            <a:r>
              <a:rPr lang="pl-PL" sz="1800" b="1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termin zwrotu</a:t>
            </a:r>
            <a:r>
              <a:rPr lang="pl-PL" sz="1800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l-PL" sz="1800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Za każdy tydzień opóźnienia otrzymana ocena jest </a:t>
            </a:r>
            <a:r>
              <a:rPr lang="pl-PL" sz="1800" b="1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obniżana o 1</a:t>
            </a:r>
            <a:r>
              <a:rPr lang="pl-PL" sz="1800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l-PL" sz="1800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Listy oddawane są </a:t>
            </a:r>
            <a:r>
              <a:rPr lang="pl-PL" sz="1800" b="1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podczas zajęć </a:t>
            </a:r>
            <a:r>
              <a:rPr lang="pl-PL" sz="1800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laboratoryjnych.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l-PL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 każdego zadania prowadzący </a:t>
            </a:r>
            <a:r>
              <a:rPr lang="pl-PL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może zadać dodatkowe pytania</a:t>
            </a:r>
            <a:r>
              <a:rPr lang="pl-PL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l-PL" sz="1800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Liczba punktów za</a:t>
            </a:r>
            <a:r>
              <a:rPr lang="pl-PL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listę jest przyznawana na podstawie </a:t>
            </a:r>
            <a:r>
              <a:rPr lang="pl-PL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poprawności wykonania zadań</a:t>
            </a:r>
            <a:r>
              <a:rPr lang="pl-PL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oraz </a:t>
            </a:r>
            <a:r>
              <a:rPr lang="pl-PL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odpowiedzi ustnej</a:t>
            </a:r>
            <a:r>
              <a:rPr lang="pl-PL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pl-PL" sz="1800" b="0" i="0" dirty="0"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l-PL" sz="1800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Ocena końcowa jest </a:t>
            </a:r>
            <a:r>
              <a:rPr lang="pl-PL" sz="1800" b="1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średnią arytmetyczną </a:t>
            </a:r>
            <a:r>
              <a:rPr lang="pl-PL" sz="1800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ze </a:t>
            </a:r>
            <a:r>
              <a:rPr lang="pl-PL" sz="1800" b="1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wszystkich ocen </a:t>
            </a:r>
            <a:r>
              <a:rPr lang="pl-PL" sz="1800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z list.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l-PL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 ocenę 3,0 </a:t>
            </a:r>
            <a:r>
              <a:rPr lang="pl-PL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wymagana jest </a:t>
            </a:r>
            <a:r>
              <a:rPr lang="pl-PL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średnia co najmniej 3,0.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l-PL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 zajęciach laboratoryjnych dopuszczalne są </a:t>
            </a:r>
            <a:r>
              <a:rPr lang="pl-PL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trzy nieobecności</a:t>
            </a:r>
            <a:r>
              <a:rPr lang="pl-PL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4609403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979712" y="188640"/>
            <a:ext cx="6696744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l-PL" sz="2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Treści Programowe</a:t>
            </a:r>
          </a:p>
        </p:txBody>
      </p:sp>
      <p:sp>
        <p:nvSpPr>
          <p:cNvPr id="7" name="pole tekstowe 6">
            <a:extLst>
              <a:ext uri="{FF2B5EF4-FFF2-40B4-BE49-F238E27FC236}">
                <a16:creationId xmlns:a16="http://schemas.microsoft.com/office/drawing/2014/main" id="{2F467DBE-3D30-473E-A461-81CA88D2033B}"/>
              </a:ext>
            </a:extLst>
          </p:cNvPr>
          <p:cNvSpPr txBox="1"/>
          <p:nvPr/>
        </p:nvSpPr>
        <p:spPr>
          <a:xfrm>
            <a:off x="1187624" y="908720"/>
            <a:ext cx="7956376" cy="57861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spcAft>
                <a:spcPts val="600"/>
              </a:spcAft>
              <a:tabLst>
                <a:tab pos="91440" algn="l"/>
              </a:tabLst>
            </a:pPr>
            <a:r>
              <a:rPr lang="pl-PL" sz="1800" b="1" kern="150" dirty="0">
                <a:solidFill>
                  <a:schemeClr val="tx1"/>
                </a:solidFill>
                <a:effectLst/>
                <a:latin typeface="+mj-lt"/>
                <a:ea typeface="OpenSymbol"/>
                <a:cs typeface="Verdana, Verdana"/>
              </a:rPr>
              <a:t>0.    </a:t>
            </a:r>
            <a:r>
              <a:rPr lang="pl-PL" sz="2000" b="1" kern="150" dirty="0">
                <a:solidFill>
                  <a:schemeClr val="tx1"/>
                </a:solidFill>
                <a:effectLst/>
                <a:latin typeface="+mj-lt"/>
                <a:ea typeface="OpenSymbol"/>
                <a:cs typeface="Verdana, Verdana"/>
              </a:rPr>
              <a:t>Wstęp</a:t>
            </a:r>
            <a:endParaRPr lang="pl-PL" sz="2000" kern="150" dirty="0">
              <a:solidFill>
                <a:schemeClr val="tx1"/>
              </a:solidFill>
              <a:effectLst/>
              <a:latin typeface="+mj-lt"/>
              <a:ea typeface="OpenSymbol"/>
              <a:cs typeface="OpenSymbol"/>
            </a:endParaRPr>
          </a:p>
          <a:p>
            <a:pPr marL="342900" lvl="0" indent="-342900">
              <a:spcAft>
                <a:spcPts val="600"/>
              </a:spcAft>
              <a:buFont typeface="+mj-lt"/>
              <a:buAutoNum type="arabicPeriod"/>
              <a:tabLst>
                <a:tab pos="91440" algn="l"/>
              </a:tabLst>
            </a:pPr>
            <a:r>
              <a:rPr lang="pl-PL" sz="2000" b="1" kern="150" dirty="0">
                <a:solidFill>
                  <a:schemeClr val="tx1"/>
                </a:solidFill>
                <a:effectLst/>
                <a:latin typeface="+mj-lt"/>
                <a:ea typeface="OpenSymbol"/>
                <a:cs typeface="Verdana, Verdana"/>
              </a:rPr>
              <a:t>Typy danych</a:t>
            </a:r>
            <a:r>
              <a:rPr lang="pl-PL" sz="2000" kern="150" dirty="0">
                <a:solidFill>
                  <a:schemeClr val="tx1"/>
                </a:solidFill>
                <a:latin typeface="+mj-lt"/>
                <a:ea typeface="OpenSymbol"/>
                <a:cs typeface="Verdana, Verdana"/>
              </a:rPr>
              <a:t>, </a:t>
            </a:r>
            <a:r>
              <a:rPr lang="pl-PL" sz="2000" b="1" kern="150" dirty="0">
                <a:solidFill>
                  <a:schemeClr val="tx1"/>
                </a:solidFill>
                <a:effectLst/>
                <a:latin typeface="+mj-lt"/>
                <a:ea typeface="OpenSymbol"/>
                <a:cs typeface="Verdana, Verdana"/>
              </a:rPr>
              <a:t>Wyrażenia, Instrukcje, Pętle</a:t>
            </a:r>
            <a:endParaRPr lang="pl-PL" sz="2000" kern="150" dirty="0">
              <a:solidFill>
                <a:schemeClr val="tx1"/>
              </a:solidFill>
              <a:effectLst/>
              <a:latin typeface="+mj-lt"/>
              <a:ea typeface="OpenSymbol"/>
              <a:cs typeface="OpenSymbol"/>
            </a:endParaRPr>
          </a:p>
          <a:p>
            <a:pPr marL="342900" lvl="0" indent="-342900">
              <a:spcAft>
                <a:spcPts val="600"/>
              </a:spcAft>
              <a:buFont typeface="+mj-lt"/>
              <a:buAutoNum type="arabicPeriod"/>
              <a:tabLst>
                <a:tab pos="91440" algn="l"/>
              </a:tabLst>
            </a:pPr>
            <a:r>
              <a:rPr lang="pl-PL" sz="2000" b="1" kern="150" dirty="0" err="1">
                <a:solidFill>
                  <a:schemeClr val="tx1"/>
                </a:solidFill>
                <a:effectLst/>
                <a:latin typeface="+mj-lt"/>
                <a:ea typeface="OpenSymbol"/>
                <a:cs typeface="Verdana, Verdana"/>
              </a:rPr>
              <a:t>Garbage</a:t>
            </a:r>
            <a:r>
              <a:rPr lang="pl-PL" sz="2000" b="1" kern="150" dirty="0">
                <a:solidFill>
                  <a:schemeClr val="tx1"/>
                </a:solidFill>
                <a:effectLst/>
                <a:latin typeface="+mj-lt"/>
                <a:ea typeface="OpenSymbol"/>
                <a:cs typeface="Verdana, Verdana"/>
              </a:rPr>
              <a:t> Collection</a:t>
            </a:r>
          </a:p>
          <a:p>
            <a:pPr marL="342900" lvl="0" indent="-342900">
              <a:spcAft>
                <a:spcPts val="600"/>
              </a:spcAft>
              <a:buFont typeface="+mj-lt"/>
              <a:buAutoNum type="arabicPeriod"/>
              <a:tabLst>
                <a:tab pos="91440" algn="l"/>
              </a:tabLst>
            </a:pPr>
            <a:r>
              <a:rPr lang="pl-PL" sz="2000" b="1" kern="150" dirty="0">
                <a:solidFill>
                  <a:schemeClr val="tx1"/>
                </a:solidFill>
                <a:latin typeface="+mj-lt"/>
                <a:ea typeface="OpenSymbol"/>
                <a:cs typeface="OpenSymbol"/>
              </a:rPr>
              <a:t>Funkcje</a:t>
            </a:r>
          </a:p>
          <a:p>
            <a:pPr marL="342900" lvl="0" indent="-342900">
              <a:spcAft>
                <a:spcPts val="600"/>
              </a:spcAft>
              <a:buFont typeface="+mj-lt"/>
              <a:buAutoNum type="arabicPeriod"/>
              <a:tabLst>
                <a:tab pos="91440" algn="l"/>
              </a:tabLst>
            </a:pPr>
            <a:r>
              <a:rPr lang="pl-PL" sz="2000" b="1" kern="150" dirty="0">
                <a:solidFill>
                  <a:schemeClr val="tx1"/>
                </a:solidFill>
                <a:effectLst/>
                <a:latin typeface="+mj-lt"/>
                <a:ea typeface="OpenSymbol"/>
                <a:cs typeface="OpenSymbol"/>
              </a:rPr>
              <a:t>Kolekcje</a:t>
            </a:r>
          </a:p>
          <a:p>
            <a:pPr marL="342900" lvl="0" indent="-342900">
              <a:spcAft>
                <a:spcPts val="600"/>
              </a:spcAft>
              <a:buFont typeface="+mj-lt"/>
              <a:buAutoNum type="arabicPeriod"/>
              <a:tabLst>
                <a:tab pos="91440" algn="l"/>
              </a:tabLst>
            </a:pPr>
            <a:r>
              <a:rPr lang="pl-PL" sz="2000" b="1" kern="150" dirty="0">
                <a:solidFill>
                  <a:schemeClr val="tx1"/>
                </a:solidFill>
                <a:latin typeface="+mj-lt"/>
                <a:ea typeface="OpenSymbol"/>
                <a:cs typeface="OpenSymbol"/>
              </a:rPr>
              <a:t>Klasy</a:t>
            </a:r>
          </a:p>
          <a:p>
            <a:pPr marL="342900" lvl="0" indent="-342900">
              <a:spcAft>
                <a:spcPts val="600"/>
              </a:spcAft>
              <a:buFont typeface="+mj-lt"/>
              <a:buAutoNum type="arabicPeriod"/>
              <a:tabLst>
                <a:tab pos="91440" algn="l"/>
              </a:tabLst>
            </a:pPr>
            <a:r>
              <a:rPr lang="pl-PL" sz="2000" b="1" kern="150" dirty="0">
                <a:solidFill>
                  <a:schemeClr val="tx1"/>
                </a:solidFill>
                <a:effectLst/>
                <a:latin typeface="+mj-lt"/>
                <a:ea typeface="OpenSymbol"/>
                <a:cs typeface="OpenSymbol"/>
              </a:rPr>
              <a:t>O</a:t>
            </a:r>
            <a:r>
              <a:rPr lang="pl-PL" sz="2000" b="1" kern="150" dirty="0">
                <a:solidFill>
                  <a:schemeClr val="tx1"/>
                </a:solidFill>
                <a:latin typeface="+mj-lt"/>
                <a:ea typeface="OpenSymbol"/>
                <a:cs typeface="OpenSymbol"/>
              </a:rPr>
              <a:t>biekty i Interfejsy</a:t>
            </a:r>
          </a:p>
          <a:p>
            <a:pPr marL="342900" lvl="0" indent="-342900">
              <a:spcAft>
                <a:spcPts val="600"/>
              </a:spcAft>
              <a:buFont typeface="+mj-lt"/>
              <a:buAutoNum type="arabicPeriod"/>
              <a:tabLst>
                <a:tab pos="91440" algn="l"/>
              </a:tabLst>
            </a:pPr>
            <a:r>
              <a:rPr lang="pl-PL" sz="2000" b="1" kern="150" dirty="0">
                <a:solidFill>
                  <a:schemeClr val="tx1"/>
                </a:solidFill>
                <a:effectLst/>
                <a:latin typeface="+mj-lt"/>
                <a:ea typeface="OpenSymbol"/>
                <a:cs typeface="OpenSymbol"/>
              </a:rPr>
              <a:t>Inicjalizacja i Delegacja</a:t>
            </a:r>
          </a:p>
          <a:p>
            <a:pPr marL="342900" lvl="0" indent="-342900">
              <a:spcAft>
                <a:spcPts val="600"/>
              </a:spcAft>
              <a:buFont typeface="+mj-lt"/>
              <a:buAutoNum type="arabicPeriod"/>
              <a:tabLst>
                <a:tab pos="91440" algn="l"/>
              </a:tabLst>
            </a:pPr>
            <a:r>
              <a:rPr lang="pl-PL" sz="2000" b="1" kern="150" dirty="0">
                <a:solidFill>
                  <a:schemeClr val="tx1"/>
                </a:solidFill>
                <a:latin typeface="+mj-lt"/>
                <a:ea typeface="OpenSymbol"/>
                <a:cs typeface="OpenSymbol"/>
              </a:rPr>
              <a:t>Fundamenty Aplikacji. Aktywność, Cykl Życia. </a:t>
            </a:r>
            <a:r>
              <a:rPr lang="pl-PL" sz="2000" b="1" kern="150" dirty="0" err="1">
                <a:solidFill>
                  <a:schemeClr val="tx1"/>
                </a:solidFill>
                <a:latin typeface="+mj-lt"/>
                <a:ea typeface="OpenSymbol"/>
                <a:cs typeface="OpenSymbol"/>
              </a:rPr>
              <a:t>Jetpack</a:t>
            </a:r>
            <a:r>
              <a:rPr lang="pl-PL" sz="2000" b="1" kern="150" dirty="0">
                <a:solidFill>
                  <a:schemeClr val="tx1"/>
                </a:solidFill>
                <a:latin typeface="+mj-lt"/>
                <a:ea typeface="OpenSymbol"/>
                <a:cs typeface="OpenSymbol"/>
              </a:rPr>
              <a:t> </a:t>
            </a:r>
            <a:r>
              <a:rPr lang="pl-PL" sz="2000" b="1" kern="150" dirty="0" err="1">
                <a:solidFill>
                  <a:schemeClr val="tx1"/>
                </a:solidFill>
                <a:latin typeface="+mj-lt"/>
                <a:ea typeface="OpenSymbol"/>
                <a:cs typeface="OpenSymbol"/>
              </a:rPr>
              <a:t>Compose</a:t>
            </a:r>
            <a:endParaRPr lang="pl-PL" sz="2000" b="1" kern="150" dirty="0">
              <a:solidFill>
                <a:schemeClr val="tx1"/>
              </a:solidFill>
              <a:latin typeface="+mj-lt"/>
              <a:ea typeface="OpenSymbol"/>
              <a:cs typeface="OpenSymbol"/>
            </a:endParaRPr>
          </a:p>
          <a:p>
            <a:pPr marL="342900" lvl="0" indent="-342900">
              <a:spcAft>
                <a:spcPts val="600"/>
              </a:spcAft>
              <a:buFont typeface="+mj-lt"/>
              <a:buAutoNum type="arabicPeriod"/>
              <a:tabLst>
                <a:tab pos="91440" algn="l"/>
              </a:tabLst>
            </a:pPr>
            <a:r>
              <a:rPr lang="pl-PL" sz="2000" b="1" kern="150" dirty="0">
                <a:solidFill>
                  <a:schemeClr val="tx1"/>
                </a:solidFill>
                <a:effectLst/>
                <a:latin typeface="+mj-lt"/>
                <a:ea typeface="OpenSymbol"/>
                <a:cs typeface="OpenSymbol"/>
              </a:rPr>
              <a:t>Podstawy </a:t>
            </a:r>
            <a:r>
              <a:rPr lang="pl-PL" sz="2000" b="1" kern="150" dirty="0" err="1">
                <a:solidFill>
                  <a:schemeClr val="tx1"/>
                </a:solidFill>
                <a:effectLst/>
                <a:latin typeface="+mj-lt"/>
                <a:ea typeface="OpenSymbol"/>
                <a:cs typeface="OpenSymbol"/>
              </a:rPr>
              <a:t>Tworzanie</a:t>
            </a:r>
            <a:r>
              <a:rPr lang="pl-PL" sz="2000" b="1" kern="150" dirty="0">
                <a:solidFill>
                  <a:schemeClr val="tx1"/>
                </a:solidFill>
                <a:effectLst/>
                <a:latin typeface="+mj-lt"/>
                <a:ea typeface="OpenSymbol"/>
                <a:cs typeface="OpenSymbol"/>
              </a:rPr>
              <a:t> UI, Kompozycja, </a:t>
            </a:r>
            <a:r>
              <a:rPr lang="pl-PL" sz="2000" b="1" kern="150" dirty="0" err="1">
                <a:solidFill>
                  <a:schemeClr val="tx1"/>
                </a:solidFill>
                <a:effectLst/>
                <a:latin typeface="+mj-lt"/>
                <a:ea typeface="OpenSymbol"/>
                <a:cs typeface="OpenSymbol"/>
              </a:rPr>
              <a:t>Rekompozycja</a:t>
            </a:r>
            <a:r>
              <a:rPr lang="pl-PL" sz="2000" b="1" kern="150" dirty="0">
                <a:solidFill>
                  <a:schemeClr val="tx1"/>
                </a:solidFill>
                <a:effectLst/>
                <a:latin typeface="+mj-lt"/>
                <a:ea typeface="OpenSymbol"/>
                <a:cs typeface="OpenSymbol"/>
              </a:rPr>
              <a:t>, Stan</a:t>
            </a:r>
          </a:p>
          <a:p>
            <a:pPr marL="342900" lvl="0" indent="-342900">
              <a:spcAft>
                <a:spcPts val="600"/>
              </a:spcAft>
              <a:buFont typeface="+mj-lt"/>
              <a:buAutoNum type="arabicPeriod"/>
              <a:tabLst>
                <a:tab pos="91440" algn="l"/>
              </a:tabLst>
            </a:pPr>
            <a:r>
              <a:rPr lang="pl-PL" sz="2000" b="1" kern="150" dirty="0">
                <a:solidFill>
                  <a:schemeClr val="tx1"/>
                </a:solidFill>
                <a:effectLst/>
                <a:latin typeface="+mj-lt"/>
                <a:ea typeface="OpenSymbol"/>
                <a:cs typeface="OpenSymbol"/>
              </a:rPr>
              <a:t>Elementy Struktury UI, </a:t>
            </a:r>
            <a:r>
              <a:rPr lang="pl-PL" sz="2000" b="1" kern="150" dirty="0" err="1">
                <a:solidFill>
                  <a:schemeClr val="tx1"/>
                </a:solidFill>
                <a:effectLst/>
                <a:latin typeface="+mj-lt"/>
                <a:ea typeface="OpenSymbol"/>
                <a:cs typeface="OpenSymbol"/>
              </a:rPr>
              <a:t>Scaffold</a:t>
            </a:r>
            <a:r>
              <a:rPr lang="pl-PL" sz="2000" b="1" kern="150" dirty="0">
                <a:solidFill>
                  <a:schemeClr val="tx1"/>
                </a:solidFill>
                <a:effectLst/>
                <a:latin typeface="+mj-lt"/>
                <a:ea typeface="OpenSymbol"/>
                <a:cs typeface="OpenSymbol"/>
              </a:rPr>
              <a:t>, Obsługa Kolekcji</a:t>
            </a:r>
          </a:p>
          <a:p>
            <a:pPr marL="342900" lvl="0" indent="-342900">
              <a:spcAft>
                <a:spcPts val="600"/>
              </a:spcAft>
              <a:buFont typeface="+mj-lt"/>
              <a:buAutoNum type="arabicPeriod"/>
              <a:tabLst>
                <a:tab pos="91440" algn="l"/>
              </a:tabLst>
            </a:pPr>
            <a:r>
              <a:rPr lang="pl-PL" sz="2000" b="1" kern="150" dirty="0">
                <a:solidFill>
                  <a:schemeClr val="bg1">
                    <a:lumMod val="65000"/>
                  </a:schemeClr>
                </a:solidFill>
                <a:latin typeface="+mj-lt"/>
                <a:ea typeface="OpenSymbol"/>
                <a:cs typeface="OpenSymbol"/>
              </a:rPr>
              <a:t>Nawigacja w Aplikacji. </a:t>
            </a:r>
            <a:r>
              <a:rPr lang="pl-PL" sz="2000" b="1" kern="150" dirty="0" err="1">
                <a:solidFill>
                  <a:schemeClr val="bg1">
                    <a:lumMod val="65000"/>
                  </a:schemeClr>
                </a:solidFill>
                <a:latin typeface="+mj-lt"/>
                <a:ea typeface="OpenSymbol"/>
                <a:cs typeface="OpenSymbol"/>
              </a:rPr>
              <a:t>Compose</a:t>
            </a:r>
            <a:r>
              <a:rPr lang="pl-PL" sz="2000" b="1" kern="150" dirty="0">
                <a:solidFill>
                  <a:schemeClr val="bg1">
                    <a:lumMod val="65000"/>
                  </a:schemeClr>
                </a:solidFill>
                <a:latin typeface="+mj-lt"/>
                <a:ea typeface="OpenSymbol"/>
                <a:cs typeface="OpenSymbol"/>
              </a:rPr>
              <a:t> </a:t>
            </a:r>
            <a:r>
              <a:rPr lang="pl-PL" sz="2000" b="1" kern="150" dirty="0" err="1">
                <a:solidFill>
                  <a:schemeClr val="bg1">
                    <a:lumMod val="65000"/>
                  </a:schemeClr>
                </a:solidFill>
                <a:latin typeface="+mj-lt"/>
                <a:ea typeface="OpenSymbol"/>
                <a:cs typeface="OpenSymbol"/>
              </a:rPr>
              <a:t>Navigation</a:t>
            </a:r>
            <a:r>
              <a:rPr lang="pl-PL" sz="2000" b="1" kern="150" dirty="0">
                <a:solidFill>
                  <a:schemeClr val="bg1">
                    <a:lumMod val="65000"/>
                  </a:schemeClr>
                </a:solidFill>
                <a:latin typeface="+mj-lt"/>
                <a:ea typeface="OpenSymbol"/>
                <a:cs typeface="OpenSymbol"/>
              </a:rPr>
              <a:t>, </a:t>
            </a:r>
            <a:r>
              <a:rPr lang="pl-PL" sz="2000" b="1" kern="150" dirty="0" err="1">
                <a:solidFill>
                  <a:schemeClr val="bg1">
                    <a:lumMod val="65000"/>
                  </a:schemeClr>
                </a:solidFill>
                <a:latin typeface="+mj-lt"/>
                <a:ea typeface="OpenSymbol"/>
                <a:cs typeface="OpenSymbol"/>
              </a:rPr>
              <a:t>Tab</a:t>
            </a:r>
            <a:r>
              <a:rPr lang="pl-PL" sz="2000" b="1" kern="150" dirty="0">
                <a:solidFill>
                  <a:schemeClr val="bg1">
                    <a:lumMod val="65000"/>
                  </a:schemeClr>
                </a:solidFill>
                <a:latin typeface="+mj-lt"/>
                <a:ea typeface="OpenSymbol"/>
                <a:cs typeface="OpenSymbol"/>
              </a:rPr>
              <a:t> </a:t>
            </a:r>
            <a:r>
              <a:rPr lang="pl-PL" sz="2000" b="1" kern="150" dirty="0" err="1">
                <a:solidFill>
                  <a:schemeClr val="bg1">
                    <a:lumMod val="65000"/>
                  </a:schemeClr>
                </a:solidFill>
                <a:latin typeface="+mj-lt"/>
                <a:ea typeface="OpenSymbol"/>
                <a:cs typeface="OpenSymbol"/>
              </a:rPr>
              <a:t>Navigation</a:t>
            </a:r>
            <a:r>
              <a:rPr lang="pl-PL" sz="2000" b="1" kern="150" dirty="0">
                <a:solidFill>
                  <a:schemeClr val="bg1">
                    <a:lumMod val="65000"/>
                  </a:schemeClr>
                </a:solidFill>
                <a:latin typeface="+mj-lt"/>
                <a:ea typeface="OpenSymbol"/>
                <a:cs typeface="OpenSymbol"/>
              </a:rPr>
              <a:t>, </a:t>
            </a:r>
            <a:r>
              <a:rPr lang="pl-PL" sz="2000" b="1" kern="150" dirty="0" err="1">
                <a:solidFill>
                  <a:schemeClr val="bg1">
                    <a:lumMod val="65000"/>
                  </a:schemeClr>
                </a:solidFill>
                <a:latin typeface="+mj-lt"/>
                <a:ea typeface="OpenSymbol"/>
                <a:cs typeface="OpenSymbol"/>
              </a:rPr>
              <a:t>Drawer</a:t>
            </a:r>
            <a:endParaRPr lang="pl-PL" sz="2000" b="1" kern="150" dirty="0">
              <a:solidFill>
                <a:schemeClr val="bg1">
                  <a:lumMod val="65000"/>
                </a:schemeClr>
              </a:solidFill>
              <a:latin typeface="+mj-lt"/>
              <a:ea typeface="OpenSymbol"/>
              <a:cs typeface="OpenSymbol"/>
            </a:endParaRPr>
          </a:p>
          <a:p>
            <a:pPr marL="342900" lvl="0" indent="-342900">
              <a:spcAft>
                <a:spcPts val="600"/>
              </a:spcAft>
              <a:buFont typeface="+mj-lt"/>
              <a:buAutoNum type="arabicPeriod"/>
              <a:tabLst>
                <a:tab pos="91440" algn="l"/>
              </a:tabLst>
            </a:pPr>
            <a:r>
              <a:rPr lang="pl-PL" sz="2000" b="1" kern="150" dirty="0">
                <a:solidFill>
                  <a:schemeClr val="bg1">
                    <a:lumMod val="65000"/>
                  </a:schemeClr>
                </a:solidFill>
                <a:effectLst/>
                <a:latin typeface="+mj-lt"/>
                <a:ea typeface="OpenSymbol"/>
                <a:cs typeface="OpenSymbol"/>
              </a:rPr>
              <a:t>Wzorce Projekt</a:t>
            </a:r>
            <a:r>
              <a:rPr lang="pl-PL" sz="2000" b="1" kern="150" dirty="0">
                <a:solidFill>
                  <a:schemeClr val="bg1">
                    <a:lumMod val="65000"/>
                  </a:schemeClr>
                </a:solidFill>
                <a:latin typeface="+mj-lt"/>
                <a:ea typeface="OpenSymbol"/>
                <a:cs typeface="OpenSymbol"/>
              </a:rPr>
              <a:t>owe</a:t>
            </a:r>
          </a:p>
          <a:p>
            <a:pPr marL="342900" lvl="0" indent="-342900">
              <a:spcAft>
                <a:spcPts val="600"/>
              </a:spcAft>
              <a:buFont typeface="+mj-lt"/>
              <a:buAutoNum type="arabicPeriod"/>
              <a:tabLst>
                <a:tab pos="91440" algn="l"/>
              </a:tabLst>
            </a:pPr>
            <a:r>
              <a:rPr lang="pl-PL" sz="2000" b="1" kern="150" dirty="0">
                <a:solidFill>
                  <a:schemeClr val="bg1">
                    <a:lumMod val="65000"/>
                  </a:schemeClr>
                </a:solidFill>
                <a:effectLst/>
                <a:latin typeface="+mj-lt"/>
                <a:ea typeface="OpenSymbol"/>
                <a:cs typeface="OpenSymbol"/>
              </a:rPr>
              <a:t>Powiadomienia i Upoważnienia w Aplikacji</a:t>
            </a:r>
          </a:p>
          <a:p>
            <a:pPr marL="342900" lvl="0" indent="-342900">
              <a:spcAft>
                <a:spcPts val="600"/>
              </a:spcAft>
              <a:buFont typeface="+mj-lt"/>
              <a:buAutoNum type="arabicPeriod"/>
              <a:tabLst>
                <a:tab pos="91440" algn="l"/>
              </a:tabLst>
            </a:pPr>
            <a:r>
              <a:rPr lang="pl-PL" sz="2000" b="1" kern="150" dirty="0" err="1">
                <a:solidFill>
                  <a:schemeClr val="bg1">
                    <a:lumMod val="65000"/>
                  </a:schemeClr>
                </a:solidFill>
                <a:latin typeface="+mj-lt"/>
                <a:ea typeface="OpenSymbol"/>
                <a:cs typeface="OpenSymbol"/>
              </a:rPr>
              <a:t>Widgety</a:t>
            </a:r>
            <a:endParaRPr lang="pl-PL" sz="2000" b="1" kern="150" dirty="0">
              <a:solidFill>
                <a:schemeClr val="bg1">
                  <a:lumMod val="65000"/>
                </a:schemeClr>
              </a:solidFill>
              <a:effectLst/>
              <a:latin typeface="+mj-lt"/>
              <a:ea typeface="OpenSymbol"/>
              <a:cs typeface="OpenSymbol"/>
            </a:endParaRPr>
          </a:p>
        </p:txBody>
      </p:sp>
    </p:spTree>
    <p:extLst>
      <p:ext uri="{BB962C8B-B14F-4D97-AF65-F5344CB8AC3E}">
        <p14:creationId xmlns:p14="http://schemas.microsoft.com/office/powerpoint/2010/main" val="40096839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979712" y="188640"/>
            <a:ext cx="6696744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l-PL" sz="2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Kotlin – Język Przemysłowy</a:t>
            </a:r>
          </a:p>
        </p:txBody>
      </p:sp>
      <p:sp>
        <p:nvSpPr>
          <p:cNvPr id="3" name="pole tekstowe 2">
            <a:extLst>
              <a:ext uri="{FF2B5EF4-FFF2-40B4-BE49-F238E27FC236}">
                <a16:creationId xmlns:a16="http://schemas.microsoft.com/office/drawing/2014/main" id="{4A4EDC8D-624B-4D09-B81A-4A35B7BD53AB}"/>
              </a:ext>
            </a:extLst>
          </p:cNvPr>
          <p:cNvSpPr txBox="1"/>
          <p:nvPr/>
        </p:nvSpPr>
        <p:spPr>
          <a:xfrm>
            <a:off x="1296144" y="1495186"/>
            <a:ext cx="7380312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l-PL" sz="1800" b="1" i="0" dirty="0">
                <a:solidFill>
                  <a:schemeClr val="tx1"/>
                </a:solidFill>
                <a:effectLst/>
                <a:latin typeface="OpenSans-Bold"/>
              </a:rPr>
              <a:t>FORTRAN: </a:t>
            </a:r>
            <a:r>
              <a:rPr lang="pl-PL" sz="1800" b="1" i="0" dirty="0" err="1">
                <a:solidFill>
                  <a:schemeClr val="tx1"/>
                </a:solidFill>
                <a:effectLst/>
                <a:latin typeface="OpenSans-Bold"/>
              </a:rPr>
              <a:t>FORmula</a:t>
            </a:r>
            <a:r>
              <a:rPr lang="pl-PL" sz="1800" b="1" i="0" dirty="0">
                <a:solidFill>
                  <a:schemeClr val="tx1"/>
                </a:solidFill>
                <a:effectLst/>
                <a:latin typeface="OpenSans-Bold"/>
              </a:rPr>
              <a:t> </a:t>
            </a:r>
            <a:r>
              <a:rPr lang="pl-PL" sz="1800" b="1" i="0" dirty="0" err="1">
                <a:solidFill>
                  <a:schemeClr val="tx1"/>
                </a:solidFill>
                <a:effectLst/>
                <a:latin typeface="OpenSans-Bold"/>
              </a:rPr>
              <a:t>TRANslation</a:t>
            </a:r>
            <a:r>
              <a:rPr lang="pl-PL" sz="1800" b="1" i="0" dirty="0">
                <a:solidFill>
                  <a:schemeClr val="tx1"/>
                </a:solidFill>
                <a:effectLst/>
                <a:latin typeface="OpenSans-Bold"/>
              </a:rPr>
              <a:t> (1957)</a:t>
            </a:r>
            <a:endParaRPr lang="pl-PL" sz="1800" b="1" dirty="0">
              <a:solidFill>
                <a:schemeClr val="tx1"/>
              </a:solidFill>
              <a:latin typeface="OpenSans-Bold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l-PL" sz="1800" b="1" i="0" dirty="0">
                <a:solidFill>
                  <a:schemeClr val="tx1"/>
                </a:solidFill>
                <a:effectLst/>
                <a:latin typeface="OpenSans-Bold"/>
              </a:rPr>
              <a:t>LISP: </a:t>
            </a:r>
            <a:r>
              <a:rPr lang="pl-PL" sz="1800" b="1" i="0" dirty="0" err="1">
                <a:solidFill>
                  <a:schemeClr val="tx1"/>
                </a:solidFill>
                <a:effectLst/>
                <a:latin typeface="OpenSans-Bold"/>
              </a:rPr>
              <a:t>LISt</a:t>
            </a:r>
            <a:r>
              <a:rPr lang="pl-PL" sz="1800" b="1" i="0" dirty="0">
                <a:solidFill>
                  <a:schemeClr val="tx1"/>
                </a:solidFill>
                <a:effectLst/>
                <a:latin typeface="OpenSans-Bold"/>
              </a:rPr>
              <a:t> </a:t>
            </a:r>
            <a:r>
              <a:rPr lang="pl-PL" sz="1800" b="1" i="0" dirty="0" err="1">
                <a:solidFill>
                  <a:schemeClr val="tx1"/>
                </a:solidFill>
                <a:effectLst/>
                <a:latin typeface="OpenSans-Bold"/>
              </a:rPr>
              <a:t>Processor</a:t>
            </a:r>
            <a:r>
              <a:rPr lang="pl-PL" sz="1800" b="1" i="0" dirty="0">
                <a:solidFill>
                  <a:schemeClr val="tx1"/>
                </a:solidFill>
                <a:effectLst/>
                <a:latin typeface="OpenSans-Bold"/>
              </a:rPr>
              <a:t> (1958)</a:t>
            </a:r>
            <a:r>
              <a:rPr lang="pl-PL" dirty="0">
                <a:solidFill>
                  <a:schemeClr val="tx1"/>
                </a:solidFill>
              </a:rPr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l-PL" sz="1800" b="1" i="0" dirty="0">
                <a:solidFill>
                  <a:schemeClr val="tx1"/>
                </a:solidFill>
                <a:effectLst/>
                <a:latin typeface="OpenSans-Bold"/>
              </a:rPr>
              <a:t>ALGOL: </a:t>
            </a:r>
            <a:r>
              <a:rPr lang="pl-PL" sz="1800" b="1" i="0" dirty="0" err="1">
                <a:solidFill>
                  <a:schemeClr val="tx1"/>
                </a:solidFill>
                <a:effectLst/>
                <a:latin typeface="OpenSans-Bold"/>
              </a:rPr>
              <a:t>ALGOrithmic</a:t>
            </a:r>
            <a:r>
              <a:rPr lang="pl-PL" sz="1800" b="1" i="0" dirty="0">
                <a:solidFill>
                  <a:schemeClr val="tx1"/>
                </a:solidFill>
                <a:effectLst/>
                <a:latin typeface="OpenSans-Bold"/>
              </a:rPr>
              <a:t> Language (1958)</a:t>
            </a:r>
            <a:r>
              <a:rPr lang="pl-PL" dirty="0">
                <a:solidFill>
                  <a:schemeClr val="tx1"/>
                </a:solidFill>
              </a:rPr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1" i="0" dirty="0">
                <a:solidFill>
                  <a:schemeClr val="tx1"/>
                </a:solidFill>
                <a:effectLst/>
                <a:latin typeface="OpenSans-Bold"/>
              </a:rPr>
              <a:t>COBOL: </a:t>
            </a:r>
            <a:r>
              <a:rPr lang="en-US" sz="1800" b="1" i="0" dirty="0" err="1">
                <a:solidFill>
                  <a:schemeClr val="tx1"/>
                </a:solidFill>
                <a:effectLst/>
                <a:latin typeface="OpenSans-Bold"/>
              </a:rPr>
              <a:t>COmmon</a:t>
            </a:r>
            <a:r>
              <a:rPr lang="en-US" sz="1800" b="1" i="0" dirty="0">
                <a:solidFill>
                  <a:schemeClr val="tx1"/>
                </a:solidFill>
                <a:effectLst/>
                <a:latin typeface="OpenSans-Bold"/>
              </a:rPr>
              <a:t> Business-Oriented Language (1959)</a:t>
            </a:r>
            <a:r>
              <a:rPr lang="en-US" dirty="0">
                <a:solidFill>
                  <a:schemeClr val="tx1"/>
                </a:solidFill>
              </a:rPr>
              <a:t> </a:t>
            </a:r>
            <a:endParaRPr lang="pl-PL" dirty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1" i="0" dirty="0">
                <a:solidFill>
                  <a:schemeClr val="tx1"/>
                </a:solidFill>
                <a:effectLst/>
                <a:latin typeface="OpenSans-Bold"/>
              </a:rPr>
              <a:t>BASIC: Beginners’ All-purpose Symbolic Instruction</a:t>
            </a:r>
            <a:r>
              <a:rPr lang="pl-PL" sz="1800" b="1" i="0" dirty="0">
                <a:solidFill>
                  <a:schemeClr val="tx1"/>
                </a:solidFill>
                <a:effectLst/>
                <a:latin typeface="OpenSans-Bold"/>
              </a:rPr>
              <a:t> </a:t>
            </a:r>
            <a:r>
              <a:rPr lang="en-US" sz="1800" b="1" i="0" dirty="0">
                <a:solidFill>
                  <a:schemeClr val="tx1"/>
                </a:solidFill>
                <a:effectLst/>
                <a:latin typeface="OpenSans-Bold"/>
              </a:rPr>
              <a:t>Code (1964)</a:t>
            </a:r>
            <a:r>
              <a:rPr lang="en-US" dirty="0">
                <a:solidFill>
                  <a:schemeClr val="tx1"/>
                </a:solidFill>
              </a:rPr>
              <a:t> </a:t>
            </a:r>
            <a:endParaRPr lang="pl-PL" dirty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1" i="0" dirty="0" err="1">
                <a:solidFill>
                  <a:schemeClr val="tx1"/>
                </a:solidFill>
                <a:effectLst/>
                <a:latin typeface="OpenSans-Bold"/>
              </a:rPr>
              <a:t>Simula</a:t>
            </a:r>
            <a:r>
              <a:rPr lang="en-US" sz="1800" b="1" i="0" dirty="0">
                <a:solidFill>
                  <a:schemeClr val="tx1"/>
                </a:solidFill>
                <a:effectLst/>
                <a:latin typeface="OpenSans-Bold"/>
              </a:rPr>
              <a:t> 67, the Original Object-Oriented Language</a:t>
            </a:r>
            <a:r>
              <a:rPr lang="pl-PL" sz="1800" b="1" i="0" dirty="0">
                <a:solidFill>
                  <a:schemeClr val="tx1"/>
                </a:solidFill>
                <a:effectLst/>
                <a:latin typeface="OpenSans-Bold"/>
              </a:rPr>
              <a:t> </a:t>
            </a:r>
            <a:r>
              <a:rPr lang="en-US" sz="1800" b="1" i="0" dirty="0">
                <a:solidFill>
                  <a:schemeClr val="tx1"/>
                </a:solidFill>
                <a:effectLst/>
                <a:latin typeface="OpenSans-Bold"/>
              </a:rPr>
              <a:t>(1967)</a:t>
            </a:r>
            <a:r>
              <a:rPr lang="en-US" dirty="0">
                <a:solidFill>
                  <a:schemeClr val="tx1"/>
                </a:solidFill>
              </a:rPr>
              <a:t> </a:t>
            </a:r>
            <a:endParaRPr lang="pl-PL" dirty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l-PL" sz="1800" b="1" i="0" dirty="0">
                <a:solidFill>
                  <a:schemeClr val="tx1"/>
                </a:solidFill>
                <a:effectLst/>
                <a:latin typeface="OpenSans-Bold"/>
              </a:rPr>
              <a:t>Pascal (1970)</a:t>
            </a:r>
            <a:r>
              <a:rPr lang="pl-PL" dirty="0">
                <a:solidFill>
                  <a:schemeClr val="tx1"/>
                </a:solidFill>
              </a:rPr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l-PL" sz="1800" b="1" i="0" dirty="0">
                <a:solidFill>
                  <a:schemeClr val="tx1"/>
                </a:solidFill>
                <a:effectLst/>
                <a:latin typeface="OpenSans-Bold"/>
              </a:rPr>
              <a:t>C (1972)</a:t>
            </a:r>
            <a:r>
              <a:rPr lang="pl-PL" dirty="0">
                <a:solidFill>
                  <a:schemeClr val="tx1"/>
                </a:solidFill>
              </a:rPr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l-PL" sz="1800" b="1" i="0" dirty="0" err="1">
                <a:solidFill>
                  <a:schemeClr val="tx1"/>
                </a:solidFill>
                <a:effectLst/>
                <a:latin typeface="OpenSans-Bold"/>
              </a:rPr>
              <a:t>Smalltalk</a:t>
            </a:r>
            <a:r>
              <a:rPr lang="pl-PL" sz="1800" b="1" i="0" dirty="0">
                <a:solidFill>
                  <a:schemeClr val="tx1"/>
                </a:solidFill>
                <a:effectLst/>
                <a:latin typeface="OpenSans-Bold"/>
              </a:rPr>
              <a:t> (1972)</a:t>
            </a:r>
            <a:r>
              <a:rPr lang="pl-PL" dirty="0">
                <a:solidFill>
                  <a:schemeClr val="tx1"/>
                </a:solidFill>
              </a:rPr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1" i="0" dirty="0">
                <a:solidFill>
                  <a:schemeClr val="tx1"/>
                </a:solidFill>
                <a:effectLst/>
                <a:latin typeface="OpenSans-Bold"/>
              </a:rPr>
              <a:t>C++: A Better C with Objects (1983)</a:t>
            </a:r>
            <a:r>
              <a:rPr lang="en-US" dirty="0">
                <a:solidFill>
                  <a:schemeClr val="tx1"/>
                </a:solidFill>
              </a:rPr>
              <a:t> </a:t>
            </a:r>
            <a:endParaRPr lang="pl-PL" dirty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1" i="0" dirty="0">
                <a:solidFill>
                  <a:schemeClr val="tx1"/>
                </a:solidFill>
                <a:effectLst/>
                <a:latin typeface="OpenSans-Bold"/>
              </a:rPr>
              <a:t>Python: (1990)</a:t>
            </a:r>
            <a:r>
              <a:rPr lang="en-US" dirty="0">
                <a:solidFill>
                  <a:schemeClr val="tx1"/>
                </a:solidFill>
              </a:rPr>
              <a:t> </a:t>
            </a:r>
            <a:endParaRPr lang="pl-PL" dirty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1" i="0" dirty="0">
                <a:solidFill>
                  <a:schemeClr val="tx1"/>
                </a:solidFill>
                <a:effectLst/>
                <a:latin typeface="OpenSans-Bold"/>
              </a:rPr>
              <a:t>Haskell: Pure Functional Programming (1990)</a:t>
            </a:r>
            <a:endParaRPr lang="pl-PL" sz="1800" b="1" dirty="0">
              <a:solidFill>
                <a:schemeClr val="tx1"/>
              </a:solidFill>
              <a:latin typeface="OpenSans-Bold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1" i="0" dirty="0">
                <a:solidFill>
                  <a:schemeClr val="tx1"/>
                </a:solidFill>
                <a:effectLst/>
                <a:latin typeface="OpenSans-Bold"/>
              </a:rPr>
              <a:t>Java: Virtual Machines and Garbage Collection (1995)</a:t>
            </a:r>
            <a:r>
              <a:rPr lang="en-US" dirty="0">
                <a:solidFill>
                  <a:schemeClr val="tx1"/>
                </a:solidFill>
              </a:rPr>
              <a:t> </a:t>
            </a:r>
            <a:endParaRPr lang="pl-PL" dirty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l-PL" sz="1800" b="1" i="0" dirty="0">
                <a:solidFill>
                  <a:schemeClr val="tx1"/>
                </a:solidFill>
                <a:effectLst/>
                <a:latin typeface="OpenSans-Bold"/>
              </a:rPr>
              <a:t>JavaScript:  (1995)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nn-NO" sz="1800" b="1" i="0" dirty="0">
                <a:solidFill>
                  <a:schemeClr val="tx1"/>
                </a:solidFill>
                <a:effectLst/>
                <a:latin typeface="OpenSans-Bold"/>
              </a:rPr>
              <a:t>C#: (2000)</a:t>
            </a:r>
            <a:endParaRPr lang="pl-PL" sz="1800" b="1" i="0" dirty="0">
              <a:solidFill>
                <a:schemeClr val="tx1"/>
              </a:solidFill>
              <a:effectLst/>
              <a:latin typeface="OpenSans-Bold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l-PL" sz="1800" b="1" i="0" dirty="0">
                <a:solidFill>
                  <a:schemeClr val="tx1"/>
                </a:solidFill>
                <a:effectLst/>
                <a:latin typeface="OpenSans-Bold"/>
              </a:rPr>
              <a:t>Scala: (2003)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1" i="0" dirty="0">
                <a:solidFill>
                  <a:schemeClr val="tx1"/>
                </a:solidFill>
                <a:effectLst/>
                <a:latin typeface="OpenSans-Bold"/>
              </a:rPr>
              <a:t>Groovy: (2007)</a:t>
            </a:r>
            <a:endParaRPr lang="pl-PL" dirty="0">
              <a:solidFill>
                <a:schemeClr val="tx1"/>
              </a:solidFill>
            </a:endParaRPr>
          </a:p>
        </p:txBody>
      </p:sp>
      <p:sp>
        <p:nvSpPr>
          <p:cNvPr id="4" name="pole tekstowe 3">
            <a:extLst>
              <a:ext uri="{FF2B5EF4-FFF2-40B4-BE49-F238E27FC236}">
                <a16:creationId xmlns:a16="http://schemas.microsoft.com/office/drawing/2014/main" id="{C70CBCE9-0700-48B0-95BA-91932375B43E}"/>
              </a:ext>
            </a:extLst>
          </p:cNvPr>
          <p:cNvSpPr txBox="1"/>
          <p:nvPr/>
        </p:nvSpPr>
        <p:spPr>
          <a:xfrm>
            <a:off x="1984321" y="839032"/>
            <a:ext cx="705217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i="0" dirty="0">
                <a:solidFill>
                  <a:schemeClr val="tx1"/>
                </a:solidFill>
                <a:effectLst/>
                <a:latin typeface="OpenSans-Bold"/>
              </a:rPr>
              <a:t>Kotlin (Introduced 2011, Version 1.0:</a:t>
            </a:r>
            <a:r>
              <a:rPr lang="pl-PL" sz="2400" b="1" i="0" dirty="0">
                <a:solidFill>
                  <a:schemeClr val="tx1"/>
                </a:solidFill>
                <a:effectLst/>
                <a:latin typeface="OpenSans-Bold"/>
              </a:rPr>
              <a:t> </a:t>
            </a:r>
            <a:r>
              <a:rPr lang="en-US" sz="2400" b="1" i="0" dirty="0">
                <a:solidFill>
                  <a:schemeClr val="tx1"/>
                </a:solidFill>
                <a:effectLst/>
                <a:latin typeface="OpenSans-Bold"/>
              </a:rPr>
              <a:t>2016)</a:t>
            </a:r>
            <a:r>
              <a:rPr lang="en-US" sz="1600" dirty="0">
                <a:solidFill>
                  <a:schemeClr val="tx1"/>
                </a:solidFill>
              </a:rPr>
              <a:t> </a:t>
            </a:r>
            <a:br>
              <a:rPr lang="en-US" dirty="0">
                <a:solidFill>
                  <a:schemeClr val="tx1"/>
                </a:solidFill>
              </a:rPr>
            </a:br>
            <a:endParaRPr lang="pl-PL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366791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979712" y="188640"/>
            <a:ext cx="6696744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l-PL" sz="2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JVM, JRE, JDK</a:t>
            </a:r>
          </a:p>
        </p:txBody>
      </p:sp>
      <p:sp>
        <p:nvSpPr>
          <p:cNvPr id="7" name="pole tekstowe 6">
            <a:extLst>
              <a:ext uri="{FF2B5EF4-FFF2-40B4-BE49-F238E27FC236}">
                <a16:creationId xmlns:a16="http://schemas.microsoft.com/office/drawing/2014/main" id="{3DAA5B31-D812-4C7C-84FF-95B9AF53F617}"/>
              </a:ext>
            </a:extLst>
          </p:cNvPr>
          <p:cNvSpPr txBox="1"/>
          <p:nvPr/>
        </p:nvSpPr>
        <p:spPr>
          <a:xfrm>
            <a:off x="980784" y="855016"/>
            <a:ext cx="7884368" cy="4893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pl-PL" sz="2400" b="1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JDK</a:t>
            </a:r>
            <a:r>
              <a:rPr lang="pl-PL" sz="2400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(</a:t>
            </a:r>
            <a:r>
              <a:rPr lang="pl-PL" sz="2400" b="1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Java Development Kit</a:t>
            </a:r>
            <a:r>
              <a:rPr lang="pl-PL" sz="2400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 </a:t>
            </a:r>
            <a:r>
              <a:rPr lang="pl-PL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pl-PL" sz="2400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Pakiet Programisty Javy. JDK  zawiera Środowisko Uruchomieniowe Javy (tzn. JRE) oraz zestaw narzędzi niezbędnych do wytwarzania oraz kompilowania oprogramowania tworzonego w języku JAVA.</a:t>
            </a:r>
          </a:p>
          <a:p>
            <a:pPr algn="just"/>
            <a:r>
              <a:rPr lang="pl-PL" sz="2400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</a:p>
          <a:p>
            <a:pPr algn="just"/>
            <a:r>
              <a:rPr lang="pl-PL" sz="2400" b="1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JRE</a:t>
            </a:r>
            <a:r>
              <a:rPr lang="pl-PL" sz="2400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(</a:t>
            </a:r>
            <a:r>
              <a:rPr lang="pl-PL" sz="2400" b="1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Java Runtime Environment</a:t>
            </a:r>
            <a:r>
              <a:rPr lang="pl-PL" sz="2400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 - Środowisko Uruchomieniowe Javy. W skład JRE wchodzi Wirtualna Maszyna Javy (JVM) + zbiór klas oraz narzędzi wymaganych do uruchomienia aplikacji wytworzonych w języku JAVA. </a:t>
            </a:r>
          </a:p>
          <a:p>
            <a:pPr algn="just"/>
            <a:endParaRPr lang="pl-PL" sz="2400" b="0" i="0" dirty="0"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pl-PL" sz="2400" b="1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JVM (Java Virtual Machine)</a:t>
            </a:r>
            <a:r>
              <a:rPr lang="pl-PL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-</a:t>
            </a:r>
            <a:r>
              <a:rPr lang="pl-PL" sz="2400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Wirtualna Maszyna Javy. Środowisko zdolne do wykonywania skompilowanego kodu aplikacji (kod bajtowy Javy).</a:t>
            </a:r>
          </a:p>
        </p:txBody>
      </p:sp>
    </p:spTree>
    <p:extLst>
      <p:ext uri="{BB962C8B-B14F-4D97-AF65-F5344CB8AC3E}">
        <p14:creationId xmlns:p14="http://schemas.microsoft.com/office/powerpoint/2010/main" val="2456764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979712" y="188640"/>
            <a:ext cx="6696744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l-PL" sz="2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Interoperacyjność</a:t>
            </a:r>
          </a:p>
        </p:txBody>
      </p:sp>
      <p:pic>
        <p:nvPicPr>
          <p:cNvPr id="1026" name="Picture 2" descr="Process of compiling Android app with Java/Kotlin code | by Ban Markovic |  Medium">
            <a:extLst>
              <a:ext uri="{FF2B5EF4-FFF2-40B4-BE49-F238E27FC236}">
                <a16:creationId xmlns:a16="http://schemas.microsoft.com/office/drawing/2014/main" id="{F7328A61-BBA1-401A-9B55-8FDAB4EC06D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47404" y="872147"/>
            <a:ext cx="4617715" cy="59710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575934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979712" y="188640"/>
            <a:ext cx="6696744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l-PL" sz="2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Kotlin</a:t>
            </a:r>
          </a:p>
        </p:txBody>
      </p:sp>
      <p:sp>
        <p:nvSpPr>
          <p:cNvPr id="8" name="TextBox 1">
            <a:extLst>
              <a:ext uri="{FF2B5EF4-FFF2-40B4-BE49-F238E27FC236}">
                <a16:creationId xmlns:a16="http://schemas.microsoft.com/office/drawing/2014/main" id="{1AB35A18-EB6A-49A9-A227-52DE8F1EF9EC}"/>
              </a:ext>
            </a:extLst>
          </p:cNvPr>
          <p:cNvSpPr txBox="1"/>
          <p:nvPr/>
        </p:nvSpPr>
        <p:spPr>
          <a:xfrm>
            <a:off x="971600" y="740171"/>
            <a:ext cx="8028384" cy="61178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l-PL" sz="2400" b="1" dirty="0">
                <a:solidFill>
                  <a:schemeClr val="tx1"/>
                </a:solidFill>
              </a:rPr>
              <a:t>Statyczne typowanie danych </a:t>
            </a:r>
            <a:r>
              <a:rPr lang="pl-PL" sz="2400" dirty="0">
                <a:solidFill>
                  <a:schemeClr val="tx1"/>
                </a:solidFill>
              </a:rPr>
              <a:t>– na etapie kompilacji typy wyrażeń są znane a kompilator sprawdza czy istnieją pola i metody w obiektach do których odwołujemy się w kodzie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l-PL" sz="2400" b="1" dirty="0">
                <a:solidFill>
                  <a:schemeClr val="tx1"/>
                </a:solidFill>
              </a:rPr>
              <a:t>Domniemanie typów </a:t>
            </a:r>
            <a:r>
              <a:rPr lang="pl-PL" sz="2400" dirty="0">
                <a:solidFill>
                  <a:schemeClr val="tx1"/>
                </a:solidFill>
              </a:rPr>
              <a:t>– typ danych jest określany przez kompilator na podstawie kontekstu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l-PL" sz="2400" dirty="0">
                <a:solidFill>
                  <a:schemeClr val="tx1"/>
                </a:solidFill>
              </a:rPr>
              <a:t>Typy </a:t>
            </a:r>
            <a:r>
              <a:rPr lang="pl-PL" sz="2400" i="1" dirty="0" err="1">
                <a:solidFill>
                  <a:schemeClr val="tx1"/>
                </a:solidFill>
              </a:rPr>
              <a:t>nullowalne</a:t>
            </a:r>
            <a:r>
              <a:rPr lang="pl-PL" sz="2400" i="1" dirty="0">
                <a:solidFill>
                  <a:schemeClr val="tx1"/>
                </a:solidFill>
              </a:rPr>
              <a:t> - </a:t>
            </a:r>
            <a:r>
              <a:rPr lang="pl-PL" sz="2400" b="1" dirty="0" err="1">
                <a:solidFill>
                  <a:schemeClr val="tx1"/>
                </a:solidFill>
              </a:rPr>
              <a:t>NullPointerException</a:t>
            </a:r>
            <a:endParaRPr lang="pl-PL" sz="2400" b="1" i="1" dirty="0">
              <a:solidFill>
                <a:schemeClr val="tx1"/>
              </a:solidFill>
            </a:endParaRP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l-PL" sz="2400" b="1" dirty="0">
                <a:solidFill>
                  <a:schemeClr val="tx1"/>
                </a:solidFill>
              </a:rPr>
              <a:t>Programowanie Funkcyjne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l-PL" sz="2400" b="1" dirty="0">
                <a:solidFill>
                  <a:schemeClr val="tx1"/>
                </a:solidFill>
              </a:rPr>
              <a:t>OOP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l-PL" sz="2400" b="1" dirty="0">
                <a:solidFill>
                  <a:schemeClr val="tx1"/>
                </a:solidFill>
              </a:rPr>
              <a:t>Można łączyć programowanie obiektowe i funkcyjne</a:t>
            </a:r>
          </a:p>
        </p:txBody>
      </p:sp>
    </p:spTree>
    <p:extLst>
      <p:ext uri="{BB962C8B-B14F-4D97-AF65-F5344CB8AC3E}">
        <p14:creationId xmlns:p14="http://schemas.microsoft.com/office/powerpoint/2010/main" val="108590221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 cstate="print"/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EC85931-5F30-6DF4-9AC0-B9F68F1978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9C57104-BFC8-496F-3C4F-1B6AF0602AB1}"/>
              </a:ext>
            </a:extLst>
          </p:cNvPr>
          <p:cNvSpPr/>
          <p:nvPr/>
        </p:nvSpPr>
        <p:spPr>
          <a:xfrm>
            <a:off x="1979712" y="188640"/>
            <a:ext cx="6696744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l-PL" sz="2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Kotlin</a:t>
            </a:r>
          </a:p>
        </p:txBody>
      </p:sp>
      <p:pic>
        <p:nvPicPr>
          <p:cNvPr id="5" name="Obraz 4">
            <a:extLst>
              <a:ext uri="{FF2B5EF4-FFF2-40B4-BE49-F238E27FC236}">
                <a16:creationId xmlns:a16="http://schemas.microsoft.com/office/drawing/2014/main" id="{D6543BEF-795C-B45A-FDE5-C65D8230F28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3608" y="847281"/>
            <a:ext cx="5064993" cy="38496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190012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 cstate="print"/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6B5FAEA-8CD7-AB03-3776-1336982324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8E7D70A-5D2F-0CB7-6627-893C6B412415}"/>
              </a:ext>
            </a:extLst>
          </p:cNvPr>
          <p:cNvSpPr/>
          <p:nvPr/>
        </p:nvSpPr>
        <p:spPr>
          <a:xfrm>
            <a:off x="1979712" y="188640"/>
            <a:ext cx="6696744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l-PL" sz="2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Kotlin</a:t>
            </a:r>
          </a:p>
        </p:txBody>
      </p:sp>
      <p:pic>
        <p:nvPicPr>
          <p:cNvPr id="5" name="Obraz 4">
            <a:extLst>
              <a:ext uri="{FF2B5EF4-FFF2-40B4-BE49-F238E27FC236}">
                <a16:creationId xmlns:a16="http://schemas.microsoft.com/office/drawing/2014/main" id="{9396C85B-ECC4-4FE2-40EF-0F3F874FA91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3608" y="847281"/>
            <a:ext cx="5064993" cy="3849666"/>
          </a:xfrm>
          <a:prstGeom prst="rect">
            <a:avLst/>
          </a:prstGeom>
        </p:spPr>
      </p:pic>
      <p:pic>
        <p:nvPicPr>
          <p:cNvPr id="4" name="Obraz 3">
            <a:extLst>
              <a:ext uri="{FF2B5EF4-FFF2-40B4-BE49-F238E27FC236}">
                <a16:creationId xmlns:a16="http://schemas.microsoft.com/office/drawing/2014/main" id="{8B5CCF81-EAE5-949B-8477-1A9E12D3BEA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31840" y="920437"/>
            <a:ext cx="5731743" cy="37974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655602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 cstate="print"/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C3D1378-2151-907F-69F8-4FBE5D30D2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CF935B3-AD92-CADA-6035-F160BDAFA4EF}"/>
              </a:ext>
            </a:extLst>
          </p:cNvPr>
          <p:cNvSpPr/>
          <p:nvPr/>
        </p:nvSpPr>
        <p:spPr>
          <a:xfrm>
            <a:off x="1979712" y="188640"/>
            <a:ext cx="6696744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l-PL" sz="2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Kotlin</a:t>
            </a:r>
          </a:p>
        </p:txBody>
      </p:sp>
      <p:pic>
        <p:nvPicPr>
          <p:cNvPr id="5" name="Obraz 4">
            <a:extLst>
              <a:ext uri="{FF2B5EF4-FFF2-40B4-BE49-F238E27FC236}">
                <a16:creationId xmlns:a16="http://schemas.microsoft.com/office/drawing/2014/main" id="{51443C3E-A4B1-1D4E-430C-CEABFEC9581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3608" y="847281"/>
            <a:ext cx="5064993" cy="3849666"/>
          </a:xfrm>
          <a:prstGeom prst="rect">
            <a:avLst/>
          </a:prstGeom>
        </p:spPr>
      </p:pic>
      <p:pic>
        <p:nvPicPr>
          <p:cNvPr id="4" name="Obraz 3">
            <a:extLst>
              <a:ext uri="{FF2B5EF4-FFF2-40B4-BE49-F238E27FC236}">
                <a16:creationId xmlns:a16="http://schemas.microsoft.com/office/drawing/2014/main" id="{D7563FFE-725D-85FD-B5F2-21C3EF3DD61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31840" y="920437"/>
            <a:ext cx="5731743" cy="3797441"/>
          </a:xfrm>
          <a:prstGeom prst="rect">
            <a:avLst/>
          </a:prstGeom>
        </p:spPr>
      </p:pic>
      <p:pic>
        <p:nvPicPr>
          <p:cNvPr id="6" name="Obraz 5">
            <a:extLst>
              <a:ext uri="{FF2B5EF4-FFF2-40B4-BE49-F238E27FC236}">
                <a16:creationId xmlns:a16="http://schemas.microsoft.com/office/drawing/2014/main" id="{B0931691-66E2-A260-1E34-654C3030704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31640" y="2416331"/>
            <a:ext cx="7153275" cy="4229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005281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 cstate="print"/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78350B9-4A0D-9BFF-7B14-497F8685CB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71D8091-7BDE-FDE7-BC35-5E59DBC8B05C}"/>
              </a:ext>
            </a:extLst>
          </p:cNvPr>
          <p:cNvSpPr/>
          <p:nvPr/>
        </p:nvSpPr>
        <p:spPr>
          <a:xfrm>
            <a:off x="1979712" y="188640"/>
            <a:ext cx="6696744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l-PL" sz="2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Android</a:t>
            </a:r>
          </a:p>
        </p:txBody>
      </p:sp>
      <p:pic>
        <p:nvPicPr>
          <p:cNvPr id="9" name="Obraz 8" descr="Obraz zawierający monitor, zegar, ekran, trzymający&#10;&#10;Opis wygenerowany automatycznie">
            <a:extLst>
              <a:ext uri="{FF2B5EF4-FFF2-40B4-BE49-F238E27FC236}">
                <a16:creationId xmlns:a16="http://schemas.microsoft.com/office/drawing/2014/main" id="{350145AB-C792-EAB8-DE4F-2E3356AC6A1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608" y="1027228"/>
            <a:ext cx="8100392" cy="58168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555845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 cstate="print"/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C134056-DEEB-4BE1-D508-2D0A70783F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F60A93C-D98B-FDE8-A86A-7B562463377B}"/>
              </a:ext>
            </a:extLst>
          </p:cNvPr>
          <p:cNvSpPr/>
          <p:nvPr/>
        </p:nvSpPr>
        <p:spPr>
          <a:xfrm>
            <a:off x="1979712" y="188640"/>
            <a:ext cx="6696744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l-PL" sz="2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Android</a:t>
            </a:r>
          </a:p>
        </p:txBody>
      </p:sp>
      <p:pic>
        <p:nvPicPr>
          <p:cNvPr id="8" name="Obraz 7">
            <a:extLst>
              <a:ext uri="{FF2B5EF4-FFF2-40B4-BE49-F238E27FC236}">
                <a16:creationId xmlns:a16="http://schemas.microsoft.com/office/drawing/2014/main" id="{23C198A6-153C-6BE1-2A46-94B7A556A41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39752" y="1052736"/>
            <a:ext cx="5676900" cy="571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459742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 cstate="print"/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EFFA619-26E6-165A-53B7-C64B1FD2A8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2DFFBE5-994E-1662-42EA-6069F8702326}"/>
              </a:ext>
            </a:extLst>
          </p:cNvPr>
          <p:cNvSpPr/>
          <p:nvPr/>
        </p:nvSpPr>
        <p:spPr>
          <a:xfrm>
            <a:off x="1979712" y="188640"/>
            <a:ext cx="6696744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l-PL" sz="2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Android Studio</a:t>
            </a:r>
          </a:p>
        </p:txBody>
      </p:sp>
      <p:pic>
        <p:nvPicPr>
          <p:cNvPr id="3076" name="Picture 4" descr="Google I/O 2024: What's new in Android Development Tools - Google  Developers Blog">
            <a:extLst>
              <a:ext uri="{FF2B5EF4-FFF2-40B4-BE49-F238E27FC236}">
                <a16:creationId xmlns:a16="http://schemas.microsoft.com/office/drawing/2014/main" id="{24458D6B-91D9-D059-E762-14905183582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5616" y="2399092"/>
            <a:ext cx="8028384" cy="23903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42953129"/>
      </p:ext>
    </p:extLst>
  </p:cSld>
  <p:clrMapOvr>
    <a:masterClrMapping/>
  </p:clrMapOvr>
</p:sld>
</file>

<file path=ppt/theme/theme1.xml><?xml version="1.0" encoding="utf-8"?>
<a:theme xmlns:a="http://schemas.openxmlformats.org/drawingml/2006/main" name="uni.wroc_0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Motyw pakietu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Motyw pakietu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uni.wroc_01.potx</Template>
  <TotalTime>78763</TotalTime>
  <Pages>0</Pages>
  <Words>614</Words>
  <Characters>0</Characters>
  <Application>Microsoft Office PowerPoint</Application>
  <PresentationFormat>Pokaz na ekranie (4:3)</PresentationFormat>
  <Lines>0</Lines>
  <Paragraphs>106</Paragraphs>
  <Slides>14</Slides>
  <Notes>14</Notes>
  <HiddenSlides>0</HiddenSlides>
  <MMClips>0</MMClips>
  <ScaleCrop>false</ScaleCrop>
  <HeadingPairs>
    <vt:vector size="6" baseType="variant">
      <vt:variant>
        <vt:lpstr>Używane czcionki</vt:lpstr>
      </vt:variant>
      <vt:variant>
        <vt:i4>6</vt:i4>
      </vt:variant>
      <vt:variant>
        <vt:lpstr>Motyw</vt:lpstr>
      </vt:variant>
      <vt:variant>
        <vt:i4>1</vt:i4>
      </vt:variant>
      <vt:variant>
        <vt:lpstr>Tytuły slajdów</vt:lpstr>
      </vt:variant>
      <vt:variant>
        <vt:i4>14</vt:i4>
      </vt:variant>
    </vt:vector>
  </HeadingPairs>
  <TitlesOfParts>
    <vt:vector size="21" baseType="lpstr">
      <vt:lpstr>Arial</vt:lpstr>
      <vt:lpstr>Calibri</vt:lpstr>
      <vt:lpstr>Courier New</vt:lpstr>
      <vt:lpstr>OpenSans-Bold</vt:lpstr>
      <vt:lpstr>Times New Roman</vt:lpstr>
      <vt:lpstr>Verdana</vt:lpstr>
      <vt:lpstr>uni.wroc_01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Podręcznik użytkownika  Systemu Identyfikacji Wizualnej   cz. I  dla pracowników naukowych i administracyjnych</dc:title>
  <dc:subject/>
  <dc:creator>tolek</dc:creator>
  <cp:keywords/>
  <dc:description/>
  <cp:lastModifiedBy>Rafał Lewandków</cp:lastModifiedBy>
  <cp:revision>1075</cp:revision>
  <dcterms:modified xsi:type="dcterms:W3CDTF">2025-02-26T11:25:37Z</dcterms:modified>
  <cp:category/>
</cp:coreProperties>
</file>