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96" r:id="rId1"/>
  </p:sldMasterIdLst>
  <p:notesMasterIdLst>
    <p:notesMasterId r:id="rId17"/>
  </p:notesMasterIdLst>
  <p:handoutMasterIdLst>
    <p:handoutMasterId r:id="rId18"/>
  </p:handoutMasterIdLst>
  <p:sldIdLst>
    <p:sldId id="346" r:id="rId2"/>
    <p:sldId id="503" r:id="rId3"/>
    <p:sldId id="504" r:id="rId4"/>
    <p:sldId id="524" r:id="rId5"/>
    <p:sldId id="506" r:id="rId6"/>
    <p:sldId id="508" r:id="rId7"/>
    <p:sldId id="509" r:id="rId8"/>
    <p:sldId id="510" r:id="rId9"/>
    <p:sldId id="515" r:id="rId10"/>
    <p:sldId id="518" r:id="rId11"/>
    <p:sldId id="519" r:id="rId12"/>
    <p:sldId id="520" r:id="rId13"/>
    <p:sldId id="521" r:id="rId14"/>
    <p:sldId id="522" r:id="rId15"/>
    <p:sldId id="523" r:id="rId16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1pPr>
    <a:lvl2pPr marL="457200"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2pPr>
    <a:lvl3pPr marL="914400"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3pPr>
    <a:lvl4pPr marL="1371600"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4pPr>
    <a:lvl5pPr marL="1828800"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5pPr>
    <a:lvl6pPr marL="2286000" algn="l" defTabSz="914400" rtl="0" eaLnBrk="1" latinLnBrk="0" hangingPunct="1"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6pPr>
    <a:lvl7pPr marL="2743200" algn="l" defTabSz="914400" rtl="0" eaLnBrk="1" latinLnBrk="0" hangingPunct="1"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7pPr>
    <a:lvl8pPr marL="3200400" algn="l" defTabSz="914400" rtl="0" eaLnBrk="1" latinLnBrk="0" hangingPunct="1"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8pPr>
    <a:lvl9pPr marL="3657600" algn="l" defTabSz="914400" rtl="0" eaLnBrk="1" latinLnBrk="0" hangingPunct="1"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afi Lew" initials="RL" lastIdx="1" clrIdx="0">
    <p:extLst>
      <p:ext uri="{19B8F6BF-5375-455C-9EA6-DF929625EA0E}">
        <p15:presenceInfo xmlns:p15="http://schemas.microsoft.com/office/powerpoint/2012/main" userId="218299075d94207c" providerId="Windows Live"/>
      </p:ext>
    </p:extLst>
  </p:cmAuthor>
  <p:cmAuthor id="2" name="Rafał Lewandków" initials="RL" lastIdx="4" clrIdx="1">
    <p:extLst>
      <p:ext uri="{19B8F6BF-5375-455C-9EA6-DF929625EA0E}">
        <p15:presenceInfo xmlns:p15="http://schemas.microsoft.com/office/powerpoint/2012/main" userId="Rafał Lewandków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00FF00"/>
    <a:srgbClr val="00FFFF"/>
    <a:srgbClr val="FF00FF"/>
    <a:srgbClr val="006600"/>
    <a:srgbClr val="BCE292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2" autoAdjust="0"/>
    <p:restoredTop sz="94892" autoAdjust="0"/>
  </p:normalViewPr>
  <p:slideViewPr>
    <p:cSldViewPr>
      <p:cViewPr varScale="1">
        <p:scale>
          <a:sx n="96" d="100"/>
          <a:sy n="96" d="100"/>
        </p:scale>
        <p:origin x="1098" y="5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15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61" d="100"/>
          <a:sy n="61" d="100"/>
        </p:scale>
        <p:origin x="859" y="3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13504E-0C99-2340-A5F6-DD6E1A87C372}" type="datetimeFigureOut">
              <a:rPr lang="pl-PL" smtClean="0"/>
              <a:t>22.02.2026</a:t>
            </a:fld>
            <a:endParaRPr lang="pl-PL"/>
          </a:p>
        </p:txBody>
      </p:sp>
      <p:sp>
        <p:nvSpPr>
          <p:cNvPr id="4" name="Symbol zastępczy stopki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5" name="Symbol zastępczy numeru slajdu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6285F6-EDF4-6942-8E96-D0A50380D90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7508038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8C933E-44E9-2D43-91B0-0D2BEEFA7EB9}" type="datetimeFigureOut">
              <a:rPr lang="pl-PL" smtClean="0"/>
              <a:t>22.02.2026</a:t>
            </a:fld>
            <a:endParaRPr lang="pl-PL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CE77F9-1A7F-B148-A0AA-5828300D10B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3938265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endParaRPr lang="pl-P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681921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4739818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4060498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5E031-F7BB-BAF1-F650-9A15EBCB2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75F0D3-E215-7E8F-C233-7E4925EB69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ECB863-1A4B-7816-F616-60B61D604F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15493F-C10D-D813-E5EC-7DF02C3641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974079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975853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838270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379395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8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4739818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9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9463965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CFF8E-D8D4-0A3A-2952-40E1AE15B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B434F-87BD-3FED-7C94-3A7C47D780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A1E13D-0C08-1997-6BB7-A9C5971B5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FA25F5-8928-F9B9-F31E-9A797DB529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10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251129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D82A2-1BEC-78EF-0D4E-F61753CB3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FC1BE2-0ACE-D22F-3025-4E169D0622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C4EA01-63F2-89E6-DC1A-5CCB9936F0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59DCB4-4762-1939-1CEA-7E4D42A1B1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592695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CFBA9-34AE-EB50-2A76-AD9246D31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789F36-4562-D03A-3B92-F60282ED82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E4BC5E-6F77-258A-8F54-0B5BE911DC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42609-88A2-C9AF-8E8A-9BE3118C64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071326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DDB11-F072-29CF-7C0E-88B11434A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1F670E-A63B-7563-2691-78BBDCB3D8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7F1A9B-0F35-3C12-4BF0-6906C58E71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B4E345-CDFB-29DB-94FC-2ADCE10755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4322020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166B3-3EE0-613E-928D-255131B24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FBEBFE-1D01-FB93-F8F9-2C94AAE1A4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B87259-6322-7EB9-636E-26C246D7AB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438E10-4EA5-72B8-9FAD-5C8A628C36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581941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734167-4556-212E-B680-B3BB3C919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DECA4-2AA8-7DAE-0875-CFB067F6AE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C01026-D44B-8FC2-3AF9-E3FED37F3B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E4C1C1-7CDA-7AAB-F745-837E1C2AF3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776147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22.02.2026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3FEF5-976C-4EA3-84A7-FBC3543521F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972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22.02.2026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B2623-FECC-458E-8887-8971830FA08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4047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22.02.2026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EC418-961B-4A97-8A49-C7EB1AA505E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81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22.02.2026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CE437-C745-4797-8E12-AE887F9C67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2692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22.02.2026</a:t>
            </a:fld>
            <a:endParaRPr lang="pl-PL"/>
          </a:p>
        </p:txBody>
      </p:sp>
      <p:sp>
        <p:nvSpPr>
          <p:cNvPr id="8" name="Symbol zastępczy stopki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ED58DE-157A-47FB-B6FE-2BF3DBE0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1143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daty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22.02.2026</a:t>
            </a:fld>
            <a:endParaRPr lang="pl-PL"/>
          </a:p>
        </p:txBody>
      </p:sp>
      <p:sp>
        <p:nvSpPr>
          <p:cNvPr id="4" name="Symbol zastępczy stopki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702-A4CE-4E37-AD1A-55778605B19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3130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22.02.2026</a:t>
            </a:fld>
            <a:endParaRPr lang="pl-PL"/>
          </a:p>
        </p:txBody>
      </p:sp>
      <p:sp>
        <p:nvSpPr>
          <p:cNvPr id="3" name="Symbol zastępczy stopki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E45C1-B7A3-4D83-AEC0-13697CCD1D3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72454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22.02.2026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751C0-3663-4EFE-8A6A-10BE31BDC9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3485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obrazu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l-PL"/>
              <a:t>Przeciągnij obraz na symbol zastępczy lub kliknij ikonę, aby go dodać</a:t>
            </a:r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22.02.2026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FEB7E-1F88-4AE7-AA89-93BE3C1A9C1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195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pionowego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22.02.2026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C5AF-A148-4762-92DF-376362746BF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363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pionowego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22.02.2026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DDEFBB-CA7F-4380-AF49-7EC026DA26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695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017B01-0C30-B241-B19F-621BE4770608}" type="datetimeFigureOut">
              <a:rPr lang="pl-PL" smtClean="0"/>
              <a:t>22.02.2026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1E45C1-B7A3-4D83-AEC0-13697CCD1D3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097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eveloper.android.com/courses" TargetMode="External"/><Relationship Id="rId5" Type="http://schemas.openxmlformats.org/officeDocument/2006/relationships/hyperlink" Target="https://kotlinlang.org/docs/home.html" TargetMode="External"/><Relationship Id="rId4" Type="http://schemas.openxmlformats.org/officeDocument/2006/relationships/hyperlink" Target="https://github.com/RafLew84/ProgUM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5896" y="260648"/>
            <a:ext cx="4752274" cy="398892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79512" y="1628800"/>
            <a:ext cx="842493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3200" b="1" dirty="0">
                <a:solidFill>
                  <a:schemeClr val="bg1"/>
                </a:solidFill>
              </a:rPr>
              <a:t>PROGRAMOWANIE URZĄDZEŃ</a:t>
            </a:r>
          </a:p>
          <a:p>
            <a:pPr algn="ctr"/>
            <a:r>
              <a:rPr lang="pl-PL" sz="3200" b="1" dirty="0">
                <a:solidFill>
                  <a:schemeClr val="bg1"/>
                </a:solidFill>
              </a:rPr>
              <a:t>MOBILNYCH 1</a:t>
            </a:r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B3CC2FAF-D489-4F42-90E1-D634E6FA5CAF}"/>
              </a:ext>
            </a:extLst>
          </p:cNvPr>
          <p:cNvSpPr txBox="1"/>
          <p:nvPr/>
        </p:nvSpPr>
        <p:spPr>
          <a:xfrm>
            <a:off x="179512" y="3861048"/>
            <a:ext cx="84249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2400" dirty="0">
                <a:solidFill>
                  <a:schemeClr val="bg1"/>
                </a:solidFill>
              </a:rPr>
              <a:t>WYKŁAD 0</a:t>
            </a:r>
          </a:p>
        </p:txBody>
      </p:sp>
      <p:sp>
        <p:nvSpPr>
          <p:cNvPr id="6" name="TextBox 1">
            <a:extLst>
              <a:ext uri="{FF2B5EF4-FFF2-40B4-BE49-F238E27FC236}">
                <a16:creationId xmlns:a16="http://schemas.microsoft.com/office/drawing/2014/main" id="{A5201681-6767-4194-BF52-C2BE7C096DA3}"/>
              </a:ext>
            </a:extLst>
          </p:cNvPr>
          <p:cNvSpPr txBox="1"/>
          <p:nvPr/>
        </p:nvSpPr>
        <p:spPr>
          <a:xfrm>
            <a:off x="3116266" y="4767535"/>
            <a:ext cx="54726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Courier New" panose="02070309020205020404" pitchFamily="49" charset="0"/>
              <a:buChar char="o"/>
            </a:pPr>
            <a:r>
              <a:rPr lang="pl-PL" sz="1800" dirty="0">
                <a:solidFill>
                  <a:schemeClr val="bg1"/>
                </a:solidFill>
              </a:rPr>
              <a:t>PODSTAWOWE INFORMACJE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pl-PL" sz="1800" dirty="0">
                <a:solidFill>
                  <a:schemeClr val="bg1"/>
                </a:solidFill>
              </a:rPr>
              <a:t>TREŚCI PROGRAMOWE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pl-PL" sz="1800" dirty="0">
                <a:solidFill>
                  <a:schemeClr val="bg1"/>
                </a:solidFill>
              </a:rPr>
              <a:t>ZASADY ZALICZENIA</a:t>
            </a:r>
          </a:p>
        </p:txBody>
      </p:sp>
    </p:spTree>
    <p:extLst>
      <p:ext uri="{BB962C8B-B14F-4D97-AF65-F5344CB8AC3E}">
        <p14:creationId xmlns:p14="http://schemas.microsoft.com/office/powerpoint/2010/main" val="30983482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PODSTAWOWE INFORMACJE</a:t>
            </a:r>
          </a:p>
        </p:txBody>
      </p:sp>
      <p:sp>
        <p:nvSpPr>
          <p:cNvPr id="7" name="TextBox 1">
            <a:extLst>
              <a:ext uri="{FF2B5EF4-FFF2-40B4-BE49-F238E27FC236}">
                <a16:creationId xmlns:a16="http://schemas.microsoft.com/office/drawing/2014/main" id="{D22229DB-0C83-4CF8-A4E0-AF9994C3705D}"/>
              </a:ext>
            </a:extLst>
          </p:cNvPr>
          <p:cNvSpPr txBox="1"/>
          <p:nvPr/>
        </p:nvSpPr>
        <p:spPr>
          <a:xfrm>
            <a:off x="2267744" y="836712"/>
            <a:ext cx="54726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2400" dirty="0">
                <a:solidFill>
                  <a:schemeClr val="tx1"/>
                </a:solidFill>
              </a:rPr>
              <a:t>Rafał Lewandków</a:t>
            </a:r>
          </a:p>
          <a:p>
            <a:pPr algn="ctr"/>
            <a:r>
              <a:rPr lang="pl-PL" sz="2400" dirty="0">
                <a:solidFill>
                  <a:schemeClr val="tx1"/>
                </a:solidFill>
              </a:rPr>
              <a:t>pokój 075</a:t>
            </a:r>
          </a:p>
          <a:p>
            <a:pPr algn="ctr"/>
            <a:r>
              <a:rPr lang="pl-PL" sz="2400" dirty="0">
                <a:solidFill>
                  <a:schemeClr val="tx1"/>
                </a:solidFill>
              </a:rPr>
              <a:t>rafal.lewandkow2@uwr.edu.pl</a:t>
            </a:r>
          </a:p>
        </p:txBody>
      </p:sp>
      <p:sp>
        <p:nvSpPr>
          <p:cNvPr id="11" name="TextBox 1">
            <a:extLst>
              <a:ext uri="{FF2B5EF4-FFF2-40B4-BE49-F238E27FC236}">
                <a16:creationId xmlns:a16="http://schemas.microsoft.com/office/drawing/2014/main" id="{6B4540DE-57F4-48C6-B18B-7596EFCB8521}"/>
              </a:ext>
            </a:extLst>
          </p:cNvPr>
          <p:cNvSpPr txBox="1"/>
          <p:nvPr/>
        </p:nvSpPr>
        <p:spPr>
          <a:xfrm>
            <a:off x="1115616" y="1959500"/>
            <a:ext cx="8172401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2400" dirty="0">
                <a:solidFill>
                  <a:schemeClr val="tx1"/>
                </a:solidFill>
              </a:rPr>
              <a:t>Forma zajęć i liczba godzin:</a:t>
            </a:r>
          </a:p>
          <a:p>
            <a:pPr algn="just"/>
            <a:r>
              <a:rPr lang="pl-PL" sz="2400" dirty="0">
                <a:solidFill>
                  <a:schemeClr val="tx1"/>
                </a:solidFill>
              </a:rPr>
              <a:t>Wykład 15 godz. /Laboratorium 30 godz.</a:t>
            </a:r>
          </a:p>
          <a:p>
            <a:pPr algn="just"/>
            <a:r>
              <a:rPr lang="pl-PL" sz="2400" dirty="0">
                <a:solidFill>
                  <a:schemeClr val="tx1"/>
                </a:solidFill>
              </a:rPr>
              <a:t>Materiały do zajęć: </a:t>
            </a:r>
            <a:r>
              <a:rPr lang="pl-PL" sz="2400" dirty="0">
                <a:solidFill>
                  <a:schemeClr val="tx1"/>
                </a:solidFill>
                <a:hlinkClick r:id="rId4"/>
              </a:rPr>
              <a:t>https://github.com/RafLew84/ProgUM</a:t>
            </a:r>
            <a:endParaRPr lang="pl-PL" sz="2400" dirty="0">
              <a:solidFill>
                <a:schemeClr val="tx1"/>
              </a:solidFill>
            </a:endParaRPr>
          </a:p>
          <a:p>
            <a:pPr algn="just"/>
            <a:endParaRPr lang="pl-PL" sz="2400" dirty="0">
              <a:solidFill>
                <a:schemeClr val="tx1"/>
              </a:solidFill>
            </a:endParaRPr>
          </a:p>
          <a:p>
            <a:pPr algn="just"/>
            <a:r>
              <a:rPr lang="pl-PL" sz="2400" dirty="0">
                <a:solidFill>
                  <a:schemeClr val="tx1"/>
                </a:solidFill>
              </a:rPr>
              <a:t>Literatura obowiązkowa i zalecana:</a:t>
            </a:r>
          </a:p>
          <a:p>
            <a:pPr algn="just"/>
            <a:r>
              <a:rPr lang="pl-PL" sz="2400" dirty="0">
                <a:solidFill>
                  <a:schemeClr val="tx1"/>
                </a:solidFill>
              </a:rPr>
              <a:t>•   </a:t>
            </a:r>
            <a:r>
              <a:rPr lang="pl-PL" sz="2400" dirty="0">
                <a:solidFill>
                  <a:schemeClr val="tx1"/>
                </a:solidFill>
                <a:hlinkClick r:id="rId5"/>
              </a:rPr>
              <a:t>https://kotlinlang.org/docs/home.html</a:t>
            </a:r>
            <a:endParaRPr lang="pl-PL" sz="2400" dirty="0">
              <a:solidFill>
                <a:schemeClr val="tx1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pl-PL" sz="2400" dirty="0">
                <a:solidFill>
                  <a:schemeClr val="tx1"/>
                </a:solidFill>
                <a:hlinkClick r:id="rId6"/>
              </a:rPr>
              <a:t>https://developer.android.com/courses</a:t>
            </a:r>
            <a:endParaRPr lang="pl-PL" sz="2400" dirty="0">
              <a:solidFill>
                <a:schemeClr val="tx1"/>
              </a:solidFill>
            </a:endParaRPr>
          </a:p>
          <a:p>
            <a:pPr algn="just"/>
            <a:endParaRPr lang="pl-PL" sz="2400" dirty="0">
              <a:solidFill>
                <a:schemeClr val="tx1"/>
              </a:solidFill>
            </a:endParaRPr>
          </a:p>
          <a:p>
            <a:pPr algn="just"/>
            <a:endParaRPr lang="pl-PL" sz="2400" dirty="0">
              <a:solidFill>
                <a:schemeClr val="tx1"/>
              </a:solidFill>
            </a:endParaRPr>
          </a:p>
          <a:p>
            <a:pPr algn="just"/>
            <a:r>
              <a:rPr lang="pl-PL" sz="2400" dirty="0">
                <a:solidFill>
                  <a:schemeClr val="tx1"/>
                </a:solidFill>
              </a:rPr>
              <a:t>Nakład pracy studenta:</a:t>
            </a:r>
          </a:p>
          <a:p>
            <a:pPr algn="just"/>
            <a:r>
              <a:rPr lang="pl-PL" sz="2400" dirty="0">
                <a:solidFill>
                  <a:schemeClr val="tx1"/>
                </a:solidFill>
              </a:rPr>
              <a:t>Praca własna studenta: 30 godz.</a:t>
            </a:r>
          </a:p>
          <a:p>
            <a:pPr algn="just"/>
            <a:r>
              <a:rPr lang="pl-PL" sz="2400" dirty="0">
                <a:solidFill>
                  <a:schemeClr val="tx1"/>
                </a:solidFill>
              </a:rPr>
              <a:t>Łączna liczba godzin 75</a:t>
            </a:r>
          </a:p>
          <a:p>
            <a:pPr algn="just"/>
            <a:r>
              <a:rPr lang="pl-PL" sz="2400" dirty="0">
                <a:solidFill>
                  <a:schemeClr val="tx1"/>
                </a:solidFill>
              </a:rPr>
              <a:t>Liczba punktów ECTS: 3</a:t>
            </a:r>
          </a:p>
        </p:txBody>
      </p:sp>
    </p:spTree>
    <p:extLst>
      <p:ext uri="{BB962C8B-B14F-4D97-AF65-F5344CB8AC3E}">
        <p14:creationId xmlns:p14="http://schemas.microsoft.com/office/powerpoint/2010/main" val="4175824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ZASADY ZALICZENIA</a:t>
            </a:r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5286C2FE-3D37-42C9-AFA2-106F80EDBDEA}"/>
              </a:ext>
            </a:extLst>
          </p:cNvPr>
          <p:cNvSpPr txBox="1"/>
          <p:nvPr/>
        </p:nvSpPr>
        <p:spPr>
          <a:xfrm>
            <a:off x="971600" y="681083"/>
            <a:ext cx="8244408" cy="585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l-PL" sz="1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Warunkiem zaliczenia laboratorium jest uzyskanie pozytywnej oceny z list zadań.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Przewidzianych jest </a:t>
            </a:r>
            <a:r>
              <a:rPr lang="pl-PL" sz="1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6 list zadań</a:t>
            </a:r>
            <a:r>
              <a:rPr lang="pl-PL" sz="1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Z każdej listy wystawiana jest </a:t>
            </a:r>
            <a:r>
              <a:rPr lang="pl-PL" sz="1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osobna ocena</a:t>
            </a:r>
            <a:r>
              <a:rPr lang="pl-PL" sz="1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Dopuszczalne jest </a:t>
            </a:r>
            <a:r>
              <a:rPr lang="pl-PL" sz="1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nieoddanie</a:t>
            </a:r>
            <a:r>
              <a:rPr lang="pl-PL" sz="1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lub </a:t>
            </a:r>
            <a:r>
              <a:rPr lang="pl-PL" sz="1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niezaliczenie</a:t>
            </a:r>
            <a:r>
              <a:rPr lang="pl-PL" sz="1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jednej listy. Za tą listę student otrzymuje </a:t>
            </a:r>
            <a:r>
              <a:rPr lang="pl-PL" sz="1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ocenę 2.0</a:t>
            </a:r>
            <a:r>
              <a:rPr lang="pl-PL" sz="1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Każda lista ma </a:t>
            </a:r>
            <a:r>
              <a:rPr lang="pl-PL" sz="1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określony termin zwrotu </a:t>
            </a:r>
            <a:r>
              <a:rPr lang="pl-PL" sz="1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 </a:t>
            </a:r>
            <a:r>
              <a:rPr lang="pl-PL" sz="1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punktację</a:t>
            </a:r>
            <a:r>
              <a:rPr lang="pl-PL" sz="1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Za każdy tydzień opóźnienia ocena </a:t>
            </a:r>
            <a:r>
              <a:rPr lang="pl-PL" sz="1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obniżana jest o 1</a:t>
            </a:r>
            <a:r>
              <a:rPr lang="pl-PL" sz="1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Listy oddawane są </a:t>
            </a:r>
            <a:r>
              <a:rPr lang="pl-PL" sz="1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podczas</a:t>
            </a:r>
            <a:r>
              <a:rPr lang="pl-PL" sz="1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zajęć laboratoryjnych.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 list zadań dołączana jest lista pytań, na które student jest </a:t>
            </a:r>
            <a:r>
              <a:rPr lang="pl-PL" sz="1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zobowiązany odpowiedzieć ustnie </a:t>
            </a:r>
            <a:r>
              <a:rPr lang="pl-PL" sz="1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podczas zajęć laboratoryjnych. Z każdej listy pytań (o ile istnieje) losowane są pytania. Liczba pytań jest zależna od liczby punktów na liście. Przykładowo, jeśli lista ma 10 punktów, a z zadań praktycznych student może otrzymać 5 punktów, losowane jest 5 pytań. Pytania dotyczą zarówno teorii jak i praktyki.</a:t>
            </a:r>
          </a:p>
        </p:txBody>
      </p:sp>
    </p:spTree>
    <p:extLst>
      <p:ext uri="{BB962C8B-B14F-4D97-AF65-F5344CB8AC3E}">
        <p14:creationId xmlns:p14="http://schemas.microsoft.com/office/powerpoint/2010/main" val="14609403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5A7B82-1038-CE67-BCBD-A5517ABF6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B68BD3-2D09-7AEF-5CB1-931C6B2420D4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ZASADY ZALICZENIA</a:t>
            </a:r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D3E6F67B-6A88-3F3F-EF6F-88D41FA3FF0C}"/>
              </a:ext>
            </a:extLst>
          </p:cNvPr>
          <p:cNvSpPr txBox="1"/>
          <p:nvPr/>
        </p:nvSpPr>
        <p:spPr>
          <a:xfrm>
            <a:off x="971600" y="681083"/>
            <a:ext cx="8244408" cy="6275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l-PL" sz="1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Warunkiem zaliczenia laboratorium jest uzyskanie pozytywnej oceny z list zadań.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Student jest </a:t>
            </a:r>
            <a:r>
              <a:rPr lang="pl-PL" sz="1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zobowiązany do przekazania kodu źródłowego </a:t>
            </a:r>
            <a:r>
              <a:rPr lang="pl-PL" sz="1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 repozytorium GitHub. Link do repozytorium należy podać jako odpowiedź na </a:t>
            </a:r>
            <a:r>
              <a:rPr lang="pl-PL" sz="1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zadanie na platformie MS </a:t>
            </a:r>
            <a:r>
              <a:rPr lang="pl-PL" sz="1800" b="1" i="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Teams</a:t>
            </a:r>
            <a:r>
              <a:rPr lang="pl-PL" sz="1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Brak linku do repozytorium z rozwiązaniami zadań jest </a:t>
            </a:r>
            <a:r>
              <a:rPr lang="pl-PL" sz="1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równoznaczny z brakiem zaliczenia przedmiotu</a:t>
            </a:r>
            <a:r>
              <a:rPr lang="pl-PL" sz="1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Ocena końcowa jest </a:t>
            </a:r>
            <a:r>
              <a:rPr lang="pl-PL" sz="1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średnią arytmetyczną </a:t>
            </a:r>
            <a:r>
              <a:rPr lang="pl-PL" sz="1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ocen z list 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Ocena 3,0 – średnia 3,0 – 3,24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Ocena 3,5 – średnia 3,25 – 3,74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Ocena 4,0 – średnia 3,75 – 4,24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Ocena 4,5 – średnia 4,25 – 4,7</a:t>
            </a:r>
            <a:r>
              <a:rPr lang="pl-PL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Ocena 5,0 – średnia 4,75 – 5,0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Dopuszczalne są </a:t>
            </a:r>
            <a:r>
              <a:rPr lang="pl-PL" sz="1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trzy nieobecności </a:t>
            </a:r>
            <a:r>
              <a:rPr lang="pl-PL" sz="180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nieusprawiedliwione</a:t>
            </a:r>
            <a:r>
              <a:rPr lang="pl-PL" sz="1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l-PL" sz="1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na zajęciach laboratoryjnych. Przy czwartej nieobecności automatycznie wstawiany jest status </a:t>
            </a:r>
            <a:r>
              <a:rPr lang="pl-PL" sz="1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nieklasyfikowany.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Oceny i punktacja jest </a:t>
            </a:r>
            <a:r>
              <a:rPr lang="pl-PL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dostępna na bieżąco </a:t>
            </a:r>
            <a:r>
              <a:rPr lang="pl-PL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 pliku na platformie MS </a:t>
            </a:r>
            <a:r>
              <a:rPr lang="pl-PL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Teams</a:t>
            </a:r>
            <a:r>
              <a:rPr lang="pl-PL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908124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Treści Programowe</a:t>
            </a:r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2F467DBE-3D30-473E-A461-81CA88D2033B}"/>
              </a:ext>
            </a:extLst>
          </p:cNvPr>
          <p:cNvSpPr txBox="1"/>
          <p:nvPr/>
        </p:nvSpPr>
        <p:spPr>
          <a:xfrm>
            <a:off x="1187624" y="908720"/>
            <a:ext cx="7956376" cy="5786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spcAft>
                <a:spcPts val="600"/>
              </a:spcAft>
              <a:tabLst>
                <a:tab pos="91440" algn="l"/>
              </a:tabLst>
            </a:pPr>
            <a:r>
              <a:rPr lang="pl-PL" sz="1800" b="1" kern="150" dirty="0">
                <a:solidFill>
                  <a:schemeClr val="tx1"/>
                </a:solidFill>
                <a:effectLst/>
                <a:latin typeface="+mj-lt"/>
                <a:ea typeface="OpenSymbol"/>
                <a:cs typeface="Verdana, Verdana"/>
              </a:rPr>
              <a:t>0.    </a:t>
            </a:r>
            <a:r>
              <a:rPr lang="pl-PL" sz="2000" b="1" kern="150" dirty="0">
                <a:solidFill>
                  <a:schemeClr val="tx1"/>
                </a:solidFill>
                <a:effectLst/>
                <a:latin typeface="+mj-lt"/>
                <a:ea typeface="OpenSymbol"/>
                <a:cs typeface="Verdana, Verdana"/>
              </a:rPr>
              <a:t>Wstęp</a:t>
            </a:r>
            <a:endParaRPr lang="pl-PL" sz="2000" kern="150" dirty="0">
              <a:solidFill>
                <a:schemeClr val="tx1"/>
              </a:solidFill>
              <a:effectLst/>
              <a:latin typeface="+mj-lt"/>
              <a:ea typeface="OpenSymbol"/>
              <a:cs typeface="OpenSymbol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  <a:tabLst>
                <a:tab pos="91440" algn="l"/>
              </a:tabLst>
            </a:pPr>
            <a:r>
              <a:rPr lang="pl-PL" sz="2000" b="1" kern="150" dirty="0">
                <a:solidFill>
                  <a:schemeClr val="tx1"/>
                </a:solidFill>
                <a:effectLst/>
                <a:latin typeface="+mj-lt"/>
                <a:ea typeface="OpenSymbol"/>
                <a:cs typeface="Verdana, Verdana"/>
              </a:rPr>
              <a:t>Typy danych</a:t>
            </a:r>
            <a:r>
              <a:rPr lang="pl-PL" sz="2000" kern="150" dirty="0">
                <a:solidFill>
                  <a:schemeClr val="tx1"/>
                </a:solidFill>
                <a:latin typeface="+mj-lt"/>
                <a:ea typeface="OpenSymbol"/>
                <a:cs typeface="Verdana, Verdana"/>
              </a:rPr>
              <a:t>, </a:t>
            </a:r>
            <a:r>
              <a:rPr lang="pl-PL" sz="2000" b="1" kern="150" dirty="0">
                <a:solidFill>
                  <a:schemeClr val="tx1"/>
                </a:solidFill>
                <a:effectLst/>
                <a:latin typeface="+mj-lt"/>
                <a:ea typeface="OpenSymbol"/>
                <a:cs typeface="Verdana, Verdana"/>
              </a:rPr>
              <a:t>Wyrażenia, Instrukcje, Pętle</a:t>
            </a:r>
            <a:endParaRPr lang="pl-PL" sz="2000" kern="150" dirty="0">
              <a:solidFill>
                <a:schemeClr val="tx1"/>
              </a:solidFill>
              <a:effectLst/>
              <a:latin typeface="+mj-lt"/>
              <a:ea typeface="OpenSymbol"/>
              <a:cs typeface="OpenSymbol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  <a:tabLst>
                <a:tab pos="91440" algn="l"/>
              </a:tabLst>
            </a:pPr>
            <a:r>
              <a:rPr lang="pl-PL" sz="2000" b="1" kern="150" dirty="0" err="1">
                <a:solidFill>
                  <a:schemeClr val="tx1"/>
                </a:solidFill>
                <a:effectLst/>
                <a:latin typeface="+mj-lt"/>
                <a:ea typeface="OpenSymbol"/>
                <a:cs typeface="Verdana, Verdana"/>
              </a:rPr>
              <a:t>Garbage</a:t>
            </a:r>
            <a:r>
              <a:rPr lang="pl-PL" sz="2000" b="1" kern="150" dirty="0">
                <a:solidFill>
                  <a:schemeClr val="tx1"/>
                </a:solidFill>
                <a:effectLst/>
                <a:latin typeface="+mj-lt"/>
                <a:ea typeface="OpenSymbol"/>
                <a:cs typeface="Verdana, Verdana"/>
              </a:rPr>
              <a:t> Collection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  <a:tabLst>
                <a:tab pos="91440" algn="l"/>
              </a:tabLst>
            </a:pPr>
            <a:r>
              <a:rPr lang="pl-PL" sz="2000" b="1" kern="150" dirty="0">
                <a:solidFill>
                  <a:schemeClr val="tx1"/>
                </a:solidFill>
                <a:latin typeface="+mj-lt"/>
                <a:ea typeface="OpenSymbol"/>
                <a:cs typeface="OpenSymbol"/>
              </a:rPr>
              <a:t>Funkcje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  <a:tabLst>
                <a:tab pos="91440" algn="l"/>
              </a:tabLst>
            </a:pPr>
            <a:r>
              <a:rPr lang="pl-PL" sz="2000" b="1" kern="150" dirty="0">
                <a:solidFill>
                  <a:schemeClr val="tx1"/>
                </a:solidFill>
                <a:effectLst/>
                <a:latin typeface="+mj-lt"/>
                <a:ea typeface="OpenSymbol"/>
                <a:cs typeface="OpenSymbol"/>
              </a:rPr>
              <a:t>Kolekcje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  <a:tabLst>
                <a:tab pos="91440" algn="l"/>
              </a:tabLst>
            </a:pPr>
            <a:r>
              <a:rPr lang="pl-PL" sz="2000" b="1" kern="150" dirty="0">
                <a:solidFill>
                  <a:schemeClr val="tx1"/>
                </a:solidFill>
                <a:latin typeface="+mj-lt"/>
                <a:ea typeface="OpenSymbol"/>
                <a:cs typeface="OpenSymbol"/>
              </a:rPr>
              <a:t>Klasy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  <a:tabLst>
                <a:tab pos="91440" algn="l"/>
              </a:tabLst>
            </a:pPr>
            <a:r>
              <a:rPr lang="pl-PL" sz="2000" b="1" kern="150" dirty="0">
                <a:solidFill>
                  <a:schemeClr val="tx1"/>
                </a:solidFill>
                <a:effectLst/>
                <a:latin typeface="+mj-lt"/>
                <a:ea typeface="OpenSymbol"/>
                <a:cs typeface="OpenSymbol"/>
              </a:rPr>
              <a:t>O</a:t>
            </a:r>
            <a:r>
              <a:rPr lang="pl-PL" sz="2000" b="1" kern="150" dirty="0">
                <a:solidFill>
                  <a:schemeClr val="tx1"/>
                </a:solidFill>
                <a:latin typeface="+mj-lt"/>
                <a:ea typeface="OpenSymbol"/>
                <a:cs typeface="OpenSymbol"/>
              </a:rPr>
              <a:t>biekty i Interfejsy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  <a:tabLst>
                <a:tab pos="91440" algn="l"/>
              </a:tabLst>
            </a:pPr>
            <a:r>
              <a:rPr lang="pl-PL" sz="2000" b="1" kern="150" dirty="0">
                <a:solidFill>
                  <a:schemeClr val="tx1"/>
                </a:solidFill>
                <a:effectLst/>
                <a:latin typeface="+mj-lt"/>
                <a:ea typeface="OpenSymbol"/>
                <a:cs typeface="OpenSymbol"/>
              </a:rPr>
              <a:t>Inicjalizacja i Delegacja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  <a:tabLst>
                <a:tab pos="91440" algn="l"/>
              </a:tabLst>
            </a:pPr>
            <a:r>
              <a:rPr lang="pl-PL" sz="2000" b="1" kern="150" dirty="0">
                <a:solidFill>
                  <a:schemeClr val="tx1"/>
                </a:solidFill>
                <a:latin typeface="+mj-lt"/>
                <a:ea typeface="OpenSymbol"/>
                <a:cs typeface="OpenSymbol"/>
              </a:rPr>
              <a:t>Fundamenty Aplikacji. Aktywność, Cykl Życia. </a:t>
            </a:r>
            <a:r>
              <a:rPr lang="pl-PL" sz="2000" b="1" kern="150" dirty="0" err="1">
                <a:solidFill>
                  <a:schemeClr val="tx1"/>
                </a:solidFill>
                <a:latin typeface="+mj-lt"/>
                <a:ea typeface="OpenSymbol"/>
                <a:cs typeface="OpenSymbol"/>
              </a:rPr>
              <a:t>Jetpack</a:t>
            </a:r>
            <a:r>
              <a:rPr lang="pl-PL" sz="2000" b="1" kern="150" dirty="0">
                <a:solidFill>
                  <a:schemeClr val="tx1"/>
                </a:solidFill>
                <a:latin typeface="+mj-lt"/>
                <a:ea typeface="OpenSymbol"/>
                <a:cs typeface="OpenSymbol"/>
              </a:rPr>
              <a:t> </a:t>
            </a:r>
            <a:r>
              <a:rPr lang="pl-PL" sz="2000" b="1" kern="150" dirty="0" err="1">
                <a:solidFill>
                  <a:schemeClr val="tx1"/>
                </a:solidFill>
                <a:latin typeface="+mj-lt"/>
                <a:ea typeface="OpenSymbol"/>
                <a:cs typeface="OpenSymbol"/>
              </a:rPr>
              <a:t>Compose</a:t>
            </a:r>
            <a:endParaRPr lang="pl-PL" sz="2000" b="1" kern="150" dirty="0">
              <a:solidFill>
                <a:schemeClr val="tx1"/>
              </a:solidFill>
              <a:latin typeface="+mj-lt"/>
              <a:ea typeface="OpenSymbol"/>
              <a:cs typeface="OpenSymbol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  <a:tabLst>
                <a:tab pos="91440" algn="l"/>
              </a:tabLst>
            </a:pPr>
            <a:r>
              <a:rPr lang="pl-PL" sz="2000" b="1" kern="150" dirty="0">
                <a:solidFill>
                  <a:schemeClr val="tx1"/>
                </a:solidFill>
                <a:effectLst/>
                <a:latin typeface="+mj-lt"/>
                <a:ea typeface="OpenSymbol"/>
                <a:cs typeface="OpenSymbol"/>
              </a:rPr>
              <a:t>Podstawy </a:t>
            </a:r>
            <a:r>
              <a:rPr lang="pl-PL" sz="2000" b="1" kern="150" dirty="0" err="1">
                <a:solidFill>
                  <a:schemeClr val="tx1"/>
                </a:solidFill>
                <a:effectLst/>
                <a:latin typeface="+mj-lt"/>
                <a:ea typeface="OpenSymbol"/>
                <a:cs typeface="OpenSymbol"/>
              </a:rPr>
              <a:t>Tworzanie</a:t>
            </a:r>
            <a:r>
              <a:rPr lang="pl-PL" sz="2000" b="1" kern="150" dirty="0">
                <a:solidFill>
                  <a:schemeClr val="tx1"/>
                </a:solidFill>
                <a:effectLst/>
                <a:latin typeface="+mj-lt"/>
                <a:ea typeface="OpenSymbol"/>
                <a:cs typeface="OpenSymbol"/>
              </a:rPr>
              <a:t> UI, Kompozycja, </a:t>
            </a:r>
            <a:r>
              <a:rPr lang="pl-PL" sz="2000" b="1" kern="150" dirty="0" err="1">
                <a:solidFill>
                  <a:schemeClr val="tx1"/>
                </a:solidFill>
                <a:effectLst/>
                <a:latin typeface="+mj-lt"/>
                <a:ea typeface="OpenSymbol"/>
                <a:cs typeface="OpenSymbol"/>
              </a:rPr>
              <a:t>Rekompozycja</a:t>
            </a:r>
            <a:r>
              <a:rPr lang="pl-PL" sz="2000" b="1" kern="150" dirty="0">
                <a:solidFill>
                  <a:schemeClr val="tx1"/>
                </a:solidFill>
                <a:effectLst/>
                <a:latin typeface="+mj-lt"/>
                <a:ea typeface="OpenSymbol"/>
                <a:cs typeface="OpenSymbol"/>
              </a:rPr>
              <a:t>, Stan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  <a:tabLst>
                <a:tab pos="91440" algn="l"/>
              </a:tabLst>
            </a:pPr>
            <a:r>
              <a:rPr lang="pl-PL" sz="2000" b="1" kern="150" dirty="0">
                <a:solidFill>
                  <a:schemeClr val="tx1"/>
                </a:solidFill>
                <a:effectLst/>
                <a:latin typeface="+mj-lt"/>
                <a:ea typeface="OpenSymbol"/>
                <a:cs typeface="OpenSymbol"/>
              </a:rPr>
              <a:t>Elementy Struktury UI, </a:t>
            </a:r>
            <a:r>
              <a:rPr lang="pl-PL" sz="2000" b="1" kern="150" dirty="0" err="1">
                <a:solidFill>
                  <a:schemeClr val="tx1"/>
                </a:solidFill>
                <a:effectLst/>
                <a:latin typeface="+mj-lt"/>
                <a:ea typeface="OpenSymbol"/>
                <a:cs typeface="OpenSymbol"/>
              </a:rPr>
              <a:t>Scaffold</a:t>
            </a:r>
            <a:r>
              <a:rPr lang="pl-PL" sz="2000" b="1" kern="150" dirty="0">
                <a:solidFill>
                  <a:schemeClr val="tx1"/>
                </a:solidFill>
                <a:effectLst/>
                <a:latin typeface="+mj-lt"/>
                <a:ea typeface="OpenSymbol"/>
                <a:cs typeface="OpenSymbol"/>
              </a:rPr>
              <a:t>, Obsługa Kolekcji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  <a:tabLst>
                <a:tab pos="91440" algn="l"/>
              </a:tabLst>
            </a:pPr>
            <a:r>
              <a:rPr lang="pl-PL" sz="2000" b="1" kern="150" dirty="0">
                <a:solidFill>
                  <a:schemeClr val="tx1"/>
                </a:solidFill>
                <a:latin typeface="+mj-lt"/>
                <a:ea typeface="OpenSymbol"/>
                <a:cs typeface="OpenSymbol"/>
              </a:rPr>
              <a:t>Nawigacja w Aplikacji. </a:t>
            </a:r>
            <a:r>
              <a:rPr lang="pl-PL" sz="2000" b="1" kern="150" dirty="0" err="1">
                <a:solidFill>
                  <a:schemeClr val="tx1"/>
                </a:solidFill>
                <a:latin typeface="+mj-lt"/>
                <a:ea typeface="OpenSymbol"/>
                <a:cs typeface="OpenSymbol"/>
              </a:rPr>
              <a:t>Compose</a:t>
            </a:r>
            <a:r>
              <a:rPr lang="pl-PL" sz="2000" b="1" kern="150" dirty="0">
                <a:solidFill>
                  <a:schemeClr val="tx1"/>
                </a:solidFill>
                <a:latin typeface="+mj-lt"/>
                <a:ea typeface="OpenSymbol"/>
                <a:cs typeface="OpenSymbol"/>
              </a:rPr>
              <a:t> </a:t>
            </a:r>
            <a:r>
              <a:rPr lang="pl-PL" sz="2000" b="1" kern="150" dirty="0" err="1">
                <a:solidFill>
                  <a:schemeClr val="tx1"/>
                </a:solidFill>
                <a:latin typeface="+mj-lt"/>
                <a:ea typeface="OpenSymbol"/>
                <a:cs typeface="OpenSymbol"/>
              </a:rPr>
              <a:t>Navigation</a:t>
            </a:r>
            <a:r>
              <a:rPr lang="pl-PL" sz="2000" b="1" kern="150" dirty="0">
                <a:solidFill>
                  <a:schemeClr val="tx1"/>
                </a:solidFill>
                <a:latin typeface="+mj-lt"/>
                <a:ea typeface="OpenSymbol"/>
                <a:cs typeface="OpenSymbol"/>
              </a:rPr>
              <a:t>, </a:t>
            </a:r>
            <a:r>
              <a:rPr lang="pl-PL" sz="2000" b="1" kern="150" dirty="0" err="1">
                <a:solidFill>
                  <a:schemeClr val="tx1"/>
                </a:solidFill>
                <a:latin typeface="+mj-lt"/>
                <a:ea typeface="OpenSymbol"/>
                <a:cs typeface="OpenSymbol"/>
              </a:rPr>
              <a:t>Tab</a:t>
            </a:r>
            <a:r>
              <a:rPr lang="pl-PL" sz="2000" b="1" kern="150" dirty="0">
                <a:solidFill>
                  <a:schemeClr val="tx1"/>
                </a:solidFill>
                <a:latin typeface="+mj-lt"/>
                <a:ea typeface="OpenSymbol"/>
                <a:cs typeface="OpenSymbol"/>
              </a:rPr>
              <a:t> </a:t>
            </a:r>
            <a:r>
              <a:rPr lang="pl-PL" sz="2000" b="1" kern="150" dirty="0" err="1">
                <a:solidFill>
                  <a:schemeClr val="tx1"/>
                </a:solidFill>
                <a:latin typeface="+mj-lt"/>
                <a:ea typeface="OpenSymbol"/>
                <a:cs typeface="OpenSymbol"/>
              </a:rPr>
              <a:t>Navigation</a:t>
            </a:r>
            <a:r>
              <a:rPr lang="pl-PL" sz="2000" b="1" kern="150" dirty="0">
                <a:solidFill>
                  <a:schemeClr val="tx1"/>
                </a:solidFill>
                <a:latin typeface="+mj-lt"/>
                <a:ea typeface="OpenSymbol"/>
                <a:cs typeface="OpenSymbol"/>
              </a:rPr>
              <a:t>, </a:t>
            </a:r>
            <a:r>
              <a:rPr lang="pl-PL" sz="2000" b="1" kern="150" dirty="0" err="1">
                <a:solidFill>
                  <a:schemeClr val="tx1"/>
                </a:solidFill>
                <a:latin typeface="+mj-lt"/>
                <a:ea typeface="OpenSymbol"/>
                <a:cs typeface="OpenSymbol"/>
              </a:rPr>
              <a:t>Drawer</a:t>
            </a:r>
            <a:endParaRPr lang="pl-PL" sz="2000" b="1" kern="150" dirty="0">
              <a:solidFill>
                <a:schemeClr val="tx1"/>
              </a:solidFill>
              <a:latin typeface="+mj-lt"/>
              <a:ea typeface="OpenSymbol"/>
              <a:cs typeface="OpenSymbol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  <a:tabLst>
                <a:tab pos="91440" algn="l"/>
              </a:tabLst>
            </a:pPr>
            <a:r>
              <a:rPr lang="pl-PL" sz="2000" b="1" kern="150" dirty="0">
                <a:solidFill>
                  <a:schemeClr val="tx1"/>
                </a:solidFill>
                <a:effectLst/>
                <a:latin typeface="+mj-lt"/>
                <a:ea typeface="OpenSymbol"/>
                <a:cs typeface="OpenSymbol"/>
              </a:rPr>
              <a:t>Wzorce Projekt</a:t>
            </a:r>
            <a:r>
              <a:rPr lang="pl-PL" sz="2000" b="1" kern="150" dirty="0">
                <a:solidFill>
                  <a:schemeClr val="tx1"/>
                </a:solidFill>
                <a:latin typeface="+mj-lt"/>
                <a:ea typeface="OpenSymbol"/>
                <a:cs typeface="OpenSymbol"/>
              </a:rPr>
              <a:t>owe – Strukturalne i Kreacyjne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  <a:tabLst>
                <a:tab pos="91440" algn="l"/>
              </a:tabLst>
            </a:pPr>
            <a:r>
              <a:rPr lang="pl-PL" sz="2000" b="1" kern="150" dirty="0">
                <a:solidFill>
                  <a:schemeClr val="tx1"/>
                </a:solidFill>
                <a:latin typeface="+mj-lt"/>
                <a:ea typeface="OpenSymbol"/>
                <a:cs typeface="OpenSymbol"/>
              </a:rPr>
              <a:t>Wzorce Projektowe – Behawioralne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  <a:tabLst>
                <a:tab pos="91440" algn="l"/>
              </a:tabLst>
            </a:pPr>
            <a:r>
              <a:rPr lang="pl-PL" sz="2000" b="1" kern="150" dirty="0" err="1">
                <a:solidFill>
                  <a:schemeClr val="tx1"/>
                </a:solidFill>
                <a:latin typeface="+mj-lt"/>
                <a:ea typeface="OpenSymbol"/>
                <a:cs typeface="OpenSymbol"/>
              </a:rPr>
              <a:t>Widgety</a:t>
            </a:r>
            <a:endParaRPr lang="pl-PL" sz="2000" b="1" kern="150" dirty="0">
              <a:solidFill>
                <a:schemeClr val="tx1"/>
              </a:solidFill>
              <a:effectLst/>
              <a:latin typeface="+mj-lt"/>
              <a:ea typeface="OpenSymbol"/>
              <a:cs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40096839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Kotlin – Język Przemysłowy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4A4EDC8D-624B-4D09-B81A-4A35B7BD53AB}"/>
              </a:ext>
            </a:extLst>
          </p:cNvPr>
          <p:cNvSpPr txBox="1"/>
          <p:nvPr/>
        </p:nvSpPr>
        <p:spPr>
          <a:xfrm>
            <a:off x="1296144" y="1495186"/>
            <a:ext cx="7380312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800" b="1" i="0" dirty="0">
                <a:solidFill>
                  <a:schemeClr val="tx1"/>
                </a:solidFill>
                <a:effectLst/>
                <a:latin typeface="OpenSans-Bold"/>
              </a:rPr>
              <a:t>FORTRAN: </a:t>
            </a:r>
            <a:r>
              <a:rPr lang="pl-PL" sz="1800" b="1" i="0" dirty="0" err="1">
                <a:solidFill>
                  <a:schemeClr val="tx1"/>
                </a:solidFill>
                <a:effectLst/>
                <a:latin typeface="OpenSans-Bold"/>
              </a:rPr>
              <a:t>FORmula</a:t>
            </a:r>
            <a:r>
              <a:rPr lang="pl-PL" sz="1800" b="1" i="0" dirty="0">
                <a:solidFill>
                  <a:schemeClr val="tx1"/>
                </a:solidFill>
                <a:effectLst/>
                <a:latin typeface="OpenSans-Bold"/>
              </a:rPr>
              <a:t> </a:t>
            </a:r>
            <a:r>
              <a:rPr lang="pl-PL" sz="1800" b="1" i="0" dirty="0" err="1">
                <a:solidFill>
                  <a:schemeClr val="tx1"/>
                </a:solidFill>
                <a:effectLst/>
                <a:latin typeface="OpenSans-Bold"/>
              </a:rPr>
              <a:t>TRANslation</a:t>
            </a:r>
            <a:r>
              <a:rPr lang="pl-PL" sz="1800" b="1" i="0" dirty="0">
                <a:solidFill>
                  <a:schemeClr val="tx1"/>
                </a:solidFill>
                <a:effectLst/>
                <a:latin typeface="OpenSans-Bold"/>
              </a:rPr>
              <a:t> (1957)</a:t>
            </a:r>
            <a:endParaRPr lang="pl-PL" sz="1800" b="1" dirty="0">
              <a:solidFill>
                <a:schemeClr val="tx1"/>
              </a:solidFill>
              <a:latin typeface="OpenSans-Bold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800" b="1" i="0" dirty="0">
                <a:solidFill>
                  <a:schemeClr val="tx1"/>
                </a:solidFill>
                <a:effectLst/>
                <a:latin typeface="OpenSans-Bold"/>
              </a:rPr>
              <a:t>LISP: </a:t>
            </a:r>
            <a:r>
              <a:rPr lang="pl-PL" sz="1800" b="1" i="0" dirty="0" err="1">
                <a:solidFill>
                  <a:schemeClr val="tx1"/>
                </a:solidFill>
                <a:effectLst/>
                <a:latin typeface="OpenSans-Bold"/>
              </a:rPr>
              <a:t>LISt</a:t>
            </a:r>
            <a:r>
              <a:rPr lang="pl-PL" sz="1800" b="1" i="0" dirty="0">
                <a:solidFill>
                  <a:schemeClr val="tx1"/>
                </a:solidFill>
                <a:effectLst/>
                <a:latin typeface="OpenSans-Bold"/>
              </a:rPr>
              <a:t> </a:t>
            </a:r>
            <a:r>
              <a:rPr lang="pl-PL" sz="1800" b="1" i="0" dirty="0" err="1">
                <a:solidFill>
                  <a:schemeClr val="tx1"/>
                </a:solidFill>
                <a:effectLst/>
                <a:latin typeface="OpenSans-Bold"/>
              </a:rPr>
              <a:t>Processor</a:t>
            </a:r>
            <a:r>
              <a:rPr lang="pl-PL" sz="1800" b="1" i="0" dirty="0">
                <a:solidFill>
                  <a:schemeClr val="tx1"/>
                </a:solidFill>
                <a:effectLst/>
                <a:latin typeface="OpenSans-Bold"/>
              </a:rPr>
              <a:t> (1958)</a:t>
            </a:r>
            <a:r>
              <a:rPr lang="pl-PL" dirty="0">
                <a:solidFill>
                  <a:schemeClr val="tx1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800" b="1" i="0" dirty="0">
                <a:solidFill>
                  <a:schemeClr val="tx1"/>
                </a:solidFill>
                <a:effectLst/>
                <a:latin typeface="OpenSans-Bold"/>
              </a:rPr>
              <a:t>ALGOL: </a:t>
            </a:r>
            <a:r>
              <a:rPr lang="pl-PL" sz="1800" b="1" i="0" dirty="0" err="1">
                <a:solidFill>
                  <a:schemeClr val="tx1"/>
                </a:solidFill>
                <a:effectLst/>
                <a:latin typeface="OpenSans-Bold"/>
              </a:rPr>
              <a:t>ALGOrithmic</a:t>
            </a:r>
            <a:r>
              <a:rPr lang="pl-PL" sz="1800" b="1" i="0" dirty="0">
                <a:solidFill>
                  <a:schemeClr val="tx1"/>
                </a:solidFill>
                <a:effectLst/>
                <a:latin typeface="OpenSans-Bold"/>
              </a:rPr>
              <a:t> Language (1958)</a:t>
            </a:r>
            <a:r>
              <a:rPr lang="pl-PL" dirty="0">
                <a:solidFill>
                  <a:schemeClr val="tx1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i="0" dirty="0">
                <a:solidFill>
                  <a:schemeClr val="tx1"/>
                </a:solidFill>
                <a:effectLst/>
                <a:latin typeface="OpenSans-Bold"/>
              </a:rPr>
              <a:t>COBOL: </a:t>
            </a:r>
            <a:r>
              <a:rPr lang="en-US" sz="1800" b="1" i="0" dirty="0" err="1">
                <a:solidFill>
                  <a:schemeClr val="tx1"/>
                </a:solidFill>
                <a:effectLst/>
                <a:latin typeface="OpenSans-Bold"/>
              </a:rPr>
              <a:t>COmmon</a:t>
            </a:r>
            <a:r>
              <a:rPr lang="en-US" sz="1800" b="1" i="0" dirty="0">
                <a:solidFill>
                  <a:schemeClr val="tx1"/>
                </a:solidFill>
                <a:effectLst/>
                <a:latin typeface="OpenSans-Bold"/>
              </a:rPr>
              <a:t> Business-Oriented Language (1959)</a:t>
            </a:r>
            <a:r>
              <a:rPr lang="en-US" dirty="0">
                <a:solidFill>
                  <a:schemeClr val="tx1"/>
                </a:solidFill>
              </a:rPr>
              <a:t> </a:t>
            </a:r>
            <a:endParaRPr lang="pl-PL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i="0" dirty="0">
                <a:solidFill>
                  <a:schemeClr val="tx1"/>
                </a:solidFill>
                <a:effectLst/>
                <a:latin typeface="OpenSans-Bold"/>
              </a:rPr>
              <a:t>BASIC: Beginners’ All-purpose Symbolic Instruction</a:t>
            </a:r>
            <a:r>
              <a:rPr lang="pl-PL" sz="1800" b="1" i="0" dirty="0">
                <a:solidFill>
                  <a:schemeClr val="tx1"/>
                </a:solidFill>
                <a:effectLst/>
                <a:latin typeface="OpenSans-Bold"/>
              </a:rPr>
              <a:t> </a:t>
            </a:r>
            <a:r>
              <a:rPr lang="en-US" sz="1800" b="1" i="0" dirty="0">
                <a:solidFill>
                  <a:schemeClr val="tx1"/>
                </a:solidFill>
                <a:effectLst/>
                <a:latin typeface="OpenSans-Bold"/>
              </a:rPr>
              <a:t>Code (1964)</a:t>
            </a:r>
            <a:r>
              <a:rPr lang="en-US" dirty="0">
                <a:solidFill>
                  <a:schemeClr val="tx1"/>
                </a:solidFill>
              </a:rPr>
              <a:t> </a:t>
            </a:r>
            <a:endParaRPr lang="pl-PL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i="0" dirty="0" err="1">
                <a:solidFill>
                  <a:schemeClr val="tx1"/>
                </a:solidFill>
                <a:effectLst/>
                <a:latin typeface="OpenSans-Bold"/>
              </a:rPr>
              <a:t>Simula</a:t>
            </a:r>
            <a:r>
              <a:rPr lang="en-US" sz="1800" b="1" i="0" dirty="0">
                <a:solidFill>
                  <a:schemeClr val="tx1"/>
                </a:solidFill>
                <a:effectLst/>
                <a:latin typeface="OpenSans-Bold"/>
              </a:rPr>
              <a:t> 67, the Original Object-Oriented Language</a:t>
            </a:r>
            <a:r>
              <a:rPr lang="pl-PL" sz="1800" b="1" i="0" dirty="0">
                <a:solidFill>
                  <a:schemeClr val="tx1"/>
                </a:solidFill>
                <a:effectLst/>
                <a:latin typeface="OpenSans-Bold"/>
              </a:rPr>
              <a:t> </a:t>
            </a:r>
            <a:r>
              <a:rPr lang="en-US" sz="1800" b="1" i="0" dirty="0">
                <a:solidFill>
                  <a:schemeClr val="tx1"/>
                </a:solidFill>
                <a:effectLst/>
                <a:latin typeface="OpenSans-Bold"/>
              </a:rPr>
              <a:t>(1967)</a:t>
            </a:r>
            <a:r>
              <a:rPr lang="en-US" dirty="0">
                <a:solidFill>
                  <a:schemeClr val="tx1"/>
                </a:solidFill>
              </a:rPr>
              <a:t> </a:t>
            </a:r>
            <a:endParaRPr lang="pl-PL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800" b="1" i="0" dirty="0">
                <a:solidFill>
                  <a:schemeClr val="tx1"/>
                </a:solidFill>
                <a:effectLst/>
                <a:latin typeface="OpenSans-Bold"/>
              </a:rPr>
              <a:t>Pascal (1970)</a:t>
            </a:r>
            <a:r>
              <a:rPr lang="pl-PL" dirty="0">
                <a:solidFill>
                  <a:schemeClr val="tx1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800" b="1" i="0" dirty="0">
                <a:solidFill>
                  <a:schemeClr val="tx1"/>
                </a:solidFill>
                <a:effectLst/>
                <a:latin typeface="OpenSans-Bold"/>
              </a:rPr>
              <a:t>C (1972)</a:t>
            </a:r>
            <a:r>
              <a:rPr lang="pl-PL" dirty="0">
                <a:solidFill>
                  <a:schemeClr val="tx1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800" b="1" i="0" dirty="0" err="1">
                <a:solidFill>
                  <a:schemeClr val="tx1"/>
                </a:solidFill>
                <a:effectLst/>
                <a:latin typeface="OpenSans-Bold"/>
              </a:rPr>
              <a:t>Smalltalk</a:t>
            </a:r>
            <a:r>
              <a:rPr lang="pl-PL" sz="1800" b="1" i="0" dirty="0">
                <a:solidFill>
                  <a:schemeClr val="tx1"/>
                </a:solidFill>
                <a:effectLst/>
                <a:latin typeface="OpenSans-Bold"/>
              </a:rPr>
              <a:t> (1972)</a:t>
            </a:r>
            <a:r>
              <a:rPr lang="pl-PL" dirty="0">
                <a:solidFill>
                  <a:schemeClr val="tx1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i="0" dirty="0">
                <a:solidFill>
                  <a:schemeClr val="tx1"/>
                </a:solidFill>
                <a:effectLst/>
                <a:latin typeface="OpenSans-Bold"/>
              </a:rPr>
              <a:t>C++: A Better C with Objects (1983)</a:t>
            </a:r>
            <a:r>
              <a:rPr lang="en-US" dirty="0">
                <a:solidFill>
                  <a:schemeClr val="tx1"/>
                </a:solidFill>
              </a:rPr>
              <a:t> </a:t>
            </a:r>
            <a:endParaRPr lang="pl-PL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i="0" dirty="0">
                <a:solidFill>
                  <a:schemeClr val="tx1"/>
                </a:solidFill>
                <a:effectLst/>
                <a:latin typeface="OpenSans-Bold"/>
              </a:rPr>
              <a:t>Python: (1990)</a:t>
            </a:r>
            <a:r>
              <a:rPr lang="en-US" dirty="0">
                <a:solidFill>
                  <a:schemeClr val="tx1"/>
                </a:solidFill>
              </a:rPr>
              <a:t> </a:t>
            </a:r>
            <a:endParaRPr lang="pl-PL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i="0" dirty="0">
                <a:solidFill>
                  <a:schemeClr val="tx1"/>
                </a:solidFill>
                <a:effectLst/>
                <a:latin typeface="OpenSans-Bold"/>
              </a:rPr>
              <a:t>Haskell: Pure Functional Programming (1990)</a:t>
            </a:r>
            <a:endParaRPr lang="pl-PL" sz="1800" b="1" dirty="0">
              <a:solidFill>
                <a:schemeClr val="tx1"/>
              </a:solidFill>
              <a:latin typeface="OpenSans-Bold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i="0" dirty="0">
                <a:solidFill>
                  <a:schemeClr val="tx1"/>
                </a:solidFill>
                <a:effectLst/>
                <a:latin typeface="OpenSans-Bold"/>
              </a:rPr>
              <a:t>Java: Virtual Machines and Garbage Collection (1995)</a:t>
            </a:r>
            <a:r>
              <a:rPr lang="en-US" dirty="0">
                <a:solidFill>
                  <a:schemeClr val="tx1"/>
                </a:solidFill>
              </a:rPr>
              <a:t> </a:t>
            </a:r>
            <a:endParaRPr lang="pl-PL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800" b="1" i="0" dirty="0">
                <a:solidFill>
                  <a:schemeClr val="tx1"/>
                </a:solidFill>
                <a:effectLst/>
                <a:latin typeface="OpenSans-Bold"/>
              </a:rPr>
              <a:t>JavaScript:  (1995)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n-NO" sz="1800" b="1" i="0" dirty="0">
                <a:solidFill>
                  <a:schemeClr val="tx1"/>
                </a:solidFill>
                <a:effectLst/>
                <a:latin typeface="OpenSans-Bold"/>
              </a:rPr>
              <a:t>C#: (2000)</a:t>
            </a:r>
            <a:endParaRPr lang="pl-PL" sz="1800" b="1" i="0" dirty="0">
              <a:solidFill>
                <a:schemeClr val="tx1"/>
              </a:solidFill>
              <a:effectLst/>
              <a:latin typeface="OpenSans-Bold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800" b="1" i="0" dirty="0">
                <a:solidFill>
                  <a:schemeClr val="tx1"/>
                </a:solidFill>
                <a:effectLst/>
                <a:latin typeface="OpenSans-Bold"/>
              </a:rPr>
              <a:t>Scala: (2003)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i="0" dirty="0">
                <a:solidFill>
                  <a:schemeClr val="tx1"/>
                </a:solidFill>
                <a:effectLst/>
                <a:latin typeface="OpenSans-Bold"/>
              </a:rPr>
              <a:t>Groovy: (2007)</a:t>
            </a:r>
            <a:endParaRPr lang="pl-PL" dirty="0">
              <a:solidFill>
                <a:schemeClr val="tx1"/>
              </a:solidFill>
            </a:endParaRP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C70CBCE9-0700-48B0-95BA-91932375B43E}"/>
              </a:ext>
            </a:extLst>
          </p:cNvPr>
          <p:cNvSpPr txBox="1"/>
          <p:nvPr/>
        </p:nvSpPr>
        <p:spPr>
          <a:xfrm>
            <a:off x="1984321" y="839032"/>
            <a:ext cx="70521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dirty="0">
                <a:solidFill>
                  <a:schemeClr val="tx1"/>
                </a:solidFill>
                <a:effectLst/>
                <a:latin typeface="OpenSans-Bold"/>
              </a:rPr>
              <a:t>Kotlin (Introduced 2011, Version 1.0:</a:t>
            </a:r>
            <a:r>
              <a:rPr lang="pl-PL" sz="2400" b="1" i="0" dirty="0">
                <a:solidFill>
                  <a:schemeClr val="tx1"/>
                </a:solidFill>
                <a:effectLst/>
                <a:latin typeface="OpenSans-Bold"/>
              </a:rPr>
              <a:t> </a:t>
            </a:r>
            <a:r>
              <a:rPr lang="en-US" sz="2400" b="1" i="0" dirty="0">
                <a:solidFill>
                  <a:schemeClr val="tx1"/>
                </a:solidFill>
                <a:effectLst/>
                <a:latin typeface="OpenSans-Bold"/>
              </a:rPr>
              <a:t>2016)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br>
              <a:rPr lang="en-US" dirty="0">
                <a:solidFill>
                  <a:schemeClr val="tx1"/>
                </a:solidFill>
              </a:rPr>
            </a:br>
            <a:endParaRPr lang="pl-PL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66791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JVM, JRE, JDK</a:t>
            </a:r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3DAA5B31-D812-4C7C-84FF-95B9AF53F617}"/>
              </a:ext>
            </a:extLst>
          </p:cNvPr>
          <p:cNvSpPr txBox="1"/>
          <p:nvPr/>
        </p:nvSpPr>
        <p:spPr>
          <a:xfrm>
            <a:off x="980784" y="855016"/>
            <a:ext cx="7884368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l-PL" sz="24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JDK</a:t>
            </a:r>
            <a:r>
              <a:rPr lang="pl-PL" sz="24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(</a:t>
            </a:r>
            <a:r>
              <a:rPr lang="pl-PL" sz="24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Java Development Kit</a:t>
            </a:r>
            <a:r>
              <a:rPr lang="pl-PL" sz="24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 </a:t>
            </a:r>
            <a:r>
              <a:rPr lang="pl-PL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pl-PL" sz="24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Pakiet Programisty Javy. JDK  zawiera Środowisko Uruchomieniowe Javy (tzn. JRE) oraz zestaw narzędzi niezbędnych do wytwarzania oraz kompilowania oprogramowania tworzonego w języku JAVA.</a:t>
            </a:r>
          </a:p>
          <a:p>
            <a:pPr algn="just"/>
            <a:r>
              <a:rPr lang="pl-PL" sz="24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</a:p>
          <a:p>
            <a:pPr algn="just"/>
            <a:r>
              <a:rPr lang="pl-PL" sz="24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JRE</a:t>
            </a:r>
            <a:r>
              <a:rPr lang="pl-PL" sz="24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(</a:t>
            </a:r>
            <a:r>
              <a:rPr lang="pl-PL" sz="24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Java Runtime Environment</a:t>
            </a:r>
            <a:r>
              <a:rPr lang="pl-PL" sz="24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- Środowisko Uruchomieniowe Javy. W skład JRE wchodzi Wirtualna Maszyna Javy (JVM) + zbiór klas oraz narzędzi wymaganych do uruchomienia aplikacji wytworzonych w języku JAVA. </a:t>
            </a:r>
          </a:p>
          <a:p>
            <a:pPr algn="just"/>
            <a:endParaRPr lang="pl-PL" sz="2400" b="0" i="0" dirty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l-PL" sz="24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JVM (Java Virtual Machine)</a:t>
            </a:r>
            <a:r>
              <a:rPr lang="pl-PL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</a:t>
            </a:r>
            <a:r>
              <a:rPr lang="pl-PL" sz="24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Wirtualna Maszyna Javy. Środowisko zdolne do wykonywania skompilowanego kodu aplikacji (kod bajtowy Javy).</a:t>
            </a:r>
          </a:p>
        </p:txBody>
      </p:sp>
    </p:spTree>
    <p:extLst>
      <p:ext uri="{BB962C8B-B14F-4D97-AF65-F5344CB8AC3E}">
        <p14:creationId xmlns:p14="http://schemas.microsoft.com/office/powerpoint/2010/main" val="245676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Interoperacyjność</a:t>
            </a:r>
          </a:p>
        </p:txBody>
      </p:sp>
      <p:pic>
        <p:nvPicPr>
          <p:cNvPr id="1026" name="Picture 2" descr="Process of compiling Android app with Java/Kotlin code | by Ban Markovic |  Medium">
            <a:extLst>
              <a:ext uri="{FF2B5EF4-FFF2-40B4-BE49-F238E27FC236}">
                <a16:creationId xmlns:a16="http://schemas.microsoft.com/office/drawing/2014/main" id="{F7328A61-BBA1-401A-9B55-8FDAB4EC06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7404" y="872147"/>
            <a:ext cx="4617715" cy="5971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7593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Kotlin</a:t>
            </a:r>
          </a:p>
        </p:txBody>
      </p:sp>
      <p:sp>
        <p:nvSpPr>
          <p:cNvPr id="8" name="TextBox 1">
            <a:extLst>
              <a:ext uri="{FF2B5EF4-FFF2-40B4-BE49-F238E27FC236}">
                <a16:creationId xmlns:a16="http://schemas.microsoft.com/office/drawing/2014/main" id="{1AB35A18-EB6A-49A9-A227-52DE8F1EF9EC}"/>
              </a:ext>
            </a:extLst>
          </p:cNvPr>
          <p:cNvSpPr txBox="1"/>
          <p:nvPr/>
        </p:nvSpPr>
        <p:spPr>
          <a:xfrm>
            <a:off x="971600" y="740171"/>
            <a:ext cx="8028384" cy="6117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2400" b="1" dirty="0">
                <a:solidFill>
                  <a:schemeClr val="tx1"/>
                </a:solidFill>
              </a:rPr>
              <a:t>Statyczne typowanie danych </a:t>
            </a:r>
            <a:r>
              <a:rPr lang="pl-PL" sz="2400" dirty="0">
                <a:solidFill>
                  <a:schemeClr val="tx1"/>
                </a:solidFill>
              </a:rPr>
              <a:t>– na etapie kompilacji typy wyrażeń są znane a kompilator sprawdza czy istnieją pola i metody w obiektach do których odwołujemy się w kodzie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2400" b="1" dirty="0">
                <a:solidFill>
                  <a:schemeClr val="tx1"/>
                </a:solidFill>
              </a:rPr>
              <a:t>Domniemanie typów </a:t>
            </a:r>
            <a:r>
              <a:rPr lang="pl-PL" sz="2400" dirty="0">
                <a:solidFill>
                  <a:schemeClr val="tx1"/>
                </a:solidFill>
              </a:rPr>
              <a:t>– typ danych jest określany przez kompilator na podstawie kontekstu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2400" dirty="0">
                <a:solidFill>
                  <a:schemeClr val="tx1"/>
                </a:solidFill>
              </a:rPr>
              <a:t>Typy </a:t>
            </a:r>
            <a:r>
              <a:rPr lang="pl-PL" sz="2400" i="1" dirty="0" err="1">
                <a:solidFill>
                  <a:schemeClr val="tx1"/>
                </a:solidFill>
              </a:rPr>
              <a:t>nullowalne</a:t>
            </a:r>
            <a:r>
              <a:rPr lang="pl-PL" sz="2400" i="1" dirty="0">
                <a:solidFill>
                  <a:schemeClr val="tx1"/>
                </a:solidFill>
              </a:rPr>
              <a:t> - </a:t>
            </a:r>
            <a:r>
              <a:rPr lang="pl-PL" sz="2400" b="1" dirty="0" err="1">
                <a:solidFill>
                  <a:schemeClr val="tx1"/>
                </a:solidFill>
              </a:rPr>
              <a:t>NullPointerException</a:t>
            </a:r>
            <a:endParaRPr lang="pl-PL" sz="2400" b="1" i="1" dirty="0">
              <a:solidFill>
                <a:schemeClr val="tx1"/>
              </a:solidFill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2400" b="1" dirty="0">
                <a:solidFill>
                  <a:schemeClr val="tx1"/>
                </a:solidFill>
              </a:rPr>
              <a:t>Programowanie Funkcyjne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2400" b="1" dirty="0">
                <a:solidFill>
                  <a:schemeClr val="tx1"/>
                </a:solidFill>
              </a:rPr>
              <a:t>OOP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2400" b="1" dirty="0">
                <a:solidFill>
                  <a:schemeClr val="tx1"/>
                </a:solidFill>
              </a:rPr>
              <a:t>Można łączyć programowanie obiektowe i funkcyjne</a:t>
            </a:r>
          </a:p>
        </p:txBody>
      </p:sp>
    </p:spTree>
    <p:extLst>
      <p:ext uri="{BB962C8B-B14F-4D97-AF65-F5344CB8AC3E}">
        <p14:creationId xmlns:p14="http://schemas.microsoft.com/office/powerpoint/2010/main" val="10859022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C85931-5F30-6DF4-9AC0-B9F68F197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9C57104-BFC8-496F-3C4F-1B6AF0602AB1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Kotlin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D6543BEF-795C-B45A-FDE5-C65D8230F2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3608" y="847281"/>
            <a:ext cx="5064993" cy="3849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900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B5FAEA-8CD7-AB03-3776-133698232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8E7D70A-5D2F-0CB7-6627-893C6B412415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Kotlin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9396C85B-ECC4-4FE2-40EF-0F3F874FA9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3608" y="847281"/>
            <a:ext cx="5064993" cy="3849666"/>
          </a:xfrm>
          <a:prstGeom prst="rect">
            <a:avLst/>
          </a:prstGeom>
        </p:spPr>
      </p:pic>
      <p:pic>
        <p:nvPicPr>
          <p:cNvPr id="4" name="Obraz 3">
            <a:extLst>
              <a:ext uri="{FF2B5EF4-FFF2-40B4-BE49-F238E27FC236}">
                <a16:creationId xmlns:a16="http://schemas.microsoft.com/office/drawing/2014/main" id="{8B5CCF81-EAE5-949B-8477-1A9E12D3BE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1840" y="920437"/>
            <a:ext cx="5731743" cy="3797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5560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3D1378-2151-907F-69F8-4FBE5D30D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CF935B3-AD92-CADA-6035-F160BDAFA4EF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Kotlin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51443C3E-A4B1-1D4E-430C-CEABFEC958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3608" y="847281"/>
            <a:ext cx="5064993" cy="3849666"/>
          </a:xfrm>
          <a:prstGeom prst="rect">
            <a:avLst/>
          </a:prstGeom>
        </p:spPr>
      </p:pic>
      <p:pic>
        <p:nvPicPr>
          <p:cNvPr id="4" name="Obraz 3">
            <a:extLst>
              <a:ext uri="{FF2B5EF4-FFF2-40B4-BE49-F238E27FC236}">
                <a16:creationId xmlns:a16="http://schemas.microsoft.com/office/drawing/2014/main" id="{D7563FFE-725D-85FD-B5F2-21C3EF3DD6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1840" y="920437"/>
            <a:ext cx="5731743" cy="3797441"/>
          </a:xfrm>
          <a:prstGeom prst="rect">
            <a:avLst/>
          </a:prstGeom>
        </p:spPr>
      </p:pic>
      <p:pic>
        <p:nvPicPr>
          <p:cNvPr id="6" name="Obraz 5">
            <a:extLst>
              <a:ext uri="{FF2B5EF4-FFF2-40B4-BE49-F238E27FC236}">
                <a16:creationId xmlns:a16="http://schemas.microsoft.com/office/drawing/2014/main" id="{B0931691-66E2-A260-1E34-654C303070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31640" y="2416331"/>
            <a:ext cx="7153275" cy="422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00528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8350B9-4A0D-9BFF-7B14-497F8685C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71D8091-7BDE-FDE7-BC35-5E59DBC8B05C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Android</a:t>
            </a:r>
          </a:p>
        </p:txBody>
      </p:sp>
      <p:pic>
        <p:nvPicPr>
          <p:cNvPr id="9" name="Obraz 8" descr="Obraz zawierający monitor, zegar, ekran, trzymający&#10;&#10;Opis wygenerowany automatycznie">
            <a:extLst>
              <a:ext uri="{FF2B5EF4-FFF2-40B4-BE49-F238E27FC236}">
                <a16:creationId xmlns:a16="http://schemas.microsoft.com/office/drawing/2014/main" id="{350145AB-C792-EAB8-DE4F-2E3356AC6A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608" y="1027228"/>
            <a:ext cx="8100392" cy="5816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5584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134056-DEEB-4BE1-D508-2D0A707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F60A93C-D98B-FDE8-A86A-7B562463377B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Android</a:t>
            </a:r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23C198A6-153C-6BE1-2A46-94B7A556A4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9752" y="1052736"/>
            <a:ext cx="5676900" cy="57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5974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FA619-26E6-165A-53B7-C64B1FD2A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2DFFBE5-994E-1662-42EA-6069F8702326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Android Studio</a:t>
            </a:r>
          </a:p>
        </p:txBody>
      </p:sp>
      <p:pic>
        <p:nvPicPr>
          <p:cNvPr id="3076" name="Picture 4" descr="Google I/O 2024: What's new in Android Development Tools - Google  Developers Blog">
            <a:extLst>
              <a:ext uri="{FF2B5EF4-FFF2-40B4-BE49-F238E27FC236}">
                <a16:creationId xmlns:a16="http://schemas.microsoft.com/office/drawing/2014/main" id="{24458D6B-91D9-D059-E762-1490518358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5616" y="2399092"/>
            <a:ext cx="8028384" cy="23903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2953129"/>
      </p:ext>
    </p:extLst>
  </p:cSld>
  <p:clrMapOvr>
    <a:masterClrMapping/>
  </p:clrMapOvr>
</p:sld>
</file>

<file path=ppt/theme/theme1.xml><?xml version="1.0" encoding="utf-8"?>
<a:theme xmlns:a="http://schemas.openxmlformats.org/drawingml/2006/main" name="uni.wroc_0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uni.wroc_01.potx</Template>
  <TotalTime>78773</TotalTime>
  <Pages>0</Pages>
  <Words>748</Words>
  <Characters>0</Characters>
  <Application>Microsoft Office PowerPoint</Application>
  <PresentationFormat>Pokaz na ekranie (4:3)</PresentationFormat>
  <Lines>0</Lines>
  <Paragraphs>112</Paragraphs>
  <Slides>15</Slides>
  <Notes>15</Notes>
  <HiddenSlides>0</HiddenSlides>
  <MMClips>0</MMClips>
  <ScaleCrop>false</ScaleCrop>
  <HeadingPairs>
    <vt:vector size="6" baseType="variant">
      <vt:variant>
        <vt:lpstr>Używane czcionki</vt:lpstr>
      </vt:variant>
      <vt:variant>
        <vt:i4>6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15</vt:i4>
      </vt:variant>
    </vt:vector>
  </HeadingPairs>
  <TitlesOfParts>
    <vt:vector size="22" baseType="lpstr">
      <vt:lpstr>Arial</vt:lpstr>
      <vt:lpstr>Calibri</vt:lpstr>
      <vt:lpstr>Courier New</vt:lpstr>
      <vt:lpstr>OpenSans-Bold</vt:lpstr>
      <vt:lpstr>Times New Roman</vt:lpstr>
      <vt:lpstr>Verdana</vt:lpstr>
      <vt:lpstr>uni.wroc_01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Podręcznik użytkownika  Systemu Identyfikacji Wizualnej   cz. I  dla pracowników naukowych i administracyjnych</dc:title>
  <dc:subject/>
  <dc:creator>tolek</dc:creator>
  <cp:keywords/>
  <dc:description/>
  <cp:lastModifiedBy>Rafał Lewandków</cp:lastModifiedBy>
  <cp:revision>1078</cp:revision>
  <dcterms:modified xsi:type="dcterms:W3CDTF">2026-02-22T13:46:12Z</dcterms:modified>
  <cp:category/>
</cp:coreProperties>
</file>