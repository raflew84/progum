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26"/>
  </p:notesMasterIdLst>
  <p:handoutMasterIdLst>
    <p:handoutMasterId r:id="rId27"/>
  </p:handoutMasterIdLst>
  <p:sldIdLst>
    <p:sldId id="346" r:id="rId2"/>
    <p:sldId id="503" r:id="rId3"/>
    <p:sldId id="504" r:id="rId4"/>
    <p:sldId id="552" r:id="rId5"/>
    <p:sldId id="509" r:id="rId6"/>
    <p:sldId id="510" r:id="rId7"/>
    <p:sldId id="517" r:id="rId8"/>
    <p:sldId id="521" r:id="rId9"/>
    <p:sldId id="553" r:id="rId10"/>
    <p:sldId id="523" r:id="rId11"/>
    <p:sldId id="525" r:id="rId12"/>
    <p:sldId id="532" r:id="rId13"/>
    <p:sldId id="535" r:id="rId14"/>
    <p:sldId id="554" r:id="rId15"/>
    <p:sldId id="538" r:id="rId16"/>
    <p:sldId id="539" r:id="rId17"/>
    <p:sldId id="543" r:id="rId18"/>
    <p:sldId id="544" r:id="rId19"/>
    <p:sldId id="545" r:id="rId20"/>
    <p:sldId id="546" r:id="rId21"/>
    <p:sldId id="547" r:id="rId22"/>
    <p:sldId id="548" r:id="rId23"/>
    <p:sldId id="549" r:id="rId24"/>
    <p:sldId id="550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FFFF"/>
    <a:srgbClr val="FF00FF"/>
    <a:srgbClr val="006600"/>
    <a:srgbClr val="BCE29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892" autoAdjust="0"/>
  </p:normalViewPr>
  <p:slideViewPr>
    <p:cSldViewPr>
      <p:cViewPr varScale="1">
        <p:scale>
          <a:sx n="66" d="100"/>
          <a:sy n="66" d="100"/>
        </p:scale>
        <p:origin x="123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6285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06D12-5D21-0ECF-B349-40B57725F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3F311-B41E-77D8-C7FE-80EE53D9E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72FED-80B3-8EFC-F890-FA3364B02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70607-AD18-C602-6715-A385CC1E9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74060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7649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33249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2915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7725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6274-4139-0845-A474-9E505500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901B8-701B-5AFC-AD60-4A6BE3E33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9F7EB-B9EF-7AAD-F929-A58BC798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E45BF-5559-C67F-F954-C5AB60E136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7367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2226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92733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8415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2559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B5FBA-52D9-5412-A021-F52BC3388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8FAE2-660C-820A-D17F-2DE0A5D02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A4AAC-1B1E-AE20-F16E-127F84787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81144-D8D3-4DE2-10F9-4EAB3CE13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89141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0619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6496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90040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45901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27862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4863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4926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29853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03226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2366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21.12.2024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>
                <a:solidFill>
                  <a:schemeClr val="bg1"/>
                </a:solidFill>
              </a:rPr>
              <a:t>WYKŁAD 2</a:t>
            </a:r>
            <a:endParaRPr lang="pl-PL" sz="2400" dirty="0">
              <a:solidFill>
                <a:schemeClr val="bg1"/>
              </a:solidFill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16266" y="4767535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 err="1">
                <a:solidFill>
                  <a:schemeClr val="bg1"/>
                </a:solidFill>
              </a:rPr>
              <a:t>Garbage</a:t>
            </a:r>
            <a:r>
              <a:rPr lang="pl-PL" sz="1800" dirty="0">
                <a:solidFill>
                  <a:schemeClr val="bg1"/>
                </a:solidFill>
              </a:rPr>
              <a:t> Collection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Typy danych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D22229DB-0C83-4CF8-A4E0-AF9994C3705D}"/>
              </a:ext>
            </a:extLst>
          </p:cNvPr>
          <p:cNvSpPr txBox="1"/>
          <p:nvPr/>
        </p:nvSpPr>
        <p:spPr>
          <a:xfrm>
            <a:off x="2915816" y="1539032"/>
            <a:ext cx="5472608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tx1"/>
                </a:solidFill>
              </a:rPr>
              <a:t>Bool</a:t>
            </a:r>
            <a:r>
              <a:rPr lang="pl-PL" sz="2400" dirty="0">
                <a:solidFill>
                  <a:schemeClr val="tx1"/>
                </a:solidFill>
              </a:rPr>
              <a:t>	- 1 </a:t>
            </a:r>
            <a:r>
              <a:rPr lang="pl-PL" sz="2400" dirty="0" err="1">
                <a:solidFill>
                  <a:schemeClr val="tx1"/>
                </a:solidFill>
              </a:rPr>
              <a:t>byte</a:t>
            </a:r>
            <a:endParaRPr lang="pl-PL" sz="24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tx1"/>
                </a:solidFill>
              </a:rPr>
              <a:t>Char	- 1 </a:t>
            </a:r>
            <a:r>
              <a:rPr lang="pl-PL" sz="2400" dirty="0" err="1">
                <a:solidFill>
                  <a:schemeClr val="tx1"/>
                </a:solidFill>
              </a:rPr>
              <a:t>byte</a:t>
            </a:r>
            <a:endParaRPr lang="pl-PL" sz="24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tx1"/>
                </a:solidFill>
              </a:rPr>
              <a:t>Double</a:t>
            </a:r>
            <a:r>
              <a:rPr lang="pl-PL" sz="2400" dirty="0">
                <a:solidFill>
                  <a:schemeClr val="tx1"/>
                </a:solidFill>
              </a:rPr>
              <a:t>	- 8 </a:t>
            </a:r>
            <a:r>
              <a:rPr lang="pl-PL" sz="2400" dirty="0" err="1">
                <a:solidFill>
                  <a:schemeClr val="tx1"/>
                </a:solidFill>
              </a:rPr>
              <a:t>bytes</a:t>
            </a:r>
            <a:endParaRPr lang="pl-PL" sz="24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tx1"/>
                </a:solidFill>
              </a:rPr>
              <a:t>Float</a:t>
            </a:r>
            <a:r>
              <a:rPr lang="pl-PL" sz="2400" dirty="0">
                <a:solidFill>
                  <a:schemeClr val="tx1"/>
                </a:solidFill>
              </a:rPr>
              <a:t>	- 4 </a:t>
            </a:r>
            <a:r>
              <a:rPr lang="pl-PL" sz="2400" dirty="0" err="1">
                <a:solidFill>
                  <a:schemeClr val="tx1"/>
                </a:solidFill>
              </a:rPr>
              <a:t>bytes</a:t>
            </a:r>
            <a:endParaRPr lang="pl-PL" sz="24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tx1"/>
                </a:solidFill>
              </a:rPr>
              <a:t>Int</a:t>
            </a:r>
            <a:r>
              <a:rPr lang="pl-PL" sz="2400" dirty="0">
                <a:solidFill>
                  <a:schemeClr val="tx1"/>
                </a:solidFill>
              </a:rPr>
              <a:t>		- 4 </a:t>
            </a:r>
            <a:r>
              <a:rPr lang="pl-PL" sz="2400" dirty="0" err="1">
                <a:solidFill>
                  <a:schemeClr val="tx1"/>
                </a:solidFill>
              </a:rPr>
              <a:t>bytes</a:t>
            </a:r>
            <a:endParaRPr lang="pl-PL" sz="24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tx1"/>
                </a:solidFill>
              </a:rPr>
              <a:t>Long</a:t>
            </a:r>
            <a:r>
              <a:rPr lang="pl-PL" sz="2400" dirty="0">
                <a:solidFill>
                  <a:schemeClr val="tx1"/>
                </a:solidFill>
              </a:rPr>
              <a:t>	- 8 </a:t>
            </a:r>
            <a:r>
              <a:rPr lang="pl-PL" sz="2400" dirty="0" err="1">
                <a:solidFill>
                  <a:schemeClr val="tx1"/>
                </a:solidFill>
              </a:rPr>
              <a:t>bytes</a:t>
            </a:r>
            <a:endParaRPr lang="pl-P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Pamięć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05CB2DF6-7F78-4E6A-9E16-6E73683FF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912682"/>
              </p:ext>
            </p:extLst>
          </p:nvPr>
        </p:nvGraphicFramePr>
        <p:xfrm>
          <a:off x="1763688" y="2312888"/>
          <a:ext cx="6096000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14452838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7666004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86462147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28755737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929189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98452985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896325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03181156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2558612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1723115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5332359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37593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5943264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2921348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307823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5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25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5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1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35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8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9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76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565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495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A28B5-DBF2-3C47-E4FB-9AB59E95E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6B940B-0797-9D06-F7F8-E1818382FB4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Pamięć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5E44C93-B6CD-9443-3605-6FFB80C53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60015"/>
              </p:ext>
            </p:extLst>
          </p:nvPr>
        </p:nvGraphicFramePr>
        <p:xfrm>
          <a:off x="1763688" y="2312888"/>
          <a:ext cx="6096000" cy="3733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14452838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7666004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86462147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28755737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929189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98452985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896325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03181156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2558612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1723115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5332359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37593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5943264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2921348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30782304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5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25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5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1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35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8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9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76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565722"/>
                  </a:ext>
                </a:extLst>
              </a:tr>
            </a:tbl>
          </a:graphicData>
        </a:graphic>
      </p:graphicFrame>
      <p:pic>
        <p:nvPicPr>
          <p:cNvPr id="5" name="Obraz 4">
            <a:extLst>
              <a:ext uri="{FF2B5EF4-FFF2-40B4-BE49-F238E27FC236}">
                <a16:creationId xmlns:a16="http://schemas.microsoft.com/office/drawing/2014/main" id="{5D90AD8C-2955-65C6-89C0-FB5C0E740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1102142"/>
            <a:ext cx="4752528" cy="670673"/>
          </a:xfrm>
          <a:prstGeom prst="rect">
            <a:avLst/>
          </a:prstGeom>
        </p:spPr>
      </p:pic>
      <p:sp>
        <p:nvSpPr>
          <p:cNvPr id="6" name="Nawias klamrowy otwierający 5">
            <a:extLst>
              <a:ext uri="{FF2B5EF4-FFF2-40B4-BE49-F238E27FC236}">
                <a16:creationId xmlns:a16="http://schemas.microsoft.com/office/drawing/2014/main" id="{72847F43-4948-ECBB-1919-9080F1834850}"/>
              </a:ext>
            </a:extLst>
          </p:cNvPr>
          <p:cNvSpPr/>
          <p:nvPr/>
        </p:nvSpPr>
        <p:spPr>
          <a:xfrm rot="5400000">
            <a:off x="3435658" y="172853"/>
            <a:ext cx="400475" cy="36004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92842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Pamięć</a:t>
            </a:r>
          </a:p>
        </p:txBody>
      </p:sp>
      <p:graphicFrame>
        <p:nvGraphicFramePr>
          <p:cNvPr id="7" name="Tabela 4">
            <a:extLst>
              <a:ext uri="{FF2B5EF4-FFF2-40B4-BE49-F238E27FC236}">
                <a16:creationId xmlns:a16="http://schemas.microsoft.com/office/drawing/2014/main" id="{81504BC1-42DC-48CD-BAF5-04104A4ED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81245"/>
              </p:ext>
            </p:extLst>
          </p:nvPr>
        </p:nvGraphicFramePr>
        <p:xfrm>
          <a:off x="1763688" y="2312888"/>
          <a:ext cx="6096000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14452838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7666004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86462147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28755737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929189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98452985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896325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03181156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2558612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1723115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5332359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37593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5943264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2921348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307823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5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25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5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1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5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8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9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76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565722"/>
                  </a:ext>
                </a:extLst>
              </a:tr>
            </a:tbl>
          </a:graphicData>
        </a:graphic>
      </p:graphicFrame>
      <p:pic>
        <p:nvPicPr>
          <p:cNvPr id="4" name="Obraz 3">
            <a:extLst>
              <a:ext uri="{FF2B5EF4-FFF2-40B4-BE49-F238E27FC236}">
                <a16:creationId xmlns:a16="http://schemas.microsoft.com/office/drawing/2014/main" id="{FB4816BF-1491-40DB-5294-05E8E5890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864128"/>
            <a:ext cx="2274247" cy="69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09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Pamięć</a:t>
            </a:r>
          </a:p>
        </p:txBody>
      </p:sp>
      <p:graphicFrame>
        <p:nvGraphicFramePr>
          <p:cNvPr id="7" name="Tabela 4">
            <a:extLst>
              <a:ext uri="{FF2B5EF4-FFF2-40B4-BE49-F238E27FC236}">
                <a16:creationId xmlns:a16="http://schemas.microsoft.com/office/drawing/2014/main" id="{81504BC1-42DC-48CD-BAF5-04104A4ED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078799"/>
              </p:ext>
            </p:extLst>
          </p:nvPr>
        </p:nvGraphicFramePr>
        <p:xfrm>
          <a:off x="1763688" y="2312888"/>
          <a:ext cx="6096000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14452838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7666004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86462147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28755737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929189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98452985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896325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03181156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2558612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1723115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5332359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37593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5943264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2921348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307823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5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25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5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1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5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8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9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76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565722"/>
                  </a:ext>
                </a:extLst>
              </a:tr>
            </a:tbl>
          </a:graphicData>
        </a:graphic>
      </p:graphicFrame>
      <p:pic>
        <p:nvPicPr>
          <p:cNvPr id="3" name="Obraz 2">
            <a:extLst>
              <a:ext uri="{FF2B5EF4-FFF2-40B4-BE49-F238E27FC236}">
                <a16:creationId xmlns:a16="http://schemas.microsoft.com/office/drawing/2014/main" id="{6E900D47-D8F5-034A-DE6A-D4EBD3044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864128"/>
            <a:ext cx="2274247" cy="69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23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Wskaźnik</a:t>
            </a:r>
          </a:p>
        </p:txBody>
      </p:sp>
      <p:graphicFrame>
        <p:nvGraphicFramePr>
          <p:cNvPr id="7" name="Tabela 4">
            <a:extLst>
              <a:ext uri="{FF2B5EF4-FFF2-40B4-BE49-F238E27FC236}">
                <a16:creationId xmlns:a16="http://schemas.microsoft.com/office/drawing/2014/main" id="{81504BC1-42DC-48CD-BAF5-04104A4ED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921582"/>
              </p:ext>
            </p:extLst>
          </p:nvPr>
        </p:nvGraphicFramePr>
        <p:xfrm>
          <a:off x="1763688" y="2312888"/>
          <a:ext cx="6096000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14452838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7666004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86462147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28755737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929189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98452985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896325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03181156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2558612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1723115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5332359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37593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5943264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2921348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307823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5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25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5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1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5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        20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8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9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pl-PL" sz="1800" dirty="0">
                          <a:solidFill>
                            <a:schemeClr val="tx1"/>
                          </a:solidFill>
                        </a:rPr>
                        <a:t>0x3245ac</a:t>
                      </a:r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76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565722"/>
                  </a:ext>
                </a:extLst>
              </a:tr>
            </a:tbl>
          </a:graphicData>
        </a:graphic>
      </p:graphicFrame>
      <p:sp>
        <p:nvSpPr>
          <p:cNvPr id="3" name="pole tekstowe 2">
            <a:extLst>
              <a:ext uri="{FF2B5EF4-FFF2-40B4-BE49-F238E27FC236}">
                <a16:creationId xmlns:a16="http://schemas.microsoft.com/office/drawing/2014/main" id="{0A6C3CDF-D691-41DF-A93C-D82F2BE5304E}"/>
              </a:ext>
            </a:extLst>
          </p:cNvPr>
          <p:cNvSpPr txBox="1"/>
          <p:nvPr/>
        </p:nvSpPr>
        <p:spPr>
          <a:xfrm>
            <a:off x="4147845" y="4293096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050" dirty="0">
                <a:solidFill>
                  <a:schemeClr val="tx1"/>
                </a:solidFill>
              </a:rPr>
              <a:t>0x3245ac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D57152E-FB68-E285-55FD-46F58204D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864128"/>
            <a:ext cx="2274247" cy="69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82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malloc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ABA23F3-B550-F714-21DB-092299127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1628800"/>
            <a:ext cx="5763745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BF832-DB1C-72D9-C7C8-5602E7B7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AF5FCB-6FAE-7A00-1C08-B318AABB58C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Pamięć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D90BC384-2AF9-9013-C964-38774A6CA23C}"/>
              </a:ext>
            </a:extLst>
          </p:cNvPr>
          <p:cNvGraphicFramePr>
            <a:graphicFrameLocks noGrp="1"/>
          </p:cNvGraphicFramePr>
          <p:nvPr/>
        </p:nvGraphicFramePr>
        <p:xfrm>
          <a:off x="1763688" y="2312888"/>
          <a:ext cx="6096000" cy="3733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14452838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7666004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86462147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28755737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929189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98452985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896325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03181156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2558612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1723115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5332359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37593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5943264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2921348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30782304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5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25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5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1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35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8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9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76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565722"/>
                  </a:ext>
                </a:extLst>
              </a:tr>
            </a:tbl>
          </a:graphicData>
        </a:graphic>
      </p:graphicFrame>
      <p:pic>
        <p:nvPicPr>
          <p:cNvPr id="5" name="Obraz 4">
            <a:extLst>
              <a:ext uri="{FF2B5EF4-FFF2-40B4-BE49-F238E27FC236}">
                <a16:creationId xmlns:a16="http://schemas.microsoft.com/office/drawing/2014/main" id="{A5E4446F-D04F-7DF3-B47A-CB867DC48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1102142"/>
            <a:ext cx="4752528" cy="670673"/>
          </a:xfrm>
          <a:prstGeom prst="rect">
            <a:avLst/>
          </a:prstGeom>
        </p:spPr>
      </p:pic>
      <p:sp>
        <p:nvSpPr>
          <p:cNvPr id="6" name="Nawias klamrowy otwierający 5">
            <a:extLst>
              <a:ext uri="{FF2B5EF4-FFF2-40B4-BE49-F238E27FC236}">
                <a16:creationId xmlns:a16="http://schemas.microsoft.com/office/drawing/2014/main" id="{F7D23470-0E9D-D325-447E-27DFF25EB440}"/>
              </a:ext>
            </a:extLst>
          </p:cNvPr>
          <p:cNvSpPr/>
          <p:nvPr/>
        </p:nvSpPr>
        <p:spPr>
          <a:xfrm rot="5400000">
            <a:off x="3435658" y="172853"/>
            <a:ext cx="400475" cy="36004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33452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Pamięć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05CB2DF6-7F78-4E6A-9E16-6E73683FF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949498"/>
              </p:ext>
            </p:extLst>
          </p:nvPr>
        </p:nvGraphicFramePr>
        <p:xfrm>
          <a:off x="1763688" y="2312888"/>
          <a:ext cx="6096000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14452838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7666004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86462147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28755737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929189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98452985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896325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03181156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2558612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1723115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5332359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37593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5943264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2921348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30782304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5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25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5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1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5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8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9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76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565722"/>
                  </a:ext>
                </a:extLst>
              </a:tr>
            </a:tbl>
          </a:graphicData>
        </a:graphic>
      </p:graphicFrame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602997A-E28C-4DA7-BEE7-03453AA746E6}"/>
              </a:ext>
            </a:extLst>
          </p:cNvPr>
          <p:cNvSpPr txBox="1"/>
          <p:nvPr/>
        </p:nvSpPr>
        <p:spPr>
          <a:xfrm>
            <a:off x="6731240" y="779839"/>
            <a:ext cx="1328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dirty="0">
                <a:solidFill>
                  <a:schemeClr val="tx1"/>
                </a:solidFill>
              </a:rPr>
              <a:t>13</a:t>
            </a:r>
            <a:endParaRPr lang="pl-PL" dirty="0">
              <a:solidFill>
                <a:schemeClr val="tx1"/>
              </a:solidFill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B7168B3-E192-9445-AB63-19ECDB1BC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1102142"/>
            <a:ext cx="4752528" cy="670673"/>
          </a:xfrm>
          <a:prstGeom prst="rect">
            <a:avLst/>
          </a:prstGeom>
        </p:spPr>
      </p:pic>
      <p:sp>
        <p:nvSpPr>
          <p:cNvPr id="6" name="Nawias klamrowy otwierający 5">
            <a:extLst>
              <a:ext uri="{FF2B5EF4-FFF2-40B4-BE49-F238E27FC236}">
                <a16:creationId xmlns:a16="http://schemas.microsoft.com/office/drawing/2014/main" id="{820704E6-F400-89F7-77AA-A7E4B93917CB}"/>
              </a:ext>
            </a:extLst>
          </p:cNvPr>
          <p:cNvSpPr/>
          <p:nvPr/>
        </p:nvSpPr>
        <p:spPr>
          <a:xfrm rot="5400000">
            <a:off x="3435658" y="172853"/>
            <a:ext cx="400475" cy="36004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F0C48930-DA6F-4D52-99EE-FF6DFBCF3033}"/>
              </a:ext>
            </a:extLst>
          </p:cNvPr>
          <p:cNvCxnSpPr>
            <a:cxnSpLocks/>
          </p:cNvCxnSpPr>
          <p:nvPr/>
        </p:nvCxnSpPr>
        <p:spPr>
          <a:xfrm flipH="1">
            <a:off x="5611464" y="1010672"/>
            <a:ext cx="1120776" cy="1304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255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BF9ACF79-17BA-59CE-6BE2-E5EF8DE68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966" y="836712"/>
            <a:ext cx="6408924" cy="11698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ArrayList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05CB2DF6-7F78-4E6A-9E16-6E73683FF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192187"/>
              </p:ext>
            </p:extLst>
          </p:nvPr>
        </p:nvGraphicFramePr>
        <p:xfrm>
          <a:off x="1763688" y="2312888"/>
          <a:ext cx="6096000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14452838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7666004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86462147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28755737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929189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98452985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896325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03181156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2558612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71723115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5332359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37593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5943264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2921348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30782304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5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25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5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1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51889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8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9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76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565722"/>
                  </a:ext>
                </a:extLst>
              </a:tr>
            </a:tbl>
          </a:graphicData>
        </a:graphic>
      </p:graphicFrame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ECA9E5F3-2DD9-4475-AEB6-A792BCAF63D4}"/>
              </a:ext>
            </a:extLst>
          </p:cNvPr>
          <p:cNvCxnSpPr>
            <a:cxnSpLocks/>
          </p:cNvCxnSpPr>
          <p:nvPr/>
        </p:nvCxnSpPr>
        <p:spPr>
          <a:xfrm>
            <a:off x="2411760" y="2636912"/>
            <a:ext cx="0" cy="1584176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652D7238-0354-4322-857D-BB851A5AB8D2}"/>
              </a:ext>
            </a:extLst>
          </p:cNvPr>
          <p:cNvCxnSpPr>
            <a:cxnSpLocks/>
          </p:cNvCxnSpPr>
          <p:nvPr/>
        </p:nvCxnSpPr>
        <p:spPr>
          <a:xfrm flipH="1">
            <a:off x="6057950" y="1767265"/>
            <a:ext cx="1034330" cy="2399823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12E058CC-2E0D-0378-F0B5-113B05605CD0}"/>
              </a:ext>
            </a:extLst>
          </p:cNvPr>
          <p:cNvCxnSpPr>
            <a:cxnSpLocks/>
          </p:cNvCxnSpPr>
          <p:nvPr/>
        </p:nvCxnSpPr>
        <p:spPr>
          <a:xfrm>
            <a:off x="3635896" y="2636912"/>
            <a:ext cx="0" cy="1584176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3DA8B7C2-7AE3-809D-BF35-37C62413788B}"/>
              </a:ext>
            </a:extLst>
          </p:cNvPr>
          <p:cNvCxnSpPr>
            <a:cxnSpLocks/>
          </p:cNvCxnSpPr>
          <p:nvPr/>
        </p:nvCxnSpPr>
        <p:spPr>
          <a:xfrm>
            <a:off x="4860032" y="2636912"/>
            <a:ext cx="0" cy="1584176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400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LinkedList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05CB2DF6-7F78-4E6A-9E16-6E73683FF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797583"/>
              </p:ext>
            </p:extLst>
          </p:nvPr>
        </p:nvGraphicFramePr>
        <p:xfrm>
          <a:off x="1763688" y="2967936"/>
          <a:ext cx="6096000" cy="3739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445283813"/>
                    </a:ext>
                  </a:extLst>
                </a:gridCol>
                <a:gridCol w="750168">
                  <a:extLst>
                    <a:ext uri="{9D8B030D-6E8A-4147-A177-3AD203B41FA5}">
                      <a16:colId xmlns:a16="http://schemas.microsoft.com/office/drawing/2014/main" val="1864621473"/>
                    </a:ext>
                  </a:extLst>
                </a:gridCol>
                <a:gridCol w="773832">
                  <a:extLst>
                    <a:ext uri="{9D8B030D-6E8A-4147-A177-3AD203B41FA5}">
                      <a16:colId xmlns:a16="http://schemas.microsoft.com/office/drawing/2014/main" val="8929189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896325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558612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5332359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85943264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07823042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pl-PL" sz="2000" b="1" dirty="0" err="1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pl-PL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55864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25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5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1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5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8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941950"/>
                  </a:ext>
                </a:extLst>
              </a:tr>
              <a:tr h="3816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76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565722"/>
                  </a:ext>
                </a:extLst>
              </a:tr>
            </a:tbl>
          </a:graphicData>
        </a:graphic>
      </p:graphicFrame>
      <p:sp>
        <p:nvSpPr>
          <p:cNvPr id="7" name="pole tekstowe 6">
            <a:extLst>
              <a:ext uri="{FF2B5EF4-FFF2-40B4-BE49-F238E27FC236}">
                <a16:creationId xmlns:a16="http://schemas.microsoft.com/office/drawing/2014/main" id="{5573FFCA-4541-4347-B1D7-40C85E6E11D1}"/>
              </a:ext>
            </a:extLst>
          </p:cNvPr>
          <p:cNvSpPr txBox="1"/>
          <p:nvPr/>
        </p:nvSpPr>
        <p:spPr>
          <a:xfrm>
            <a:off x="2699792" y="3434586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tx1"/>
                </a:solidFill>
              </a:rPr>
              <a:t>0x123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C30CC54-5308-C5BF-FC8A-94F225712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884646"/>
            <a:ext cx="3734978" cy="182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92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LinkedList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05CB2DF6-7F78-4E6A-9E16-6E73683FF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708395"/>
              </p:ext>
            </p:extLst>
          </p:nvPr>
        </p:nvGraphicFramePr>
        <p:xfrm>
          <a:off x="1763688" y="2950160"/>
          <a:ext cx="6096000" cy="40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445283813"/>
                    </a:ext>
                  </a:extLst>
                </a:gridCol>
                <a:gridCol w="750168">
                  <a:extLst>
                    <a:ext uri="{9D8B030D-6E8A-4147-A177-3AD203B41FA5}">
                      <a16:colId xmlns:a16="http://schemas.microsoft.com/office/drawing/2014/main" val="1864621473"/>
                    </a:ext>
                  </a:extLst>
                </a:gridCol>
                <a:gridCol w="773832">
                  <a:extLst>
                    <a:ext uri="{9D8B030D-6E8A-4147-A177-3AD203B41FA5}">
                      <a16:colId xmlns:a16="http://schemas.microsoft.com/office/drawing/2014/main" val="8929189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896325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558612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5332359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85943264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0782304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5586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chemeClr val="tx1"/>
                          </a:solidFill>
                        </a:rPr>
                        <a:t>0x444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000" b="1" dirty="0" err="1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25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5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1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5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chemeClr val="tx1"/>
                          </a:solidFill>
                        </a:rPr>
                        <a:t>0x399</a:t>
                      </a:r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8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chemeClr val="tx1"/>
                          </a:solidFill>
                        </a:rPr>
                        <a:t>0x999</a:t>
                      </a:r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941950"/>
                  </a:ext>
                </a:extLst>
              </a:tr>
              <a:tr h="3816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76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565722"/>
                  </a:ext>
                </a:extLst>
              </a:tr>
            </a:tbl>
          </a:graphicData>
        </a:graphic>
      </p:graphicFrame>
      <p:sp>
        <p:nvSpPr>
          <p:cNvPr id="7" name="pole tekstowe 6">
            <a:extLst>
              <a:ext uri="{FF2B5EF4-FFF2-40B4-BE49-F238E27FC236}">
                <a16:creationId xmlns:a16="http://schemas.microsoft.com/office/drawing/2014/main" id="{5573FFCA-4541-4347-B1D7-40C85E6E11D1}"/>
              </a:ext>
            </a:extLst>
          </p:cNvPr>
          <p:cNvSpPr txBox="1"/>
          <p:nvPr/>
        </p:nvSpPr>
        <p:spPr>
          <a:xfrm>
            <a:off x="1698930" y="3574336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tx1"/>
                </a:solidFill>
              </a:rPr>
              <a:t>0x123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817EE5A-C123-46C3-807B-D69AA576F9E9}"/>
              </a:ext>
            </a:extLst>
          </p:cNvPr>
          <p:cNvSpPr txBox="1"/>
          <p:nvPr/>
        </p:nvSpPr>
        <p:spPr>
          <a:xfrm>
            <a:off x="3970553" y="5159200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tx1"/>
                </a:solidFill>
              </a:rPr>
              <a:t>0x444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74536957-C75A-4901-97F2-920929498C9A}"/>
              </a:ext>
            </a:extLst>
          </p:cNvPr>
          <p:cNvCxnSpPr>
            <a:cxnSpLocks/>
          </p:cNvCxnSpPr>
          <p:nvPr/>
        </p:nvCxnSpPr>
        <p:spPr>
          <a:xfrm>
            <a:off x="3131840" y="3712835"/>
            <a:ext cx="1075112" cy="960038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59CB75A5-3EDA-4C59-ACD4-08C8CA02ADC9}"/>
              </a:ext>
            </a:extLst>
          </p:cNvPr>
          <p:cNvCxnSpPr>
            <a:cxnSpLocks/>
          </p:cNvCxnSpPr>
          <p:nvPr/>
        </p:nvCxnSpPr>
        <p:spPr>
          <a:xfrm>
            <a:off x="5508104" y="5094717"/>
            <a:ext cx="144016" cy="341482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B24C78E-6808-4BD2-9416-489C40241523}"/>
              </a:ext>
            </a:extLst>
          </p:cNvPr>
          <p:cNvSpPr txBox="1"/>
          <p:nvPr/>
        </p:nvSpPr>
        <p:spPr>
          <a:xfrm>
            <a:off x="5508104" y="5981599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tx1"/>
                </a:solidFill>
              </a:rPr>
              <a:t>0x399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E1EFF5D-9E66-4ED5-8DCE-16E34AC8DB3B}"/>
              </a:ext>
            </a:extLst>
          </p:cNvPr>
          <p:cNvSpPr txBox="1"/>
          <p:nvPr/>
        </p:nvSpPr>
        <p:spPr>
          <a:xfrm>
            <a:off x="7289240" y="3574336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tx1"/>
                </a:solidFill>
              </a:rPr>
              <a:t>0x999</a:t>
            </a: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8C379347-8B43-418B-BB41-76F0A0F20D67}"/>
              </a:ext>
            </a:extLst>
          </p:cNvPr>
          <p:cNvCxnSpPr>
            <a:cxnSpLocks/>
          </p:cNvCxnSpPr>
          <p:nvPr/>
        </p:nvCxnSpPr>
        <p:spPr>
          <a:xfrm flipH="1" flipV="1">
            <a:off x="6588224" y="3756506"/>
            <a:ext cx="252799" cy="1832734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Obraz 2">
            <a:extLst>
              <a:ext uri="{FF2B5EF4-FFF2-40B4-BE49-F238E27FC236}">
                <a16:creationId xmlns:a16="http://schemas.microsoft.com/office/drawing/2014/main" id="{84F27AC8-698B-C07B-A7CB-82AF3A921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884646"/>
            <a:ext cx="3734978" cy="182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40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AE95F-5CBD-B917-5DB2-91C1823A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70A5F8-BD8C-4938-B3E7-824B67F4BD3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LinkedList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F7709857-3784-528E-F8AA-7F9534ABF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833669"/>
              </p:ext>
            </p:extLst>
          </p:nvPr>
        </p:nvGraphicFramePr>
        <p:xfrm>
          <a:off x="1763688" y="2950160"/>
          <a:ext cx="6096000" cy="40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445283813"/>
                    </a:ext>
                  </a:extLst>
                </a:gridCol>
                <a:gridCol w="750168">
                  <a:extLst>
                    <a:ext uri="{9D8B030D-6E8A-4147-A177-3AD203B41FA5}">
                      <a16:colId xmlns:a16="http://schemas.microsoft.com/office/drawing/2014/main" val="1864621473"/>
                    </a:ext>
                  </a:extLst>
                </a:gridCol>
                <a:gridCol w="773832">
                  <a:extLst>
                    <a:ext uri="{9D8B030D-6E8A-4147-A177-3AD203B41FA5}">
                      <a16:colId xmlns:a16="http://schemas.microsoft.com/office/drawing/2014/main" val="8929189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896325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558612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5332359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85943264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0782304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5586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chemeClr val="tx1"/>
                          </a:solidFill>
                        </a:rPr>
                        <a:t>0x444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000" b="1" dirty="0" err="1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25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5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1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5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000" b="1" dirty="0" err="1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8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chemeClr val="tx1"/>
                          </a:solidFill>
                        </a:rPr>
                        <a:t>0x999</a:t>
                      </a:r>
                      <a:endParaRPr lang="pl-P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941950"/>
                  </a:ext>
                </a:extLst>
              </a:tr>
              <a:tr h="3816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76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565722"/>
                  </a:ext>
                </a:extLst>
              </a:tr>
            </a:tbl>
          </a:graphicData>
        </a:graphic>
      </p:graphicFrame>
      <p:sp>
        <p:nvSpPr>
          <p:cNvPr id="7" name="pole tekstowe 6">
            <a:extLst>
              <a:ext uri="{FF2B5EF4-FFF2-40B4-BE49-F238E27FC236}">
                <a16:creationId xmlns:a16="http://schemas.microsoft.com/office/drawing/2014/main" id="{315A4D9D-D02D-686A-3C4B-7C9722618823}"/>
              </a:ext>
            </a:extLst>
          </p:cNvPr>
          <p:cNvSpPr txBox="1"/>
          <p:nvPr/>
        </p:nvSpPr>
        <p:spPr>
          <a:xfrm>
            <a:off x="1698930" y="3574336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tx1"/>
                </a:solidFill>
              </a:rPr>
              <a:t>0x123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FFB17D1-209E-AE69-4028-51360F4890BC}"/>
              </a:ext>
            </a:extLst>
          </p:cNvPr>
          <p:cNvSpPr txBox="1"/>
          <p:nvPr/>
        </p:nvSpPr>
        <p:spPr>
          <a:xfrm>
            <a:off x="3970553" y="5159200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tx1"/>
                </a:solidFill>
              </a:rPr>
              <a:t>0x444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9B9DE1ED-118F-9E5C-AC9C-7FB38B4F48B9}"/>
              </a:ext>
            </a:extLst>
          </p:cNvPr>
          <p:cNvCxnSpPr>
            <a:cxnSpLocks/>
          </p:cNvCxnSpPr>
          <p:nvPr/>
        </p:nvCxnSpPr>
        <p:spPr>
          <a:xfrm>
            <a:off x="3131840" y="3712835"/>
            <a:ext cx="1075112" cy="960038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9B0E141-7197-483A-A762-8DB4770C43E0}"/>
              </a:ext>
            </a:extLst>
          </p:cNvPr>
          <p:cNvSpPr txBox="1"/>
          <p:nvPr/>
        </p:nvSpPr>
        <p:spPr>
          <a:xfrm>
            <a:off x="5508104" y="5981599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tx1"/>
                </a:solidFill>
              </a:rPr>
              <a:t>0x399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CC57E43-C9C0-91FC-050A-0AE4C3C671F1}"/>
              </a:ext>
            </a:extLst>
          </p:cNvPr>
          <p:cNvSpPr txBox="1"/>
          <p:nvPr/>
        </p:nvSpPr>
        <p:spPr>
          <a:xfrm>
            <a:off x="7289240" y="3574336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tx1"/>
                </a:solidFill>
              </a:rPr>
              <a:t>0x999</a:t>
            </a: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7B6E84AD-8E4F-1B64-A46E-8D7B7CD481C9}"/>
              </a:ext>
            </a:extLst>
          </p:cNvPr>
          <p:cNvCxnSpPr>
            <a:cxnSpLocks/>
          </p:cNvCxnSpPr>
          <p:nvPr/>
        </p:nvCxnSpPr>
        <p:spPr>
          <a:xfrm flipH="1" flipV="1">
            <a:off x="6588224" y="3756506"/>
            <a:ext cx="252799" cy="1832734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Obraz 2">
            <a:extLst>
              <a:ext uri="{FF2B5EF4-FFF2-40B4-BE49-F238E27FC236}">
                <a16:creationId xmlns:a16="http://schemas.microsoft.com/office/drawing/2014/main" id="{3A7EAE62-18B0-4333-8005-D19A6A886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884646"/>
            <a:ext cx="3734978" cy="182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45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Garbage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Collection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E858A6AD-BDDD-4713-A7B5-28DE9E807746}"/>
              </a:ext>
            </a:extLst>
          </p:cNvPr>
          <p:cNvSpPr txBox="1"/>
          <p:nvPr/>
        </p:nvSpPr>
        <p:spPr>
          <a:xfrm>
            <a:off x="1259632" y="1268760"/>
            <a:ext cx="7416824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>
                <a:solidFill>
                  <a:schemeClr val="tx1"/>
                </a:solidFill>
              </a:rPr>
              <a:t>W językach takich jak C/C++ musimy zarządzać pamięcią - zaalokować oraz zwolnić.</a:t>
            </a:r>
          </a:p>
          <a:p>
            <a:pPr>
              <a:lnSpc>
                <a:spcPct val="150000"/>
              </a:lnSpc>
            </a:pPr>
            <a:endParaRPr lang="pl-PL" sz="2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pl-PL" sz="2400" b="1" dirty="0" err="1">
                <a:solidFill>
                  <a:schemeClr val="tx1"/>
                </a:solidFill>
              </a:rPr>
              <a:t>Malloc</a:t>
            </a:r>
            <a:r>
              <a:rPr lang="pl-PL" sz="2400" b="1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pl-PL" sz="2400" b="1" dirty="0" err="1">
                <a:solidFill>
                  <a:schemeClr val="tx1"/>
                </a:solidFill>
              </a:rPr>
              <a:t>Realloc</a:t>
            </a:r>
            <a:r>
              <a:rPr lang="pl-PL" sz="2400" b="1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pl-PL" sz="2400" b="1" dirty="0" err="1">
                <a:solidFill>
                  <a:schemeClr val="tx1"/>
                </a:solidFill>
              </a:rPr>
              <a:t>Calloc</a:t>
            </a:r>
            <a:r>
              <a:rPr lang="pl-PL" sz="2400" b="1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pl-PL" sz="2400" b="1" dirty="0" err="1">
                <a:solidFill>
                  <a:schemeClr val="tx1"/>
                </a:solidFill>
              </a:rPr>
              <a:t>free</a:t>
            </a:r>
            <a:r>
              <a:rPr lang="pl-PL" sz="2400" b="1" dirty="0">
                <a:solidFill>
                  <a:schemeClr val="tx1"/>
                </a:solidFill>
              </a:rPr>
              <a:t>(n)</a:t>
            </a:r>
          </a:p>
          <a:p>
            <a:pPr>
              <a:lnSpc>
                <a:spcPct val="150000"/>
              </a:lnSpc>
            </a:pPr>
            <a:r>
              <a:rPr lang="pl-PL" sz="2400" b="1" dirty="0" err="1">
                <a:solidFill>
                  <a:schemeClr val="tx1"/>
                </a:solidFill>
              </a:rPr>
              <a:t>destructors</a:t>
            </a:r>
            <a:endParaRPr lang="pl-PL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988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Garbage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Collection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E858A6AD-BDDD-4713-A7B5-28DE9E807746}"/>
              </a:ext>
            </a:extLst>
          </p:cNvPr>
          <p:cNvSpPr txBox="1"/>
          <p:nvPr/>
        </p:nvSpPr>
        <p:spPr>
          <a:xfrm>
            <a:off x="1227301" y="764704"/>
            <a:ext cx="7416824" cy="4190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dirty="0">
                <a:solidFill>
                  <a:schemeClr val="tx1"/>
                </a:solidFill>
              </a:rPr>
              <a:t>Java wprowadziła automatyczne zarządzanie pamięcią </a:t>
            </a:r>
            <a:r>
              <a:rPr lang="pl-PL" sz="2000" b="1" dirty="0">
                <a:solidFill>
                  <a:schemeClr val="tx1"/>
                </a:solidFill>
              </a:rPr>
              <a:t>– </a:t>
            </a:r>
            <a:r>
              <a:rPr lang="pl-PL" sz="2000" b="1" dirty="0" err="1">
                <a:solidFill>
                  <a:schemeClr val="tx1"/>
                </a:solidFill>
              </a:rPr>
              <a:t>Garbage</a:t>
            </a:r>
            <a:r>
              <a:rPr lang="pl-PL" sz="2000" b="1" dirty="0">
                <a:solidFill>
                  <a:schemeClr val="tx1"/>
                </a:solidFill>
              </a:rPr>
              <a:t> </a:t>
            </a:r>
            <a:r>
              <a:rPr lang="pl-PL" sz="2000" b="1" dirty="0" err="1">
                <a:solidFill>
                  <a:schemeClr val="tx1"/>
                </a:solidFill>
              </a:rPr>
              <a:t>Collector</a:t>
            </a:r>
            <a:r>
              <a:rPr lang="pl-PL" sz="2000" b="1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pl-PL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pl-PL" sz="2000" b="1" dirty="0">
                <a:solidFill>
                  <a:schemeClr val="tx1"/>
                </a:solidFill>
              </a:rPr>
              <a:t>Usuwa obiekty które już nie są używane.</a:t>
            </a:r>
          </a:p>
          <a:p>
            <a:pPr>
              <a:lnSpc>
                <a:spcPct val="150000"/>
              </a:lnSpc>
            </a:pPr>
            <a:endParaRPr lang="pl-PL" sz="2000" b="1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Live </a:t>
            </a:r>
            <a:r>
              <a:rPr lang="pl-PL" sz="2000" b="1" dirty="0" err="1">
                <a:solidFill>
                  <a:schemeClr val="tx1"/>
                </a:solidFill>
              </a:rPr>
              <a:t>objects</a:t>
            </a:r>
            <a:r>
              <a:rPr lang="pl-PL" sz="2000" b="1" dirty="0">
                <a:solidFill>
                  <a:schemeClr val="tx1"/>
                </a:solidFill>
              </a:rPr>
              <a:t> – </a:t>
            </a:r>
            <a:r>
              <a:rPr lang="pl-PL" sz="2000" dirty="0">
                <a:solidFill>
                  <a:schemeClr val="tx1"/>
                </a:solidFill>
              </a:rPr>
              <a:t>obiekty osiągalne (do którego odwołuje się inny obiekt)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 err="1">
                <a:solidFill>
                  <a:schemeClr val="tx1"/>
                </a:solidFill>
              </a:rPr>
              <a:t>Dead</a:t>
            </a:r>
            <a:r>
              <a:rPr lang="pl-PL" sz="2000" b="1" dirty="0">
                <a:solidFill>
                  <a:schemeClr val="tx1"/>
                </a:solidFill>
              </a:rPr>
              <a:t> </a:t>
            </a:r>
            <a:r>
              <a:rPr lang="pl-PL" sz="2000" b="1" dirty="0" err="1">
                <a:solidFill>
                  <a:schemeClr val="tx1"/>
                </a:solidFill>
              </a:rPr>
              <a:t>objects</a:t>
            </a:r>
            <a:r>
              <a:rPr lang="pl-PL" sz="2000" b="1" dirty="0">
                <a:solidFill>
                  <a:schemeClr val="tx1"/>
                </a:solidFill>
              </a:rPr>
              <a:t> – </a:t>
            </a:r>
            <a:r>
              <a:rPr lang="pl-PL" sz="2000" dirty="0">
                <a:solidFill>
                  <a:schemeClr val="tx1"/>
                </a:solidFill>
              </a:rPr>
              <a:t>obiekty nieosiągalne (do którego nie odwołuje się żaden inny obiekt)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B799C44-C458-E608-DAA1-3321B28BFC9C}"/>
              </a:ext>
            </a:extLst>
          </p:cNvPr>
          <p:cNvSpPr txBox="1"/>
          <p:nvPr/>
        </p:nvSpPr>
        <p:spPr>
          <a:xfrm>
            <a:off x="1264713" y="5613966"/>
            <a:ext cx="7416824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dirty="0">
                <a:solidFill>
                  <a:schemeClr val="tx1"/>
                </a:solidFill>
              </a:rPr>
              <a:t>Zbieranie nieużytków jest realizowane przez </a:t>
            </a:r>
            <a:r>
              <a:rPr lang="pl-PL" sz="2000" b="1" dirty="0">
                <a:solidFill>
                  <a:schemeClr val="tx1"/>
                </a:solidFill>
              </a:rPr>
              <a:t>demon </a:t>
            </a:r>
            <a:r>
              <a:rPr lang="pl-PL" sz="2000" dirty="0">
                <a:solidFill>
                  <a:schemeClr val="tx1"/>
                </a:solidFill>
              </a:rPr>
              <a:t>(wątek działający niezależnie od użytkownika) </a:t>
            </a:r>
            <a:r>
              <a:rPr lang="pl-PL" sz="2000" b="1" dirty="0">
                <a:solidFill>
                  <a:schemeClr val="tx1"/>
                </a:solidFill>
              </a:rPr>
              <a:t>– </a:t>
            </a:r>
            <a:r>
              <a:rPr lang="pl-PL" sz="2000" b="1" dirty="0" err="1">
                <a:solidFill>
                  <a:schemeClr val="tx1"/>
                </a:solidFill>
              </a:rPr>
              <a:t>Garbage</a:t>
            </a:r>
            <a:r>
              <a:rPr lang="pl-PL" sz="2000" b="1" dirty="0">
                <a:solidFill>
                  <a:schemeClr val="tx1"/>
                </a:solidFill>
              </a:rPr>
              <a:t> </a:t>
            </a:r>
            <a:r>
              <a:rPr lang="pl-PL" sz="2000" b="1" dirty="0" err="1">
                <a:solidFill>
                  <a:schemeClr val="tx1"/>
                </a:solidFill>
              </a:rPr>
              <a:t>Collector</a:t>
            </a:r>
            <a:endParaRPr lang="pl-PL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566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Garbage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Collection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334AA74-4F3E-4CA4-AF27-E4BE7E2C8AB3}"/>
              </a:ext>
            </a:extLst>
          </p:cNvPr>
          <p:cNvSpPr txBox="1"/>
          <p:nvPr/>
        </p:nvSpPr>
        <p:spPr>
          <a:xfrm>
            <a:off x="971600" y="1065440"/>
            <a:ext cx="8172400" cy="4842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b="1" dirty="0" err="1">
                <a:solidFill>
                  <a:schemeClr val="tx1"/>
                </a:solidFill>
              </a:rPr>
              <a:t>Garbage</a:t>
            </a:r>
            <a:r>
              <a:rPr lang="pl-PL" sz="2000" b="1" dirty="0">
                <a:solidFill>
                  <a:schemeClr val="tx1"/>
                </a:solidFill>
              </a:rPr>
              <a:t> </a:t>
            </a:r>
            <a:r>
              <a:rPr lang="pl-PL" sz="2000" b="1" dirty="0" err="1">
                <a:solidFill>
                  <a:schemeClr val="tx1"/>
                </a:solidFill>
              </a:rPr>
              <a:t>Collector</a:t>
            </a:r>
            <a:r>
              <a:rPr lang="pl-PL" sz="2000" b="1" dirty="0">
                <a:solidFill>
                  <a:schemeClr val="tx1"/>
                </a:solidFill>
              </a:rPr>
              <a:t> </a:t>
            </a:r>
            <a:r>
              <a:rPr lang="pl-PL" sz="2000" dirty="0">
                <a:solidFill>
                  <a:schemeClr val="tx1"/>
                </a:solidFill>
              </a:rPr>
              <a:t>wykorzystuje specjalne obiekty</a:t>
            </a:r>
            <a:r>
              <a:rPr lang="pl-PL" sz="2000" b="1" dirty="0">
                <a:solidFill>
                  <a:schemeClr val="tx1"/>
                </a:solidFill>
              </a:rPr>
              <a:t> – GC Root. </a:t>
            </a:r>
            <a:r>
              <a:rPr lang="pl-PL" sz="2000" dirty="0">
                <a:solidFill>
                  <a:schemeClr val="tx1"/>
                </a:solidFill>
              </a:rPr>
              <a:t>Są to punkty startowe dla procesu zbierania nieużytków.</a:t>
            </a:r>
          </a:p>
          <a:p>
            <a:pPr>
              <a:lnSpc>
                <a:spcPct val="150000"/>
              </a:lnSpc>
            </a:pPr>
            <a:endParaRPr lang="pl-PL" sz="2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pl-PL" sz="1800" dirty="0">
                <a:solidFill>
                  <a:schemeClr val="tx1"/>
                </a:solidFill>
              </a:rPr>
              <a:t>Rodzaje</a:t>
            </a:r>
            <a:r>
              <a:rPr lang="pl-PL" sz="1800" b="1" dirty="0">
                <a:solidFill>
                  <a:schemeClr val="tx1"/>
                </a:solidFill>
              </a:rPr>
              <a:t> GC Root: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dirty="0">
                <a:solidFill>
                  <a:schemeClr val="tx1"/>
                </a:solidFill>
              </a:rPr>
              <a:t>Klasy — </a:t>
            </a:r>
            <a:r>
              <a:rPr lang="pl-PL" sz="1800" dirty="0">
                <a:solidFill>
                  <a:schemeClr val="tx1"/>
                </a:solidFill>
              </a:rPr>
              <a:t>wszystkie obiekty przechowywane w statycznych polach klas załadowanych przez główny </a:t>
            </a:r>
            <a:r>
              <a:rPr lang="pl-PL" sz="1800" dirty="0" err="1">
                <a:solidFill>
                  <a:schemeClr val="tx1"/>
                </a:solidFill>
              </a:rPr>
              <a:t>loader</a:t>
            </a:r>
            <a:r>
              <a:rPr lang="pl-PL" sz="1800" dirty="0">
                <a:solidFill>
                  <a:schemeClr val="tx1"/>
                </a:solidFill>
              </a:rPr>
              <a:t> są traktowane jako GC Root.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dirty="0">
                <a:solidFill>
                  <a:schemeClr val="tx1"/>
                </a:solidFill>
              </a:rPr>
              <a:t>Lokalne zmienne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dirty="0">
                <a:solidFill>
                  <a:schemeClr val="tx1"/>
                </a:solidFill>
              </a:rPr>
              <a:t>Aktywne wątki — </a:t>
            </a:r>
            <a:r>
              <a:rPr lang="pl-PL" sz="1800" dirty="0">
                <a:solidFill>
                  <a:schemeClr val="tx1"/>
                </a:solidFill>
              </a:rPr>
              <a:t>każdy aktywny wątek w Javie jest GC Rootem. Obiekty, które wątki wykorzystują bezpośrednio, są traktowane jako osiągalne.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dirty="0">
                <a:solidFill>
                  <a:schemeClr val="tx1"/>
                </a:solidFill>
              </a:rPr>
              <a:t>JNI (</a:t>
            </a:r>
            <a:r>
              <a:rPr lang="pl-PL" sz="1800" b="1" i="1" dirty="0">
                <a:solidFill>
                  <a:schemeClr val="tx1"/>
                </a:solidFill>
              </a:rPr>
              <a:t>Java Native Interface</a:t>
            </a:r>
            <a:r>
              <a:rPr lang="pl-PL" sz="1800" b="1" dirty="0">
                <a:solidFill>
                  <a:schemeClr val="tx1"/>
                </a:solidFill>
              </a:rPr>
              <a:t>) — </a:t>
            </a:r>
            <a:r>
              <a:rPr lang="pl-PL" sz="1800" dirty="0">
                <a:solidFill>
                  <a:schemeClr val="tx1"/>
                </a:solidFill>
              </a:rPr>
              <a:t>referencje utworzone przez natywny kod (np. w C/C++) i przechowywane w tzw. </a:t>
            </a:r>
            <a:r>
              <a:rPr lang="pl-PL" sz="1800" i="1" dirty="0">
                <a:solidFill>
                  <a:schemeClr val="tx1"/>
                </a:solidFill>
              </a:rPr>
              <a:t>JNI </a:t>
            </a:r>
            <a:r>
              <a:rPr lang="pl-PL" sz="1800" i="1" dirty="0" err="1">
                <a:solidFill>
                  <a:schemeClr val="tx1"/>
                </a:solidFill>
              </a:rPr>
              <a:t>Handles</a:t>
            </a:r>
            <a:r>
              <a:rPr lang="pl-PL" sz="1800" i="1" dirty="0">
                <a:solidFill>
                  <a:schemeClr val="tx1"/>
                </a:solidFill>
              </a:rPr>
              <a:t> </a:t>
            </a:r>
            <a:r>
              <a:rPr lang="pl-PL" sz="1800" dirty="0">
                <a:solidFill>
                  <a:schemeClr val="tx1"/>
                </a:solidFill>
              </a:rPr>
              <a:t>są GC Rootami.</a:t>
            </a:r>
          </a:p>
        </p:txBody>
      </p:sp>
    </p:spTree>
    <p:extLst>
      <p:ext uri="{BB962C8B-B14F-4D97-AF65-F5344CB8AC3E}">
        <p14:creationId xmlns:p14="http://schemas.microsoft.com/office/powerpoint/2010/main" val="2261927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Garbage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Collection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334AA74-4F3E-4CA4-AF27-E4BE7E2C8AB3}"/>
              </a:ext>
            </a:extLst>
          </p:cNvPr>
          <p:cNvSpPr txBox="1"/>
          <p:nvPr/>
        </p:nvSpPr>
        <p:spPr>
          <a:xfrm>
            <a:off x="1349388" y="1065440"/>
            <a:ext cx="7416824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2000" b="1" dirty="0">
                <a:solidFill>
                  <a:schemeClr val="tx1"/>
                </a:solidFill>
              </a:rPr>
              <a:t>Kroki </a:t>
            </a:r>
            <a:r>
              <a:rPr lang="pl-PL" sz="2000" b="1" dirty="0" err="1">
                <a:solidFill>
                  <a:schemeClr val="tx1"/>
                </a:solidFill>
              </a:rPr>
              <a:t>gc</a:t>
            </a:r>
            <a:r>
              <a:rPr lang="pl-PL" sz="2000" b="1" dirty="0">
                <a:solidFill>
                  <a:schemeClr val="tx1"/>
                </a:solidFill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pl-PL" sz="2000" b="1" dirty="0">
                <a:solidFill>
                  <a:schemeClr val="tx1"/>
                </a:solidFill>
              </a:rPr>
              <a:t>Mark — </a:t>
            </a:r>
            <a:r>
              <a:rPr lang="pl-PL" sz="2000" dirty="0">
                <a:solidFill>
                  <a:schemeClr val="tx1"/>
                </a:solidFill>
              </a:rPr>
              <a:t>oznaczanie obiektów żywych — GC przeszukuje graf obiektów, rozpoczynając od GC Root.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pl-PL" sz="20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pl-PL" sz="2000" b="1" dirty="0" err="1">
                <a:solidFill>
                  <a:schemeClr val="tx1"/>
                </a:solidFill>
              </a:rPr>
              <a:t>Sweep</a:t>
            </a:r>
            <a:r>
              <a:rPr lang="pl-PL" sz="2000" b="1" dirty="0">
                <a:solidFill>
                  <a:schemeClr val="tx1"/>
                </a:solidFill>
              </a:rPr>
              <a:t> — </a:t>
            </a:r>
            <a:r>
              <a:rPr lang="pl-PL" sz="2000" dirty="0">
                <a:solidFill>
                  <a:schemeClr val="tx1"/>
                </a:solidFill>
              </a:rPr>
              <a:t>po zakończeniu etapu oznaczania, GC przechodzi przez pamięć i usuwa wszystkie obiekty, które nie zostały oznaczone jako żywe.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pl-PL" sz="20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pl-PL" sz="2000" b="1" dirty="0" err="1">
                <a:solidFill>
                  <a:schemeClr val="tx1"/>
                </a:solidFill>
              </a:rPr>
              <a:t>Compacting</a:t>
            </a:r>
            <a:r>
              <a:rPr lang="pl-PL" sz="2000" b="1" dirty="0">
                <a:solidFill>
                  <a:schemeClr val="tx1"/>
                </a:solidFill>
              </a:rPr>
              <a:t> — </a:t>
            </a:r>
            <a:r>
              <a:rPr lang="pl-PL" sz="2000" dirty="0">
                <a:solidFill>
                  <a:schemeClr val="tx1"/>
                </a:solidFill>
              </a:rPr>
              <a:t>Aby zapobiec fragmentacji pamięci, GC przesuwa żywe obiekty w pamięci, aby wypełnić wolne przestrzenie.</a:t>
            </a:r>
          </a:p>
        </p:txBody>
      </p:sp>
    </p:spTree>
    <p:extLst>
      <p:ext uri="{BB962C8B-B14F-4D97-AF65-F5344CB8AC3E}">
        <p14:creationId xmlns:p14="http://schemas.microsoft.com/office/powerpoint/2010/main" val="407987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Generational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Collectors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615A22A-C8B0-2A97-E7E3-6EF23C880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14" y="1052736"/>
            <a:ext cx="7997448" cy="218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64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Generational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Collectors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848B84D-0B5A-43E0-82C9-0F8218ECD1A2}"/>
              </a:ext>
            </a:extLst>
          </p:cNvPr>
          <p:cNvSpPr txBox="1"/>
          <p:nvPr/>
        </p:nvSpPr>
        <p:spPr>
          <a:xfrm>
            <a:off x="1264160" y="3345219"/>
            <a:ext cx="7416824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b="1" dirty="0">
                <a:solidFill>
                  <a:schemeClr val="tx1"/>
                </a:solidFill>
              </a:rPr>
              <a:t>Zasada działania: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Young </a:t>
            </a:r>
            <a:r>
              <a:rPr lang="pl-PL" sz="2000" b="1" dirty="0" err="1">
                <a:solidFill>
                  <a:schemeClr val="tx1"/>
                </a:solidFill>
              </a:rPr>
              <a:t>Generation</a:t>
            </a:r>
            <a:r>
              <a:rPr lang="pl-PL" sz="2000" b="1" dirty="0">
                <a:solidFill>
                  <a:schemeClr val="tx1"/>
                </a:solidFill>
              </a:rPr>
              <a:t> – </a:t>
            </a:r>
            <a:r>
              <a:rPr lang="pl-PL" sz="2000" dirty="0">
                <a:solidFill>
                  <a:schemeClr val="tx1"/>
                </a:solidFill>
              </a:rPr>
              <a:t>nowe obiekty dopiero utworzone – dzieli się na trzy strefy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Eden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 err="1">
                <a:solidFill>
                  <a:schemeClr val="tx1"/>
                </a:solidFill>
              </a:rPr>
              <a:t>Survivor</a:t>
            </a:r>
            <a:r>
              <a:rPr lang="pl-PL" sz="2000" b="1" dirty="0">
                <a:solidFill>
                  <a:schemeClr val="tx1"/>
                </a:solidFill>
              </a:rPr>
              <a:t> </a:t>
            </a:r>
            <a:r>
              <a:rPr lang="pl-PL" sz="2000" b="1" dirty="0" err="1">
                <a:solidFill>
                  <a:schemeClr val="tx1"/>
                </a:solidFill>
              </a:rPr>
              <a:t>space</a:t>
            </a:r>
            <a:r>
              <a:rPr lang="pl-PL" sz="2000" b="1" dirty="0">
                <a:solidFill>
                  <a:schemeClr val="tx1"/>
                </a:solidFill>
              </a:rPr>
              <a:t> 1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 err="1">
                <a:solidFill>
                  <a:schemeClr val="tx1"/>
                </a:solidFill>
              </a:rPr>
              <a:t>Survivor</a:t>
            </a:r>
            <a:r>
              <a:rPr lang="pl-PL" sz="2000" b="1" dirty="0">
                <a:solidFill>
                  <a:schemeClr val="tx1"/>
                </a:solidFill>
              </a:rPr>
              <a:t> </a:t>
            </a:r>
            <a:r>
              <a:rPr lang="pl-PL" sz="2000" b="1" dirty="0" err="1">
                <a:solidFill>
                  <a:schemeClr val="tx1"/>
                </a:solidFill>
              </a:rPr>
              <a:t>space</a:t>
            </a:r>
            <a:r>
              <a:rPr lang="pl-PL" sz="2000" b="1" dirty="0">
                <a:solidFill>
                  <a:schemeClr val="tx1"/>
                </a:solidFill>
              </a:rPr>
              <a:t> 2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0C735C1-535F-7E3C-FAC6-35B7D379E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14" y="1052736"/>
            <a:ext cx="7997448" cy="218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96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Generational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Collectors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848B84D-0B5A-43E0-82C9-0F8218ECD1A2}"/>
              </a:ext>
            </a:extLst>
          </p:cNvPr>
          <p:cNvSpPr txBox="1"/>
          <p:nvPr/>
        </p:nvSpPr>
        <p:spPr>
          <a:xfrm>
            <a:off x="1264160" y="3345219"/>
            <a:ext cx="7416824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b="1" dirty="0">
                <a:solidFill>
                  <a:schemeClr val="tx1"/>
                </a:solidFill>
              </a:rPr>
              <a:t>Zasada działania: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Wraz z zapełnianiem dostępnej pamięci edenu </a:t>
            </a:r>
            <a:r>
              <a:rPr lang="pl-PL" sz="2000" b="1" dirty="0" err="1">
                <a:solidFill>
                  <a:schemeClr val="tx1"/>
                </a:solidFill>
              </a:rPr>
              <a:t>gc</a:t>
            </a:r>
            <a:r>
              <a:rPr lang="pl-PL" sz="2000" b="1" dirty="0">
                <a:solidFill>
                  <a:schemeClr val="tx1"/>
                </a:solidFill>
              </a:rPr>
              <a:t> rozpoczyna działanie i wykonuje </a:t>
            </a:r>
            <a:r>
              <a:rPr lang="pl-PL" sz="2000" b="1" dirty="0" err="1">
                <a:solidFill>
                  <a:schemeClr val="tx1"/>
                </a:solidFill>
              </a:rPr>
              <a:t>marking</a:t>
            </a:r>
            <a:endParaRPr lang="pl-PL" sz="20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Przenosi żywe obiekty do z edenu do s1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Usuwa nieosiągalne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8AD24DD-267A-5BB7-8544-D3E245851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14" y="1052736"/>
            <a:ext cx="7997448" cy="218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44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Generational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Collectors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848B84D-0B5A-43E0-82C9-0F8218ECD1A2}"/>
              </a:ext>
            </a:extLst>
          </p:cNvPr>
          <p:cNvSpPr txBox="1"/>
          <p:nvPr/>
        </p:nvSpPr>
        <p:spPr>
          <a:xfrm>
            <a:off x="1264160" y="3345219"/>
            <a:ext cx="7416824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b="1" dirty="0">
                <a:solidFill>
                  <a:schemeClr val="tx1"/>
                </a:solidFill>
              </a:rPr>
              <a:t>Zasada działania: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W kolejnej iteracji </a:t>
            </a:r>
            <a:r>
              <a:rPr lang="pl-PL" sz="2000" b="1" dirty="0" err="1">
                <a:solidFill>
                  <a:schemeClr val="tx1"/>
                </a:solidFill>
              </a:rPr>
              <a:t>gc</a:t>
            </a:r>
            <a:r>
              <a:rPr lang="pl-PL" sz="2000" b="1" dirty="0">
                <a:solidFill>
                  <a:schemeClr val="tx1"/>
                </a:solidFill>
              </a:rPr>
              <a:t> wykonuje </a:t>
            </a:r>
            <a:r>
              <a:rPr lang="pl-PL" sz="2000" b="1" dirty="0" err="1">
                <a:solidFill>
                  <a:schemeClr val="tx1"/>
                </a:solidFill>
              </a:rPr>
              <a:t>marking</a:t>
            </a:r>
            <a:r>
              <a:rPr lang="pl-PL" sz="2000" b="1" dirty="0">
                <a:solidFill>
                  <a:schemeClr val="tx1"/>
                </a:solidFill>
              </a:rPr>
              <a:t> s1 i żywe obiekty przenosi do s2, następnie </a:t>
            </a:r>
            <a:r>
              <a:rPr lang="pl-PL" sz="2000" b="1" dirty="0" err="1">
                <a:solidFill>
                  <a:schemeClr val="tx1"/>
                </a:solidFill>
              </a:rPr>
              <a:t>marking</a:t>
            </a:r>
            <a:r>
              <a:rPr lang="pl-PL" sz="2000" b="1" dirty="0">
                <a:solidFill>
                  <a:schemeClr val="tx1"/>
                </a:solidFill>
              </a:rPr>
              <a:t> edenu i żywe obiekty przenosi do s1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W każdej kolejnej iteracji role s1 i s2 są odwracane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315C6F2-5343-653E-E173-AF8C9455E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14" y="1052736"/>
            <a:ext cx="7997448" cy="218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01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Generational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Collectors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848B84D-0B5A-43E0-82C9-0F8218ECD1A2}"/>
              </a:ext>
            </a:extLst>
          </p:cNvPr>
          <p:cNvSpPr txBox="1"/>
          <p:nvPr/>
        </p:nvSpPr>
        <p:spPr>
          <a:xfrm>
            <a:off x="1264160" y="3345219"/>
            <a:ext cx="7416824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b="1" dirty="0">
                <a:solidFill>
                  <a:schemeClr val="tx1"/>
                </a:solidFill>
              </a:rPr>
              <a:t>Zasada działania: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Eden jest czyszczony za każdym razem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Po określonej liczbie iteracji s1 -&gt; s2 -&gt; s1 … obiekty są promowane do </a:t>
            </a:r>
            <a:r>
              <a:rPr lang="pl-PL" sz="2000" b="1" dirty="0" err="1">
                <a:solidFill>
                  <a:schemeClr val="tx1"/>
                </a:solidFill>
              </a:rPr>
              <a:t>old</a:t>
            </a:r>
            <a:r>
              <a:rPr lang="pl-PL" sz="2000" b="1" dirty="0">
                <a:solidFill>
                  <a:schemeClr val="tx1"/>
                </a:solidFill>
              </a:rPr>
              <a:t> </a:t>
            </a:r>
            <a:r>
              <a:rPr lang="pl-PL" sz="2000" b="1" dirty="0" err="1">
                <a:solidFill>
                  <a:schemeClr val="tx1"/>
                </a:solidFill>
              </a:rPr>
              <a:t>generation</a:t>
            </a:r>
            <a:endParaRPr lang="pl-PL" sz="20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Iteracje s1 -&gt; s2 -&gt; s1 … zapobiegają fragmentacji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D956FA0-F26C-FFEB-8816-04A9D68E4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14" y="1052736"/>
            <a:ext cx="7997448" cy="218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92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Generational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Collectors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848B84D-0B5A-43E0-82C9-0F8218ECD1A2}"/>
              </a:ext>
            </a:extLst>
          </p:cNvPr>
          <p:cNvSpPr txBox="1"/>
          <p:nvPr/>
        </p:nvSpPr>
        <p:spPr>
          <a:xfrm>
            <a:off x="1264160" y="3345219"/>
            <a:ext cx="7416824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b="1" dirty="0">
                <a:solidFill>
                  <a:schemeClr val="tx1"/>
                </a:solidFill>
              </a:rPr>
              <a:t>Zasada działania: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Procesy odpowiadające za czyszczenie: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Młoda generacja – Minor GC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chemeClr val="tx1"/>
                </a:solidFill>
              </a:rPr>
              <a:t>Stara generacja – Major GC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7F06871-1D60-01BA-9C32-1D1297060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14" y="1052736"/>
            <a:ext cx="7997448" cy="218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78732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80281</TotalTime>
  <Pages>0</Pages>
  <Words>530</Words>
  <Characters>0</Characters>
  <Application>Microsoft Office PowerPoint</Application>
  <PresentationFormat>Pokaz na ekranie (4:3)</PresentationFormat>
  <Lines>0</Lines>
  <Paragraphs>152</Paragraphs>
  <Slides>24</Slides>
  <Notes>24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1092</cp:revision>
  <dcterms:modified xsi:type="dcterms:W3CDTF">2024-12-21T20:02:48Z</dcterms:modified>
  <cp:category/>
</cp:coreProperties>
</file>