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40"/>
  </p:notesMasterIdLst>
  <p:handoutMasterIdLst>
    <p:handoutMasterId r:id="rId41"/>
  </p:handoutMasterIdLst>
  <p:sldIdLst>
    <p:sldId id="346" r:id="rId2"/>
    <p:sldId id="503" r:id="rId3"/>
    <p:sldId id="504" r:id="rId4"/>
    <p:sldId id="505" r:id="rId5"/>
    <p:sldId id="506" r:id="rId6"/>
    <p:sldId id="507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24" r:id="rId15"/>
    <p:sldId id="523" r:id="rId16"/>
    <p:sldId id="525" r:id="rId17"/>
    <p:sldId id="531" r:id="rId18"/>
    <p:sldId id="526" r:id="rId19"/>
    <p:sldId id="527" r:id="rId20"/>
    <p:sldId id="528" r:id="rId21"/>
    <p:sldId id="529" r:id="rId22"/>
    <p:sldId id="530" r:id="rId23"/>
    <p:sldId id="532" r:id="rId24"/>
    <p:sldId id="533" r:id="rId25"/>
    <p:sldId id="534" r:id="rId26"/>
    <p:sldId id="535" r:id="rId27"/>
    <p:sldId id="536" r:id="rId28"/>
    <p:sldId id="537" r:id="rId29"/>
    <p:sldId id="538" r:id="rId30"/>
    <p:sldId id="539" r:id="rId31"/>
    <p:sldId id="540" r:id="rId32"/>
    <p:sldId id="541" r:id="rId33"/>
    <p:sldId id="542" r:id="rId34"/>
    <p:sldId id="543" r:id="rId35"/>
    <p:sldId id="544" r:id="rId36"/>
    <p:sldId id="545" r:id="rId37"/>
    <p:sldId id="546" r:id="rId38"/>
    <p:sldId id="547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96" d="100"/>
          <a:sy n="96" d="100"/>
        </p:scale>
        <p:origin x="109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B65A-CC49-55C1-284F-D45C9FFC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6011C-B7D7-74B6-6B9F-E48C38A04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5869E-795F-9A93-766D-C411CEB1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03991-FA3F-9FA8-D553-D6C01DAC7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5624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A9100-9508-6B39-06BB-EC561B3B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512FE-87D8-11A5-DB4F-69CC7AA31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4E45D-4D01-137C-70C9-AA81C1B1E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AE4FB-ADCE-F76E-EF92-51ABDF91A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555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9DF6-21CD-2789-6D74-FD4177E5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45D64-879F-2B5B-9588-447946F2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48BCD-B1C8-FFC5-7DCE-2EC7AB225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174E2-58C5-BDF0-F3EF-C7814A3A1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9894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1A9D-750E-2E98-50B6-6C0E803B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3BC44-E3E4-4E9B-E71B-245C88CBE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02F2C-5E01-0BB9-C4C5-CA037D43E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C475B-F207-CFF1-3F5C-1D524ECCF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1456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451E-3A4E-8E05-8B2F-CC42CDE2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35E46-8CD8-EE47-56B7-AF93C62FD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461F7-109E-1521-FAF9-08E79B063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625C0-816C-0EF8-DD9B-5ADD183D9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1981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0C97-183D-42E4-E5EC-F7B8B319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27486-98E3-26EE-77EF-684A13F19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35D00-529F-240A-094B-417C47160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A894-BE3F-CCD0-F0C9-58677874A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211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57CA-BD5C-941E-860A-75529E0D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1850E-F3AC-3A01-C7C7-A902EFCC8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FA7C9-F775-8D49-0C17-21BA37218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6984E-080A-7374-39BE-5979CC8D89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8445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B9C8E-9DD5-5138-94F6-01119C4A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F8F05-4CF0-4FCC-BF65-FC2D10501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C0F64-A22A-FC89-5C2D-DDEB950BB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E78C3-25F4-7F88-C0BD-1300BAD50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5272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C69B0-3652-0B05-F1B5-0E9A4F4A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9F579-D9B8-AF94-C003-620D28FA8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DF1E3-7D2D-8286-F03B-6E0474FBE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702D3-0A9B-1E74-6697-537FFFD3F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7582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F46B-5B90-146F-0278-138A2498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16346-49E0-2CC5-9BD8-AE27CEEC8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D3AF4-E062-0DC3-16C3-43A819FE3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F65C0-E0B0-3203-6565-78F6FD6D3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0685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9E9D-9580-3684-5E97-86F44D98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C8CD6-1957-1D7C-D745-E90AD57BC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4AFE1-7FDB-12C8-67D6-819E82299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DD0E-4EF4-63F7-EC6F-C65F83942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2525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FD4A-0892-666A-93B3-C824AF02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BD1AE-0DF1-C689-ED2A-C3B27EB55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ACBED-DF2C-3DF3-A122-FB8A341B9A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6C35-EB32-C7A4-798E-ACECD6637F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8192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F702-60E0-EF7D-20FA-DA3DE36A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2C37E-E780-288F-62A2-3EB190F18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B16DD-A0BD-C69B-2F49-BC24AEAB2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0CCF6-4A30-C634-6984-5002AF6DC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6718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34B1-9B44-21B4-65F6-75429DF54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51D10-66AB-8895-F538-298413C22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F5986-868F-8D24-9718-4FFD154BF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B7871-CB99-09EB-2402-24FE54F91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02044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62B4-BA1D-F557-0705-CD8DC62A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22941-A8C3-5E1F-E3E1-F2214229C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5E1A3-7770-B2D3-8BE7-4368CF1AF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4B10A-7210-351F-4F38-0242FF470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70368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BAF0-07CD-E82B-9F4C-4A74152BF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35C91-883A-55BF-1CE7-7B4C0BE3D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B42EB-0A91-5028-A368-0076CD9BD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C8B87-3ED4-94E5-07EF-AE594D350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2670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FACC-FF03-8150-64F8-89F3C2E8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8D093-D62A-6C72-A29F-1B64D9A1F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C24B9-3783-52C3-2BF8-2219FA8F2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D754F-61C0-A909-FD8E-6A6622952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6081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EDC0-20C7-0898-7D48-AAA275120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6CFDF-1078-96E7-1A8A-FAE7012DF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352AB-4D7B-FE8B-A730-6230D31A1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4DF5D-DDDA-74FA-4FE3-7389C4CD9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8667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78016-8809-A930-AFEC-100DEFEB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B2A9E-BB08-7341-AF2F-34D3C437A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2E11F-4376-F5D0-2E6D-B4A0E866D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FB758-BE13-EA7C-EBA3-A9B049D3D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37989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11D7-58F5-88DA-EB30-FE8B6B81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2AE36-EA22-3FA1-9567-4359DDDA0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AE3A7-3BBC-022D-BC0C-FA9822EC8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E7EA5-EB62-E155-47A4-5767A9003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1544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104-017A-AA08-5493-62368114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452D1-0863-9CE5-49A2-B75FA2354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24177-7BD6-E3A9-68B1-06A066C3D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F5BFC-23F2-B832-AAC0-4FB9C9B60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6872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AA90-7F7D-BD95-E0A6-C55294F29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E366D-C414-6725-351E-1EE640F88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FD642-5921-999C-B549-4BE58950A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8C909-4493-7BB1-E3DF-88D5EB6A2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55993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B4CD-91A1-CD3B-B9E8-4BB24069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1A50E-F2DC-E706-C473-2626F1C1B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9AFAF-E1D5-F654-7235-8AB9BCE76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AC705-CBFB-EF10-7A1C-641D82DCC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4433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FE44E-5A50-5390-56E2-F8AF127F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3B3B1-FC05-2BB3-6E14-520ECB914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FF35E-D6AF-4B1E-4DCC-CF7F98C8B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5B97B-B333-528F-E2C5-45F5D9D61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07253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F01D-9F0D-AFBC-9596-0F90B631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B0020-904C-3A0C-F5D8-D7ECA05F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62E2E-D264-E2C8-C06E-343C0C26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63F6D-35C4-1449-F933-942F30B94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17113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BD732-F8FB-E419-782F-8C9CDC13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2E233-04BF-03D6-51AD-559384243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847CF-09AA-F483-B150-4BF1870F5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22F91-4DA5-8117-3075-39F3DD692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5251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ED43-4B7B-74E3-D55D-EEB839FD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AE070-629F-9DEB-430F-D68FB790E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23CB7-2E9E-A289-77EE-1A550CA73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AC51-D293-9F0F-E376-6FD343652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0254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9F88-37A3-3E5E-C586-17132B7A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51E42-01B7-90F5-4A77-AD259D053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5AF24-830F-DE16-604E-41EB93F9C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820D6-0521-5B2C-210F-287BCE872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67094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5D1B3-1CA2-5992-A1B4-6E81DEB7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60DE3-1AC8-C045-ABEA-70025C8F5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B41DC-A5E9-2F14-D535-2C5E973FB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877F3-B71F-12A6-717A-91BD39C78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0490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AB2E7-8E44-4046-2DB9-0A01B90E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6C556-23F1-E6BC-779E-C47256E5E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4545D-795A-F9C2-86B4-872B6AB3F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1AADC-65C4-983F-364D-BF98AC665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83218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5B892-767C-4240-8D8D-BDB1AC55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8EE0D-3D6E-516D-A237-F6C586070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418EE-85F2-728D-2E2D-DA87FE8C6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DF93E-4121-DF05-03DC-5DFC0DB89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82614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DC04-E4B7-ED18-D803-87817C35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AC6AF-ABC6-6E93-0553-20C5D6A7F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CF357-153F-87EF-21FF-DAA398402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F1A44-2ACA-66DC-4030-B42D396FA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71469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031F-E686-ACAD-D267-5CF56EBC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A5D32-6479-C709-E199-C682187EB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2D03D-F588-46AA-2511-D40945401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28309-B9C1-29D5-E2B5-805F401E9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80190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DFE8B-399B-B1CF-97FF-40C94BC0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62A39-1D01-2FFC-9DA0-817283785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ABF64-F746-984B-8BE9-275D182F0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CE084-5727-C584-EBB0-AB9203F18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29328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87C7-5B06-9EAD-1C1C-0301AA0DB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D1579-8EB7-C348-0154-D188C14F3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E9E2E-3B0C-7341-7F1E-4C6B783A4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858B-AC3D-CFAD-6002-99A913C7E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43715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DB67-B5F5-4A7B-4569-2D2418DC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C7FE6-B8EB-B9B7-65DD-424355E43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47827-B895-67EB-6450-792597067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7E26A-D747-DC1F-1668-7541A736F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474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8.02.2026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4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Kolekcje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Kolekcje</a:t>
            </a:r>
          </a:p>
        </p:txBody>
      </p:sp>
      <p:pic>
        <p:nvPicPr>
          <p:cNvPr id="1026" name="Picture 2" descr="Collection interfaces hierarchy">
            <a:extLst>
              <a:ext uri="{FF2B5EF4-FFF2-40B4-BE49-F238E27FC236}">
                <a16:creationId xmlns:a16="http://schemas.microsoft.com/office/drawing/2014/main" id="{2AE27A1D-7F94-4CF1-4065-184576844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838400"/>
            <a:ext cx="7865889" cy="601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AAC1A-1598-81FD-FD94-0E24F93C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60440E-8D7E-CE35-E4C0-C4DCBB849AC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List&lt;T&gt;,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MutableList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&lt;T&gt;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386B8D9-58FC-D2F3-4A59-196DD689D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836712"/>
            <a:ext cx="7449232" cy="36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4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15FA8-B6EC-A86B-1D75-76A86C71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B173E-D8FB-8C15-9EB9-BA21B50626F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List&lt;T&gt;,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MutableList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&lt;T&gt;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906E5D8-7D5F-4609-A493-C2BCE7296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836712"/>
            <a:ext cx="7449232" cy="3670150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AB26C494-B72B-E3B3-3A52-EAE71F81FC04}"/>
              </a:ext>
            </a:extLst>
          </p:cNvPr>
          <p:cNvSpPr txBox="1"/>
          <p:nvPr/>
        </p:nvSpPr>
        <p:spPr>
          <a:xfrm>
            <a:off x="1295128" y="4506862"/>
            <a:ext cx="7848872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Elementy przechowywane </a:t>
            </a:r>
            <a:r>
              <a:rPr lang="pl-PL" sz="1600" b="1" dirty="0"/>
              <a:t>w określonej kolejności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Dostęp za pomocą </a:t>
            </a:r>
            <a:r>
              <a:rPr lang="pl-PL" sz="1600" b="1" dirty="0"/>
              <a:t>indeksów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Elementy </a:t>
            </a:r>
            <a:r>
              <a:rPr lang="pl-PL" sz="1600" b="1" dirty="0"/>
              <a:t>mogą się powtarzać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Dwie listy są równe, jeśli mają tę samą wielkość i takie same elementy na tych samych pozycjach</a:t>
            </a:r>
          </a:p>
        </p:txBody>
      </p:sp>
    </p:spTree>
    <p:extLst>
      <p:ext uri="{BB962C8B-B14F-4D97-AF65-F5344CB8AC3E}">
        <p14:creationId xmlns:p14="http://schemas.microsoft.com/office/powerpoint/2010/main" val="23830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98AD4-29E2-DA32-7947-846FDA9C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40113E-F623-F865-D4C9-96EA1488484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List&lt;T&gt;,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MutableList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&lt;T&gt;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37F2F43-255D-9998-2CE8-45BE60BC1E1C}"/>
              </a:ext>
            </a:extLst>
          </p:cNvPr>
          <p:cNvSpPr txBox="1"/>
          <p:nvPr/>
        </p:nvSpPr>
        <p:spPr>
          <a:xfrm>
            <a:off x="1043608" y="980728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b="1" dirty="0" err="1"/>
              <a:t>MutableList</a:t>
            </a:r>
            <a:r>
              <a:rPr lang="pl-PL" sz="1800" b="1" dirty="0"/>
              <a:t>&lt;T&gt; </a:t>
            </a:r>
            <a:r>
              <a:rPr lang="pl-PL" sz="1800" dirty="0"/>
              <a:t>rozszerza funkcjonalność </a:t>
            </a:r>
            <a:r>
              <a:rPr lang="pl-PL" sz="1800" b="1" dirty="0"/>
              <a:t>List&lt;T&gt;</a:t>
            </a:r>
            <a:r>
              <a:rPr lang="pl-PL" sz="1800" dirty="0"/>
              <a:t> o operacje zapisu, takie jak dodawanie, usuwanie i modyfikowanie elementów.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D3BBE12-C60E-0A42-4D6C-545BAFD53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680812"/>
            <a:ext cx="8082680" cy="3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6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9A877-9A96-3072-4E0A-77191234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2A29D3-1958-F052-95E8-E5F1F9180FA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Set&lt;T&gt;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MutableSet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&lt;T&gt;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0A307AC-C48D-BFCD-0314-C6C362D3B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836712"/>
            <a:ext cx="7740352" cy="390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0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11DD4-587A-1234-56F1-DD4D3D9F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06CE85-F9D1-A514-2C80-96878E180BE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Set&lt;T&gt;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MutableSet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&lt;T&gt;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DFE3268-8545-81E4-3AB2-804FBEE30AEA}"/>
              </a:ext>
            </a:extLst>
          </p:cNvPr>
          <p:cNvSpPr txBox="1"/>
          <p:nvPr/>
        </p:nvSpPr>
        <p:spPr>
          <a:xfrm>
            <a:off x="1267428" y="4746924"/>
            <a:ext cx="7848872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Kolejność elementów w zbiorach domyślnie </a:t>
            </a:r>
            <a:r>
              <a:rPr lang="pl-PL" sz="1600" b="1" dirty="0"/>
              <a:t>nie jest zdefiniowana.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 Kotlinie elementy przechowywane w określonej kolejności – </a:t>
            </a:r>
            <a:r>
              <a:rPr lang="pl-PL" sz="1600" b="1" dirty="0" err="1"/>
              <a:t>LinkedHashSet</a:t>
            </a:r>
            <a:r>
              <a:rPr lang="pl-PL" sz="1600" b="1" dirty="0"/>
              <a:t>&lt;T&gt;</a:t>
            </a:r>
            <a:endParaRPr lang="pl-PL" sz="16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Przechowuje </a:t>
            </a:r>
            <a:r>
              <a:rPr lang="pl-PL" sz="1600" b="1" dirty="0"/>
              <a:t>unikalne elementy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Dwa zbiory są równe, jeśli mają taką samą liczbę elementów i każdy element jednego zbioru jest równy jednemu elementowi w drugim zbiorze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34DCAA9-73B8-C0AE-94C8-1A7D5BB25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1" y="815006"/>
            <a:ext cx="4596128" cy="2613994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BABE1883-C3B6-E429-E1CF-97DC5F56E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068" y="2168499"/>
            <a:ext cx="5124911" cy="271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60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AED9D-500C-EEE3-ADF2-B9CAC3DC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DBD1C-03BD-C088-F799-99E1D373C4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Set&lt;T&gt;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MutableSet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&lt;T&gt;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F7836E1-DC4D-C099-ACD7-E218746DE6D7}"/>
              </a:ext>
            </a:extLst>
          </p:cNvPr>
          <p:cNvSpPr txBox="1"/>
          <p:nvPr/>
        </p:nvSpPr>
        <p:spPr>
          <a:xfrm>
            <a:off x="1043608" y="980728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b="1" dirty="0" err="1"/>
              <a:t>MutableSet</a:t>
            </a:r>
            <a:r>
              <a:rPr lang="pl-PL" sz="1800" b="1" dirty="0"/>
              <a:t>&lt;T&gt; </a:t>
            </a:r>
            <a:r>
              <a:rPr lang="pl-PL" sz="1800" dirty="0"/>
              <a:t>rozszerza funkcjonalność </a:t>
            </a:r>
            <a:r>
              <a:rPr lang="pl-PL" sz="1800" b="1" dirty="0"/>
              <a:t>Set&lt;T&gt; </a:t>
            </a:r>
            <a:r>
              <a:rPr lang="pl-PL" sz="1800" dirty="0"/>
              <a:t>o operacje zapisu, takie jak dodawanie czy usuwanie elementów.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921FFE6-A0B6-2CE0-E7DC-03A89C62D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1971675"/>
            <a:ext cx="60579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5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59D95-C8D4-CF70-9E77-05ED2E7B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3558DF-8389-4AF2-0C42-57D153289FF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n-NO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Map&lt;K, V&gt; i MutableMap&lt;K, V&gt;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9DD9E39-165B-DE94-0528-BE8A0C760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09" y="908720"/>
            <a:ext cx="8094991" cy="314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9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DF002-E5BF-ECD5-0919-865DE4ED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3E082-9A06-8CF3-E2E3-2EA3F54E6E6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n-NO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Map&lt;K, V&gt; i MutableMap&lt;K, V&gt;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2D1256E-F3DC-39A4-EE81-49421A3A6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09" y="908720"/>
            <a:ext cx="8094991" cy="3143686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5316D198-0066-070E-9D4F-8779EE0D8AB1}"/>
              </a:ext>
            </a:extLst>
          </p:cNvPr>
          <p:cNvSpPr txBox="1"/>
          <p:nvPr/>
        </p:nvSpPr>
        <p:spPr>
          <a:xfrm>
            <a:off x="1063353" y="4051546"/>
            <a:ext cx="7848872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Kolejność elementów w mapach domyślnie </a:t>
            </a:r>
            <a:r>
              <a:rPr lang="pl-PL" sz="1600" b="1" dirty="0"/>
              <a:t>nie jest zdefiniowana.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 Kotlinie elementy przechowywane w określonej kolejności – </a:t>
            </a:r>
            <a:r>
              <a:rPr lang="pl-PL" sz="1600" b="1" dirty="0" err="1"/>
              <a:t>LinkedHashMap</a:t>
            </a:r>
            <a:r>
              <a:rPr lang="pl-PL" sz="1600" b="1" dirty="0"/>
              <a:t>&lt;K, V&gt;</a:t>
            </a:r>
            <a:endParaRPr lang="pl-PL" sz="16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Przechowuje </a:t>
            </a:r>
            <a:r>
              <a:rPr lang="pl-PL" sz="1600" b="1" dirty="0"/>
              <a:t>pary </a:t>
            </a:r>
            <a:r>
              <a:rPr lang="pl-PL" sz="1600" b="1" i="1" dirty="0"/>
              <a:t>klucz-wartość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Dwie mapy są równe, jeśli zawierają te same pary klucz-wartość, niezależnie od kolejności tych par.</a:t>
            </a:r>
          </a:p>
        </p:txBody>
      </p:sp>
    </p:spTree>
    <p:extLst>
      <p:ext uri="{BB962C8B-B14F-4D97-AF65-F5344CB8AC3E}">
        <p14:creationId xmlns:p14="http://schemas.microsoft.com/office/powerpoint/2010/main" val="74338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8D07D-C51A-3A17-F005-0AD5C224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56C992-C436-D7E0-6768-3CA1A81D93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n-NO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Map&lt;K, V&gt; i MutableMap&lt;K, V&gt;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779D250-1021-593D-C5FE-732006F01203}"/>
              </a:ext>
            </a:extLst>
          </p:cNvPr>
          <p:cNvSpPr txBox="1"/>
          <p:nvPr/>
        </p:nvSpPr>
        <p:spPr>
          <a:xfrm>
            <a:off x="1063353" y="4051546"/>
            <a:ext cx="7848872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Kolejność elementów w mapach domyślnie </a:t>
            </a:r>
            <a:r>
              <a:rPr lang="pl-PL" sz="1600" b="1" dirty="0"/>
              <a:t>nie jest zdefiniowana.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 Kotlinie elementy przechowywane w określonej kolejności – </a:t>
            </a:r>
            <a:r>
              <a:rPr lang="pl-PL" sz="1600" b="1" dirty="0" err="1"/>
              <a:t>LinkedHashMap</a:t>
            </a:r>
            <a:r>
              <a:rPr lang="pl-PL" sz="1600" b="1" dirty="0"/>
              <a:t>&lt;K, V&gt;</a:t>
            </a:r>
            <a:endParaRPr lang="pl-PL" sz="16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Przechowuje </a:t>
            </a:r>
            <a:r>
              <a:rPr lang="pl-PL" sz="1600" b="1" dirty="0"/>
              <a:t>pary </a:t>
            </a:r>
            <a:r>
              <a:rPr lang="pl-PL" sz="1600" b="1" i="1" dirty="0"/>
              <a:t>klucz-wartość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Dwie mapy są równe, jeśli zawierają te same pary klucz-wartość, niezależnie od kolejności tych par.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EA9F9C0-2644-51F2-ED1E-A82C5F482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985868"/>
            <a:ext cx="624840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A14D74-B9C0-2683-0779-A683A35A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8CB8A2-6240-55EB-09A7-FACCE56C3F4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n-NO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Map&lt;K, V&gt; i MutableMap&lt;K, V&gt;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436D864-5B56-884A-4CA1-89A7FBE231B1}"/>
              </a:ext>
            </a:extLst>
          </p:cNvPr>
          <p:cNvSpPr txBox="1"/>
          <p:nvPr/>
        </p:nvSpPr>
        <p:spPr>
          <a:xfrm>
            <a:off x="1043608" y="980728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800" b="1" dirty="0" err="1"/>
              <a:t>MutableMap</a:t>
            </a:r>
            <a:r>
              <a:rPr lang="pl-PL" sz="1800" b="1" dirty="0"/>
              <a:t>&lt;K,V&gt; </a:t>
            </a:r>
            <a:r>
              <a:rPr lang="pl-PL" sz="1800" dirty="0"/>
              <a:t>rozszerza funkcjonalność </a:t>
            </a:r>
            <a:r>
              <a:rPr lang="pl-PL" sz="1800" b="1" dirty="0"/>
              <a:t>Map&lt;K,V&gt; </a:t>
            </a:r>
            <a:r>
              <a:rPr lang="pl-PL" sz="1800" dirty="0"/>
              <a:t>o operacje zapisu, takie jak dodawanie czy usuwanie elementów.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968F723-5AE2-2A9B-6098-2519342FA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112" y="2348879"/>
            <a:ext cx="7864888" cy="25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3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CD717-5375-4B99-5E4B-C659DDB9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DA449C-5628-173B-8461-DC11C58E532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n-NO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Map&lt;K, V&gt; i MutableMap&lt;K, V&gt;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35AE91D-3ED7-2134-1AB3-8F68EB240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052736"/>
            <a:ext cx="3781425" cy="186690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9DAF6A36-108C-8412-7EEF-7A4272A60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2893892"/>
            <a:ext cx="4000500" cy="1752600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86DBDE43-10C4-173C-6000-EC0150A47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24" y="5013176"/>
            <a:ext cx="61531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03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26F28-83FD-BE2A-15B3-33938013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A42437-6B30-6307-DBA2-2981BCE82EB1}"/>
              </a:ext>
            </a:extLst>
          </p:cNvPr>
          <p:cNvSpPr txBox="1"/>
          <p:nvPr/>
        </p:nvSpPr>
        <p:spPr>
          <a:xfrm>
            <a:off x="2843808" y="3573016"/>
            <a:ext cx="6696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800" b="1" dirty="0">
                <a:solidFill>
                  <a:schemeClr val="bg1"/>
                </a:solidFill>
              </a:rPr>
              <a:t>Wybrane operacje na kolekcjach</a:t>
            </a:r>
          </a:p>
        </p:txBody>
      </p:sp>
    </p:spTree>
    <p:extLst>
      <p:ext uri="{BB962C8B-B14F-4D97-AF65-F5344CB8AC3E}">
        <p14:creationId xmlns:p14="http://schemas.microsoft.com/office/powerpoint/2010/main" val="409707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F33E4-B1D3-F7CD-37BB-5E0764F1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005F07-FADF-2005-5970-ACD7A406C91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88E27D4-A2F9-E3CF-C32F-8C4748E60107}"/>
              </a:ext>
            </a:extLst>
          </p:cNvPr>
          <p:cNvSpPr txBox="1"/>
          <p:nvPr/>
        </p:nvSpPr>
        <p:spPr>
          <a:xfrm>
            <a:off x="1043608" y="836712"/>
            <a:ext cx="8028384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Mapowanie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Transformacje mapujące to narzędzie, które pozwala na przekształcenie kolekcji na podstawie wyników funkcji zastosowanej do jej elementów.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5B090E1-C52A-1DB4-E3AC-9B1107ADD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2076450"/>
            <a:ext cx="5476875" cy="2705100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04C0907-AD9A-303B-AD46-E8BDAE5B82DF}"/>
              </a:ext>
            </a:extLst>
          </p:cNvPr>
          <p:cNvSpPr/>
          <p:nvPr/>
        </p:nvSpPr>
        <p:spPr>
          <a:xfrm>
            <a:off x="1115616" y="5157192"/>
            <a:ext cx="316835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4FE54EDA-C3AF-B072-70C3-5195CD00540B}"/>
              </a:ext>
            </a:extLst>
          </p:cNvPr>
          <p:cNvSpPr/>
          <p:nvPr/>
        </p:nvSpPr>
        <p:spPr>
          <a:xfrm>
            <a:off x="5903640" y="5157192"/>
            <a:ext cx="316835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33088492-0CF0-E3FB-B22A-A199CE0FCBEA}"/>
              </a:ext>
            </a:extLst>
          </p:cNvPr>
          <p:cNvSpPr/>
          <p:nvPr/>
        </p:nvSpPr>
        <p:spPr>
          <a:xfrm>
            <a:off x="1272584" y="5518136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1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7032B01A-8ABB-E409-C6A4-3A7C5BB15D21}"/>
              </a:ext>
            </a:extLst>
          </p:cNvPr>
          <p:cNvSpPr/>
          <p:nvPr/>
        </p:nvSpPr>
        <p:spPr>
          <a:xfrm>
            <a:off x="1992664" y="5518136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2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6" name="Owal 15">
            <a:extLst>
              <a:ext uri="{FF2B5EF4-FFF2-40B4-BE49-F238E27FC236}">
                <a16:creationId xmlns:a16="http://schemas.microsoft.com/office/drawing/2014/main" id="{67FFCB70-532E-D892-C018-91E9EDE28844}"/>
              </a:ext>
            </a:extLst>
          </p:cNvPr>
          <p:cNvSpPr/>
          <p:nvPr/>
        </p:nvSpPr>
        <p:spPr>
          <a:xfrm>
            <a:off x="2714283" y="551723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3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7" name="Owal 16">
            <a:extLst>
              <a:ext uri="{FF2B5EF4-FFF2-40B4-BE49-F238E27FC236}">
                <a16:creationId xmlns:a16="http://schemas.microsoft.com/office/drawing/2014/main" id="{A79DD484-2DF9-C931-4D21-CEC16F17144B}"/>
              </a:ext>
            </a:extLst>
          </p:cNvPr>
          <p:cNvSpPr/>
          <p:nvPr/>
        </p:nvSpPr>
        <p:spPr>
          <a:xfrm>
            <a:off x="3434363" y="551723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4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C3B48520-09A5-154A-287C-A41CA34DA990}"/>
              </a:ext>
            </a:extLst>
          </p:cNvPr>
          <p:cNvSpPr/>
          <p:nvPr/>
        </p:nvSpPr>
        <p:spPr>
          <a:xfrm>
            <a:off x="4552026" y="5229200"/>
            <a:ext cx="1274708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map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9" name="Owal 18">
            <a:extLst>
              <a:ext uri="{FF2B5EF4-FFF2-40B4-BE49-F238E27FC236}">
                <a16:creationId xmlns:a16="http://schemas.microsoft.com/office/drawing/2014/main" id="{64D8C850-7DCB-92D8-5FEB-A165A9BB7178}"/>
              </a:ext>
            </a:extLst>
          </p:cNvPr>
          <p:cNvSpPr/>
          <p:nvPr/>
        </p:nvSpPr>
        <p:spPr>
          <a:xfrm>
            <a:off x="6094792" y="551723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2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0" name="Owal 19">
            <a:extLst>
              <a:ext uri="{FF2B5EF4-FFF2-40B4-BE49-F238E27FC236}">
                <a16:creationId xmlns:a16="http://schemas.microsoft.com/office/drawing/2014/main" id="{6F1C6CAB-C404-0706-9341-81236E49C0D0}"/>
              </a:ext>
            </a:extLst>
          </p:cNvPr>
          <p:cNvSpPr/>
          <p:nvPr/>
        </p:nvSpPr>
        <p:spPr>
          <a:xfrm>
            <a:off x="6814872" y="551723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4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1" name="Owal 20">
            <a:extLst>
              <a:ext uri="{FF2B5EF4-FFF2-40B4-BE49-F238E27FC236}">
                <a16:creationId xmlns:a16="http://schemas.microsoft.com/office/drawing/2014/main" id="{4F6DBDD9-283F-C2D4-D1B9-1FA3C9A2C837}"/>
              </a:ext>
            </a:extLst>
          </p:cNvPr>
          <p:cNvSpPr/>
          <p:nvPr/>
        </p:nvSpPr>
        <p:spPr>
          <a:xfrm>
            <a:off x="7536491" y="551632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6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2" name="Owal 21">
            <a:extLst>
              <a:ext uri="{FF2B5EF4-FFF2-40B4-BE49-F238E27FC236}">
                <a16:creationId xmlns:a16="http://schemas.microsoft.com/office/drawing/2014/main" id="{6795D9FF-CF20-A915-34B3-C82658F105A1}"/>
              </a:ext>
            </a:extLst>
          </p:cNvPr>
          <p:cNvSpPr/>
          <p:nvPr/>
        </p:nvSpPr>
        <p:spPr>
          <a:xfrm>
            <a:off x="8256571" y="551632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8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93BD6519-35A3-7C01-BD87-B0BC33EE47D2}"/>
              </a:ext>
            </a:extLst>
          </p:cNvPr>
          <p:cNvSpPr txBox="1"/>
          <p:nvPr/>
        </p:nvSpPr>
        <p:spPr>
          <a:xfrm>
            <a:off x="1998718" y="5116218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F477D68F-78B4-3B4F-31DD-9A1C15C40010}"/>
              </a:ext>
            </a:extLst>
          </p:cNvPr>
          <p:cNvSpPr txBox="1"/>
          <p:nvPr/>
        </p:nvSpPr>
        <p:spPr>
          <a:xfrm>
            <a:off x="6900804" y="5116218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doubled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omb 24">
            <a:extLst>
              <a:ext uri="{FF2B5EF4-FFF2-40B4-BE49-F238E27FC236}">
                <a16:creationId xmlns:a16="http://schemas.microsoft.com/office/drawing/2014/main" id="{86510847-04D2-F1B7-22D4-527AA9976B14}"/>
              </a:ext>
            </a:extLst>
          </p:cNvPr>
          <p:cNvSpPr/>
          <p:nvPr/>
        </p:nvSpPr>
        <p:spPr>
          <a:xfrm>
            <a:off x="4382721" y="6020384"/>
            <a:ext cx="1468464" cy="693600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DA9651A1-CD17-FF0F-2675-A99944D3E677}"/>
                  </a:ext>
                </a:extLst>
              </p:cNvPr>
              <p:cNvSpPr txBox="1"/>
              <p:nvPr/>
            </p:nvSpPr>
            <p:spPr>
              <a:xfrm>
                <a:off x="4832449" y="6228684"/>
                <a:ext cx="5802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800" b="1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l-PL" sz="18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pl-PL" sz="1800" b="1" dirty="0"/>
              </a:p>
            </p:txBody>
          </p:sp>
        </mc:Choice>
        <mc:Fallback xmlns="">
          <p:sp>
            <p:nvSpPr>
              <p:cNvPr id="26" name="pole tekstowe 25">
                <a:extLst>
                  <a:ext uri="{FF2B5EF4-FFF2-40B4-BE49-F238E27FC236}">
                    <a16:creationId xmlns:a16="http://schemas.microsoft.com/office/drawing/2014/main" id="{DA9651A1-CD17-FF0F-2675-A99944D3E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449" y="6228684"/>
                <a:ext cx="580287" cy="276999"/>
              </a:xfrm>
              <a:prstGeom prst="rect">
                <a:avLst/>
              </a:prstGeom>
              <a:blipFill>
                <a:blip r:embed="rId5"/>
                <a:stretch>
                  <a:fillRect l="-8421" r="-8421" b="-888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316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AC2FE-C966-0DC5-AF55-99A85EAC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1DEFD7-F587-C7D1-99FA-B2589155E62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D67E11F-3147-5C6D-4A06-E15E0240CE5A}"/>
              </a:ext>
            </a:extLst>
          </p:cNvPr>
          <p:cNvSpPr txBox="1"/>
          <p:nvPr/>
        </p:nvSpPr>
        <p:spPr>
          <a:xfrm>
            <a:off x="1043608" y="836712"/>
            <a:ext cx="8028384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Mapowanie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W przypadku pracy z mapami (</a:t>
            </a:r>
            <a:r>
              <a:rPr lang="pl-PL" sz="1600" b="1" dirty="0"/>
              <a:t>Map&lt;K, V&gt;</a:t>
            </a:r>
            <a:r>
              <a:rPr lang="pl-PL" sz="1600" dirty="0"/>
              <a:t>) Kotlin umożliwia transformację kluczy lub wartości bez konieczności zmieniania całej mapy.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46E120C-2962-3C0D-7452-3A7C35B35FF8}"/>
              </a:ext>
            </a:extLst>
          </p:cNvPr>
          <p:cNvSpPr/>
          <p:nvPr/>
        </p:nvSpPr>
        <p:spPr>
          <a:xfrm>
            <a:off x="1049780" y="5157192"/>
            <a:ext cx="3192156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DD743440-23CB-604B-AAC2-6CE7433A1E9B}"/>
              </a:ext>
            </a:extLst>
          </p:cNvPr>
          <p:cNvSpPr/>
          <p:nvPr/>
        </p:nvSpPr>
        <p:spPr>
          <a:xfrm>
            <a:off x="5691775" y="5157192"/>
            <a:ext cx="3380217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83EC7332-99D8-ACCC-B10B-441D32822D98}"/>
              </a:ext>
            </a:extLst>
          </p:cNvPr>
          <p:cNvSpPr/>
          <p:nvPr/>
        </p:nvSpPr>
        <p:spPr>
          <a:xfrm>
            <a:off x="4303390" y="5247276"/>
            <a:ext cx="1351614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mapKeys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DA2ED50B-E74F-A2D8-212E-BDC84D9130B7}"/>
              </a:ext>
            </a:extLst>
          </p:cNvPr>
          <p:cNvSpPr txBox="1"/>
          <p:nvPr/>
        </p:nvSpPr>
        <p:spPr>
          <a:xfrm>
            <a:off x="1932882" y="5116218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originalMap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16E2E01-AC16-291B-CC98-2748DF3125F0}"/>
              </a:ext>
            </a:extLst>
          </p:cNvPr>
          <p:cNvSpPr txBox="1"/>
          <p:nvPr/>
        </p:nvSpPr>
        <p:spPr>
          <a:xfrm>
            <a:off x="6418828" y="5116218"/>
            <a:ext cx="2294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transformedKeys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omb 24">
            <a:extLst>
              <a:ext uri="{FF2B5EF4-FFF2-40B4-BE49-F238E27FC236}">
                <a16:creationId xmlns:a16="http://schemas.microsoft.com/office/drawing/2014/main" id="{5927A76B-BBE4-ABED-7360-00CA9A47DEFB}"/>
              </a:ext>
            </a:extLst>
          </p:cNvPr>
          <p:cNvSpPr/>
          <p:nvPr/>
        </p:nvSpPr>
        <p:spPr>
          <a:xfrm>
            <a:off x="3869875" y="6118514"/>
            <a:ext cx="2161076" cy="693600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C7A3F49-B061-26B7-0F37-A2F2B2735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054683"/>
            <a:ext cx="8092816" cy="2564061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441647D-913B-0774-172C-C7826D13F865}"/>
              </a:ext>
            </a:extLst>
          </p:cNvPr>
          <p:cNvSpPr/>
          <p:nvPr/>
        </p:nvSpPr>
        <p:spPr>
          <a:xfrm>
            <a:off x="1103217" y="5642868"/>
            <a:ext cx="967767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one= 1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DA3CC01-7ACA-56B0-46C9-F99A0C48001F}"/>
              </a:ext>
            </a:extLst>
          </p:cNvPr>
          <p:cNvSpPr/>
          <p:nvPr/>
        </p:nvSpPr>
        <p:spPr>
          <a:xfrm>
            <a:off x="2091849" y="5642868"/>
            <a:ext cx="954675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r>
              <a:rPr lang="pl-PL" sz="2000" b="1" dirty="0">
                <a:solidFill>
                  <a:schemeClr val="tx1"/>
                </a:solidFill>
              </a:rPr>
              <a:t>= 2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A13ACB59-6FFD-F1BD-EDF1-FAEDAC168975}"/>
              </a:ext>
            </a:extLst>
          </p:cNvPr>
          <p:cNvSpPr/>
          <p:nvPr/>
        </p:nvSpPr>
        <p:spPr>
          <a:xfrm>
            <a:off x="3067389" y="5627074"/>
            <a:ext cx="112656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r>
              <a:rPr lang="pl-PL" sz="2000" b="1" dirty="0">
                <a:solidFill>
                  <a:schemeClr val="tx1"/>
                </a:solidFill>
              </a:rPr>
              <a:t>= 3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866E601A-D136-85CF-D8C5-BCFF85D7F02C}"/>
              </a:ext>
            </a:extLst>
          </p:cNvPr>
          <p:cNvSpPr/>
          <p:nvPr/>
        </p:nvSpPr>
        <p:spPr>
          <a:xfrm>
            <a:off x="5712504" y="5632337"/>
            <a:ext cx="1019282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ONE= 1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F4EAF7AE-F4F1-2472-E933-A1C24E436196}"/>
              </a:ext>
            </a:extLst>
          </p:cNvPr>
          <p:cNvSpPr/>
          <p:nvPr/>
        </p:nvSpPr>
        <p:spPr>
          <a:xfrm>
            <a:off x="7906351" y="5632337"/>
            <a:ext cx="1101023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THREE= 3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58AFE4BA-E344-40A9-7266-226BDC2C3F48}"/>
              </a:ext>
            </a:extLst>
          </p:cNvPr>
          <p:cNvSpPr/>
          <p:nvPr/>
        </p:nvSpPr>
        <p:spPr>
          <a:xfrm>
            <a:off x="6768557" y="5632337"/>
            <a:ext cx="1101023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TWO= 2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DDBE7361-5945-98F4-EB29-63098AF622C6}"/>
              </a:ext>
            </a:extLst>
          </p:cNvPr>
          <p:cNvSpPr txBox="1"/>
          <p:nvPr/>
        </p:nvSpPr>
        <p:spPr>
          <a:xfrm>
            <a:off x="4131112" y="6296037"/>
            <a:ext cx="1696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 err="1">
                <a:latin typeface="+mj-lt"/>
              </a:rPr>
              <a:t>it.</a:t>
            </a:r>
            <a:r>
              <a:rPr lang="pl-PL" sz="1600" dirty="0" err="1">
                <a:latin typeface="+mj-lt"/>
              </a:rPr>
              <a:t>key</a:t>
            </a:r>
            <a:r>
              <a:rPr lang="pl-PL" sz="1600" b="1" dirty="0" err="1">
                <a:latin typeface="+mj-lt"/>
              </a:rPr>
              <a:t>.</a:t>
            </a:r>
            <a:r>
              <a:rPr lang="pl-PL" sz="1600" dirty="0" err="1">
                <a:latin typeface="+mj-lt"/>
              </a:rPr>
              <a:t>uppercase</a:t>
            </a:r>
            <a:r>
              <a:rPr lang="pl-PL" sz="1600" dirty="0">
                <a:latin typeface="+mj-lt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87074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CD9CF-11CB-504B-83E1-4D11198F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8ED10A-2586-9F97-3FE5-1A4D6A0FC4D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3A35301-1D5C-5F1F-A655-AD68BBC01648}"/>
              </a:ext>
            </a:extLst>
          </p:cNvPr>
          <p:cNvSpPr txBox="1"/>
          <p:nvPr/>
        </p:nvSpPr>
        <p:spPr>
          <a:xfrm>
            <a:off x="1043608" y="836712"/>
            <a:ext cx="8028384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Mapowanie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W przypadku pracy z mapami (</a:t>
            </a:r>
            <a:r>
              <a:rPr lang="pl-PL" sz="1600" b="1" dirty="0"/>
              <a:t>Map&lt;K, V&gt;</a:t>
            </a:r>
            <a:r>
              <a:rPr lang="pl-PL" sz="1600" dirty="0"/>
              <a:t>) Kotlin umożliwia transformację kluczy lub wartości bez konieczności zmieniania całej mapy.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438D40F5-EE02-7482-6E06-801044C34538}"/>
              </a:ext>
            </a:extLst>
          </p:cNvPr>
          <p:cNvSpPr/>
          <p:nvPr/>
        </p:nvSpPr>
        <p:spPr>
          <a:xfrm>
            <a:off x="1049780" y="5157192"/>
            <a:ext cx="3192156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69114B6-EF74-C0A0-E0DA-9C29A7966203}"/>
              </a:ext>
            </a:extLst>
          </p:cNvPr>
          <p:cNvSpPr/>
          <p:nvPr/>
        </p:nvSpPr>
        <p:spPr>
          <a:xfrm>
            <a:off x="5691775" y="5157192"/>
            <a:ext cx="3380217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C0AEB4FB-C63D-0D8B-5F13-F250FC11DED7}"/>
              </a:ext>
            </a:extLst>
          </p:cNvPr>
          <p:cNvSpPr/>
          <p:nvPr/>
        </p:nvSpPr>
        <p:spPr>
          <a:xfrm>
            <a:off x="4303390" y="5247276"/>
            <a:ext cx="1351614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mapValues</a:t>
            </a:r>
            <a:endParaRPr lang="pl-PL" sz="1050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EDD65B74-5E98-EE8E-092E-959ECB54A8B9}"/>
              </a:ext>
            </a:extLst>
          </p:cNvPr>
          <p:cNvSpPr txBox="1"/>
          <p:nvPr/>
        </p:nvSpPr>
        <p:spPr>
          <a:xfrm>
            <a:off x="1932882" y="5116218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originalMap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85168C32-9798-69E7-ED0B-69A985F97754}"/>
              </a:ext>
            </a:extLst>
          </p:cNvPr>
          <p:cNvSpPr txBox="1"/>
          <p:nvPr/>
        </p:nvSpPr>
        <p:spPr>
          <a:xfrm>
            <a:off x="6135259" y="5105170"/>
            <a:ext cx="2493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transformedValues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Romb 24">
            <a:extLst>
              <a:ext uri="{FF2B5EF4-FFF2-40B4-BE49-F238E27FC236}">
                <a16:creationId xmlns:a16="http://schemas.microsoft.com/office/drawing/2014/main" id="{76D92CFE-EDAC-DEB0-7985-E106A0A9D2E2}"/>
              </a:ext>
            </a:extLst>
          </p:cNvPr>
          <p:cNvSpPr/>
          <p:nvPr/>
        </p:nvSpPr>
        <p:spPr>
          <a:xfrm>
            <a:off x="3869875" y="6118514"/>
            <a:ext cx="2161076" cy="693600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C68DBC6-5386-181B-CEB0-9E6D61A1F703}"/>
              </a:ext>
            </a:extLst>
          </p:cNvPr>
          <p:cNvSpPr/>
          <p:nvPr/>
        </p:nvSpPr>
        <p:spPr>
          <a:xfrm>
            <a:off x="1103217" y="5642868"/>
            <a:ext cx="967767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one= 1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AC8E5FD-22B7-C18B-B196-9DE065199B4F}"/>
              </a:ext>
            </a:extLst>
          </p:cNvPr>
          <p:cNvSpPr/>
          <p:nvPr/>
        </p:nvSpPr>
        <p:spPr>
          <a:xfrm>
            <a:off x="2091849" y="5642868"/>
            <a:ext cx="954675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r>
              <a:rPr lang="pl-PL" sz="2000" b="1" dirty="0">
                <a:solidFill>
                  <a:schemeClr val="tx1"/>
                </a:solidFill>
              </a:rPr>
              <a:t>= 2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0DFBEE87-912A-6B82-5B62-1D5DCA4EB452}"/>
              </a:ext>
            </a:extLst>
          </p:cNvPr>
          <p:cNvSpPr/>
          <p:nvPr/>
        </p:nvSpPr>
        <p:spPr>
          <a:xfrm>
            <a:off x="3067389" y="5627074"/>
            <a:ext cx="112656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r>
              <a:rPr lang="pl-PL" sz="2000" b="1" dirty="0">
                <a:solidFill>
                  <a:schemeClr val="tx1"/>
                </a:solidFill>
              </a:rPr>
              <a:t>= 3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FC1FA9F6-DE94-7EAF-2002-9FBD29F73170}"/>
              </a:ext>
            </a:extLst>
          </p:cNvPr>
          <p:cNvSpPr/>
          <p:nvPr/>
        </p:nvSpPr>
        <p:spPr>
          <a:xfrm>
            <a:off x="5712504" y="5632337"/>
            <a:ext cx="1019282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one= 10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914B9DA9-21A9-544B-D123-1DD57F698A40}"/>
              </a:ext>
            </a:extLst>
          </p:cNvPr>
          <p:cNvSpPr/>
          <p:nvPr/>
        </p:nvSpPr>
        <p:spPr>
          <a:xfrm>
            <a:off x="7906351" y="5632337"/>
            <a:ext cx="1101023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three</a:t>
            </a:r>
            <a:r>
              <a:rPr lang="pl-PL" sz="1600" b="1" dirty="0">
                <a:solidFill>
                  <a:schemeClr val="tx1"/>
                </a:solidFill>
              </a:rPr>
              <a:t>= 30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7BFBE62D-4826-79CF-DAA3-1C71DDB177B2}"/>
              </a:ext>
            </a:extLst>
          </p:cNvPr>
          <p:cNvSpPr/>
          <p:nvPr/>
        </p:nvSpPr>
        <p:spPr>
          <a:xfrm>
            <a:off x="6768557" y="5632337"/>
            <a:ext cx="1101023" cy="486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two</a:t>
            </a:r>
            <a:r>
              <a:rPr lang="pl-PL" sz="1600" b="1" dirty="0">
                <a:solidFill>
                  <a:schemeClr val="tx1"/>
                </a:solidFill>
              </a:rPr>
              <a:t>= 20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697087D9-078A-6444-F57B-337F045C9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36" y="1876604"/>
            <a:ext cx="8028384" cy="26641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608B2A2-36D9-C390-6EA8-F58109FCF83E}"/>
                  </a:ext>
                </a:extLst>
              </p:cNvPr>
              <p:cNvSpPr txBox="1"/>
              <p:nvPr/>
            </p:nvSpPr>
            <p:spPr>
              <a:xfrm>
                <a:off x="4257185" y="6326814"/>
                <a:ext cx="13978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8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8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l-PL" sz="1800" b="1" i="0" smtClean="0">
                          <a:latin typeface="Cambria Math" panose="02040503050406030204" pitchFamily="18" charset="0"/>
                        </a:rPr>
                        <m:t>𝐯𝐚𝐥𝐮𝐞</m:t>
                      </m:r>
                      <m:r>
                        <a:rPr lang="pl-PL" sz="18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l-PL" sz="18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pl-PL" sz="1800" b="1" dirty="0"/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608B2A2-36D9-C390-6EA8-F58109FCF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185" y="6326814"/>
                <a:ext cx="1397819" cy="276999"/>
              </a:xfrm>
              <a:prstGeom prst="rect">
                <a:avLst/>
              </a:prstGeom>
              <a:blipFill>
                <a:blip r:embed="rId5"/>
                <a:stretch>
                  <a:fillRect l="-3043" r="-3478" b="-111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232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51528-326E-3712-4DED-6C2E8774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956928-3381-B525-AB9A-4C3B7B23A95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B644DA8-D30F-BED9-0D8F-ADCDAC4BBE4E}"/>
              </a:ext>
            </a:extLst>
          </p:cNvPr>
          <p:cNvSpPr txBox="1"/>
          <p:nvPr/>
        </p:nvSpPr>
        <p:spPr>
          <a:xfrm>
            <a:off x="1043608" y="836712"/>
            <a:ext cx="8028384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Zip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Transformacja pozwala tworzyć pary na podstawie elementów o tych samych pozycjach w dwóch kolekcjach.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8488BF4B-DA23-E0E4-4C1E-794D94AEFF59}"/>
              </a:ext>
            </a:extLst>
          </p:cNvPr>
          <p:cNvSpPr/>
          <p:nvPr/>
        </p:nvSpPr>
        <p:spPr>
          <a:xfrm>
            <a:off x="1084074" y="4367573"/>
            <a:ext cx="260133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A68BFDE5-1310-4F44-95D1-E69D8038F1E4}"/>
              </a:ext>
            </a:extLst>
          </p:cNvPr>
          <p:cNvSpPr/>
          <p:nvPr/>
        </p:nvSpPr>
        <p:spPr>
          <a:xfrm>
            <a:off x="5590335" y="5019920"/>
            <a:ext cx="3456785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2CF1B279-BAE5-B1B8-6776-E14413085DA7}"/>
              </a:ext>
            </a:extLst>
          </p:cNvPr>
          <p:cNvSpPr/>
          <p:nvPr/>
        </p:nvSpPr>
        <p:spPr>
          <a:xfrm>
            <a:off x="1301354" y="473339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a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78110BC9-C6F2-0FF4-3E37-C2BE20E393B5}"/>
              </a:ext>
            </a:extLst>
          </p:cNvPr>
          <p:cNvSpPr/>
          <p:nvPr/>
        </p:nvSpPr>
        <p:spPr>
          <a:xfrm>
            <a:off x="2021434" y="473339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b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6" name="Owal 15">
            <a:extLst>
              <a:ext uri="{FF2B5EF4-FFF2-40B4-BE49-F238E27FC236}">
                <a16:creationId xmlns:a16="http://schemas.microsoft.com/office/drawing/2014/main" id="{F9619144-7B1A-08B3-CCFF-8828051BFBC7}"/>
              </a:ext>
            </a:extLst>
          </p:cNvPr>
          <p:cNvSpPr/>
          <p:nvPr/>
        </p:nvSpPr>
        <p:spPr>
          <a:xfrm>
            <a:off x="2743053" y="4732494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c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E42911A1-6AE3-20D5-C8D9-3F1362988363}"/>
              </a:ext>
            </a:extLst>
          </p:cNvPr>
          <p:cNvSpPr/>
          <p:nvPr/>
        </p:nvSpPr>
        <p:spPr>
          <a:xfrm>
            <a:off x="3876558" y="5230104"/>
            <a:ext cx="1582038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zip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F1412336-7DEA-E552-E5B3-62D7119168BC}"/>
              </a:ext>
            </a:extLst>
          </p:cNvPr>
          <p:cNvSpPr txBox="1"/>
          <p:nvPr/>
        </p:nvSpPr>
        <p:spPr>
          <a:xfrm>
            <a:off x="1895234" y="4332384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letters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9778C919-77C9-C1E7-A58B-A61297311CB6}"/>
              </a:ext>
            </a:extLst>
          </p:cNvPr>
          <p:cNvSpPr txBox="1"/>
          <p:nvPr/>
        </p:nvSpPr>
        <p:spPr>
          <a:xfrm>
            <a:off x="6845257" y="5008143"/>
            <a:ext cx="997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zipped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54AB235-B27A-CA42-3A63-61A941A45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16" y="2033476"/>
            <a:ext cx="4515619" cy="2270662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C825FD96-CE8F-5728-8561-60864AEEC1C3}"/>
              </a:ext>
            </a:extLst>
          </p:cNvPr>
          <p:cNvSpPr/>
          <p:nvPr/>
        </p:nvSpPr>
        <p:spPr>
          <a:xfrm>
            <a:off x="1084074" y="5738137"/>
            <a:ext cx="260133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C6269E5A-AB91-3690-58A4-94B0EFD3241D}"/>
              </a:ext>
            </a:extLst>
          </p:cNvPr>
          <p:cNvSpPr/>
          <p:nvPr/>
        </p:nvSpPr>
        <p:spPr>
          <a:xfrm>
            <a:off x="1301354" y="610396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1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ACDF878E-B9EE-731E-9BF8-13E1CB27E448}"/>
              </a:ext>
            </a:extLst>
          </p:cNvPr>
          <p:cNvSpPr/>
          <p:nvPr/>
        </p:nvSpPr>
        <p:spPr>
          <a:xfrm>
            <a:off x="2021434" y="610396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2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7D475CFA-48C5-033C-B824-26258AD3E5BE}"/>
              </a:ext>
            </a:extLst>
          </p:cNvPr>
          <p:cNvSpPr/>
          <p:nvPr/>
        </p:nvSpPr>
        <p:spPr>
          <a:xfrm>
            <a:off x="2743053" y="610305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3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F241D5B-0D19-D3DF-BA4C-8C82049A3A0D}"/>
              </a:ext>
            </a:extLst>
          </p:cNvPr>
          <p:cNvSpPr txBox="1"/>
          <p:nvPr/>
        </p:nvSpPr>
        <p:spPr>
          <a:xfrm>
            <a:off x="1750592" y="5671010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EFA10D89-93C3-4970-F8C6-3613E71930E2}"/>
              </a:ext>
            </a:extLst>
          </p:cNvPr>
          <p:cNvSpPr/>
          <p:nvPr/>
        </p:nvSpPr>
        <p:spPr>
          <a:xfrm>
            <a:off x="5714461" y="5447693"/>
            <a:ext cx="9467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(a, 1)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7714C15E-1F6D-05E4-C6FB-21C36FF37EBE}"/>
              </a:ext>
            </a:extLst>
          </p:cNvPr>
          <p:cNvSpPr/>
          <p:nvPr/>
        </p:nvSpPr>
        <p:spPr>
          <a:xfrm>
            <a:off x="6845363" y="5447693"/>
            <a:ext cx="9467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(b, 2)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317D0628-CA8F-A4C2-9184-50562B4E91AE}"/>
              </a:ext>
            </a:extLst>
          </p:cNvPr>
          <p:cNvSpPr/>
          <p:nvPr/>
        </p:nvSpPr>
        <p:spPr>
          <a:xfrm>
            <a:off x="7976280" y="5447693"/>
            <a:ext cx="9467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(c, 3)</a:t>
            </a:r>
          </a:p>
        </p:txBody>
      </p:sp>
    </p:spTree>
    <p:extLst>
      <p:ext uri="{BB962C8B-B14F-4D97-AF65-F5344CB8AC3E}">
        <p14:creationId xmlns:p14="http://schemas.microsoft.com/office/powerpoint/2010/main" val="3292794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3FF08-FC31-7BBB-87AD-0F2C7E42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48D530-EE1B-EC70-BD32-283B071ADC7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8E8DBBB-24B2-C237-BB81-B3EE9FBCE98C}"/>
              </a:ext>
            </a:extLst>
          </p:cNvPr>
          <p:cNvSpPr txBox="1"/>
          <p:nvPr/>
        </p:nvSpPr>
        <p:spPr>
          <a:xfrm>
            <a:off x="1043608" y="836712"/>
            <a:ext cx="8028384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Zip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Transformacja pozwala tworzyć pary na podstawie elementów o tych samych pozycjach w dwóch kolekcjach.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359DCBD-A5D0-F714-451E-2301574D9A26}"/>
              </a:ext>
            </a:extLst>
          </p:cNvPr>
          <p:cNvSpPr/>
          <p:nvPr/>
        </p:nvSpPr>
        <p:spPr>
          <a:xfrm>
            <a:off x="1084074" y="4367573"/>
            <a:ext cx="260133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4880619B-6595-2AC2-761B-DB43255F6E62}"/>
              </a:ext>
            </a:extLst>
          </p:cNvPr>
          <p:cNvSpPr/>
          <p:nvPr/>
        </p:nvSpPr>
        <p:spPr>
          <a:xfrm>
            <a:off x="5590335" y="5019920"/>
            <a:ext cx="3456785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61276F7F-B882-2524-19E8-3E0750154BFA}"/>
              </a:ext>
            </a:extLst>
          </p:cNvPr>
          <p:cNvSpPr/>
          <p:nvPr/>
        </p:nvSpPr>
        <p:spPr>
          <a:xfrm>
            <a:off x="1301354" y="473339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a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E1427444-F7B6-6047-5BCC-94C016295B5E}"/>
              </a:ext>
            </a:extLst>
          </p:cNvPr>
          <p:cNvSpPr/>
          <p:nvPr/>
        </p:nvSpPr>
        <p:spPr>
          <a:xfrm>
            <a:off x="2021434" y="473339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b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6" name="Owal 15">
            <a:extLst>
              <a:ext uri="{FF2B5EF4-FFF2-40B4-BE49-F238E27FC236}">
                <a16:creationId xmlns:a16="http://schemas.microsoft.com/office/drawing/2014/main" id="{5411245F-32A2-3D5B-F594-5D496C355F77}"/>
              </a:ext>
            </a:extLst>
          </p:cNvPr>
          <p:cNvSpPr/>
          <p:nvPr/>
        </p:nvSpPr>
        <p:spPr>
          <a:xfrm>
            <a:off x="2743053" y="4732494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c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666C31EB-21AF-285C-CCA3-3617DC014698}"/>
              </a:ext>
            </a:extLst>
          </p:cNvPr>
          <p:cNvSpPr/>
          <p:nvPr/>
        </p:nvSpPr>
        <p:spPr>
          <a:xfrm>
            <a:off x="3876558" y="5230104"/>
            <a:ext cx="1582038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zip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C817A5E2-1922-C2C7-5061-5FD53C893F4B}"/>
              </a:ext>
            </a:extLst>
          </p:cNvPr>
          <p:cNvSpPr txBox="1"/>
          <p:nvPr/>
        </p:nvSpPr>
        <p:spPr>
          <a:xfrm>
            <a:off x="1895234" y="4332384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letters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BABF0B3B-2C55-4587-CDB0-619126AF23CE}"/>
              </a:ext>
            </a:extLst>
          </p:cNvPr>
          <p:cNvSpPr txBox="1"/>
          <p:nvPr/>
        </p:nvSpPr>
        <p:spPr>
          <a:xfrm>
            <a:off x="6845257" y="5008143"/>
            <a:ext cx="997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zipped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2BEB171-04EB-57F9-43E7-83D9E181FC2A}"/>
              </a:ext>
            </a:extLst>
          </p:cNvPr>
          <p:cNvSpPr/>
          <p:nvPr/>
        </p:nvSpPr>
        <p:spPr>
          <a:xfrm>
            <a:off x="1084074" y="5656367"/>
            <a:ext cx="260133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E14D3882-B7F6-8D66-64EA-4C1D6FF1C72B}"/>
              </a:ext>
            </a:extLst>
          </p:cNvPr>
          <p:cNvSpPr/>
          <p:nvPr/>
        </p:nvSpPr>
        <p:spPr>
          <a:xfrm>
            <a:off x="1301354" y="602219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1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B2F0F6F7-3AF7-B1B4-2BC6-24785C7A5164}"/>
              </a:ext>
            </a:extLst>
          </p:cNvPr>
          <p:cNvSpPr/>
          <p:nvPr/>
        </p:nvSpPr>
        <p:spPr>
          <a:xfrm>
            <a:off x="2021434" y="602219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2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E76BEDC0-4ECC-1059-2557-0B348F75CD4E}"/>
              </a:ext>
            </a:extLst>
          </p:cNvPr>
          <p:cNvSpPr/>
          <p:nvPr/>
        </p:nvSpPr>
        <p:spPr>
          <a:xfrm>
            <a:off x="2743053" y="602128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3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06A9AE2-DE02-27A7-3A26-0A0551A1B13D}"/>
              </a:ext>
            </a:extLst>
          </p:cNvPr>
          <p:cNvSpPr txBox="1"/>
          <p:nvPr/>
        </p:nvSpPr>
        <p:spPr>
          <a:xfrm>
            <a:off x="1750592" y="5589240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2965D5E5-268C-4165-C1B6-A2A2FF3204B1}"/>
              </a:ext>
            </a:extLst>
          </p:cNvPr>
          <p:cNvSpPr/>
          <p:nvPr/>
        </p:nvSpPr>
        <p:spPr>
          <a:xfrm>
            <a:off x="5714461" y="5447693"/>
            <a:ext cx="9467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(a, 1)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F4F63FF6-781B-BFB4-AD9C-BAFD5D7822A5}"/>
              </a:ext>
            </a:extLst>
          </p:cNvPr>
          <p:cNvSpPr/>
          <p:nvPr/>
        </p:nvSpPr>
        <p:spPr>
          <a:xfrm>
            <a:off x="6845363" y="5447693"/>
            <a:ext cx="9467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(b, 2)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5F5DF84F-2BF2-82DD-F3D3-1B672D7EC3F7}"/>
              </a:ext>
            </a:extLst>
          </p:cNvPr>
          <p:cNvSpPr/>
          <p:nvPr/>
        </p:nvSpPr>
        <p:spPr>
          <a:xfrm>
            <a:off x="7976280" y="5447693"/>
            <a:ext cx="9467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(c, 3)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E492E27C-72E1-3767-4150-B8FD3423B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74" y="2046288"/>
            <a:ext cx="6124809" cy="21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2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5F551-E3C6-AF74-F807-16C673AE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D997D4-4BC2-952E-CE95-0AF0332F097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2539DAB-24A6-051B-11B7-52E9D04EDDD5}"/>
              </a:ext>
            </a:extLst>
          </p:cNvPr>
          <p:cNvSpPr txBox="1"/>
          <p:nvPr/>
        </p:nvSpPr>
        <p:spPr>
          <a:xfrm>
            <a:off x="1043608" y="836712"/>
            <a:ext cx="8028384" cy="877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Zip</a:t>
            </a:r>
            <a:endParaRPr lang="pl-PL" b="1" dirty="0"/>
          </a:p>
          <a:p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.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FEA49AE-0BC1-0DE7-DD3A-EFF8B3F4FF07}"/>
              </a:ext>
            </a:extLst>
          </p:cNvPr>
          <p:cNvSpPr/>
          <p:nvPr/>
        </p:nvSpPr>
        <p:spPr>
          <a:xfrm>
            <a:off x="1084074" y="4367573"/>
            <a:ext cx="260133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5B64D3A-D890-B40C-4A06-FA1DEB6E0240}"/>
              </a:ext>
            </a:extLst>
          </p:cNvPr>
          <p:cNvSpPr/>
          <p:nvPr/>
        </p:nvSpPr>
        <p:spPr>
          <a:xfrm>
            <a:off x="5781485" y="5019920"/>
            <a:ext cx="3265635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392A2812-5B1B-ACE9-D166-2FDCBE1F9C2C}"/>
              </a:ext>
            </a:extLst>
          </p:cNvPr>
          <p:cNvSpPr/>
          <p:nvPr/>
        </p:nvSpPr>
        <p:spPr>
          <a:xfrm>
            <a:off x="1301354" y="473339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a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496A0579-5122-E754-1DFB-4F8F8B8FC5CA}"/>
              </a:ext>
            </a:extLst>
          </p:cNvPr>
          <p:cNvSpPr/>
          <p:nvPr/>
        </p:nvSpPr>
        <p:spPr>
          <a:xfrm>
            <a:off x="2021434" y="473339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b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6" name="Owal 15">
            <a:extLst>
              <a:ext uri="{FF2B5EF4-FFF2-40B4-BE49-F238E27FC236}">
                <a16:creationId xmlns:a16="http://schemas.microsoft.com/office/drawing/2014/main" id="{272B0FB7-D916-D33D-22B7-AE1DA5801142}"/>
              </a:ext>
            </a:extLst>
          </p:cNvPr>
          <p:cNvSpPr/>
          <p:nvPr/>
        </p:nvSpPr>
        <p:spPr>
          <a:xfrm>
            <a:off x="2743053" y="4732494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c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E30CBF1C-C60E-583E-52FB-C8DDF40A679F}"/>
              </a:ext>
            </a:extLst>
          </p:cNvPr>
          <p:cNvSpPr/>
          <p:nvPr/>
        </p:nvSpPr>
        <p:spPr>
          <a:xfrm>
            <a:off x="3876557" y="5230104"/>
            <a:ext cx="1713777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zip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D1E33A3B-9E75-214D-DB9F-37B7CDDEC3BB}"/>
              </a:ext>
            </a:extLst>
          </p:cNvPr>
          <p:cNvSpPr txBox="1"/>
          <p:nvPr/>
        </p:nvSpPr>
        <p:spPr>
          <a:xfrm>
            <a:off x="1895234" y="4332384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letters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8CEEB134-60ED-F233-9C83-E2FFE0463C0E}"/>
              </a:ext>
            </a:extLst>
          </p:cNvPr>
          <p:cNvSpPr txBox="1"/>
          <p:nvPr/>
        </p:nvSpPr>
        <p:spPr>
          <a:xfrm>
            <a:off x="6936333" y="4980456"/>
            <a:ext cx="9973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zipped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1E94DF3-0408-A935-D1C3-BFB3AEBD45D4}"/>
              </a:ext>
            </a:extLst>
          </p:cNvPr>
          <p:cNvSpPr/>
          <p:nvPr/>
        </p:nvSpPr>
        <p:spPr>
          <a:xfrm>
            <a:off x="1084074" y="5738137"/>
            <a:ext cx="260133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6A319538-6D57-19C9-3B83-BC50D1ED3FFE}"/>
              </a:ext>
            </a:extLst>
          </p:cNvPr>
          <p:cNvSpPr/>
          <p:nvPr/>
        </p:nvSpPr>
        <p:spPr>
          <a:xfrm>
            <a:off x="1301354" y="610396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1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DBC3CFE6-D8EE-8229-3808-7A57145DC3F4}"/>
              </a:ext>
            </a:extLst>
          </p:cNvPr>
          <p:cNvSpPr/>
          <p:nvPr/>
        </p:nvSpPr>
        <p:spPr>
          <a:xfrm>
            <a:off x="2021434" y="610396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2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1A682619-938D-C4D0-F245-7232208BE105}"/>
              </a:ext>
            </a:extLst>
          </p:cNvPr>
          <p:cNvSpPr/>
          <p:nvPr/>
        </p:nvSpPr>
        <p:spPr>
          <a:xfrm>
            <a:off x="2743053" y="610305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3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0A2C939-DF2E-3540-9D2F-7F48DE50C7EB}"/>
              </a:ext>
            </a:extLst>
          </p:cNvPr>
          <p:cNvSpPr txBox="1"/>
          <p:nvPr/>
        </p:nvSpPr>
        <p:spPr>
          <a:xfrm>
            <a:off x="1750592" y="5671010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61F3FBC5-37E4-AFD0-B6C2-DE3238B24F0A}"/>
              </a:ext>
            </a:extLst>
          </p:cNvPr>
          <p:cNvSpPr/>
          <p:nvPr/>
        </p:nvSpPr>
        <p:spPr>
          <a:xfrm>
            <a:off x="5888777" y="5437862"/>
            <a:ext cx="94779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„a:1”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48F6E06-F5DA-1E07-E85D-4B79C2606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083" y="1271708"/>
            <a:ext cx="7781925" cy="2800350"/>
          </a:xfrm>
          <a:prstGeom prst="rect">
            <a:avLst/>
          </a:prstGeom>
        </p:spPr>
      </p:pic>
      <p:sp>
        <p:nvSpPr>
          <p:cNvPr id="17" name="Romb 16">
            <a:extLst>
              <a:ext uri="{FF2B5EF4-FFF2-40B4-BE49-F238E27FC236}">
                <a16:creationId xmlns:a16="http://schemas.microsoft.com/office/drawing/2014/main" id="{F47DC62E-08F7-512A-25CD-7498063772A6}"/>
              </a:ext>
            </a:extLst>
          </p:cNvPr>
          <p:cNvSpPr/>
          <p:nvPr/>
        </p:nvSpPr>
        <p:spPr>
          <a:xfrm>
            <a:off x="3943635" y="6018082"/>
            <a:ext cx="1582038" cy="693600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217D117-71B3-3C87-FBAB-9FF585E36B48}"/>
              </a:ext>
            </a:extLst>
          </p:cNvPr>
          <p:cNvSpPr txBox="1"/>
          <p:nvPr/>
        </p:nvSpPr>
        <p:spPr>
          <a:xfrm>
            <a:off x="4011313" y="6235623"/>
            <a:ext cx="2092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tx1"/>
                </a:solidFill>
              </a:rPr>
              <a:t>„$</a:t>
            </a:r>
            <a:r>
              <a:rPr lang="pl-PL" b="1" dirty="0" err="1">
                <a:solidFill>
                  <a:schemeClr val="tx1"/>
                </a:solidFill>
              </a:rPr>
              <a:t>letter</a:t>
            </a:r>
            <a:r>
              <a:rPr lang="pl-PL" b="1" dirty="0">
                <a:solidFill>
                  <a:schemeClr val="tx1"/>
                </a:solidFill>
              </a:rPr>
              <a:t>:$</a:t>
            </a:r>
            <a:r>
              <a:rPr lang="pl-PL" b="1" dirty="0" err="1">
                <a:solidFill>
                  <a:schemeClr val="tx1"/>
                </a:solidFill>
              </a:rPr>
              <a:t>number</a:t>
            </a:r>
            <a:r>
              <a:rPr lang="pl-PL" b="1" dirty="0">
                <a:solidFill>
                  <a:schemeClr val="tx1"/>
                </a:solidFill>
              </a:rPr>
              <a:t>”</a:t>
            </a:r>
          </a:p>
          <a:p>
            <a:endParaRPr lang="pl-PL" dirty="0"/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9D635066-BBC3-EEE0-19DB-FB1C034A603C}"/>
              </a:ext>
            </a:extLst>
          </p:cNvPr>
          <p:cNvSpPr/>
          <p:nvPr/>
        </p:nvSpPr>
        <p:spPr>
          <a:xfrm>
            <a:off x="6956789" y="5422657"/>
            <a:ext cx="94779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„b:2”</a:t>
            </a: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4FB91551-F878-11BD-27B7-1AACDFD7D2FF}"/>
              </a:ext>
            </a:extLst>
          </p:cNvPr>
          <p:cNvSpPr/>
          <p:nvPr/>
        </p:nvSpPr>
        <p:spPr>
          <a:xfrm>
            <a:off x="8024801" y="5432263"/>
            <a:ext cx="94779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„c:3”</a:t>
            </a:r>
          </a:p>
        </p:txBody>
      </p:sp>
    </p:spTree>
    <p:extLst>
      <p:ext uri="{BB962C8B-B14F-4D97-AF65-F5344CB8AC3E}">
        <p14:creationId xmlns:p14="http://schemas.microsoft.com/office/powerpoint/2010/main" val="3916728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67837-00B8-12CE-9B79-EFC75465A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AC86A8-9ABA-2C93-F49B-2AB30725AC2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33D7F31-848B-8B04-7A57-267E5DDBDE06}"/>
              </a:ext>
            </a:extLst>
          </p:cNvPr>
          <p:cNvSpPr txBox="1"/>
          <p:nvPr/>
        </p:nvSpPr>
        <p:spPr>
          <a:xfrm>
            <a:off x="1024180" y="786880"/>
            <a:ext cx="8028384" cy="1939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 err="1"/>
              <a:t>Unzip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sz="1600" dirty="0"/>
              <a:t>Funkcja pozwala na wykonanie odwrotnej operacji – dzieli listę par na dwie osobne listy: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Pierwsza lista zawiera pierwsze elementy każdej pary.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Druga lista zawiera drugie elementy każdej pary.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9959CA1A-DA66-9035-AA24-024582415ABF}"/>
              </a:ext>
            </a:extLst>
          </p:cNvPr>
          <p:cNvSpPr/>
          <p:nvPr/>
        </p:nvSpPr>
        <p:spPr>
          <a:xfrm>
            <a:off x="1084847" y="5017240"/>
            <a:ext cx="3792688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1C1C64AD-9D1F-D982-A9D4-B40D376E3427}"/>
              </a:ext>
            </a:extLst>
          </p:cNvPr>
          <p:cNvSpPr/>
          <p:nvPr/>
        </p:nvSpPr>
        <p:spPr>
          <a:xfrm>
            <a:off x="4940951" y="5196241"/>
            <a:ext cx="1415727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unzip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956C2BAF-A88D-E131-0212-99752AC19AFD}"/>
              </a:ext>
            </a:extLst>
          </p:cNvPr>
          <p:cNvSpPr txBox="1"/>
          <p:nvPr/>
        </p:nvSpPr>
        <p:spPr>
          <a:xfrm>
            <a:off x="2529450" y="4981326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pairs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92DD934A-75D3-F6EA-BA60-4E92514EF1D8}"/>
              </a:ext>
            </a:extLst>
          </p:cNvPr>
          <p:cNvSpPr/>
          <p:nvPr/>
        </p:nvSpPr>
        <p:spPr>
          <a:xfrm>
            <a:off x="6444060" y="5624427"/>
            <a:ext cx="260133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Owal 6">
            <a:extLst>
              <a:ext uri="{FF2B5EF4-FFF2-40B4-BE49-F238E27FC236}">
                <a16:creationId xmlns:a16="http://schemas.microsoft.com/office/drawing/2014/main" id="{3B9793D6-37F3-EDA2-29DE-D38B0A6954C3}"/>
              </a:ext>
            </a:extLst>
          </p:cNvPr>
          <p:cNvSpPr/>
          <p:nvPr/>
        </p:nvSpPr>
        <p:spPr>
          <a:xfrm>
            <a:off x="6661340" y="599025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1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2" name="Owal 11">
            <a:extLst>
              <a:ext uri="{FF2B5EF4-FFF2-40B4-BE49-F238E27FC236}">
                <a16:creationId xmlns:a16="http://schemas.microsoft.com/office/drawing/2014/main" id="{A2C77BB1-BF1B-D038-19AD-BDD205572ACA}"/>
              </a:ext>
            </a:extLst>
          </p:cNvPr>
          <p:cNvSpPr/>
          <p:nvPr/>
        </p:nvSpPr>
        <p:spPr>
          <a:xfrm>
            <a:off x="7381420" y="5990252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2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4EBB2B7A-F013-F9D9-983C-77DE66B62B27}"/>
              </a:ext>
            </a:extLst>
          </p:cNvPr>
          <p:cNvSpPr/>
          <p:nvPr/>
        </p:nvSpPr>
        <p:spPr>
          <a:xfrm>
            <a:off x="8103039" y="5989348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3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FBBEEDCF-F67A-1B94-5CED-15792368D1BC}"/>
              </a:ext>
            </a:extLst>
          </p:cNvPr>
          <p:cNvSpPr txBox="1"/>
          <p:nvPr/>
        </p:nvSpPr>
        <p:spPr>
          <a:xfrm>
            <a:off x="7110578" y="5557300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AD39F1D9-203D-E14A-6395-63FF3E77FF0D}"/>
              </a:ext>
            </a:extLst>
          </p:cNvPr>
          <p:cNvSpPr/>
          <p:nvPr/>
        </p:nvSpPr>
        <p:spPr>
          <a:xfrm>
            <a:off x="1126163" y="5426315"/>
            <a:ext cx="117659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„a”: 1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8249E7D-2714-5021-5277-7F90DB496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27" y="2731860"/>
            <a:ext cx="7740352" cy="2249466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CDADDE77-CAF9-0077-D6D6-E936F54D34E7}"/>
              </a:ext>
            </a:extLst>
          </p:cNvPr>
          <p:cNvSpPr/>
          <p:nvPr/>
        </p:nvSpPr>
        <p:spPr>
          <a:xfrm>
            <a:off x="6438616" y="4477180"/>
            <a:ext cx="260133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1" name="Owal 10">
            <a:extLst>
              <a:ext uri="{FF2B5EF4-FFF2-40B4-BE49-F238E27FC236}">
                <a16:creationId xmlns:a16="http://schemas.microsoft.com/office/drawing/2014/main" id="{FA47D45F-45EE-2B96-B71F-E80407A2DA9A}"/>
              </a:ext>
            </a:extLst>
          </p:cNvPr>
          <p:cNvSpPr/>
          <p:nvPr/>
        </p:nvSpPr>
        <p:spPr>
          <a:xfrm>
            <a:off x="6655896" y="4843005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a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5" name="Owal 14">
            <a:extLst>
              <a:ext uri="{FF2B5EF4-FFF2-40B4-BE49-F238E27FC236}">
                <a16:creationId xmlns:a16="http://schemas.microsoft.com/office/drawing/2014/main" id="{EC8F4035-DC5D-6C4A-D05C-FD0008DEE6E5}"/>
              </a:ext>
            </a:extLst>
          </p:cNvPr>
          <p:cNvSpPr/>
          <p:nvPr/>
        </p:nvSpPr>
        <p:spPr>
          <a:xfrm>
            <a:off x="7375976" y="4843005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b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6" name="Owal 15">
            <a:extLst>
              <a:ext uri="{FF2B5EF4-FFF2-40B4-BE49-F238E27FC236}">
                <a16:creationId xmlns:a16="http://schemas.microsoft.com/office/drawing/2014/main" id="{2B8DCA3F-5D13-AE53-B58A-8005FCEB0EC0}"/>
              </a:ext>
            </a:extLst>
          </p:cNvPr>
          <p:cNvSpPr/>
          <p:nvPr/>
        </p:nvSpPr>
        <p:spPr>
          <a:xfrm>
            <a:off x="8097595" y="4842101"/>
            <a:ext cx="648072" cy="6480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chemeClr val="tx1"/>
                </a:solidFill>
              </a:rPr>
              <a:t>c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44B35A10-C33B-B2D0-9955-F13674B9FDAE}"/>
              </a:ext>
            </a:extLst>
          </p:cNvPr>
          <p:cNvSpPr txBox="1"/>
          <p:nvPr/>
        </p:nvSpPr>
        <p:spPr>
          <a:xfrm>
            <a:off x="7296709" y="4414881"/>
            <a:ext cx="952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letters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9DF13802-89C1-4E52-B3D6-046BF64C5229}"/>
              </a:ext>
            </a:extLst>
          </p:cNvPr>
          <p:cNvSpPr/>
          <p:nvPr/>
        </p:nvSpPr>
        <p:spPr>
          <a:xfrm>
            <a:off x="2390137" y="5425515"/>
            <a:ext cx="117659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„b”: 2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802AFCD8-D17E-728A-2375-4C8917F58AB4}"/>
              </a:ext>
            </a:extLst>
          </p:cNvPr>
          <p:cNvSpPr/>
          <p:nvPr/>
        </p:nvSpPr>
        <p:spPr>
          <a:xfrm>
            <a:off x="3653847" y="5425515"/>
            <a:ext cx="117659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„c”: 3</a:t>
            </a:r>
          </a:p>
        </p:txBody>
      </p:sp>
    </p:spTree>
    <p:extLst>
      <p:ext uri="{BB962C8B-B14F-4D97-AF65-F5344CB8AC3E}">
        <p14:creationId xmlns:p14="http://schemas.microsoft.com/office/powerpoint/2010/main" val="970383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16A6F-BC38-D3F1-13B5-D7A00FC0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8541F6-CD2E-75E5-41C1-C7ACA407BB1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Deklaracja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Destrukturyzująca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AAC102A-8AB6-00BD-2CB6-C9FB9B1DCF3E}"/>
              </a:ext>
            </a:extLst>
          </p:cNvPr>
          <p:cNvSpPr txBox="1"/>
          <p:nvPr/>
        </p:nvSpPr>
        <p:spPr>
          <a:xfrm>
            <a:off x="1024180" y="786880"/>
            <a:ext cx="8028384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dirty="0"/>
              <a:t>Deklaracje </a:t>
            </a:r>
            <a:r>
              <a:rPr lang="pl-PL" sz="1600" dirty="0" err="1"/>
              <a:t>destrukturyzujące</a:t>
            </a:r>
            <a:r>
              <a:rPr lang="pl-PL" sz="1600" dirty="0"/>
              <a:t> to funkcja, która umożliwia rozbicie obiektu na jego składowe w jednym kroku. Jest to szczególnie przydatne podczas pracy z kolekcjami, parami (</a:t>
            </a:r>
            <a:r>
              <a:rPr lang="pl-PL" sz="1600" b="1" dirty="0" err="1"/>
              <a:t>Pair</a:t>
            </a:r>
            <a:r>
              <a:rPr lang="pl-PL" sz="1600" dirty="0"/>
              <a:t>), trójkami (</a:t>
            </a:r>
            <a:r>
              <a:rPr lang="pl-PL" sz="1600" b="1" dirty="0" err="1"/>
              <a:t>Triple</a:t>
            </a:r>
            <a:r>
              <a:rPr lang="pl-PL" sz="1600" dirty="0"/>
              <a:t>).</a:t>
            </a: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FBCEAEB3-BA55-1E18-4213-36D6FE42513F}"/>
              </a:ext>
            </a:extLst>
          </p:cNvPr>
          <p:cNvSpPr/>
          <p:nvPr/>
        </p:nvSpPr>
        <p:spPr>
          <a:xfrm>
            <a:off x="4091725" y="5228835"/>
            <a:ext cx="1488387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FD2E6739-6F7B-9687-1E5B-2098AB582F08}"/>
              </a:ext>
            </a:extLst>
          </p:cNvPr>
          <p:cNvSpPr txBox="1"/>
          <p:nvPr/>
        </p:nvSpPr>
        <p:spPr>
          <a:xfrm>
            <a:off x="2529450" y="4981326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pair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FFED1CB-3B63-B089-8D41-A39FF74AE309}"/>
              </a:ext>
            </a:extLst>
          </p:cNvPr>
          <p:cNvSpPr txBox="1"/>
          <p:nvPr/>
        </p:nvSpPr>
        <p:spPr>
          <a:xfrm>
            <a:off x="5967348" y="4565143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greetings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06F99A43-D021-AEF5-431F-CD1B21F1E6A2}"/>
              </a:ext>
            </a:extLst>
          </p:cNvPr>
          <p:cNvSpPr txBox="1"/>
          <p:nvPr/>
        </p:nvSpPr>
        <p:spPr>
          <a:xfrm>
            <a:off x="6026128" y="5678087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DD0477F1-2585-4016-29A1-C70E2F17B3EE}"/>
              </a:ext>
            </a:extLst>
          </p:cNvPr>
          <p:cNvSpPr/>
          <p:nvPr/>
        </p:nvSpPr>
        <p:spPr>
          <a:xfrm>
            <a:off x="1956814" y="5381436"/>
            <a:ext cx="179961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(„Hello”, 42)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C331640-55F4-A69C-D6ED-336A659A3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820" y="2086171"/>
            <a:ext cx="4752975" cy="2714625"/>
          </a:xfrm>
          <a:prstGeom prst="rect">
            <a:avLst/>
          </a:prstGeom>
        </p:spPr>
      </p:pic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35BA9E94-88C5-0AD9-62A7-E60F6BC07AED}"/>
              </a:ext>
            </a:extLst>
          </p:cNvPr>
          <p:cNvSpPr/>
          <p:nvPr/>
        </p:nvSpPr>
        <p:spPr>
          <a:xfrm>
            <a:off x="5958976" y="4980482"/>
            <a:ext cx="126829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„Hello”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E380997C-3266-EBBB-1A71-19D21701B75D}"/>
              </a:ext>
            </a:extLst>
          </p:cNvPr>
          <p:cNvSpPr/>
          <p:nvPr/>
        </p:nvSpPr>
        <p:spPr>
          <a:xfrm>
            <a:off x="5954795" y="6071120"/>
            <a:ext cx="126829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926896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B5E20-D1C4-23D7-22B5-CC8EF37F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1F0A0-601E-A0B7-87D9-5B7A20E7BE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Deklaracja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Destrukturyzująca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D899EC8-9D14-D884-40BF-DB66A0CB8A84}"/>
              </a:ext>
            </a:extLst>
          </p:cNvPr>
          <p:cNvSpPr txBox="1"/>
          <p:nvPr/>
        </p:nvSpPr>
        <p:spPr>
          <a:xfrm>
            <a:off x="1024180" y="786880"/>
            <a:ext cx="8028384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dirty="0"/>
              <a:t>Deklaracje </a:t>
            </a:r>
            <a:r>
              <a:rPr lang="pl-PL" sz="1600" dirty="0" err="1"/>
              <a:t>destrukturyzujące</a:t>
            </a:r>
            <a:r>
              <a:rPr lang="pl-PL" sz="1600" dirty="0"/>
              <a:t> to funkcja, która umożliwia rozbicie obiektu na jego składowe w jednym kroku. Jest to szczególnie przydatne podczas pracy z kolekcjami, parami (</a:t>
            </a:r>
            <a:r>
              <a:rPr lang="pl-PL" sz="1600" b="1" dirty="0" err="1"/>
              <a:t>Pair</a:t>
            </a:r>
            <a:r>
              <a:rPr lang="pl-PL" sz="1600" dirty="0"/>
              <a:t>), trójkami (</a:t>
            </a:r>
            <a:r>
              <a:rPr lang="pl-PL" sz="1600" b="1" dirty="0" err="1"/>
              <a:t>Triple</a:t>
            </a:r>
            <a:r>
              <a:rPr lang="pl-PL" sz="1600" dirty="0"/>
              <a:t>).</a:t>
            </a: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F3025076-99B6-36BE-C5AC-9F522847685D}"/>
              </a:ext>
            </a:extLst>
          </p:cNvPr>
          <p:cNvSpPr/>
          <p:nvPr/>
        </p:nvSpPr>
        <p:spPr>
          <a:xfrm>
            <a:off x="3995936" y="5279936"/>
            <a:ext cx="1728192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37B43786-967C-600D-39DA-43CDD8A87648}"/>
              </a:ext>
            </a:extLst>
          </p:cNvPr>
          <p:cNvSpPr txBox="1"/>
          <p:nvPr/>
        </p:nvSpPr>
        <p:spPr>
          <a:xfrm>
            <a:off x="2432009" y="5005460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triple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F752368-07D5-0FB6-2FD8-204DF8AC31E4}"/>
              </a:ext>
            </a:extLst>
          </p:cNvPr>
          <p:cNvSpPr txBox="1"/>
          <p:nvPr/>
        </p:nvSpPr>
        <p:spPr>
          <a:xfrm>
            <a:off x="6255357" y="4128354"/>
            <a:ext cx="667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first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BD3D065F-D2B3-D49F-C4C1-28FF2CE5343C}"/>
              </a:ext>
            </a:extLst>
          </p:cNvPr>
          <p:cNvSpPr txBox="1"/>
          <p:nvPr/>
        </p:nvSpPr>
        <p:spPr>
          <a:xfrm>
            <a:off x="6046966" y="5079881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second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C60037E4-69D7-B3AA-524F-3932E4F39757}"/>
              </a:ext>
            </a:extLst>
          </p:cNvPr>
          <p:cNvSpPr/>
          <p:nvPr/>
        </p:nvSpPr>
        <p:spPr>
          <a:xfrm>
            <a:off x="1805140" y="5429734"/>
            <a:ext cx="206357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(„A”, ”B”, „C”)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D0F58457-6845-BD0B-7B34-853DAB69D206}"/>
              </a:ext>
            </a:extLst>
          </p:cNvPr>
          <p:cNvSpPr/>
          <p:nvPr/>
        </p:nvSpPr>
        <p:spPr>
          <a:xfrm>
            <a:off x="5954794" y="5477188"/>
            <a:ext cx="126829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„B”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C9A544B-FE8B-7F45-9EF7-C2CD8A38F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2006543"/>
            <a:ext cx="4867275" cy="2771775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D7F646B7-D22E-0FC6-A23D-8DED90FE431B}"/>
              </a:ext>
            </a:extLst>
          </p:cNvPr>
          <p:cNvSpPr/>
          <p:nvPr/>
        </p:nvSpPr>
        <p:spPr>
          <a:xfrm>
            <a:off x="5954792" y="6359542"/>
            <a:ext cx="126829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„C”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E9FB864E-F575-D87F-3BD0-BD730FE4B3A0}"/>
              </a:ext>
            </a:extLst>
          </p:cNvPr>
          <p:cNvSpPr/>
          <p:nvPr/>
        </p:nvSpPr>
        <p:spPr>
          <a:xfrm>
            <a:off x="5954794" y="4554418"/>
            <a:ext cx="126829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solidFill>
                  <a:schemeClr val="tx1"/>
                </a:solidFill>
              </a:rPr>
              <a:t>„A”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6703FBD-2629-BE43-CD2E-DB9182765BBE}"/>
              </a:ext>
            </a:extLst>
          </p:cNvPr>
          <p:cNvSpPr txBox="1"/>
          <p:nvPr/>
        </p:nvSpPr>
        <p:spPr>
          <a:xfrm>
            <a:off x="6212074" y="5999848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>
                <a:solidFill>
                  <a:schemeClr val="accent1">
                    <a:lumMod val="75000"/>
                  </a:schemeClr>
                </a:solidFill>
              </a:rPr>
              <a:t>third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667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6057C-8908-848C-F557-D3D047A0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raz 19">
            <a:extLst>
              <a:ext uri="{FF2B5EF4-FFF2-40B4-BE49-F238E27FC236}">
                <a16:creationId xmlns:a16="http://schemas.microsoft.com/office/drawing/2014/main" id="{7CF37A9C-6320-5026-142D-E723C94F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53" y="2659304"/>
            <a:ext cx="6667500" cy="213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F18AB7-FB14-DC3D-76DD-AD0AF131144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0D0E31F-CD05-AC64-7185-C060E4EA71BF}"/>
              </a:ext>
            </a:extLst>
          </p:cNvPr>
          <p:cNvSpPr txBox="1"/>
          <p:nvPr/>
        </p:nvSpPr>
        <p:spPr>
          <a:xfrm>
            <a:off x="1024180" y="786880"/>
            <a:ext cx="8028384" cy="1939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Asocjacja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Transformacje asocjacyjne umożliwiają budowanie map (</a:t>
            </a:r>
            <a:r>
              <a:rPr lang="pl-PL" sz="1600" b="1" dirty="0"/>
              <a:t>Map</a:t>
            </a:r>
            <a:r>
              <a:rPr lang="pl-PL" sz="1600" dirty="0"/>
              <a:t>) na podstawie elementów kolekcji oraz wartości z nimi powiązanych.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associateWith</a:t>
            </a:r>
            <a:r>
              <a:rPr lang="pl-PL" sz="1600" b="1" dirty="0"/>
              <a:t>()</a:t>
            </a:r>
            <a:r>
              <a:rPr lang="pl-PL" sz="1600" dirty="0"/>
              <a:t> tworzy mapę, gdzie elementy oryginalnej kolekcji stają się kluczami.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7B29421F-1B85-F47E-E0DB-2E752CE84F5B}"/>
              </a:ext>
            </a:extLst>
          </p:cNvPr>
          <p:cNvSpPr/>
          <p:nvPr/>
        </p:nvSpPr>
        <p:spPr>
          <a:xfrm>
            <a:off x="1088473" y="5017240"/>
            <a:ext cx="276344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0513F9E8-7680-188B-C4A2-4023E454742E}"/>
              </a:ext>
            </a:extLst>
          </p:cNvPr>
          <p:cNvSpPr/>
          <p:nvPr/>
        </p:nvSpPr>
        <p:spPr>
          <a:xfrm>
            <a:off x="3883576" y="5159700"/>
            <a:ext cx="1581505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associateWith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CF1DD4F4-8742-E957-AECF-B0E87BA6F21B}"/>
              </a:ext>
            </a:extLst>
          </p:cNvPr>
          <p:cNvSpPr txBox="1"/>
          <p:nvPr/>
        </p:nvSpPr>
        <p:spPr>
          <a:xfrm>
            <a:off x="2006710" y="4979653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words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20FDE254-AD40-2F42-A95A-0BD19BB5A003}"/>
              </a:ext>
            </a:extLst>
          </p:cNvPr>
          <p:cNvSpPr/>
          <p:nvPr/>
        </p:nvSpPr>
        <p:spPr>
          <a:xfrm>
            <a:off x="1149013" y="5425515"/>
            <a:ext cx="85173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DBE9E557-DC28-B535-81B8-2C6F04E8E4D8}"/>
              </a:ext>
            </a:extLst>
          </p:cNvPr>
          <p:cNvSpPr/>
          <p:nvPr/>
        </p:nvSpPr>
        <p:spPr>
          <a:xfrm>
            <a:off x="5511012" y="5032199"/>
            <a:ext cx="3555827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073F9F5E-29D3-1154-CE7E-9745CC6AA564}"/>
              </a:ext>
            </a:extLst>
          </p:cNvPr>
          <p:cNvSpPr txBox="1"/>
          <p:nvPr/>
        </p:nvSpPr>
        <p:spPr>
          <a:xfrm>
            <a:off x="6710435" y="4999217"/>
            <a:ext cx="1096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lengths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ABC90D50-36F2-2A2F-4891-DDDC2D2583FE}"/>
              </a:ext>
            </a:extLst>
          </p:cNvPr>
          <p:cNvSpPr/>
          <p:nvPr/>
        </p:nvSpPr>
        <p:spPr>
          <a:xfrm>
            <a:off x="2063048" y="5435350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413B6977-5021-E7BA-4FDC-676F966E383A}"/>
              </a:ext>
            </a:extLst>
          </p:cNvPr>
          <p:cNvSpPr/>
          <p:nvPr/>
        </p:nvSpPr>
        <p:spPr>
          <a:xfrm>
            <a:off x="2952350" y="5435350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FA22DFCD-80EF-24AA-BD72-292E1BB47B2C}"/>
              </a:ext>
            </a:extLst>
          </p:cNvPr>
          <p:cNvSpPr/>
          <p:nvPr/>
        </p:nvSpPr>
        <p:spPr>
          <a:xfrm>
            <a:off x="3774337" y="5992896"/>
            <a:ext cx="1582038" cy="693600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21A4231B-0619-F7FB-E5ED-306D894429B8}"/>
              </a:ext>
            </a:extLst>
          </p:cNvPr>
          <p:cNvSpPr txBox="1"/>
          <p:nvPr/>
        </p:nvSpPr>
        <p:spPr>
          <a:xfrm>
            <a:off x="4101104" y="6165828"/>
            <a:ext cx="2092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 err="1">
                <a:solidFill>
                  <a:schemeClr val="tx1"/>
                </a:solidFill>
              </a:rPr>
              <a:t>it.</a:t>
            </a:r>
            <a:r>
              <a:rPr lang="pl-PL" sz="1600" dirty="0" err="1">
                <a:solidFill>
                  <a:schemeClr val="tx1"/>
                </a:solidFill>
              </a:rPr>
              <a:t>length</a:t>
            </a:r>
            <a:endParaRPr lang="pl-PL" sz="1600" dirty="0">
              <a:solidFill>
                <a:schemeClr val="tx1"/>
              </a:solidFill>
            </a:endParaRPr>
          </a:p>
          <a:p>
            <a:endParaRPr lang="pl-PL" dirty="0"/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B76F3865-5862-2154-D8D4-E820BFBEA79F}"/>
              </a:ext>
            </a:extLst>
          </p:cNvPr>
          <p:cNvSpPr/>
          <p:nvPr/>
        </p:nvSpPr>
        <p:spPr>
          <a:xfrm>
            <a:off x="5571189" y="5435350"/>
            <a:ext cx="1096775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one=3</a:t>
            </a: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C90989DE-E4B2-1920-4B68-7871E70A09F1}"/>
              </a:ext>
            </a:extLst>
          </p:cNvPr>
          <p:cNvSpPr/>
          <p:nvPr/>
        </p:nvSpPr>
        <p:spPr>
          <a:xfrm>
            <a:off x="7907333" y="5435350"/>
            <a:ext cx="1089853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r>
              <a:rPr lang="pl-PL" sz="2000" b="1" dirty="0">
                <a:solidFill>
                  <a:schemeClr val="tx1"/>
                </a:solidFill>
              </a:rPr>
              <a:t>=5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03203FAA-6DB0-6A59-E952-15F054DD768A}"/>
              </a:ext>
            </a:extLst>
          </p:cNvPr>
          <p:cNvSpPr/>
          <p:nvPr/>
        </p:nvSpPr>
        <p:spPr>
          <a:xfrm>
            <a:off x="6740161" y="5435350"/>
            <a:ext cx="1089854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r>
              <a:rPr lang="pl-PL" sz="2000" b="1" dirty="0">
                <a:solidFill>
                  <a:schemeClr val="tx1"/>
                </a:solidFill>
              </a:rPr>
              <a:t>=3</a:t>
            </a:r>
          </a:p>
        </p:txBody>
      </p:sp>
    </p:spTree>
    <p:extLst>
      <p:ext uri="{BB962C8B-B14F-4D97-AF65-F5344CB8AC3E}">
        <p14:creationId xmlns:p14="http://schemas.microsoft.com/office/powerpoint/2010/main" val="2381560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DB979-8E2C-8F71-3DE8-833D3520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5D3096-3D05-6F72-901D-FEAFC2D62FB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81E4185-4992-D08B-6F6E-F5A3668452A1}"/>
              </a:ext>
            </a:extLst>
          </p:cNvPr>
          <p:cNvSpPr txBox="1"/>
          <p:nvPr/>
        </p:nvSpPr>
        <p:spPr>
          <a:xfrm>
            <a:off x="1024180" y="786880"/>
            <a:ext cx="8028384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Asocjacja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associateBy</a:t>
            </a:r>
            <a:r>
              <a:rPr lang="pl-PL" sz="1600" dirty="0"/>
              <a:t>() buduje mapę, w której elementy kolekcji są wartościami, a klucze są generowane na podstawie podanej funkcji. W przypadku kluczy-duplikatów, w mapie zostaje tylko ostatnia para.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BB39964F-39C0-A46B-FB7C-5C41CCC40614}"/>
              </a:ext>
            </a:extLst>
          </p:cNvPr>
          <p:cNvSpPr/>
          <p:nvPr/>
        </p:nvSpPr>
        <p:spPr>
          <a:xfrm>
            <a:off x="1088473" y="5017240"/>
            <a:ext cx="276344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D429B225-74FB-D523-FFC4-204C3A7B7188}"/>
              </a:ext>
            </a:extLst>
          </p:cNvPr>
          <p:cNvSpPr/>
          <p:nvPr/>
        </p:nvSpPr>
        <p:spPr>
          <a:xfrm>
            <a:off x="3906497" y="5175573"/>
            <a:ext cx="1530568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associateBy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90A8AAB0-ED3E-9BB7-3DC4-A9050371BC42}"/>
              </a:ext>
            </a:extLst>
          </p:cNvPr>
          <p:cNvSpPr txBox="1"/>
          <p:nvPr/>
        </p:nvSpPr>
        <p:spPr>
          <a:xfrm>
            <a:off x="2006710" y="4979653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words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3E14A708-5FB3-1631-25C8-8A58643DCF19}"/>
              </a:ext>
            </a:extLst>
          </p:cNvPr>
          <p:cNvSpPr/>
          <p:nvPr/>
        </p:nvSpPr>
        <p:spPr>
          <a:xfrm>
            <a:off x="1149013" y="5425515"/>
            <a:ext cx="85173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8BBF2193-96D7-7DA4-A2DC-2F044F52403C}"/>
              </a:ext>
            </a:extLst>
          </p:cNvPr>
          <p:cNvSpPr/>
          <p:nvPr/>
        </p:nvSpPr>
        <p:spPr>
          <a:xfrm>
            <a:off x="5491642" y="5035240"/>
            <a:ext cx="356092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345BE53F-7902-BB31-E4A4-A9BEBAF7DE96}"/>
              </a:ext>
            </a:extLst>
          </p:cNvPr>
          <p:cNvSpPr txBox="1"/>
          <p:nvPr/>
        </p:nvSpPr>
        <p:spPr>
          <a:xfrm>
            <a:off x="6142873" y="5000341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mapByFirstLetter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AC5CEF14-DF94-E0FF-EA22-7C5E2BF422E9}"/>
              </a:ext>
            </a:extLst>
          </p:cNvPr>
          <p:cNvSpPr/>
          <p:nvPr/>
        </p:nvSpPr>
        <p:spPr>
          <a:xfrm>
            <a:off x="2063047" y="5425515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A06A0F2C-6EFE-5E1B-4417-0D17FEC7E3B6}"/>
              </a:ext>
            </a:extLst>
          </p:cNvPr>
          <p:cNvSpPr/>
          <p:nvPr/>
        </p:nvSpPr>
        <p:spPr>
          <a:xfrm>
            <a:off x="2952350" y="5435350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79AFB0C7-55DC-3AE3-7E92-06A35EE42BB4}"/>
              </a:ext>
            </a:extLst>
          </p:cNvPr>
          <p:cNvSpPr/>
          <p:nvPr/>
        </p:nvSpPr>
        <p:spPr>
          <a:xfrm>
            <a:off x="3855027" y="5991821"/>
            <a:ext cx="1582038" cy="693600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0167C91-BEFC-CBA8-5E75-B0E89383D84A}"/>
              </a:ext>
            </a:extLst>
          </p:cNvPr>
          <p:cNvSpPr txBox="1"/>
          <p:nvPr/>
        </p:nvSpPr>
        <p:spPr>
          <a:xfrm>
            <a:off x="4254276" y="6162201"/>
            <a:ext cx="2092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 err="1">
                <a:solidFill>
                  <a:schemeClr val="tx1"/>
                </a:solidFill>
              </a:rPr>
              <a:t>it.</a:t>
            </a:r>
            <a:r>
              <a:rPr lang="pl-PL" sz="1600" dirty="0" err="1">
                <a:solidFill>
                  <a:schemeClr val="tx1"/>
                </a:solidFill>
              </a:rPr>
              <a:t>first</a:t>
            </a:r>
            <a:r>
              <a:rPr lang="pl-PL" sz="1600" dirty="0">
                <a:solidFill>
                  <a:schemeClr val="tx1"/>
                </a:solidFill>
              </a:rPr>
              <a:t>()</a:t>
            </a:r>
          </a:p>
          <a:p>
            <a:endParaRPr lang="pl-PL" dirty="0"/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FB9F5183-9A0A-E85C-1BEF-975309FDC46C}"/>
              </a:ext>
            </a:extLst>
          </p:cNvPr>
          <p:cNvSpPr/>
          <p:nvPr/>
        </p:nvSpPr>
        <p:spPr>
          <a:xfrm>
            <a:off x="5966750" y="5425515"/>
            <a:ext cx="1096775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o=one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FE1006CB-7361-3F08-130F-DB19DE2A40F4}"/>
              </a:ext>
            </a:extLst>
          </p:cNvPr>
          <p:cNvSpPr/>
          <p:nvPr/>
        </p:nvSpPr>
        <p:spPr>
          <a:xfrm>
            <a:off x="7615140" y="5435350"/>
            <a:ext cx="1089854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t=</a:t>
            </a:r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endParaRPr lang="pl-PL" sz="2000" b="1" dirty="0">
              <a:solidFill>
                <a:schemeClr val="tx1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2DB69B8-2A61-B19A-FA1B-29D357793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15" y="2470270"/>
            <a:ext cx="73914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7C522-73D0-ACA3-CA52-0C3A0F8A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7AE9BC-C1E1-A738-6B09-0617AB3DA66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DD45BF0-4E2D-7F37-3C16-49E05D0A7BD4}"/>
              </a:ext>
            </a:extLst>
          </p:cNvPr>
          <p:cNvSpPr txBox="1"/>
          <p:nvPr/>
        </p:nvSpPr>
        <p:spPr>
          <a:xfrm>
            <a:off x="1024180" y="786880"/>
            <a:ext cx="8028384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Asocjacja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Można dodać drugą funkcję transformującą, która określa, jak przekształcić wartości w mapie.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E16C4F04-18E5-7BF4-7109-020DDBB8C400}"/>
              </a:ext>
            </a:extLst>
          </p:cNvPr>
          <p:cNvSpPr/>
          <p:nvPr/>
        </p:nvSpPr>
        <p:spPr>
          <a:xfrm>
            <a:off x="1024180" y="5017240"/>
            <a:ext cx="276344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08A3BE9C-842E-CC80-8631-0138F3994B9A}"/>
              </a:ext>
            </a:extLst>
          </p:cNvPr>
          <p:cNvSpPr/>
          <p:nvPr/>
        </p:nvSpPr>
        <p:spPr>
          <a:xfrm>
            <a:off x="3862168" y="5161708"/>
            <a:ext cx="2330556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associateBy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05C7D561-A308-0509-8595-C3BBE7B0AAF6}"/>
              </a:ext>
            </a:extLst>
          </p:cNvPr>
          <p:cNvSpPr txBox="1"/>
          <p:nvPr/>
        </p:nvSpPr>
        <p:spPr>
          <a:xfrm>
            <a:off x="1942417" y="4979653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words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82E9EB0A-7386-41F5-9C7E-6D858582A0AE}"/>
              </a:ext>
            </a:extLst>
          </p:cNvPr>
          <p:cNvSpPr/>
          <p:nvPr/>
        </p:nvSpPr>
        <p:spPr>
          <a:xfrm>
            <a:off x="1084720" y="5425515"/>
            <a:ext cx="85173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C556F8C-F4CD-2857-0D7D-EB88977171A1}"/>
              </a:ext>
            </a:extLst>
          </p:cNvPr>
          <p:cNvSpPr/>
          <p:nvPr/>
        </p:nvSpPr>
        <p:spPr>
          <a:xfrm>
            <a:off x="6295784" y="5035240"/>
            <a:ext cx="2756780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914E2E38-B095-9E55-261A-C671B30E2C64}"/>
              </a:ext>
            </a:extLst>
          </p:cNvPr>
          <p:cNvSpPr txBox="1"/>
          <p:nvPr/>
        </p:nvSpPr>
        <p:spPr>
          <a:xfrm>
            <a:off x="6425526" y="5010813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mapByFirstLetter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1B81B8B1-DFEA-E674-7C5F-6FB3AEF764B6}"/>
              </a:ext>
            </a:extLst>
          </p:cNvPr>
          <p:cNvSpPr/>
          <p:nvPr/>
        </p:nvSpPr>
        <p:spPr>
          <a:xfrm>
            <a:off x="1998754" y="5425515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6864AE75-1E55-7854-7E0F-D4A8A5B5B2E3}"/>
              </a:ext>
            </a:extLst>
          </p:cNvPr>
          <p:cNvSpPr/>
          <p:nvPr/>
        </p:nvSpPr>
        <p:spPr>
          <a:xfrm>
            <a:off x="2888057" y="5435350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3FEAD43A-AA7D-18C0-7490-A6CF15AB31E2}"/>
              </a:ext>
            </a:extLst>
          </p:cNvPr>
          <p:cNvSpPr/>
          <p:nvPr/>
        </p:nvSpPr>
        <p:spPr>
          <a:xfrm>
            <a:off x="3990154" y="5804107"/>
            <a:ext cx="2025119" cy="1025248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B9673C1F-653E-367E-BAED-3FD09877F037}"/>
              </a:ext>
            </a:extLst>
          </p:cNvPr>
          <p:cNvSpPr txBox="1"/>
          <p:nvPr/>
        </p:nvSpPr>
        <p:spPr>
          <a:xfrm>
            <a:off x="4359090" y="5995956"/>
            <a:ext cx="2092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 err="1">
                <a:solidFill>
                  <a:schemeClr val="tx1"/>
                </a:solidFill>
              </a:rPr>
              <a:t>it.</a:t>
            </a:r>
            <a:r>
              <a:rPr lang="pl-PL" sz="1600" dirty="0" err="1">
                <a:solidFill>
                  <a:schemeClr val="tx1"/>
                </a:solidFill>
              </a:rPr>
              <a:t>first</a:t>
            </a:r>
            <a:r>
              <a:rPr lang="pl-PL" sz="1600" dirty="0">
                <a:solidFill>
                  <a:schemeClr val="tx1"/>
                </a:solidFill>
              </a:rPr>
              <a:t>()</a:t>
            </a:r>
          </a:p>
          <a:p>
            <a:r>
              <a:rPr lang="pl-PL" sz="1600" b="1" dirty="0" err="1"/>
              <a:t>it</a:t>
            </a:r>
            <a:r>
              <a:rPr lang="pl-PL" sz="1600" dirty="0" err="1"/>
              <a:t>.uppercase</a:t>
            </a:r>
            <a:r>
              <a:rPr lang="pl-PL" sz="1600" dirty="0"/>
              <a:t>()</a:t>
            </a: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E562076F-7912-23A1-7969-FA36B5A0EA25}"/>
              </a:ext>
            </a:extLst>
          </p:cNvPr>
          <p:cNvSpPr/>
          <p:nvPr/>
        </p:nvSpPr>
        <p:spPr>
          <a:xfrm>
            <a:off x="6524636" y="5425515"/>
            <a:ext cx="1096775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o=ONE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56CF9005-9DE5-9D65-24C9-D8884BC2254C}"/>
              </a:ext>
            </a:extLst>
          </p:cNvPr>
          <p:cNvSpPr/>
          <p:nvPr/>
        </p:nvSpPr>
        <p:spPr>
          <a:xfrm>
            <a:off x="7744172" y="5414761"/>
            <a:ext cx="12053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t=THREE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6F3E0BD-ACFC-1313-5167-100EC5E0D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20" y="2038358"/>
            <a:ext cx="6598877" cy="292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9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7ED8BC-B465-D50B-F350-5CB237E6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D5962-BD04-2C41-FD19-FBFABB13C33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EE3CE4B-9050-9A6A-D6E0-7B8FC6E81408}"/>
              </a:ext>
            </a:extLst>
          </p:cNvPr>
          <p:cNvSpPr txBox="1"/>
          <p:nvPr/>
        </p:nvSpPr>
        <p:spPr>
          <a:xfrm>
            <a:off x="1024180" y="786880"/>
            <a:ext cx="8028384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Asocjacja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associate</a:t>
            </a:r>
            <a:r>
              <a:rPr lang="pl-PL" sz="1600" b="1" dirty="0"/>
              <a:t>()</a:t>
            </a:r>
            <a:r>
              <a:rPr lang="pl-PL" sz="1600" dirty="0"/>
              <a:t> pozwala zbudować mapę, w której zarówno klucz, jak i wartość są tworzone na podstawie elementu kolekcji za pomocą funkcji zwracającej parę (</a:t>
            </a:r>
            <a:r>
              <a:rPr lang="pl-PL" sz="1600" b="1" dirty="0" err="1"/>
              <a:t>Pair</a:t>
            </a:r>
            <a:r>
              <a:rPr lang="pl-PL" sz="1600" dirty="0"/>
              <a:t>).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1CF61A80-17AA-2183-6D1B-D91928858AEF}"/>
              </a:ext>
            </a:extLst>
          </p:cNvPr>
          <p:cNvSpPr/>
          <p:nvPr/>
        </p:nvSpPr>
        <p:spPr>
          <a:xfrm>
            <a:off x="1080120" y="4906747"/>
            <a:ext cx="276344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33DEE100-FC26-2849-B959-60822D0D2337}"/>
              </a:ext>
            </a:extLst>
          </p:cNvPr>
          <p:cNvSpPr/>
          <p:nvPr/>
        </p:nvSpPr>
        <p:spPr>
          <a:xfrm>
            <a:off x="3918108" y="5051215"/>
            <a:ext cx="2330556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associate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3A11B47-DD4A-1662-72F1-3F9E51A874A1}"/>
              </a:ext>
            </a:extLst>
          </p:cNvPr>
          <p:cNvSpPr txBox="1"/>
          <p:nvPr/>
        </p:nvSpPr>
        <p:spPr>
          <a:xfrm>
            <a:off x="1998357" y="4869160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words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4DCBC979-E74D-5809-75C8-617571EAC173}"/>
              </a:ext>
            </a:extLst>
          </p:cNvPr>
          <p:cNvSpPr/>
          <p:nvPr/>
        </p:nvSpPr>
        <p:spPr>
          <a:xfrm>
            <a:off x="1140660" y="5315022"/>
            <a:ext cx="85173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one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70009C4-5812-FDA5-DB65-5B5EBC77A425}"/>
              </a:ext>
            </a:extLst>
          </p:cNvPr>
          <p:cNvSpPr/>
          <p:nvPr/>
        </p:nvSpPr>
        <p:spPr>
          <a:xfrm>
            <a:off x="6351724" y="4924747"/>
            <a:ext cx="2756780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0D57C814-EBA0-155E-96E0-4C0E71A12DE2}"/>
              </a:ext>
            </a:extLst>
          </p:cNvPr>
          <p:cNvSpPr txBox="1"/>
          <p:nvPr/>
        </p:nvSpPr>
        <p:spPr>
          <a:xfrm>
            <a:off x="7444085" y="4871638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>
                <a:solidFill>
                  <a:schemeClr val="accent1">
                    <a:lumMod val="75000"/>
                  </a:schemeClr>
                </a:solidFill>
              </a:rPr>
              <a:t>map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5F98F9E4-E5A7-0FD9-A419-2F50769F2253}"/>
              </a:ext>
            </a:extLst>
          </p:cNvPr>
          <p:cNvSpPr/>
          <p:nvPr/>
        </p:nvSpPr>
        <p:spPr>
          <a:xfrm>
            <a:off x="2054694" y="5315022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two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FCDBD1FD-E14D-7594-D587-3256C3DFC041}"/>
              </a:ext>
            </a:extLst>
          </p:cNvPr>
          <p:cNvSpPr/>
          <p:nvPr/>
        </p:nvSpPr>
        <p:spPr>
          <a:xfrm>
            <a:off x="2943997" y="5324857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three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770B26A2-5191-0A8D-00B4-B0D335D0C3C9}"/>
              </a:ext>
            </a:extLst>
          </p:cNvPr>
          <p:cNvSpPr/>
          <p:nvPr/>
        </p:nvSpPr>
        <p:spPr>
          <a:xfrm>
            <a:off x="4046094" y="5693614"/>
            <a:ext cx="2025119" cy="1025248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4631E5F2-274C-12EF-CBD9-C59FC37C255D}"/>
              </a:ext>
            </a:extLst>
          </p:cNvPr>
          <p:cNvSpPr txBox="1"/>
          <p:nvPr/>
        </p:nvSpPr>
        <p:spPr>
          <a:xfrm>
            <a:off x="4490662" y="5873313"/>
            <a:ext cx="2092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 err="1">
                <a:solidFill>
                  <a:schemeClr val="tx1"/>
                </a:solidFill>
              </a:rPr>
              <a:t>it.</a:t>
            </a:r>
            <a:r>
              <a:rPr lang="pl-PL" sz="1600" dirty="0" err="1">
                <a:solidFill>
                  <a:schemeClr val="tx1"/>
                </a:solidFill>
              </a:rPr>
              <a:t>first</a:t>
            </a:r>
            <a:r>
              <a:rPr lang="pl-PL" sz="1600" dirty="0">
                <a:solidFill>
                  <a:schemeClr val="tx1"/>
                </a:solidFill>
              </a:rPr>
              <a:t>() </a:t>
            </a:r>
            <a:r>
              <a:rPr lang="pl-PL" sz="1600" i="1" dirty="0">
                <a:solidFill>
                  <a:schemeClr val="tx1"/>
                </a:solidFill>
              </a:rPr>
              <a:t>to</a:t>
            </a:r>
          </a:p>
          <a:p>
            <a:r>
              <a:rPr lang="pl-PL" sz="1600" b="1" dirty="0" err="1"/>
              <a:t>it</a:t>
            </a:r>
            <a:r>
              <a:rPr lang="pl-PL" sz="1600" dirty="0" err="1"/>
              <a:t>.length</a:t>
            </a:r>
            <a:endParaRPr lang="pl-PL" sz="1600" dirty="0"/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1F58ED4B-EF68-6A9B-94E8-776C0DBF1E53}"/>
              </a:ext>
            </a:extLst>
          </p:cNvPr>
          <p:cNvSpPr/>
          <p:nvPr/>
        </p:nvSpPr>
        <p:spPr>
          <a:xfrm>
            <a:off x="6559185" y="5324857"/>
            <a:ext cx="1096775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o=3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1FD15815-E46F-3E39-4996-D6B98BEE4698}"/>
              </a:ext>
            </a:extLst>
          </p:cNvPr>
          <p:cNvSpPr/>
          <p:nvPr/>
        </p:nvSpPr>
        <p:spPr>
          <a:xfrm>
            <a:off x="7936471" y="5324857"/>
            <a:ext cx="1058128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t=5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C600F3A-C530-6029-87BB-FC8CFB8A7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72" y="2093519"/>
            <a:ext cx="71913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38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3C444-8E01-255D-75EC-FF8C5CDE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02CD35-CDD2-4E92-BA0B-496AA449D1C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FA5E5DD-D27E-11BA-B3A4-B9070C9E0C35}"/>
              </a:ext>
            </a:extLst>
          </p:cNvPr>
          <p:cNvSpPr txBox="1"/>
          <p:nvPr/>
        </p:nvSpPr>
        <p:spPr>
          <a:xfrm>
            <a:off x="1024180" y="786880"/>
            <a:ext cx="8028384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Spłaszczanie kolekcji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flatten</a:t>
            </a:r>
            <a:r>
              <a:rPr lang="pl-PL" sz="1600" b="1" dirty="0"/>
              <a:t>()</a:t>
            </a:r>
            <a:r>
              <a:rPr lang="pl-PL" sz="1600" dirty="0"/>
              <a:t> działa na kolekcji </a:t>
            </a:r>
            <a:r>
              <a:rPr lang="pl-PL" sz="1600" dirty="0" err="1"/>
              <a:t>kolekcji</a:t>
            </a:r>
            <a:r>
              <a:rPr lang="pl-PL" sz="1600" dirty="0"/>
              <a:t>, np. </a:t>
            </a:r>
            <a:r>
              <a:rPr lang="pl-PL" sz="1600" b="1" dirty="0"/>
              <a:t>List&lt;Set&lt;T&gt;&gt;</a:t>
            </a:r>
            <a:r>
              <a:rPr lang="pl-PL" sz="1600" dirty="0"/>
              <a:t> lub </a:t>
            </a:r>
            <a:r>
              <a:rPr lang="pl-PL" sz="1600" b="1" dirty="0"/>
              <a:t>List&lt;List&lt;T&gt;&gt;</a:t>
            </a:r>
            <a:r>
              <a:rPr lang="pl-PL" sz="1600" dirty="0"/>
              <a:t>. Wynikiem jest pojedyncza lista zawierająca wszystkie elementy z kolekcji zagnieżdżonych.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67DF316F-9890-5AC2-B6DA-E4F4380101DE}"/>
              </a:ext>
            </a:extLst>
          </p:cNvPr>
          <p:cNvSpPr/>
          <p:nvPr/>
        </p:nvSpPr>
        <p:spPr>
          <a:xfrm>
            <a:off x="1088473" y="5017240"/>
            <a:ext cx="276344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2E87FAE8-3E68-6922-0072-BFA852EAD579}"/>
              </a:ext>
            </a:extLst>
          </p:cNvPr>
          <p:cNvSpPr/>
          <p:nvPr/>
        </p:nvSpPr>
        <p:spPr>
          <a:xfrm>
            <a:off x="3937654" y="5161708"/>
            <a:ext cx="2255069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flatten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CBB3124-E82C-B3E7-C42C-F25C301E338B}"/>
              </a:ext>
            </a:extLst>
          </p:cNvPr>
          <p:cNvSpPr txBox="1"/>
          <p:nvPr/>
        </p:nvSpPr>
        <p:spPr>
          <a:xfrm>
            <a:off x="1755973" y="498625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nestedList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12F21D3C-3F70-16B0-BCC5-8707CDCB1C50}"/>
              </a:ext>
            </a:extLst>
          </p:cNvPr>
          <p:cNvSpPr/>
          <p:nvPr/>
        </p:nvSpPr>
        <p:spPr>
          <a:xfrm>
            <a:off x="1149013" y="5425515"/>
            <a:ext cx="85173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1,2,3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6468106-4F9A-FE1A-E8D7-0560F17ADBA6}"/>
              </a:ext>
            </a:extLst>
          </p:cNvPr>
          <p:cNvSpPr/>
          <p:nvPr/>
        </p:nvSpPr>
        <p:spPr>
          <a:xfrm>
            <a:off x="6333562" y="5035240"/>
            <a:ext cx="2756780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997E6B09-43D1-B510-E344-1D58DAE8E7EC}"/>
              </a:ext>
            </a:extLst>
          </p:cNvPr>
          <p:cNvSpPr txBox="1"/>
          <p:nvPr/>
        </p:nvSpPr>
        <p:spPr>
          <a:xfrm>
            <a:off x="6968937" y="4986252"/>
            <a:ext cx="1707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flattenedList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492D9663-6E94-FC75-FB5B-1C098C023548}"/>
              </a:ext>
            </a:extLst>
          </p:cNvPr>
          <p:cNvSpPr/>
          <p:nvPr/>
        </p:nvSpPr>
        <p:spPr>
          <a:xfrm>
            <a:off x="2063047" y="5425515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4,5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D488700B-654B-2BCE-5479-EE98A587475D}"/>
              </a:ext>
            </a:extLst>
          </p:cNvPr>
          <p:cNvSpPr/>
          <p:nvPr/>
        </p:nvSpPr>
        <p:spPr>
          <a:xfrm>
            <a:off x="2952350" y="5435350"/>
            <a:ext cx="827006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6</a:t>
            </a:r>
            <a:endParaRPr lang="pl-PL" sz="2400" b="1" dirty="0">
              <a:solidFill>
                <a:schemeClr val="tx1"/>
              </a:solidFill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5656F30-C8C5-8668-6AC6-89F2C17C5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20" y="2436248"/>
            <a:ext cx="7967844" cy="2486668"/>
          </a:xfrm>
          <a:prstGeom prst="rect">
            <a:avLst/>
          </a:prstGeom>
        </p:spPr>
      </p:pic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37B44B88-3366-81DB-351B-18BA2D569BA2}"/>
              </a:ext>
            </a:extLst>
          </p:cNvPr>
          <p:cNvSpPr/>
          <p:nvPr/>
        </p:nvSpPr>
        <p:spPr>
          <a:xfrm>
            <a:off x="6445493" y="5449698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076A2484-7586-2D79-D21A-688D9D300743}"/>
              </a:ext>
            </a:extLst>
          </p:cNvPr>
          <p:cNvSpPr/>
          <p:nvPr/>
        </p:nvSpPr>
        <p:spPr>
          <a:xfrm>
            <a:off x="6891824" y="5449698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2F59831D-8004-D236-F28E-A434EA9EE9A2}"/>
              </a:ext>
            </a:extLst>
          </p:cNvPr>
          <p:cNvSpPr/>
          <p:nvPr/>
        </p:nvSpPr>
        <p:spPr>
          <a:xfrm>
            <a:off x="7340616" y="5456186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0AAE8B14-7899-C258-8CF4-D9161A215039}"/>
              </a:ext>
            </a:extLst>
          </p:cNvPr>
          <p:cNvSpPr/>
          <p:nvPr/>
        </p:nvSpPr>
        <p:spPr>
          <a:xfrm>
            <a:off x="7791869" y="5454489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439BA1F7-A0CC-391E-37B7-12499A3DDDEA}"/>
              </a:ext>
            </a:extLst>
          </p:cNvPr>
          <p:cNvSpPr/>
          <p:nvPr/>
        </p:nvSpPr>
        <p:spPr>
          <a:xfrm>
            <a:off x="8243122" y="5454489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5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F76EDEA1-6C68-2754-EF4F-D422B98F9C40}"/>
              </a:ext>
            </a:extLst>
          </p:cNvPr>
          <p:cNvSpPr/>
          <p:nvPr/>
        </p:nvSpPr>
        <p:spPr>
          <a:xfrm>
            <a:off x="8689453" y="5456186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6</a:t>
            </a:r>
            <a:endParaRPr lang="pl-P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660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63A45-30F0-713C-0AE3-BF616F79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5BD1DE-2A2C-B18D-9008-8595C2056D4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CDD3925-C7AA-03AC-A4F2-A2FE8AAD8CCF}"/>
              </a:ext>
            </a:extLst>
          </p:cNvPr>
          <p:cNvSpPr txBox="1"/>
          <p:nvPr/>
        </p:nvSpPr>
        <p:spPr>
          <a:xfrm>
            <a:off x="1024180" y="786880"/>
            <a:ext cx="8028384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Spłaszczanie kolekcji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flatMap</a:t>
            </a:r>
            <a:r>
              <a:rPr lang="pl-PL" sz="1600" b="1" dirty="0"/>
              <a:t>()</a:t>
            </a:r>
            <a:r>
              <a:rPr lang="pl-PL" sz="1600" dirty="0"/>
              <a:t> jest bardziej uniwersalna. Działa podobnie jak kombinacja </a:t>
            </a:r>
            <a:r>
              <a:rPr lang="pl-PL" sz="1600" b="1" dirty="0"/>
              <a:t>map()</a:t>
            </a:r>
            <a:r>
              <a:rPr lang="pl-PL" sz="1600" dirty="0"/>
              <a:t> i </a:t>
            </a:r>
            <a:r>
              <a:rPr lang="pl-PL" sz="1600" b="1" dirty="0" err="1"/>
              <a:t>flatten</a:t>
            </a:r>
            <a:r>
              <a:rPr lang="pl-PL" sz="1600" b="1" dirty="0"/>
              <a:t>()</a:t>
            </a:r>
            <a:r>
              <a:rPr lang="pl-PL" sz="1600" dirty="0"/>
              <a:t>. Najpierw mapuje elementy kolekcji wejściowej na inne kolekcje, a następnie łączy wyniki w jedną listę.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32D34EA7-F1E4-B1A0-2B7C-8F9514EBFFA0}"/>
              </a:ext>
            </a:extLst>
          </p:cNvPr>
          <p:cNvSpPr/>
          <p:nvPr/>
        </p:nvSpPr>
        <p:spPr>
          <a:xfrm>
            <a:off x="1088473" y="5017240"/>
            <a:ext cx="276344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815A640F-C5A2-8290-1D20-A93F550794D4}"/>
              </a:ext>
            </a:extLst>
          </p:cNvPr>
          <p:cNvSpPr/>
          <p:nvPr/>
        </p:nvSpPr>
        <p:spPr>
          <a:xfrm>
            <a:off x="3969636" y="5161708"/>
            <a:ext cx="2330556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flatMap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7EFCD901-1B83-DE25-0EDB-87351E599637}"/>
              </a:ext>
            </a:extLst>
          </p:cNvPr>
          <p:cNvSpPr txBox="1"/>
          <p:nvPr/>
        </p:nvSpPr>
        <p:spPr>
          <a:xfrm>
            <a:off x="1755973" y="4986252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8D99CCF-8465-A178-052B-BA548E37DAAF}"/>
              </a:ext>
            </a:extLst>
          </p:cNvPr>
          <p:cNvSpPr/>
          <p:nvPr/>
        </p:nvSpPr>
        <p:spPr>
          <a:xfrm>
            <a:off x="6333562" y="5035240"/>
            <a:ext cx="2756780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CCA286D4-8ACF-46FB-0928-97B24E33C3D3}"/>
              </a:ext>
            </a:extLst>
          </p:cNvPr>
          <p:cNvSpPr txBox="1"/>
          <p:nvPr/>
        </p:nvSpPr>
        <p:spPr>
          <a:xfrm>
            <a:off x="7095204" y="5004914"/>
            <a:ext cx="13933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multiplied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61CD15D0-59A9-DB15-E398-87FA11BC985C}"/>
              </a:ext>
            </a:extLst>
          </p:cNvPr>
          <p:cNvSpPr/>
          <p:nvPr/>
        </p:nvSpPr>
        <p:spPr>
          <a:xfrm>
            <a:off x="6445493" y="5449698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0D52CF2C-DC3E-4B83-0E37-3836CC8B7D42}"/>
              </a:ext>
            </a:extLst>
          </p:cNvPr>
          <p:cNvSpPr/>
          <p:nvPr/>
        </p:nvSpPr>
        <p:spPr>
          <a:xfrm>
            <a:off x="6891824" y="5449698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2CBC7BBA-A8C3-2A0C-4AE8-45581F4BDBD7}"/>
              </a:ext>
            </a:extLst>
          </p:cNvPr>
          <p:cNvSpPr/>
          <p:nvPr/>
        </p:nvSpPr>
        <p:spPr>
          <a:xfrm>
            <a:off x="7340616" y="5456186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CECC7522-E1A2-C5F2-EEA2-68EBBD56844D}"/>
              </a:ext>
            </a:extLst>
          </p:cNvPr>
          <p:cNvSpPr/>
          <p:nvPr/>
        </p:nvSpPr>
        <p:spPr>
          <a:xfrm>
            <a:off x="7791869" y="5454489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AB92A7C6-0480-1771-B75F-7A83D290D779}"/>
              </a:ext>
            </a:extLst>
          </p:cNvPr>
          <p:cNvSpPr/>
          <p:nvPr/>
        </p:nvSpPr>
        <p:spPr>
          <a:xfrm>
            <a:off x="8243122" y="5454489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0CD7C0C-E637-E979-FD53-62ED9C341A9D}"/>
              </a:ext>
            </a:extLst>
          </p:cNvPr>
          <p:cNvSpPr/>
          <p:nvPr/>
        </p:nvSpPr>
        <p:spPr>
          <a:xfrm>
            <a:off x="8689453" y="5456186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6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BAB1B9F6-895B-8A59-323C-4D238F9B737A}"/>
              </a:ext>
            </a:extLst>
          </p:cNvPr>
          <p:cNvSpPr/>
          <p:nvPr/>
        </p:nvSpPr>
        <p:spPr>
          <a:xfrm>
            <a:off x="1360329" y="5411452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CD5B577-2CEA-1BD6-76BC-CBF0A351E982}"/>
              </a:ext>
            </a:extLst>
          </p:cNvPr>
          <p:cNvSpPr/>
          <p:nvPr/>
        </p:nvSpPr>
        <p:spPr>
          <a:xfrm>
            <a:off x="2185369" y="539503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90A35207-F716-831A-DD5E-3BE6CF47D98D}"/>
              </a:ext>
            </a:extLst>
          </p:cNvPr>
          <p:cNvSpPr/>
          <p:nvPr/>
        </p:nvSpPr>
        <p:spPr>
          <a:xfrm>
            <a:off x="3010409" y="539503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052A92D4-BE93-1AF0-8B67-C2EBABE875F5}"/>
              </a:ext>
            </a:extLst>
          </p:cNvPr>
          <p:cNvSpPr/>
          <p:nvPr/>
        </p:nvSpPr>
        <p:spPr>
          <a:xfrm>
            <a:off x="3990154" y="5804107"/>
            <a:ext cx="2025119" cy="1025248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11144C4F-4BDF-6375-28E5-24FA0ECB3D74}"/>
                  </a:ext>
                </a:extLst>
              </p:cNvPr>
              <p:cNvSpPr txBox="1"/>
              <p:nvPr/>
            </p:nvSpPr>
            <p:spPr>
              <a:xfrm>
                <a:off x="4251682" y="6178231"/>
                <a:ext cx="15733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1800" b="0" i="0" smtClean="0">
                          <a:latin typeface="Cambria Math" panose="02040503050406030204" pitchFamily="18" charset="0"/>
                        </a:rPr>
                        <m:t>listOf</m:t>
                      </m:r>
                      <m:d>
                        <m:dPr>
                          <m:ctrlPr>
                            <a:rPr lang="pl-P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1800" b="1" i="0" smtClean="0">
                              <a:latin typeface="Cambria Math" panose="02040503050406030204" pitchFamily="18" charset="0"/>
                            </a:rPr>
                            <m:t>𝐢𝐭</m:t>
                          </m:r>
                          <m:r>
                            <a:rPr lang="pl-PL" sz="18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1800" b="1" i="0" smtClean="0">
                              <a:latin typeface="Cambria Math" panose="02040503050406030204" pitchFamily="18" charset="0"/>
                            </a:rPr>
                            <m:t>𝐢𝐭</m:t>
                          </m:r>
                          <m:r>
                            <a:rPr lang="pl-PL" sz="18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pl-PL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pl-PL" sz="1800" dirty="0"/>
              </a:p>
            </p:txBody>
          </p:sp>
        </mc:Choice>
        <mc:Fallback xmlns="">
          <p:sp>
            <p:nvSpPr>
              <p:cNvPr id="25" name="pole tekstowe 24">
                <a:extLst>
                  <a:ext uri="{FF2B5EF4-FFF2-40B4-BE49-F238E27FC236}">
                    <a16:creationId xmlns:a16="http://schemas.microsoft.com/office/drawing/2014/main" id="{11144C4F-4BDF-6375-28E5-24FA0ECB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682" y="6178231"/>
                <a:ext cx="1573379" cy="276999"/>
              </a:xfrm>
              <a:prstGeom prst="rect">
                <a:avLst/>
              </a:prstGeom>
              <a:blipFill>
                <a:blip r:embed="rId4"/>
                <a:stretch>
                  <a:fillRect l="-1931" b="-86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Obraz 27">
            <a:extLst>
              <a:ext uri="{FF2B5EF4-FFF2-40B4-BE49-F238E27FC236}">
                <a16:creationId xmlns:a16="http://schemas.microsoft.com/office/drawing/2014/main" id="{96BAB325-A45D-9E48-F02A-29F6F1165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47" y="2420389"/>
            <a:ext cx="75914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48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0EB9B-CF4F-EA84-54A8-8E9317DB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EB10D-D180-ED85-02EE-2E4AC68CAA5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Filtrowanie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7FE6671-8307-8EC2-67D7-80DB973BE8CE}"/>
              </a:ext>
            </a:extLst>
          </p:cNvPr>
          <p:cNvSpPr txBox="1"/>
          <p:nvPr/>
        </p:nvSpPr>
        <p:spPr>
          <a:xfrm>
            <a:off x="1024180" y="786880"/>
            <a:ext cx="8028384" cy="304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Przez predykat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W Kotlinie warunki filtracji definiowane są za pomocą </a:t>
            </a:r>
            <a:r>
              <a:rPr lang="pl-PL" sz="1600" b="1" dirty="0"/>
              <a:t>predykatów</a:t>
            </a:r>
            <a:r>
              <a:rPr lang="pl-PL" sz="1600" dirty="0"/>
              <a:t> – funkcji lambda, które przyjmują element kolekcji i zwracają wartość logiczną: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true</a:t>
            </a:r>
            <a:r>
              <a:rPr lang="pl-PL" sz="1600" dirty="0"/>
              <a:t> oznacza, że dany element spełnia warunek predykatu,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false</a:t>
            </a:r>
            <a:r>
              <a:rPr lang="pl-PL" sz="1600" dirty="0"/>
              <a:t> oznacza, że element nie spełnia warunku.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Te funkcje </a:t>
            </a:r>
            <a:r>
              <a:rPr lang="pl-PL" sz="1600" b="1" dirty="0"/>
              <a:t>nie modyfikują oryginalnej kolekcji</a:t>
            </a:r>
            <a:r>
              <a:rPr lang="pl-PL" sz="1600" dirty="0"/>
              <a:t>, dlatego można ich używać zarówno na kolekcjach </a:t>
            </a:r>
            <a:r>
              <a:rPr lang="pl-PL" sz="1600" dirty="0" err="1"/>
              <a:t>mutowalnych</a:t>
            </a:r>
            <a:r>
              <a:rPr lang="pl-PL" sz="1600" dirty="0"/>
              <a:t>, jak i tylko do odczytu.</a:t>
            </a:r>
          </a:p>
        </p:txBody>
      </p:sp>
    </p:spTree>
    <p:extLst>
      <p:ext uri="{BB962C8B-B14F-4D97-AF65-F5344CB8AC3E}">
        <p14:creationId xmlns:p14="http://schemas.microsoft.com/office/powerpoint/2010/main" val="241626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39422-C0BD-B8F9-FE5E-9C4D18E9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B4F858-3CA0-A19F-4FB0-6C77547DE77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Filtrowanie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E7B4BEE-19A5-3700-455C-B7985C914943}"/>
              </a:ext>
            </a:extLst>
          </p:cNvPr>
          <p:cNvSpPr txBox="1"/>
          <p:nvPr/>
        </p:nvSpPr>
        <p:spPr>
          <a:xfrm>
            <a:off x="1024180" y="786880"/>
            <a:ext cx="8028384" cy="157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Przez predykat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filter</a:t>
            </a:r>
            <a:r>
              <a:rPr lang="pl-PL" sz="1600" b="1" dirty="0"/>
              <a:t>()</a:t>
            </a:r>
            <a:r>
              <a:rPr lang="pl-PL" sz="1600" dirty="0"/>
              <a:t> zwraca elementy kolekcji, które spełniają podany predykat. Działa zarówno na listach, zbiorach, jak i mapach. W przypadku map filtracja odbywa się na wartościach.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E4FB70FA-C847-75C1-4277-64FA53DEB0C2}"/>
              </a:ext>
            </a:extLst>
          </p:cNvPr>
          <p:cNvSpPr/>
          <p:nvPr/>
        </p:nvSpPr>
        <p:spPr>
          <a:xfrm>
            <a:off x="1115616" y="5017240"/>
            <a:ext cx="3136066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6DDF6889-C6B6-A009-E05A-85FC74B34484}"/>
              </a:ext>
            </a:extLst>
          </p:cNvPr>
          <p:cNvSpPr/>
          <p:nvPr/>
        </p:nvSpPr>
        <p:spPr>
          <a:xfrm>
            <a:off x="4326251" y="5161708"/>
            <a:ext cx="2007311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filter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A5B535C1-0415-BBFC-455F-64D726F87632}"/>
              </a:ext>
            </a:extLst>
          </p:cNvPr>
          <p:cNvSpPr txBox="1"/>
          <p:nvPr/>
        </p:nvSpPr>
        <p:spPr>
          <a:xfrm>
            <a:off x="1997680" y="4982997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586BA99C-4F64-27F9-2192-0DF44C82FE98}"/>
              </a:ext>
            </a:extLst>
          </p:cNvPr>
          <p:cNvSpPr/>
          <p:nvPr/>
        </p:nvSpPr>
        <p:spPr>
          <a:xfrm>
            <a:off x="6333562" y="5035240"/>
            <a:ext cx="271900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8C9E6865-3057-2DD2-9B96-804BE79A55A3}"/>
              </a:ext>
            </a:extLst>
          </p:cNvPr>
          <p:cNvSpPr txBox="1"/>
          <p:nvPr/>
        </p:nvSpPr>
        <p:spPr>
          <a:xfrm>
            <a:off x="6891824" y="5024786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evenNumbers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8C897328-4442-AF93-170F-C0C6E6D2EFF1}"/>
              </a:ext>
            </a:extLst>
          </p:cNvPr>
          <p:cNvSpPr/>
          <p:nvPr/>
        </p:nvSpPr>
        <p:spPr>
          <a:xfrm>
            <a:off x="6672479" y="5401272"/>
            <a:ext cx="88580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A3BA2A03-A363-06DE-0EAF-788B50435B19}"/>
              </a:ext>
            </a:extLst>
          </p:cNvPr>
          <p:cNvSpPr/>
          <p:nvPr/>
        </p:nvSpPr>
        <p:spPr>
          <a:xfrm>
            <a:off x="7891801" y="5405024"/>
            <a:ext cx="88580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E127F68F-B220-0F14-7A26-9FE3E4B34B95}"/>
              </a:ext>
            </a:extLst>
          </p:cNvPr>
          <p:cNvSpPr/>
          <p:nvPr/>
        </p:nvSpPr>
        <p:spPr>
          <a:xfrm>
            <a:off x="1208918" y="5405044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15F201A2-2984-99DF-45D6-6117C4B0321A}"/>
              </a:ext>
            </a:extLst>
          </p:cNvPr>
          <p:cNvSpPr/>
          <p:nvPr/>
        </p:nvSpPr>
        <p:spPr>
          <a:xfrm>
            <a:off x="1798043" y="5403268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63193E3-E28F-6426-F722-3845428B7CB9}"/>
              </a:ext>
            </a:extLst>
          </p:cNvPr>
          <p:cNvSpPr/>
          <p:nvPr/>
        </p:nvSpPr>
        <p:spPr>
          <a:xfrm>
            <a:off x="2405935" y="5407842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A59C7B15-0A81-43B3-D4AB-492C43708595}"/>
              </a:ext>
            </a:extLst>
          </p:cNvPr>
          <p:cNvSpPr/>
          <p:nvPr/>
        </p:nvSpPr>
        <p:spPr>
          <a:xfrm>
            <a:off x="4273013" y="5832752"/>
            <a:ext cx="2007311" cy="857486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78D8110-69B5-05B7-D221-E02485D7F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628" y="2433637"/>
            <a:ext cx="6467475" cy="1990725"/>
          </a:xfrm>
          <a:prstGeom prst="rect">
            <a:avLst/>
          </a:prstGeom>
        </p:spPr>
      </p:pic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F23B5F2F-81B9-04FA-A530-313032946A69}"/>
              </a:ext>
            </a:extLst>
          </p:cNvPr>
          <p:cNvSpPr/>
          <p:nvPr/>
        </p:nvSpPr>
        <p:spPr>
          <a:xfrm>
            <a:off x="3631879" y="5414192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5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8BC1A81F-A0E2-5503-40E2-353467F091A1}"/>
              </a:ext>
            </a:extLst>
          </p:cNvPr>
          <p:cNvSpPr/>
          <p:nvPr/>
        </p:nvSpPr>
        <p:spPr>
          <a:xfrm>
            <a:off x="3011260" y="541279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198C1132-548F-F089-5428-5F1D48B8E41B}"/>
                  </a:ext>
                </a:extLst>
              </p:cNvPr>
              <p:cNvSpPr txBox="1"/>
              <p:nvPr/>
            </p:nvSpPr>
            <p:spPr>
              <a:xfrm>
                <a:off x="4765333" y="6138384"/>
                <a:ext cx="11255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600" b="0" i="1" smtClean="0">
                          <a:latin typeface="Cambria Math" panose="02040503050406030204" pitchFamily="18" charset="0"/>
                        </a:rPr>
                        <m:t> % 2==0</m:t>
                      </m:r>
                    </m:oMath>
                  </m:oMathPara>
                </a14:m>
                <a:endParaRPr lang="pl-PL" sz="1600" dirty="0"/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198C1132-548F-F089-5428-5F1D48B8E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333" y="6138384"/>
                <a:ext cx="1125501" cy="246221"/>
              </a:xfrm>
              <a:prstGeom prst="rect">
                <a:avLst/>
              </a:prstGeom>
              <a:blipFill>
                <a:blip r:embed="rId5"/>
                <a:stretch>
                  <a:fillRect l="-3804" r="-2717" b="-1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617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6E257-1569-AF16-641D-BE8BEDB5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9154F2-1BB8-0953-74EC-747E849C40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Filtrowanie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7ED3565-C1A4-4ED3-689F-E2E3F30CA1C5}"/>
              </a:ext>
            </a:extLst>
          </p:cNvPr>
          <p:cNvSpPr txBox="1"/>
          <p:nvPr/>
        </p:nvSpPr>
        <p:spPr>
          <a:xfrm>
            <a:off x="1024180" y="786880"/>
            <a:ext cx="8028384" cy="83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Przez predykat</a:t>
            </a: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filterNot</a:t>
            </a:r>
            <a:r>
              <a:rPr lang="pl-PL" sz="1600" b="1" dirty="0"/>
              <a:t>() </a:t>
            </a:r>
            <a:r>
              <a:rPr lang="pl-PL" sz="1600" dirty="0"/>
              <a:t>zwraca elementy kolekcji, które nie spełniają podanego predykatu.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590230D6-3F7E-9131-5C92-ABA28123BD97}"/>
              </a:ext>
            </a:extLst>
          </p:cNvPr>
          <p:cNvSpPr/>
          <p:nvPr/>
        </p:nvSpPr>
        <p:spPr>
          <a:xfrm>
            <a:off x="1080120" y="5017240"/>
            <a:ext cx="322750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09A662A4-8F06-9FC9-8A4B-5956C7180A23}"/>
              </a:ext>
            </a:extLst>
          </p:cNvPr>
          <p:cNvSpPr/>
          <p:nvPr/>
        </p:nvSpPr>
        <p:spPr>
          <a:xfrm>
            <a:off x="4382191" y="5161708"/>
            <a:ext cx="2007311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filterNot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E1DD7CE9-48BB-5027-3AB6-46412DBB0D4A}"/>
              </a:ext>
            </a:extLst>
          </p:cNvPr>
          <p:cNvSpPr txBox="1"/>
          <p:nvPr/>
        </p:nvSpPr>
        <p:spPr>
          <a:xfrm>
            <a:off x="2053620" y="4982997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9D297D4-BDF7-C8BC-818E-6F8BB72FFB29}"/>
              </a:ext>
            </a:extLst>
          </p:cNvPr>
          <p:cNvSpPr/>
          <p:nvPr/>
        </p:nvSpPr>
        <p:spPr>
          <a:xfrm>
            <a:off x="6389502" y="5035240"/>
            <a:ext cx="271900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FFF2C252-29EB-D727-599B-D547A963DC95}"/>
              </a:ext>
            </a:extLst>
          </p:cNvPr>
          <p:cNvSpPr txBox="1"/>
          <p:nvPr/>
        </p:nvSpPr>
        <p:spPr>
          <a:xfrm>
            <a:off x="6947764" y="5024786"/>
            <a:ext cx="1882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evenNumbers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2AA90606-6100-AC96-8D8A-38FF1F6C21DA}"/>
              </a:ext>
            </a:extLst>
          </p:cNvPr>
          <p:cNvSpPr/>
          <p:nvPr/>
        </p:nvSpPr>
        <p:spPr>
          <a:xfrm>
            <a:off x="6503673" y="5412793"/>
            <a:ext cx="643424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24904F2B-5E21-3E7A-8315-EDFD20BF50B9}"/>
              </a:ext>
            </a:extLst>
          </p:cNvPr>
          <p:cNvSpPr/>
          <p:nvPr/>
        </p:nvSpPr>
        <p:spPr>
          <a:xfrm>
            <a:off x="7463853" y="5412793"/>
            <a:ext cx="643423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DD5187-987D-AC63-509C-D3E3F2188AC5}"/>
              </a:ext>
            </a:extLst>
          </p:cNvPr>
          <p:cNvSpPr/>
          <p:nvPr/>
        </p:nvSpPr>
        <p:spPr>
          <a:xfrm>
            <a:off x="1202483" y="5405024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932ED8A-F125-7E97-1BBF-4880E5F3525C}"/>
              </a:ext>
            </a:extLst>
          </p:cNvPr>
          <p:cNvSpPr/>
          <p:nvPr/>
        </p:nvSpPr>
        <p:spPr>
          <a:xfrm>
            <a:off x="1825592" y="5405024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B9F2AF3B-88AF-F51E-A064-6FE08127F744}"/>
              </a:ext>
            </a:extLst>
          </p:cNvPr>
          <p:cNvSpPr/>
          <p:nvPr/>
        </p:nvSpPr>
        <p:spPr>
          <a:xfrm>
            <a:off x="2446633" y="5416188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A141627B-94D5-0FC5-2456-18907BC37541}"/>
              </a:ext>
            </a:extLst>
          </p:cNvPr>
          <p:cNvSpPr/>
          <p:nvPr/>
        </p:nvSpPr>
        <p:spPr>
          <a:xfrm>
            <a:off x="4273013" y="5832752"/>
            <a:ext cx="2007311" cy="857486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44E6EA70-D81A-1310-2EF9-488D0CBD2FEC}"/>
              </a:ext>
            </a:extLst>
          </p:cNvPr>
          <p:cNvSpPr/>
          <p:nvPr/>
        </p:nvSpPr>
        <p:spPr>
          <a:xfrm>
            <a:off x="3687861" y="541279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5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C33FAA85-ED70-33C3-31A4-8573836A28C4}"/>
              </a:ext>
            </a:extLst>
          </p:cNvPr>
          <p:cNvSpPr/>
          <p:nvPr/>
        </p:nvSpPr>
        <p:spPr>
          <a:xfrm>
            <a:off x="3067200" y="541279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C07645D-ACE6-0E3F-5388-DA1E437EEC2E}"/>
                  </a:ext>
                </a:extLst>
              </p:cNvPr>
              <p:cNvSpPr txBox="1"/>
              <p:nvPr/>
            </p:nvSpPr>
            <p:spPr>
              <a:xfrm>
                <a:off x="4821273" y="6138384"/>
                <a:ext cx="11255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600" b="0" i="1" smtClean="0">
                          <a:latin typeface="Cambria Math" panose="02040503050406030204" pitchFamily="18" charset="0"/>
                        </a:rPr>
                        <m:t> % 2==0</m:t>
                      </m:r>
                    </m:oMath>
                  </m:oMathPara>
                </a14:m>
                <a:endParaRPr lang="pl-PL" sz="1600" dirty="0"/>
              </a:p>
            </p:txBody>
          </p:sp>
        </mc:Choice>
        <mc:Fallback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7C07645D-ACE6-0E3F-5388-DA1E437EE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273" y="6138384"/>
                <a:ext cx="1125501" cy="246221"/>
              </a:xfrm>
              <a:prstGeom prst="rect">
                <a:avLst/>
              </a:prstGeom>
              <a:blipFill>
                <a:blip r:embed="rId4"/>
                <a:stretch>
                  <a:fillRect l="-3784" r="-2162" b="-1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Obraz 11">
            <a:extLst>
              <a:ext uri="{FF2B5EF4-FFF2-40B4-BE49-F238E27FC236}">
                <a16:creationId xmlns:a16="http://schemas.microsoft.com/office/drawing/2014/main" id="{83FAD916-D7AC-E0D0-8DB0-D227DB57D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382" y="1925652"/>
            <a:ext cx="8049863" cy="2298749"/>
          </a:xfrm>
          <a:prstGeom prst="rect">
            <a:avLst/>
          </a:prstGeom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DB52EF0B-8ED9-D613-9DF1-75489EB385EE}"/>
              </a:ext>
            </a:extLst>
          </p:cNvPr>
          <p:cNvSpPr/>
          <p:nvPr/>
        </p:nvSpPr>
        <p:spPr>
          <a:xfrm>
            <a:off x="8424033" y="5412793"/>
            <a:ext cx="643423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5</a:t>
            </a:r>
            <a:endParaRPr lang="pl-P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559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67BB3-146F-A1F0-DF66-228DC3A0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FD2AF6B9-C31C-2BE1-916C-DD7BC67EA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421" y="2812477"/>
            <a:ext cx="4907748" cy="2063129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33C15A39-EC75-7C3D-CE0F-84D34527064C}"/>
              </a:ext>
            </a:extLst>
          </p:cNvPr>
          <p:cNvSpPr/>
          <p:nvPr/>
        </p:nvSpPr>
        <p:spPr>
          <a:xfrm>
            <a:off x="6084169" y="5030483"/>
            <a:ext cx="2719002" cy="10801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56B0B-F7DA-5BBA-8818-CAB11A61A23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Filtrowanie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243F4ED-0CD7-0DB8-8EF4-9DF4F08EFADE}"/>
              </a:ext>
            </a:extLst>
          </p:cNvPr>
          <p:cNvSpPr txBox="1"/>
          <p:nvPr/>
        </p:nvSpPr>
        <p:spPr>
          <a:xfrm>
            <a:off x="1024180" y="866575"/>
            <a:ext cx="8028384" cy="1939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 err="1"/>
              <a:t>Partition</a:t>
            </a:r>
            <a:endParaRPr lang="pl-PL" sz="1800" b="1" dirty="0"/>
          </a:p>
          <a:p>
            <a:pPr algn="just">
              <a:lnSpc>
                <a:spcPct val="150000"/>
              </a:lnSpc>
            </a:pPr>
            <a:r>
              <a:rPr lang="pl-PL" sz="1600" dirty="0"/>
              <a:t>Funkcja </a:t>
            </a:r>
            <a:r>
              <a:rPr lang="pl-PL" sz="1600" b="1" dirty="0" err="1"/>
              <a:t>partition</a:t>
            </a:r>
            <a:r>
              <a:rPr lang="pl-PL" sz="1600" b="1" dirty="0"/>
              <a:t>() </a:t>
            </a:r>
            <a:r>
              <a:rPr lang="pl-PL" sz="1600" dirty="0"/>
              <a:t>pozwala na jednoczesne rozdzielenie elementów kolekcji na dwie grupy: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elementy spełniające podany predykat,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elementy, które nie spełniają tego warunku.</a:t>
            </a: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A659E7BF-A41C-F580-1D5B-7D42B87F7C74}"/>
              </a:ext>
            </a:extLst>
          </p:cNvPr>
          <p:cNvSpPr/>
          <p:nvPr/>
        </p:nvSpPr>
        <p:spPr>
          <a:xfrm>
            <a:off x="4169877" y="5150463"/>
            <a:ext cx="1823243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partition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35813FCA-21B1-5766-C0E5-843C82FED1E3}"/>
              </a:ext>
            </a:extLst>
          </p:cNvPr>
          <p:cNvSpPr txBox="1"/>
          <p:nvPr/>
        </p:nvSpPr>
        <p:spPr>
          <a:xfrm>
            <a:off x="6690175" y="4979822"/>
            <a:ext cx="1552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even</a:t>
            </a:r>
            <a:r>
              <a:rPr lang="pl-PL" sz="20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odd</a:t>
            </a:r>
            <a:r>
              <a:rPr lang="pl-PL" sz="20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9210230B-C4C9-9E3E-2ECC-6F80CDA9BF79}"/>
              </a:ext>
            </a:extLst>
          </p:cNvPr>
          <p:cNvSpPr/>
          <p:nvPr/>
        </p:nvSpPr>
        <p:spPr>
          <a:xfrm>
            <a:off x="6247975" y="5406877"/>
            <a:ext cx="105666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2, 4, 6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4A8CF494-C7C4-0D20-B382-BB5F69F20CD2}"/>
              </a:ext>
            </a:extLst>
          </p:cNvPr>
          <p:cNvSpPr/>
          <p:nvPr/>
        </p:nvSpPr>
        <p:spPr>
          <a:xfrm>
            <a:off x="4097179" y="5817010"/>
            <a:ext cx="1814838" cy="857486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9A6A4E5-0523-B24B-F30E-CCE3E6E336F7}"/>
                  </a:ext>
                </a:extLst>
              </p:cNvPr>
              <p:cNvSpPr txBox="1"/>
              <p:nvPr/>
            </p:nvSpPr>
            <p:spPr>
              <a:xfrm>
                <a:off x="4461123" y="6110603"/>
                <a:ext cx="11255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600" b="0" i="1" smtClean="0">
                          <a:latin typeface="Cambria Math" panose="02040503050406030204" pitchFamily="18" charset="0"/>
                        </a:rPr>
                        <m:t> % 2==0</m:t>
                      </m:r>
                    </m:oMath>
                  </m:oMathPara>
                </a14:m>
                <a:endParaRPr lang="pl-PL" sz="1600" dirty="0"/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9A6A4E5-0523-B24B-F30E-CCE3E6E33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123" y="6110603"/>
                <a:ext cx="1125501" cy="246221"/>
              </a:xfrm>
              <a:prstGeom prst="rect">
                <a:avLst/>
              </a:prstGeom>
              <a:blipFill>
                <a:blip r:embed="rId5"/>
                <a:stretch>
                  <a:fillRect l="-3804" r="-2717" b="-1463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4785B84C-7EEF-3E34-D8D7-541D946F5F8E}"/>
              </a:ext>
            </a:extLst>
          </p:cNvPr>
          <p:cNvSpPr/>
          <p:nvPr/>
        </p:nvSpPr>
        <p:spPr>
          <a:xfrm>
            <a:off x="1285796" y="5030483"/>
            <a:ext cx="2756780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3EF24E5-5C99-B8EA-86C7-CDCE4E58F25A}"/>
              </a:ext>
            </a:extLst>
          </p:cNvPr>
          <p:cNvSpPr txBox="1"/>
          <p:nvPr/>
        </p:nvSpPr>
        <p:spPr>
          <a:xfrm>
            <a:off x="2047438" y="5000157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E668D715-7623-61B1-4673-609764FF0F73}"/>
              </a:ext>
            </a:extLst>
          </p:cNvPr>
          <p:cNvSpPr/>
          <p:nvPr/>
        </p:nvSpPr>
        <p:spPr>
          <a:xfrm>
            <a:off x="1397727" y="5444941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4E89CAE9-8EEF-9833-D0D8-E48763B7773D}"/>
              </a:ext>
            </a:extLst>
          </p:cNvPr>
          <p:cNvSpPr/>
          <p:nvPr/>
        </p:nvSpPr>
        <p:spPr>
          <a:xfrm>
            <a:off x="1844058" y="5444941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1D97AE3C-1853-D914-9103-01512866C72E}"/>
              </a:ext>
            </a:extLst>
          </p:cNvPr>
          <p:cNvSpPr/>
          <p:nvPr/>
        </p:nvSpPr>
        <p:spPr>
          <a:xfrm>
            <a:off x="2292850" y="5451429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350B71E2-23EA-3509-37D3-053DC3CF55EA}"/>
              </a:ext>
            </a:extLst>
          </p:cNvPr>
          <p:cNvSpPr/>
          <p:nvPr/>
        </p:nvSpPr>
        <p:spPr>
          <a:xfrm>
            <a:off x="2744103" y="5449732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B358958D-5699-E53A-4C46-94CCB6FE38B2}"/>
              </a:ext>
            </a:extLst>
          </p:cNvPr>
          <p:cNvSpPr/>
          <p:nvPr/>
        </p:nvSpPr>
        <p:spPr>
          <a:xfrm>
            <a:off x="3195356" y="5449732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33D22F21-94B5-4B8E-5ED6-C69DC0447035}"/>
              </a:ext>
            </a:extLst>
          </p:cNvPr>
          <p:cNvSpPr/>
          <p:nvPr/>
        </p:nvSpPr>
        <p:spPr>
          <a:xfrm>
            <a:off x="3641687" y="5451429"/>
            <a:ext cx="288032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6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35" name="Prostokąt: zaokrąglone rogi 34">
            <a:extLst>
              <a:ext uri="{FF2B5EF4-FFF2-40B4-BE49-F238E27FC236}">
                <a16:creationId xmlns:a16="http://schemas.microsoft.com/office/drawing/2014/main" id="{082284FF-BEB3-83DA-DF9D-4CB64E629B98}"/>
              </a:ext>
            </a:extLst>
          </p:cNvPr>
          <p:cNvSpPr/>
          <p:nvPr/>
        </p:nvSpPr>
        <p:spPr>
          <a:xfrm>
            <a:off x="7604203" y="5406877"/>
            <a:ext cx="105666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1, 3, 5</a:t>
            </a:r>
            <a:endParaRPr lang="pl-P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947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284A7-6932-CAF3-CA0D-393DA638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71E47D-6438-4124-6847-D920B2DFD80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Filtrowanie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81E0A48-521F-D23E-96BF-106329FB9E57}"/>
              </a:ext>
            </a:extLst>
          </p:cNvPr>
          <p:cNvSpPr txBox="1"/>
          <p:nvPr/>
        </p:nvSpPr>
        <p:spPr>
          <a:xfrm>
            <a:off x="1024180" y="866575"/>
            <a:ext cx="8028384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Testowanie predykatów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Kotlin oferuje funkcje, które umożliwiają sprawdzanie, czy elementy kolekcji spełniają określony warunek (predykat).</a:t>
            </a: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485310C8-B2BE-4CAE-9995-627B1E75D9CF}"/>
              </a:ext>
            </a:extLst>
          </p:cNvPr>
          <p:cNvSpPr/>
          <p:nvPr/>
        </p:nvSpPr>
        <p:spPr>
          <a:xfrm>
            <a:off x="5052205" y="5182479"/>
            <a:ext cx="2018821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any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DCA44633-0940-3284-B110-894DC3C6415F}"/>
              </a:ext>
            </a:extLst>
          </p:cNvPr>
          <p:cNvSpPr/>
          <p:nvPr/>
        </p:nvSpPr>
        <p:spPr>
          <a:xfrm>
            <a:off x="7236296" y="5329718"/>
            <a:ext cx="105666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true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E6AE8E14-9076-CF89-7D53-DA41A89DF194}"/>
              </a:ext>
            </a:extLst>
          </p:cNvPr>
          <p:cNvSpPr/>
          <p:nvPr/>
        </p:nvSpPr>
        <p:spPr>
          <a:xfrm>
            <a:off x="5112891" y="5836986"/>
            <a:ext cx="1958135" cy="857486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A7C6ABD-4099-DFE6-198B-0306177BEAAA}"/>
                  </a:ext>
                </a:extLst>
              </p:cNvPr>
              <p:cNvSpPr txBox="1"/>
              <p:nvPr/>
            </p:nvSpPr>
            <p:spPr>
              <a:xfrm>
                <a:off x="5529207" y="6153583"/>
                <a:ext cx="112550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600" b="0" i="1" smtClean="0">
                          <a:latin typeface="Cambria Math" panose="02040503050406030204" pitchFamily="18" charset="0"/>
                        </a:rPr>
                        <m:t> % 2==0</m:t>
                      </m:r>
                    </m:oMath>
                  </m:oMathPara>
                </a14:m>
                <a:endParaRPr lang="pl-PL" sz="1600" dirty="0"/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9A7C6ABD-4099-DFE6-198B-0306177BE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207" y="6153583"/>
                <a:ext cx="1125501" cy="246221"/>
              </a:xfrm>
              <a:prstGeom prst="rect">
                <a:avLst/>
              </a:prstGeom>
              <a:blipFill>
                <a:blip r:embed="rId4"/>
                <a:stretch>
                  <a:fillRect l="-5946" b="-1463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Obraz 5">
            <a:extLst>
              <a:ext uri="{FF2B5EF4-FFF2-40B4-BE49-F238E27FC236}">
                <a16:creationId xmlns:a16="http://schemas.microsoft.com/office/drawing/2014/main" id="{40B819E4-E8F9-A2BB-5ED7-CD54C258E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95" y="2319615"/>
            <a:ext cx="8051336" cy="2038922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DD17121-D1E6-4DCD-B3E6-B4BAE7E001B8}"/>
              </a:ext>
            </a:extLst>
          </p:cNvPr>
          <p:cNvSpPr/>
          <p:nvPr/>
        </p:nvSpPr>
        <p:spPr>
          <a:xfrm>
            <a:off x="1686407" y="5062499"/>
            <a:ext cx="3227502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429E5E5-35AB-D698-AC43-4DDAC727E7C0}"/>
              </a:ext>
            </a:extLst>
          </p:cNvPr>
          <p:cNvSpPr txBox="1"/>
          <p:nvPr/>
        </p:nvSpPr>
        <p:spPr>
          <a:xfrm>
            <a:off x="2659907" y="5028256"/>
            <a:ext cx="1268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numbers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0B3EBBA1-1766-0F0B-2BED-F8C396BF4F6B}"/>
              </a:ext>
            </a:extLst>
          </p:cNvPr>
          <p:cNvSpPr/>
          <p:nvPr/>
        </p:nvSpPr>
        <p:spPr>
          <a:xfrm>
            <a:off x="1808770" y="545028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1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D8AD245F-7FCF-7E3E-89F7-93B3578E7527}"/>
              </a:ext>
            </a:extLst>
          </p:cNvPr>
          <p:cNvSpPr/>
          <p:nvPr/>
        </p:nvSpPr>
        <p:spPr>
          <a:xfrm>
            <a:off x="2431879" y="5450283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0EDB507-80F8-6967-00B7-8C79348B804D}"/>
              </a:ext>
            </a:extLst>
          </p:cNvPr>
          <p:cNvSpPr/>
          <p:nvPr/>
        </p:nvSpPr>
        <p:spPr>
          <a:xfrm>
            <a:off x="3052920" y="5461447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17222217-BA9E-BF45-57F5-5A5C4AC71B9B}"/>
              </a:ext>
            </a:extLst>
          </p:cNvPr>
          <p:cNvSpPr/>
          <p:nvPr/>
        </p:nvSpPr>
        <p:spPr>
          <a:xfrm>
            <a:off x="4294148" y="5458052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5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5BA939DA-10F4-C0C7-D6F8-4213476BAC7A}"/>
              </a:ext>
            </a:extLst>
          </p:cNvPr>
          <p:cNvSpPr/>
          <p:nvPr/>
        </p:nvSpPr>
        <p:spPr>
          <a:xfrm>
            <a:off x="3673487" y="5458052"/>
            <a:ext cx="482271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</a:t>
            </a:r>
            <a:endParaRPr lang="pl-P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65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0DD1A-F16D-ADDA-AF26-0B1ED163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1C4392-ED44-080B-B710-DB5314EBD20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Filtrowanie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6242E6D-467D-7985-2BE1-BF8D78E7B0D7}"/>
              </a:ext>
            </a:extLst>
          </p:cNvPr>
          <p:cNvSpPr txBox="1"/>
          <p:nvPr/>
        </p:nvSpPr>
        <p:spPr>
          <a:xfrm>
            <a:off x="1024180" y="866575"/>
            <a:ext cx="8028384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l-PL" sz="1800" b="1" dirty="0"/>
              <a:t>Testowanie predykatów</a:t>
            </a:r>
          </a:p>
          <a:p>
            <a:pPr algn="just">
              <a:lnSpc>
                <a:spcPct val="150000"/>
              </a:lnSpc>
            </a:pPr>
            <a:r>
              <a:rPr lang="pl-PL" sz="1600" dirty="0"/>
              <a:t>Kotlin oferuje funkcje, które umożliwiają sprawdzanie, czy elementy kolekcji spełniają określony warunek (predykat).</a:t>
            </a: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2D96F60A-80F8-7D54-D2E1-C4546CF481B5}"/>
              </a:ext>
            </a:extLst>
          </p:cNvPr>
          <p:cNvSpPr/>
          <p:nvPr/>
        </p:nvSpPr>
        <p:spPr>
          <a:xfrm>
            <a:off x="5052205" y="5182479"/>
            <a:ext cx="2018821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all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1FFAD2B2-7373-F677-F906-5DC307102B1B}"/>
              </a:ext>
            </a:extLst>
          </p:cNvPr>
          <p:cNvSpPr/>
          <p:nvPr/>
        </p:nvSpPr>
        <p:spPr>
          <a:xfrm>
            <a:off x="7236296" y="5329718"/>
            <a:ext cx="105666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solidFill>
                  <a:schemeClr val="tx1"/>
                </a:solidFill>
              </a:rPr>
              <a:t>false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0852F8B4-E4D9-DBF6-F2C7-E5DA147E287D}"/>
              </a:ext>
            </a:extLst>
          </p:cNvPr>
          <p:cNvSpPr/>
          <p:nvPr/>
        </p:nvSpPr>
        <p:spPr>
          <a:xfrm>
            <a:off x="5087440" y="5852875"/>
            <a:ext cx="1958135" cy="857486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0D191264-54AA-3B39-143D-49EC04D210EA}"/>
                  </a:ext>
                </a:extLst>
              </p:cNvPr>
              <p:cNvSpPr txBox="1"/>
              <p:nvPr/>
            </p:nvSpPr>
            <p:spPr>
              <a:xfrm>
                <a:off x="5691225" y="6142619"/>
                <a:ext cx="74078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l-P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3.0</m:t>
                      </m:r>
                    </m:oMath>
                  </m:oMathPara>
                </a14:m>
                <a:endParaRPr lang="pl-PL" sz="1600" dirty="0"/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0D191264-54AA-3B39-143D-49EC04D21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225" y="6142619"/>
                <a:ext cx="740780" cy="246221"/>
              </a:xfrm>
              <a:prstGeom prst="rect">
                <a:avLst/>
              </a:prstGeom>
              <a:blipFill>
                <a:blip r:embed="rId4"/>
                <a:stretch>
                  <a:fillRect l="-9091" r="-826" b="-10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DBB7B470-84CA-B188-685B-FE6E4EAE9DD5}"/>
              </a:ext>
            </a:extLst>
          </p:cNvPr>
          <p:cNvSpPr/>
          <p:nvPr/>
        </p:nvSpPr>
        <p:spPr>
          <a:xfrm>
            <a:off x="1619672" y="5062499"/>
            <a:ext cx="3294237" cy="108012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71E229B-0978-2A49-6787-2DD032B09DAE}"/>
              </a:ext>
            </a:extLst>
          </p:cNvPr>
          <p:cNvSpPr txBox="1"/>
          <p:nvPr/>
        </p:nvSpPr>
        <p:spPr>
          <a:xfrm>
            <a:off x="2780934" y="5028256"/>
            <a:ext cx="1026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grades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202C0D40-5475-E088-8C23-1C095DD3D53F}"/>
              </a:ext>
            </a:extLst>
          </p:cNvPr>
          <p:cNvSpPr/>
          <p:nvPr/>
        </p:nvSpPr>
        <p:spPr>
          <a:xfrm>
            <a:off x="1715669" y="5444581"/>
            <a:ext cx="68248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5.0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D483B4D9-A635-F62A-FD72-8B3F6ED8C645}"/>
              </a:ext>
            </a:extLst>
          </p:cNvPr>
          <p:cNvSpPr/>
          <p:nvPr/>
        </p:nvSpPr>
        <p:spPr>
          <a:xfrm>
            <a:off x="2523659" y="5461447"/>
            <a:ext cx="68248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4.5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5A811B3-E4FB-9AA2-21AD-CACED10271D8}"/>
              </a:ext>
            </a:extLst>
          </p:cNvPr>
          <p:cNvSpPr/>
          <p:nvPr/>
        </p:nvSpPr>
        <p:spPr>
          <a:xfrm>
            <a:off x="3331649" y="5450283"/>
            <a:ext cx="68248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3.0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1094A54B-24CE-3C79-182E-6B13F80B6054}"/>
              </a:ext>
            </a:extLst>
          </p:cNvPr>
          <p:cNvSpPr/>
          <p:nvPr/>
        </p:nvSpPr>
        <p:spPr>
          <a:xfrm>
            <a:off x="4139636" y="5461447"/>
            <a:ext cx="682489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>
                <a:solidFill>
                  <a:schemeClr val="tx1"/>
                </a:solidFill>
              </a:rPr>
              <a:t>2.0</a:t>
            </a:r>
            <a:endParaRPr lang="pl-PL" sz="2400" b="1" dirty="0">
              <a:solidFill>
                <a:schemeClr val="tx1"/>
              </a:solidFill>
            </a:endParaRPr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6B7DFCB9-6AA1-AD3B-1922-AAD70472A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6337" y="2138362"/>
            <a:ext cx="679132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48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2BBB9-C023-7C30-94F8-E56715E7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04280-CD4F-3C16-F57B-18944299830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1A64475-1C60-4D91-9BDC-4D7C2BE01773}"/>
              </a:ext>
            </a:extLst>
          </p:cNvPr>
          <p:cNvSpPr txBox="1"/>
          <p:nvPr/>
        </p:nvSpPr>
        <p:spPr>
          <a:xfrm>
            <a:off x="1024180" y="866575"/>
            <a:ext cx="8028384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Podstawowa wersja </a:t>
            </a:r>
            <a:r>
              <a:rPr lang="pl-PL" sz="1600" b="1" dirty="0" err="1"/>
              <a:t>groupBy</a:t>
            </a:r>
            <a:r>
              <a:rPr lang="pl-PL" sz="1600" b="1" dirty="0"/>
              <a:t>()</a:t>
            </a:r>
            <a:r>
              <a:rPr lang="pl-PL" sz="1600" dirty="0"/>
              <a:t> przyjmuje jako argument jedną funkcję lambda, która określa sposób tworzenia kluczy. W wyniku otrzymujemy mapę, gdzie: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Klucz to wynik działania funkcji lambda na elementach kolekcji.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Wartość to lista elementów przypisanych do danego klucza.</a:t>
            </a:r>
          </a:p>
        </p:txBody>
      </p:sp>
      <p:sp>
        <p:nvSpPr>
          <p:cNvPr id="18" name="Strzałka: w prawo 17">
            <a:extLst>
              <a:ext uri="{FF2B5EF4-FFF2-40B4-BE49-F238E27FC236}">
                <a16:creationId xmlns:a16="http://schemas.microsoft.com/office/drawing/2014/main" id="{6C310A9B-A9BB-52CE-B03B-419AF575A496}"/>
              </a:ext>
            </a:extLst>
          </p:cNvPr>
          <p:cNvSpPr/>
          <p:nvPr/>
        </p:nvSpPr>
        <p:spPr>
          <a:xfrm>
            <a:off x="5052206" y="5182479"/>
            <a:ext cx="1175808" cy="7911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groupBy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21" name="Romb 20">
            <a:extLst>
              <a:ext uri="{FF2B5EF4-FFF2-40B4-BE49-F238E27FC236}">
                <a16:creationId xmlns:a16="http://schemas.microsoft.com/office/drawing/2014/main" id="{6B8D80CE-4357-0391-E284-900360AD4A78}"/>
              </a:ext>
            </a:extLst>
          </p:cNvPr>
          <p:cNvSpPr/>
          <p:nvPr/>
        </p:nvSpPr>
        <p:spPr>
          <a:xfrm>
            <a:off x="5024141" y="5995936"/>
            <a:ext cx="1175808" cy="551853"/>
          </a:xfrm>
          <a:prstGeom prst="diamond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AAA3DAC8-5D9E-062D-93E6-5685D47D61B1}"/>
                  </a:ext>
                </a:extLst>
              </p:cNvPr>
              <p:cNvSpPr txBox="1"/>
              <p:nvPr/>
            </p:nvSpPr>
            <p:spPr>
              <a:xfrm>
                <a:off x="5280954" y="6142617"/>
                <a:ext cx="8116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𝐢𝐭</m:t>
                      </m:r>
                      <m:r>
                        <a:rPr lang="pl-PL" sz="1600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pl-PL" sz="1600" b="0" i="0" smtClean="0">
                          <a:latin typeface="Cambria Math" panose="02040503050406030204" pitchFamily="18" charset="0"/>
                        </a:rPr>
                        <m:t>first</m:t>
                      </m:r>
                      <m:r>
                        <a:rPr lang="pl-PL" sz="1600" b="0" i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 lang="pl-PL" sz="1600" dirty="0"/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AAA3DAC8-5D9E-062D-93E6-5685D47D6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954" y="6142617"/>
                <a:ext cx="811632" cy="246221"/>
              </a:xfrm>
              <a:prstGeom prst="rect">
                <a:avLst/>
              </a:prstGeom>
              <a:blipFill>
                <a:blip r:embed="rId4"/>
                <a:stretch>
                  <a:fillRect l="-8271" r="-4511" b="-3500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09CBBEF1-2749-2E68-0F29-A2961D9B493F}"/>
              </a:ext>
            </a:extLst>
          </p:cNvPr>
          <p:cNvSpPr/>
          <p:nvPr/>
        </p:nvSpPr>
        <p:spPr>
          <a:xfrm>
            <a:off x="1162601" y="5062496"/>
            <a:ext cx="3786276" cy="167887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42FA844-6E08-45EB-27EF-08069437D211}"/>
              </a:ext>
            </a:extLst>
          </p:cNvPr>
          <p:cNvSpPr txBox="1"/>
          <p:nvPr/>
        </p:nvSpPr>
        <p:spPr>
          <a:xfrm>
            <a:off x="2585897" y="5048630"/>
            <a:ext cx="939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words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C8775E21-7D9C-285C-99C9-DC08B3979493}"/>
              </a:ext>
            </a:extLst>
          </p:cNvPr>
          <p:cNvSpPr/>
          <p:nvPr/>
        </p:nvSpPr>
        <p:spPr>
          <a:xfrm>
            <a:off x="1245037" y="5443560"/>
            <a:ext cx="111453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apple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ED983B0B-0098-86B5-7629-FBCBB0B76388}"/>
              </a:ext>
            </a:extLst>
          </p:cNvPr>
          <p:cNvSpPr/>
          <p:nvPr/>
        </p:nvSpPr>
        <p:spPr>
          <a:xfrm>
            <a:off x="3736525" y="5443560"/>
            <a:ext cx="111453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cherry</a:t>
            </a:r>
            <a:endParaRPr lang="pl-PL" sz="1800" b="1" dirty="0">
              <a:solidFill>
                <a:schemeClr val="tx1"/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4C06309D-7D4F-083B-E8F1-A48B329D2702}"/>
              </a:ext>
            </a:extLst>
          </p:cNvPr>
          <p:cNvSpPr/>
          <p:nvPr/>
        </p:nvSpPr>
        <p:spPr>
          <a:xfrm>
            <a:off x="2498470" y="5460882"/>
            <a:ext cx="111453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banana</a:t>
            </a:r>
            <a:endParaRPr lang="pl-PL" sz="1800" b="1" dirty="0">
              <a:solidFill>
                <a:schemeClr val="tx1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785BA56E-B1BB-BF64-FE2B-1A7DE40EC5A2}"/>
              </a:ext>
            </a:extLst>
          </p:cNvPr>
          <p:cNvSpPr/>
          <p:nvPr/>
        </p:nvSpPr>
        <p:spPr>
          <a:xfrm>
            <a:off x="3736525" y="6088540"/>
            <a:ext cx="1109180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apricot</a:t>
            </a:r>
            <a:endParaRPr lang="pl-PL" sz="1800" b="1" dirty="0">
              <a:solidFill>
                <a:schemeClr val="tx1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6FE2107-8755-4F68-DD37-2EB8101DF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80" y="2423663"/>
            <a:ext cx="8119820" cy="213114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38DCF08-BF4A-CE99-8478-4E86059A65BD}"/>
              </a:ext>
            </a:extLst>
          </p:cNvPr>
          <p:cNvSpPr/>
          <p:nvPr/>
        </p:nvSpPr>
        <p:spPr>
          <a:xfrm>
            <a:off x="1245037" y="6088540"/>
            <a:ext cx="111453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 err="1">
                <a:solidFill>
                  <a:schemeClr val="tx1"/>
                </a:solidFill>
              </a:rPr>
              <a:t>blueberry</a:t>
            </a:r>
            <a:endParaRPr lang="pl-PL" sz="1800" b="1" dirty="0">
              <a:solidFill>
                <a:schemeClr val="tx1"/>
              </a:solidFill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EF57C6C5-3E61-1BB8-3654-F57950DD3906}"/>
              </a:ext>
            </a:extLst>
          </p:cNvPr>
          <p:cNvSpPr/>
          <p:nvPr/>
        </p:nvSpPr>
        <p:spPr>
          <a:xfrm>
            <a:off x="6275213" y="5008419"/>
            <a:ext cx="2777351" cy="173294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B2E48FB-086B-99AE-7BA2-BC2200A59725}"/>
              </a:ext>
            </a:extLst>
          </p:cNvPr>
          <p:cNvSpPr txBox="1"/>
          <p:nvPr/>
        </p:nvSpPr>
        <p:spPr>
          <a:xfrm>
            <a:off x="6255351" y="5038817"/>
            <a:ext cx="2807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2000" b="1" dirty="0" err="1">
                <a:solidFill>
                  <a:schemeClr val="accent1">
                    <a:lumMod val="75000"/>
                  </a:schemeClr>
                </a:solidFill>
              </a:rPr>
              <a:t>groupedByFirstLetter</a:t>
            </a:r>
            <a:endParaRPr lang="pl-PL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864E671F-5FA1-0AEE-7EBE-DD4FF25A8FC1}"/>
              </a:ext>
            </a:extLst>
          </p:cNvPr>
          <p:cNvSpPr/>
          <p:nvPr/>
        </p:nvSpPr>
        <p:spPr>
          <a:xfrm>
            <a:off x="6407150" y="5443560"/>
            <a:ext cx="111453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a=[</a:t>
            </a:r>
            <a:r>
              <a:rPr lang="pl-PL" sz="1600" b="1" dirty="0" err="1">
                <a:solidFill>
                  <a:schemeClr val="tx1"/>
                </a:solidFill>
              </a:rPr>
              <a:t>apple</a:t>
            </a:r>
            <a:r>
              <a:rPr lang="pl-PL" sz="1600" b="1" dirty="0">
                <a:solidFill>
                  <a:schemeClr val="tx1"/>
                </a:solidFill>
              </a:rPr>
              <a:t>, </a:t>
            </a:r>
            <a:r>
              <a:rPr lang="pl-PL" sz="1600" b="1" dirty="0" err="1">
                <a:solidFill>
                  <a:schemeClr val="tx1"/>
                </a:solidFill>
              </a:rPr>
              <a:t>apricot</a:t>
            </a:r>
            <a:r>
              <a:rPr lang="pl-PL" sz="1600" b="1" dirty="0">
                <a:solidFill>
                  <a:schemeClr val="tx1"/>
                </a:solidFill>
              </a:rPr>
              <a:t>]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37FC77F5-7FD2-7C48-D650-072C5A533EFE}"/>
              </a:ext>
            </a:extLst>
          </p:cNvPr>
          <p:cNvSpPr/>
          <p:nvPr/>
        </p:nvSpPr>
        <p:spPr>
          <a:xfrm>
            <a:off x="6422143" y="6088540"/>
            <a:ext cx="2493024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b=[banana, </a:t>
            </a:r>
            <a:r>
              <a:rPr lang="pl-PL" sz="1600" b="1" dirty="0" err="1">
                <a:solidFill>
                  <a:schemeClr val="tx1"/>
                </a:solidFill>
              </a:rPr>
              <a:t>blueberry</a:t>
            </a:r>
            <a:r>
              <a:rPr lang="pl-PL" sz="1600" b="1" dirty="0">
                <a:solidFill>
                  <a:schemeClr val="tx1"/>
                </a:solidFill>
              </a:rPr>
              <a:t>]</a:t>
            </a:r>
            <a:endParaRPr lang="pl-PL" sz="2400" b="1" dirty="0">
              <a:solidFill>
                <a:schemeClr val="tx1"/>
              </a:solidFill>
            </a:endParaRPr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6FB6B73E-CD90-DB94-6724-E21B2FB73613}"/>
              </a:ext>
            </a:extLst>
          </p:cNvPr>
          <p:cNvSpPr/>
          <p:nvPr/>
        </p:nvSpPr>
        <p:spPr>
          <a:xfrm>
            <a:off x="7800630" y="5435714"/>
            <a:ext cx="1114537" cy="49670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solidFill>
                  <a:schemeClr val="tx1"/>
                </a:solidFill>
              </a:rPr>
              <a:t>c=[</a:t>
            </a:r>
            <a:r>
              <a:rPr lang="pl-PL" sz="1600" b="1" dirty="0" err="1">
                <a:solidFill>
                  <a:schemeClr val="tx1"/>
                </a:solidFill>
              </a:rPr>
              <a:t>chery</a:t>
            </a:r>
            <a:r>
              <a:rPr lang="pl-PL" sz="1600" b="1" dirty="0">
                <a:solidFill>
                  <a:schemeClr val="tx1"/>
                </a:solidFill>
              </a:rPr>
              <a:t>]</a:t>
            </a:r>
            <a:endParaRPr lang="pl-PL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865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2E24D-8978-89B6-7A10-A2A6B8B9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399123-C766-7638-F4FE-3151AAC6451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Grupowanie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C9D3E7F-C9D6-2E15-9782-966D9E744CA0}"/>
              </a:ext>
            </a:extLst>
          </p:cNvPr>
          <p:cNvSpPr txBox="1"/>
          <p:nvPr/>
        </p:nvSpPr>
        <p:spPr>
          <a:xfrm>
            <a:off x="1024180" y="866575"/>
            <a:ext cx="8028384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dirty="0"/>
              <a:t>Wersja </a:t>
            </a:r>
            <a:r>
              <a:rPr lang="pl-PL" sz="1600" b="1" dirty="0" err="1"/>
              <a:t>groupBy</a:t>
            </a:r>
            <a:r>
              <a:rPr lang="pl-PL" sz="1600" b="1" dirty="0"/>
              <a:t>()</a:t>
            </a:r>
            <a:r>
              <a:rPr lang="pl-PL" sz="1600" dirty="0"/>
              <a:t> z dwoma argumentami pozwala dodatkowo przekształcać wartości w mapie.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Pierwsza funkcja lambda określa sposób tworzenia kluczy.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Druga funkcja lambda określa, w jaki sposób przekształcać elementy przed umieszczeniem ich w wartościach mapy.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B3DBBB50-FFC4-FD4E-38F7-6DDC330CF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100" y="3212976"/>
            <a:ext cx="7898963" cy="317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7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800FA-DA21-4D65-5D81-C816A995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ECEC18-6A43-1400-6F2B-1DE824F1A09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Łańcuchowanie metod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04CE6EB-192A-C891-57B3-48961ED08A0D}"/>
              </a:ext>
            </a:extLst>
          </p:cNvPr>
          <p:cNvSpPr txBox="1"/>
          <p:nvPr/>
        </p:nvSpPr>
        <p:spPr>
          <a:xfrm>
            <a:off x="1024180" y="866575"/>
            <a:ext cx="8028384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l-PL" sz="1600" b="1" dirty="0"/>
              <a:t>Łańcuchowanie metod </a:t>
            </a:r>
            <a:r>
              <a:rPr lang="pl-PL" sz="1600" dirty="0"/>
              <a:t>polega na wywoływaniu kilku metod po sobie w sposób, który sprawia, że wynik jednej metody staje się wejściem dla kolejnej.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FE75ED9-D889-31DA-9A51-6EE6F2D68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80" y="2302031"/>
            <a:ext cx="8119820" cy="36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06044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83049</TotalTime>
  <Pages>0</Pages>
  <Words>1512</Words>
  <Characters>0</Characters>
  <Application>Microsoft Office PowerPoint</Application>
  <PresentationFormat>Pokaz na ekranie (4:3)</PresentationFormat>
  <Lines>0</Lines>
  <Paragraphs>382</Paragraphs>
  <Slides>38</Slides>
  <Notes>38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 Math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1129</cp:revision>
  <dcterms:modified xsi:type="dcterms:W3CDTF">2026-02-08T21:32:22Z</dcterms:modified>
  <cp:category/>
</cp:coreProperties>
</file>