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72"/>
  </p:notesMasterIdLst>
  <p:handoutMasterIdLst>
    <p:handoutMasterId r:id="rId73"/>
  </p:handoutMasterIdLst>
  <p:sldIdLst>
    <p:sldId id="346" r:id="rId2"/>
    <p:sldId id="523" r:id="rId3"/>
    <p:sldId id="524" r:id="rId4"/>
    <p:sldId id="525" r:id="rId5"/>
    <p:sldId id="526" r:id="rId6"/>
    <p:sldId id="527" r:id="rId7"/>
    <p:sldId id="556" r:id="rId8"/>
    <p:sldId id="528" r:id="rId9"/>
    <p:sldId id="557" r:id="rId10"/>
    <p:sldId id="516" r:id="rId11"/>
    <p:sldId id="517" r:id="rId12"/>
    <p:sldId id="518" r:id="rId13"/>
    <p:sldId id="519" r:id="rId14"/>
    <p:sldId id="558" r:id="rId15"/>
    <p:sldId id="573" r:id="rId16"/>
    <p:sldId id="574" r:id="rId17"/>
    <p:sldId id="575" r:id="rId18"/>
    <p:sldId id="559" r:id="rId19"/>
    <p:sldId id="560" r:id="rId20"/>
    <p:sldId id="576" r:id="rId21"/>
    <p:sldId id="561" r:id="rId22"/>
    <p:sldId id="562" r:id="rId23"/>
    <p:sldId id="520" r:id="rId24"/>
    <p:sldId id="577" r:id="rId25"/>
    <p:sldId id="580" r:id="rId26"/>
    <p:sldId id="581" r:id="rId27"/>
    <p:sldId id="582" r:id="rId28"/>
    <p:sldId id="583" r:id="rId29"/>
    <p:sldId id="584" r:id="rId30"/>
    <p:sldId id="585" r:id="rId31"/>
    <p:sldId id="579" r:id="rId32"/>
    <p:sldId id="578" r:id="rId33"/>
    <p:sldId id="563" r:id="rId34"/>
    <p:sldId id="564" r:id="rId35"/>
    <p:sldId id="565" r:id="rId36"/>
    <p:sldId id="566" r:id="rId37"/>
    <p:sldId id="567" r:id="rId38"/>
    <p:sldId id="521" r:id="rId39"/>
    <p:sldId id="522" r:id="rId40"/>
    <p:sldId id="529" r:id="rId41"/>
    <p:sldId id="530" r:id="rId42"/>
    <p:sldId id="568" r:id="rId43"/>
    <p:sldId id="532" r:id="rId44"/>
    <p:sldId id="531" r:id="rId45"/>
    <p:sldId id="533" r:id="rId46"/>
    <p:sldId id="534" r:id="rId47"/>
    <p:sldId id="535" r:id="rId48"/>
    <p:sldId id="536" r:id="rId49"/>
    <p:sldId id="537" r:id="rId50"/>
    <p:sldId id="538" r:id="rId51"/>
    <p:sldId id="539" r:id="rId52"/>
    <p:sldId id="569" r:id="rId53"/>
    <p:sldId id="540" r:id="rId54"/>
    <p:sldId id="541" r:id="rId55"/>
    <p:sldId id="542" r:id="rId56"/>
    <p:sldId id="544" r:id="rId57"/>
    <p:sldId id="545" r:id="rId58"/>
    <p:sldId id="546" r:id="rId59"/>
    <p:sldId id="543" r:id="rId60"/>
    <p:sldId id="547" r:id="rId61"/>
    <p:sldId id="548" r:id="rId62"/>
    <p:sldId id="549" r:id="rId63"/>
    <p:sldId id="550" r:id="rId64"/>
    <p:sldId id="551" r:id="rId65"/>
    <p:sldId id="552" r:id="rId66"/>
    <p:sldId id="553" r:id="rId67"/>
    <p:sldId id="554" r:id="rId68"/>
    <p:sldId id="570" r:id="rId69"/>
    <p:sldId id="555" r:id="rId70"/>
    <p:sldId id="572" r:id="rId7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BCE292"/>
    <a:srgbClr val="0000FF"/>
    <a:srgbClr val="00FF00"/>
    <a:srgbClr val="00FFFF"/>
    <a:srgbClr val="FF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 varScale="1">
        <p:scale>
          <a:sx n="113" d="100"/>
          <a:sy n="113" d="100"/>
        </p:scale>
        <p:origin x="151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69AE-258F-8FE2-F9C1-184212E57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7F1BD-5E40-DBB6-FB89-56F3F9261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FFF88-9646-7251-E639-3C1563BFC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037E6-56ED-78C2-E35A-587052852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2674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421A-A9CC-0F5A-700F-25D31F90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39DF9-D666-AAB8-A71F-56175EFF9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775FC-EE81-2A9C-6D1E-43381DFC1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80764-4720-F3C1-2967-29624BE5E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3656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3531E-442B-1F73-C4AD-323EF19DF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0AAF2-B1BE-D780-D770-BEB5868A3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0EE87-61BE-487B-8D19-206C57FEB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C6C18-5734-868E-C6AF-FDE49E4F0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8969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49DF0-262D-8F2E-481D-3CC0C161B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E5A61-11FF-6AA4-E396-AB606C508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B1106-00F4-DFAA-AC81-5EAF5A658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550EA-AFB8-8BE1-7E01-8AF0149F1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9180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BB692-AE10-FAF3-E58E-43C538C0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8B84E-F433-C520-DAC3-0F496CC1A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F5167-37BD-AEF8-5722-6A9EA57F8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39819-6F73-F99C-50FB-853D6397F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1106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845AC-3135-B0A5-0E9D-49AD38D3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1C537-0411-677A-1F56-F86A13559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67D05-8486-CE2D-FD1E-1D8BA808E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A2A84-9D3B-F7F2-F526-E2491B943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9264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68EA5-608D-B83D-E82B-BCB779B0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F27EE-1173-B264-841B-DF60C5CC1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8A126-24E4-6017-43EC-FDA825B5D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F401E-A2C9-7CA4-02CB-FC9A71459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4296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CCA4-1D4F-8AC6-9F89-671026AE8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60B4E-527C-CC12-81F8-61F1A8B3F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0996F-914A-5595-1B07-E93F8272E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FA38F-2A37-5448-A017-18A680289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2532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B242-1721-D171-CA36-F1409DEB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EE653-8F33-80E6-9753-5BCD53F79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B36C6-DCCE-840A-C4BA-1B4771BF0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ABCB4-A39E-E4CD-4AC5-550D965555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8755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FB544-5C0F-8354-BAC8-074455555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E952A-3597-EFAD-B25A-BE9DEA38C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D6545-EFCE-8752-E1A1-54C96086C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EABAC-DEAC-BF0A-F6B0-932783BCB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2162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4EC16-C254-EC1C-1CCB-F7D23287B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0FAE4-25FD-F29F-8AB6-ED44E88AA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75E2A-15F1-57D2-D7C9-EECB0A843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CD41F-3CA9-5062-2E6D-D5FD378ABC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4344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BC424-9AAE-4F98-92EA-B85A0FA33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292B0-38A1-067F-C1D9-55CE6972C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8695F-B214-0831-D53D-DF39D5365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2EDE3-2484-2EC5-2C06-8E163F876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8182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353A-7EE6-61AE-67E2-2D110BC97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AC777-15AB-82A8-CDA5-008C8EAB4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5044A-571D-6299-6FFA-B0AF396D0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A12F9-5A97-9D36-BE43-C48ECBDE1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4288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B0ED-3472-D049-8986-CCEDF9F71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A6DA6-99CF-FF67-D752-EB2753B28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FCE84-BA3F-E63B-122E-6A760D60F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E3F4E-67FC-B57D-0A9B-D79DCEA58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532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93A19-9D46-FFBE-3463-E8757125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F148B-1661-B0C5-B7F3-AF7F90C07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B8570-B4C3-27A9-77F0-DEF862803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1E4ED-FC82-D6FE-198C-4BBE4EAE4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2445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D8F8-B325-3F19-D4C7-4E240653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B6583-848C-D443-9A96-9138A3DBF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2D28D-DC34-F66D-BB5E-5B2677E78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BCD4D-D8EB-E6E7-EEC4-B533A3CDA4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4107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E435-4DA9-AA64-9866-530C1ED25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4483F-D767-2B33-1824-240DA257B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9E6DC-DEE7-6C63-6009-E76AC0AF7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3C9CB-5A30-110E-0283-EC696BA87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1341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724A-3758-05A9-A4D6-3C2BAC9A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F2C10-C391-56D8-A71B-8F2731ECC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F496D-9ABD-B7BB-6C11-4B3B79465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66B9D-88F5-B10D-BA0D-50D34D02EE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93247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E5C88-5C8D-5455-A161-C41323CE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D8E8B-99EC-DB02-8CCD-96B228F26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13BD5-04FE-3B1E-D0BD-3B237F58A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31478-81ED-0442-8C82-DC4AE7635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01364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49744-6017-4E91-5759-A183EC8D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4B1B7-B5CD-EABA-7F83-D6240BE75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C1020-EE61-DF0F-C052-C49F13F55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5D0E4-DDFA-B6E3-25D9-AF15F25650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16553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25CD-9585-2DEB-3C64-A28FDA8E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85FC0-3383-744B-3D25-B53F0B15F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AC642-39A6-E482-F8E5-B56E123B6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A4DEE-B9F3-FD53-D868-C8136C3DFC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17815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574F5-570E-4350-82CB-CCA45A71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4F7EE-58D6-AE8F-5E08-F0B70614B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D6690-405A-464D-E81F-F0142234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D7A5F-EA7E-0DF5-635A-C149A1270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543853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21AF9-908E-939A-B9DB-32E6B74EF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C3065-2962-1DAC-4249-23EA3DD9D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90474-54A7-C04A-7712-031DABC5A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4F5C9-81BC-4509-9152-1B0266F9F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43680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3EDAB-9DF1-E300-FC63-B2C0285A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1D32E-5319-099A-8C07-85FD9D37E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8FBA2-0995-08FB-3872-355A1AEEC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63968-CA1D-652C-78D3-CB99B63FD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39855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0E5BE-80D7-604A-FD3A-69A68971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A9ED4-3E11-0C78-6D5C-C38472606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0F05E-C169-23FE-BCB9-9E20DF4C7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4396F-AC93-6917-784E-8C09802D9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76234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33CB1-5CBC-C035-EE3D-5341F1E9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1D41B-4CA3-2FF4-FB10-3654683C6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E124D-8715-18D0-0D1D-90952D6F2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ECA07-9CB8-0DEB-7821-B3A0B510F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07868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7FAE2-241D-6DC8-7701-D28CF4BE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E82CC-8B94-EF75-EAF0-10A881069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C7C60-FA0B-D67A-410B-3A4E9A034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AE362-6795-EE33-DD4C-653020A79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64064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F3AC5-8A2A-F59F-7FAE-9B8741C28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936D4-6BFE-4A13-E037-2A0E455CE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8993D-188B-23DD-7894-68D1AE28B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DA2DE-118C-C24B-F923-03BF333CB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15573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317E7-DDBE-1CF5-1B0E-BAD0AF6F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8F123-116B-B174-2DDA-EEEB3E198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96820-911A-937F-212C-06EB6B66A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6B75B-E3D1-2136-2D3B-E3D2163C8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90429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8DF8-5D66-5ADA-CA67-F3728884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D01E4-D8CC-957F-D9DF-FBF48CD41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7EEDF-C971-33ED-F19D-51520D1F7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2BEC4-CB13-B693-0293-7BB649383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77557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9C7F2-D99A-9566-7619-E7EC2DD4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BCF5E-D136-0745-1DB0-E7DBD0184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0AACE-69D6-FC22-9216-27D540043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9CF0C-1FC6-AF48-57B9-C0EFEF8C7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09071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7F300-C59F-560F-67CF-92AEA856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FBCA3-D825-7CBE-CD26-2F57969E8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2BDB2-E205-254F-25B2-3E1B72B4F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DE69D-D410-A304-2C16-8EF27706A2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55406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DC50-1805-B38E-9323-F7645B09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9B5AA-DAF3-9D8F-E46D-0699F8CB0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93522-5AC9-F63D-9954-28AAD7A9F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D0795-0DF6-C5F1-1203-0805CF835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08506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4D190-9599-8D73-7EA3-497641828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38B16-DE36-C12B-558C-0AFCCA0C6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32CB7-77BF-4C4A-0BF0-F61E7F838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7E7BB-1357-E664-6EF4-4493AE562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76749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53B4-55E1-598B-B228-39148B98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78579-D1BA-74AE-23A9-BA2B94E53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6FC98-9021-4DEE-4CEB-491F9CC0F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FC212-FEC3-72BE-A725-A1DFEB717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9868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D234-0CDC-A028-6D31-E26294D2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1C909-D20F-7E75-1E9E-07BA755F6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2AAD0-C6B2-E52E-52B5-02CBDD78C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52AF3-BD1E-93D3-8DC3-76C5E9A30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11498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1D778-B585-C687-371B-24CAFEA2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94B05-D142-8CBA-3CF0-0D2561777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A1100-D4DA-0383-C4EA-3D66C6E21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D3B7F-2735-2D43-D0EF-EE2A75EBC3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9566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1F9B9-03C1-BA0C-7553-C59866EA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C4875-336C-2AE1-93E6-B0B5585D2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4E00E-EEF2-2488-0012-DB9574536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E6883-9EF7-F6BF-8F41-EC6F0770A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64006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4EA30-F304-A4EA-D52C-B03C1D09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943D2-1248-4306-0841-D0699DB33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34346-329B-AF6D-5D11-1BE7CDA9D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C1AAC-7AA7-2A05-5E41-306225627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76551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BDA0D-3BF3-0650-AD12-F9DB1834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271CE-610C-D45A-A6A9-8020CBB6B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AF372-EC20-7815-686F-BC8D99B1D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E956A-6442-66A0-F31B-10CC76BD9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45967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1085-94BB-51FC-3641-19B130CA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BE408-939D-6D1D-B0BF-66C87DDFE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61280-41F7-D3AE-7FED-662A324BD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D7C2B-A8BA-E19F-67A9-AC3C91B133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22080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5F679-4967-6F84-7F95-DE1E1824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97F66-EF76-B196-2199-4B5404525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2C33A-091E-E4FF-2185-3C56EDF6A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4DC1C-7BEC-80BE-F758-5C4119BAC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16020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0D2A4-94CA-F8D1-DAB8-92C5FE1B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48D38-692B-8760-BF56-973EC4EDD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89A4D-3C7F-0C47-6FA2-BF6FFA35D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304EE-2993-4360-FE5A-3F7960203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11921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78349-C29E-BDA9-659C-F092926E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B3A2A-4F33-2C97-5B3C-AE42654B4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96030-F956-D88A-47B8-5363C04E9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1C16-BE7A-6817-D8E8-A411E63023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896088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9A51A-B3B6-878D-BED7-0957AC6D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2D206-4188-40DB-092C-FBEB6912E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9D455-8F09-1B14-5F14-AC27BE69D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76D31-49B9-C44E-925E-81B18185EB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00469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9BFA-DD84-BFFB-E5D2-F41C5A89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FA651-8706-EB90-E5CD-D3D863B5C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48971-00D5-9758-5F21-4CC45A977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D8647-4884-CD86-0FB3-555D759DE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60889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51A7-07E1-3055-7D77-F80D0989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DCD16-B2C6-3902-5B39-E167D98B0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ECC8B-5882-9519-6D8F-79CB73D3D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1C188-7A0C-25C5-B59E-B660B1054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75842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59BAD-8515-92F8-642D-00F35A18D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2B8DB-7643-0FB1-BFB5-3D5030296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44586-F968-D863-05C4-C75076C33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38CAA-4EB9-B7EC-E751-36829AFCA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34473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7C7C-0453-3626-1E2F-84D2D2CEE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9E094-DEC3-E444-9BC7-002F12251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84479-F1DB-3109-C4F1-04AAA71C9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DB414-B58C-8086-4696-6608C4555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38216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3023-2037-BB61-2F14-60D4C30C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C0318-93B2-2A49-749A-0504EACAF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5B298-D9C8-E542-4D76-2AAB3FA99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08B71-8A42-B5F5-EA02-69C7BCE096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67805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23C0A-12BC-2347-2DD4-753FB074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5D4BA-763F-E5CB-CF1D-4225F7C54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F5286-7ECA-29AA-7FCA-0B9EB7EF1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E2047-A7DA-5CAC-DEED-6DD083AB86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40418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0B28D-9B28-7EAA-62DD-79869AAA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3CF2A-36EB-1DF9-4A9C-D70514F04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84CD9-A384-6912-D756-FFA6BA3A1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7DBE3-34E8-ECF7-C9A9-082F7F4BC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54876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17805-7B1C-F2E6-1AFA-834A43977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94544-D9A8-9268-085E-25926EE70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837D3-8239-97D3-A60A-0365E5621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EFA46-2E8F-1B03-72DC-1F5BEA1BD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60903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72F1A-8F29-C771-D4A3-43F6BF185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99CEC-4385-E706-7567-4D6692705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76AC7-5A7B-DA05-0062-8C0E2AA4B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9BCF-A291-CCFE-274B-64F6E86E0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969876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4CD5-569E-0A06-DC27-60A5D7086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8F857-5C43-3A2D-58A0-1C2832FC0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E9DD0-8505-B8D7-7F64-DA9800DA4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16017-3037-D70D-9D0F-EA1A9B3331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51986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42B2B-62DA-A1FF-AF95-FCE90C48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8F963-0C86-5685-E9B9-C9B100BF6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58703-46D7-1D6A-F0CA-49BA11FC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84DB5-5D91-7A43-68AC-50956A97D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059662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C9334-FA45-EBDE-23FC-C679A1E1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8817A-AA4A-EC83-7FF9-74376CFAD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6AEDA-03C2-1751-B376-F30DC91C4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133AD-BD76-A547-894E-D2FFF2E47F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593053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C8D4-CB1F-E7C5-C09C-16FCBC5C5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F6611-43EB-E117-2BAB-11344FEBC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5828E-D545-A7C1-1149-A06281C08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B0844-632D-9838-E3E6-A7891F41A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42631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9D24C-8431-DBCE-93F1-0F35DCE5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B2638-EF0D-CD72-842B-D2C6C32B7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26598-6643-C76B-80B0-553A551C6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4897F-7B17-94C0-871A-F44B1C6E39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144668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EB2C-78A4-8F99-8626-05CF4DA6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28240-8234-3286-AA77-69B7EFCF7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E66CA-ED89-1BF0-4C08-AD4B45913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D9F2F-10DA-AD93-DFE7-AC1500CC1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131226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F2C99-FBD3-92BC-99F3-2C601BDF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8692B-E12E-C44B-D19D-E6AE2D6E2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0CE47-74C9-6B69-9B27-6C2BA3E12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12A08-E192-D66A-20A2-56D55D542F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015444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6B1A-7C26-5E23-F87B-3829F858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9BA9-58EF-790F-120B-8EAC9F5EA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8294F-AF1E-F8F4-4FD0-D9D4BCB6B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56A21-8479-AEAD-4809-2E7BB56A8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0573678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04A0B-D88F-E0A7-D103-F3F0FB3B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B984B-7A03-1DDC-63C4-A5036D849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652A4-D188-69AB-35F3-39B1B911C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2355A-A6D8-1CA8-0D3D-848FBDA8A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349262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ED6F-BF91-6620-5E0B-5F203C30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91A02-4FE1-3DB9-630B-EB94EF3B4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D4E1D-3B38-3CF3-AF95-CA8BA3CBB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90EC5-9305-1684-46B9-C496213F67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066195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2053A-F590-C651-D399-57D0BDE31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9447F-36B4-EAEC-03C3-59DEED4CE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F28D8-72B6-6BA6-ECA6-F9421BAC4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2FC0E-0913-8A99-F0A3-E625E69756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037521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BEEF-5BC9-7053-C483-91DB960F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86ABF-EEFC-715D-F6E3-35EC752B1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69364-3DA9-30C0-0382-A410F408D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EBC5A-5597-B4D3-ADA7-5F9395A7DD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024800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2221-AFD9-E55D-35F5-58B85A36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087D0-4CAF-819E-BAAF-060961CAF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76AD8-CDA3-C3DA-895F-D5014812F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1A919-E9B9-6DAF-6864-E22F280FF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184373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57F25-68CF-E65B-42EC-CAC34DD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99402-8405-0012-12CB-B1BFA7290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D5772-564C-CB68-BB22-64945E170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83B8D-2582-84A5-8E7C-60DF6906CD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810931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E9904-94A9-878F-49D4-FF2845BB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72906-4E6E-7A1C-4268-C77DE577B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AE7A6-716B-318D-B9AA-B7C3FA776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059AC-DDCC-CD23-078E-4E2B78C1B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9828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13.01.2025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3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Funkcje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87106-0C46-171B-A072-B3FCA35B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F42E8B-57E2-C295-27B3-1B7B911249D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C5534A0-36D6-C876-7A07-072B38B059D8}"/>
              </a:ext>
            </a:extLst>
          </p:cNvPr>
          <p:cNvSpPr txBox="1"/>
          <p:nvPr/>
        </p:nvSpPr>
        <p:spPr>
          <a:xfrm>
            <a:off x="1115616" y="908720"/>
            <a:ext cx="6348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/>
              <a:t>Funkcje w Kotlinie deklaruje się za pomocą słowa kluczowego </a:t>
            </a:r>
            <a:r>
              <a:rPr lang="pl-PL" sz="1600" b="1" dirty="0" err="1"/>
              <a:t>fun</a:t>
            </a:r>
            <a:r>
              <a:rPr lang="pl-PL" sz="1600" dirty="0"/>
              <a:t>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6B6F819-EC7A-7C6F-37E8-4A6396771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1934319"/>
            <a:ext cx="3743325" cy="2790825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D69EED5B-2307-8E27-D240-E9254BD8E8FC}"/>
              </a:ext>
            </a:extLst>
          </p:cNvPr>
          <p:cNvSpPr txBox="1"/>
          <p:nvPr/>
        </p:nvSpPr>
        <p:spPr>
          <a:xfrm>
            <a:off x="1043608" y="4725144"/>
            <a:ext cx="78343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Funkcja </a:t>
            </a:r>
            <a:r>
              <a:rPr lang="pl-PL" sz="1600" b="1" dirty="0" err="1"/>
              <a:t>double</a:t>
            </a:r>
            <a:r>
              <a:rPr lang="pl-PL" sz="1600" dirty="0"/>
              <a:t> przyjmuje jeden parametr </a:t>
            </a:r>
            <a:r>
              <a:rPr lang="pl-PL" sz="1600" b="1" dirty="0"/>
              <a:t>x</a:t>
            </a:r>
            <a:r>
              <a:rPr lang="pl-PL" sz="1600" dirty="0"/>
              <a:t> typu </a:t>
            </a:r>
            <a:r>
              <a:rPr lang="pl-PL" sz="1600" b="1" dirty="0" err="1"/>
              <a:t>Int</a:t>
            </a:r>
            <a:r>
              <a:rPr lang="pl-PL" sz="1600" dirty="0"/>
              <a:t> i zwraca wartość typu </a:t>
            </a:r>
            <a:r>
              <a:rPr lang="pl-PL" sz="1600" b="1" dirty="0" err="1"/>
              <a:t>Int</a:t>
            </a:r>
            <a:r>
              <a:rPr lang="pl-PL" sz="1600" dirty="0"/>
              <a:t>. Wartość zwrotna jest deklarowana po dwukropku </a:t>
            </a:r>
            <a:r>
              <a:rPr lang="pl-PL" sz="1600" b="1" dirty="0"/>
              <a:t>:</a:t>
            </a:r>
            <a:r>
              <a:rPr lang="pl-PL" sz="1600" dirty="0"/>
              <a:t> w nagłówku funkcji.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Parametry funkcji są definiowane w formacie: </a:t>
            </a:r>
            <a:r>
              <a:rPr lang="pl-PL" sz="1600" b="1" dirty="0"/>
              <a:t>nazwa: typ</a:t>
            </a:r>
            <a:r>
              <a:rPr lang="pl-PL" sz="1600" dirty="0"/>
              <a:t>. Mogą one być oddzielane przecinkami, a każdy z parametrów musi mieć jawnie określony typ.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E98B25BE-E51A-5FCA-FC53-045104E0CF8B}"/>
              </a:ext>
            </a:extLst>
          </p:cNvPr>
          <p:cNvCxnSpPr>
            <a:cxnSpLocks/>
          </p:cNvCxnSpPr>
          <p:nvPr/>
        </p:nvCxnSpPr>
        <p:spPr>
          <a:xfrm>
            <a:off x="2483768" y="2204864"/>
            <a:ext cx="792088" cy="1440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523E657-4E85-C554-E5C9-D3C3F61E0DC4}"/>
              </a:ext>
            </a:extLst>
          </p:cNvPr>
          <p:cNvSpPr txBox="1"/>
          <p:nvPr/>
        </p:nvSpPr>
        <p:spPr>
          <a:xfrm>
            <a:off x="1338871" y="1773686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253501C9-0ABA-FADC-9C48-50FDFDB4B0A6}"/>
              </a:ext>
            </a:extLst>
          </p:cNvPr>
          <p:cNvCxnSpPr>
            <a:cxnSpLocks/>
          </p:cNvCxnSpPr>
          <p:nvPr/>
        </p:nvCxnSpPr>
        <p:spPr>
          <a:xfrm>
            <a:off x="3419872" y="1789334"/>
            <a:ext cx="504056" cy="37952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D95BF545-A2ED-FE5F-2FED-B4C92BBE1D94}"/>
              </a:ext>
            </a:extLst>
          </p:cNvPr>
          <p:cNvSpPr txBox="1"/>
          <p:nvPr/>
        </p:nvSpPr>
        <p:spPr>
          <a:xfrm>
            <a:off x="2879812" y="1184719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6990A833-5C25-128D-6208-60B03A7581AD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481794" y="1773686"/>
            <a:ext cx="270226" cy="4761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A8C65209-DEF3-E880-ACD8-510264E88512}"/>
              </a:ext>
            </a:extLst>
          </p:cNvPr>
          <p:cNvSpPr txBox="1"/>
          <p:nvPr/>
        </p:nvSpPr>
        <p:spPr>
          <a:xfrm>
            <a:off x="3825204" y="1127355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704E26E1-231E-5772-3828-73779D58CD4C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5377240" y="1753329"/>
            <a:ext cx="355406" cy="4515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40595232-FDAB-DCC1-D5FC-7232474413B9}"/>
              </a:ext>
            </a:extLst>
          </p:cNvPr>
          <p:cNvSpPr txBox="1"/>
          <p:nvPr/>
        </p:nvSpPr>
        <p:spPr>
          <a:xfrm>
            <a:off x="5076056" y="1106998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AFF637C1-A594-CAD7-D33E-1DC92C5EC759}"/>
              </a:ext>
            </a:extLst>
          </p:cNvPr>
          <p:cNvCxnSpPr>
            <a:cxnSpLocks/>
          </p:cNvCxnSpPr>
          <p:nvPr/>
        </p:nvCxnSpPr>
        <p:spPr>
          <a:xfrm flipH="1">
            <a:off x="5957958" y="1831050"/>
            <a:ext cx="878715" cy="4098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AC49C18-2F36-F1BD-22EC-266F918BD869}"/>
              </a:ext>
            </a:extLst>
          </p:cNvPr>
          <p:cNvSpPr txBox="1"/>
          <p:nvPr/>
        </p:nvSpPr>
        <p:spPr>
          <a:xfrm>
            <a:off x="6675362" y="1215997"/>
            <a:ext cx="122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zwracany</a:t>
            </a:r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B71C81D3-DBEA-5CF1-7761-68392FB6B36A}"/>
              </a:ext>
            </a:extLst>
          </p:cNvPr>
          <p:cNvCxnSpPr>
            <a:cxnSpLocks/>
          </p:cNvCxnSpPr>
          <p:nvPr/>
        </p:nvCxnSpPr>
        <p:spPr>
          <a:xfrm flipH="1">
            <a:off x="5393831" y="2686691"/>
            <a:ext cx="1281531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990628CB-E2A2-0E3A-C412-7B379567BEEE}"/>
              </a:ext>
            </a:extLst>
          </p:cNvPr>
          <p:cNvSpPr txBox="1"/>
          <p:nvPr/>
        </p:nvSpPr>
        <p:spPr>
          <a:xfrm>
            <a:off x="6671383" y="2420017"/>
            <a:ext cx="928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ciało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</p:spTree>
    <p:extLst>
      <p:ext uri="{BB962C8B-B14F-4D97-AF65-F5344CB8AC3E}">
        <p14:creationId xmlns:p14="http://schemas.microsoft.com/office/powerpoint/2010/main" val="49805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23EC2-E208-A440-7844-067C8EA6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A5FD14-0602-2A34-DD60-DFBCDD61323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505EDFE-58F7-DA71-2BFB-0E1B8BAC2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1411602"/>
            <a:ext cx="4486275" cy="5343525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233CB349-4A2A-958E-47CF-B9D50B8366A8}"/>
              </a:ext>
            </a:extLst>
          </p:cNvPr>
          <p:cNvCxnSpPr>
            <a:cxnSpLocks/>
          </p:cNvCxnSpPr>
          <p:nvPr/>
        </p:nvCxnSpPr>
        <p:spPr>
          <a:xfrm>
            <a:off x="2245965" y="1749411"/>
            <a:ext cx="590612" cy="1431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DEE01BB-C940-09BE-C85B-BAE4E09FE464}"/>
              </a:ext>
            </a:extLst>
          </p:cNvPr>
          <p:cNvSpPr txBox="1"/>
          <p:nvPr/>
        </p:nvSpPr>
        <p:spPr>
          <a:xfrm>
            <a:off x="1118273" y="1426245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4F5897FE-6828-6C68-95AA-CB3BF00A33F5}"/>
              </a:ext>
            </a:extLst>
          </p:cNvPr>
          <p:cNvCxnSpPr>
            <a:cxnSpLocks/>
          </p:cNvCxnSpPr>
          <p:nvPr/>
        </p:nvCxnSpPr>
        <p:spPr>
          <a:xfrm>
            <a:off x="3131840" y="1369886"/>
            <a:ext cx="401223" cy="45109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A237692-E9E8-6310-D7FC-690D2DD32CBD}"/>
              </a:ext>
            </a:extLst>
          </p:cNvPr>
          <p:cNvSpPr txBox="1"/>
          <p:nvPr/>
        </p:nvSpPr>
        <p:spPr>
          <a:xfrm>
            <a:off x="2661198" y="779914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9C6E87F4-893D-13C4-BA49-FB1499A3769F}"/>
              </a:ext>
            </a:extLst>
          </p:cNvPr>
          <p:cNvCxnSpPr>
            <a:cxnSpLocks/>
          </p:cNvCxnSpPr>
          <p:nvPr/>
        </p:nvCxnSpPr>
        <p:spPr>
          <a:xfrm flipH="1">
            <a:off x="3638115" y="1467961"/>
            <a:ext cx="789869" cy="7325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DCF1855-E078-AB29-9777-AD4D3A72588F}"/>
              </a:ext>
            </a:extLst>
          </p:cNvPr>
          <p:cNvSpPr txBox="1"/>
          <p:nvPr/>
        </p:nvSpPr>
        <p:spPr>
          <a:xfrm>
            <a:off x="3817758" y="821630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AD0A2FBF-9E3D-4D6A-9F2D-975EFBB99068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4562618" y="1426245"/>
            <a:ext cx="1235018" cy="7225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9289327-0F36-AC4A-EB97-DF99E4BEAA3D}"/>
              </a:ext>
            </a:extLst>
          </p:cNvPr>
          <p:cNvSpPr txBox="1"/>
          <p:nvPr/>
        </p:nvSpPr>
        <p:spPr>
          <a:xfrm>
            <a:off x="5141046" y="779914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96FB72A4-91B7-17AD-EABC-DF2D4A3C7712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5797636" y="1496141"/>
            <a:ext cx="1438222" cy="5764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4ADD3B32-41F4-538B-CD84-B40A78B24D8C}"/>
              </a:ext>
            </a:extLst>
          </p:cNvPr>
          <p:cNvSpPr txBox="1"/>
          <p:nvPr/>
        </p:nvSpPr>
        <p:spPr>
          <a:xfrm>
            <a:off x="6604915" y="849810"/>
            <a:ext cx="1261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wartość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domyślna</a:t>
            </a:r>
          </a:p>
        </p:txBody>
      </p:sp>
    </p:spTree>
    <p:extLst>
      <p:ext uri="{BB962C8B-B14F-4D97-AF65-F5344CB8AC3E}">
        <p14:creationId xmlns:p14="http://schemas.microsoft.com/office/powerpoint/2010/main" val="37159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77FEA-422F-852F-E067-234F1748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77C61E-6817-7AD3-E1C6-46E9442E59B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129A0DC-C225-5488-5885-42B5ACEBB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412" y="836712"/>
            <a:ext cx="4829175" cy="269557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2945DFFD-7DF6-3958-4542-3A9F5B5AB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712" y="3686175"/>
            <a:ext cx="3571875" cy="3171825"/>
          </a:xfrm>
          <a:prstGeom prst="rect">
            <a:avLst/>
          </a:prstGeom>
        </p:spPr>
      </p:pic>
      <p:sp>
        <p:nvSpPr>
          <p:cNvPr id="3" name="Nawias klamrowy zamykający 2">
            <a:extLst>
              <a:ext uri="{FF2B5EF4-FFF2-40B4-BE49-F238E27FC236}">
                <a16:creationId xmlns:a16="http://schemas.microsoft.com/office/drawing/2014/main" id="{407546E9-DEA0-0BEA-6CF0-E84B6DBBB686}"/>
              </a:ext>
            </a:extLst>
          </p:cNvPr>
          <p:cNvSpPr/>
          <p:nvPr/>
        </p:nvSpPr>
        <p:spPr>
          <a:xfrm>
            <a:off x="5580112" y="4725144"/>
            <a:ext cx="576064" cy="1800200"/>
          </a:xfrm>
          <a:custGeom>
            <a:avLst/>
            <a:gdLst>
              <a:gd name="connsiteX0" fmla="*/ 0 w 576064"/>
              <a:gd name="connsiteY0" fmla="*/ 0 h 1800200"/>
              <a:gd name="connsiteX1" fmla="*/ 288032 w 576064"/>
              <a:gd name="connsiteY1" fmla="*/ 48003 h 1800200"/>
              <a:gd name="connsiteX2" fmla="*/ 288032 w 576064"/>
              <a:gd name="connsiteY2" fmla="*/ 852097 h 1800200"/>
              <a:gd name="connsiteX3" fmla="*/ 576064 w 576064"/>
              <a:gd name="connsiteY3" fmla="*/ 900100 h 1800200"/>
              <a:gd name="connsiteX4" fmla="*/ 288032 w 576064"/>
              <a:gd name="connsiteY4" fmla="*/ 948103 h 1800200"/>
              <a:gd name="connsiteX5" fmla="*/ 288032 w 576064"/>
              <a:gd name="connsiteY5" fmla="*/ 1752197 h 1800200"/>
              <a:gd name="connsiteX6" fmla="*/ 0 w 576064"/>
              <a:gd name="connsiteY6" fmla="*/ 1800200 h 1800200"/>
              <a:gd name="connsiteX7" fmla="*/ 0 w 576064"/>
              <a:gd name="connsiteY7" fmla="*/ 0 h 1800200"/>
              <a:gd name="connsiteX0" fmla="*/ 0 w 576064"/>
              <a:gd name="connsiteY0" fmla="*/ 0 h 1800200"/>
              <a:gd name="connsiteX1" fmla="*/ 288032 w 576064"/>
              <a:gd name="connsiteY1" fmla="*/ 48003 h 1800200"/>
              <a:gd name="connsiteX2" fmla="*/ 288032 w 576064"/>
              <a:gd name="connsiteY2" fmla="*/ 852097 h 1800200"/>
              <a:gd name="connsiteX3" fmla="*/ 576064 w 576064"/>
              <a:gd name="connsiteY3" fmla="*/ 900100 h 1800200"/>
              <a:gd name="connsiteX4" fmla="*/ 288032 w 576064"/>
              <a:gd name="connsiteY4" fmla="*/ 948103 h 1800200"/>
              <a:gd name="connsiteX5" fmla="*/ 288032 w 576064"/>
              <a:gd name="connsiteY5" fmla="*/ 1752197 h 1800200"/>
              <a:gd name="connsiteX6" fmla="*/ 0 w 576064"/>
              <a:gd name="connsiteY6" fmla="*/ 180020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6064" h="1800200" stroke="0" extrusionOk="0">
                <a:moveTo>
                  <a:pt x="0" y="0"/>
                </a:moveTo>
                <a:cubicBezTo>
                  <a:pt x="157881" y="-737"/>
                  <a:pt x="286088" y="22222"/>
                  <a:pt x="288032" y="48003"/>
                </a:cubicBezTo>
                <a:cubicBezTo>
                  <a:pt x="348908" y="296287"/>
                  <a:pt x="323231" y="687884"/>
                  <a:pt x="288032" y="852097"/>
                </a:cubicBezTo>
                <a:cubicBezTo>
                  <a:pt x="281869" y="884626"/>
                  <a:pt x="416279" y="904020"/>
                  <a:pt x="576064" y="900100"/>
                </a:cubicBezTo>
                <a:cubicBezTo>
                  <a:pt x="416097" y="899613"/>
                  <a:pt x="288667" y="921895"/>
                  <a:pt x="288032" y="948103"/>
                </a:cubicBezTo>
                <a:cubicBezTo>
                  <a:pt x="266839" y="1265080"/>
                  <a:pt x="254153" y="1564128"/>
                  <a:pt x="288032" y="1752197"/>
                </a:cubicBezTo>
                <a:cubicBezTo>
                  <a:pt x="276564" y="1776952"/>
                  <a:pt x="143921" y="1814468"/>
                  <a:pt x="0" y="1800200"/>
                </a:cubicBezTo>
                <a:cubicBezTo>
                  <a:pt x="-147927" y="1483427"/>
                  <a:pt x="121403" y="462329"/>
                  <a:pt x="0" y="0"/>
                </a:cubicBezTo>
                <a:close/>
              </a:path>
              <a:path w="576064" h="1800200" fill="none" extrusionOk="0">
                <a:moveTo>
                  <a:pt x="0" y="0"/>
                </a:moveTo>
                <a:cubicBezTo>
                  <a:pt x="156131" y="-209"/>
                  <a:pt x="287807" y="21034"/>
                  <a:pt x="288032" y="48003"/>
                </a:cubicBezTo>
                <a:cubicBezTo>
                  <a:pt x="239464" y="268668"/>
                  <a:pt x="250681" y="737980"/>
                  <a:pt x="288032" y="852097"/>
                </a:cubicBezTo>
                <a:cubicBezTo>
                  <a:pt x="286299" y="881707"/>
                  <a:pt x="431191" y="910654"/>
                  <a:pt x="576064" y="900100"/>
                </a:cubicBezTo>
                <a:cubicBezTo>
                  <a:pt x="416783" y="904979"/>
                  <a:pt x="289766" y="920564"/>
                  <a:pt x="288032" y="948103"/>
                </a:cubicBezTo>
                <a:cubicBezTo>
                  <a:pt x="352291" y="1079293"/>
                  <a:pt x="308672" y="1489567"/>
                  <a:pt x="288032" y="1752197"/>
                </a:cubicBezTo>
                <a:cubicBezTo>
                  <a:pt x="297515" y="1797484"/>
                  <a:pt x="148888" y="1805572"/>
                  <a:pt x="0" y="1800200"/>
                </a:cubicBezTo>
              </a:path>
              <a:path w="576064" h="1800200" fill="none" stroke="0" extrusionOk="0">
                <a:moveTo>
                  <a:pt x="0" y="0"/>
                </a:moveTo>
                <a:cubicBezTo>
                  <a:pt x="163072" y="2237"/>
                  <a:pt x="290181" y="22009"/>
                  <a:pt x="288032" y="48003"/>
                </a:cubicBezTo>
                <a:cubicBezTo>
                  <a:pt x="349243" y="253112"/>
                  <a:pt x="244155" y="603375"/>
                  <a:pt x="288032" y="852097"/>
                </a:cubicBezTo>
                <a:cubicBezTo>
                  <a:pt x="302300" y="899847"/>
                  <a:pt x="417224" y="902548"/>
                  <a:pt x="576064" y="900100"/>
                </a:cubicBezTo>
                <a:cubicBezTo>
                  <a:pt x="417778" y="901317"/>
                  <a:pt x="290200" y="924248"/>
                  <a:pt x="288032" y="948103"/>
                </a:cubicBezTo>
                <a:cubicBezTo>
                  <a:pt x="227613" y="1109260"/>
                  <a:pt x="247644" y="1667026"/>
                  <a:pt x="288032" y="1752197"/>
                </a:cubicBezTo>
                <a:cubicBezTo>
                  <a:pt x="278001" y="1780355"/>
                  <a:pt x="140837" y="1787616"/>
                  <a:pt x="0" y="1800200"/>
                </a:cubicBezTo>
              </a:path>
            </a:pathLst>
          </a:custGeom>
          <a:ln w="63500" cap="rnd">
            <a:extLst>
              <a:ext uri="{C807C97D-BFC1-408E-A445-0C87EB9F89A2}">
                <ask:lineSketchStyleProps xmlns:ask="http://schemas.microsoft.com/office/drawing/2018/sketchyshapes" sd="1219033472">
                  <a:prstGeom prst="rightBrac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500CEC1-B5E7-83DF-A1C5-10373EE532DE}"/>
              </a:ext>
            </a:extLst>
          </p:cNvPr>
          <p:cNvSpPr txBox="1"/>
          <p:nvPr/>
        </p:nvSpPr>
        <p:spPr>
          <a:xfrm>
            <a:off x="6204700" y="5239093"/>
            <a:ext cx="1428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argumenty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nazwane</a:t>
            </a:r>
          </a:p>
        </p:txBody>
      </p:sp>
    </p:spTree>
    <p:extLst>
      <p:ext uri="{BB962C8B-B14F-4D97-AF65-F5344CB8AC3E}">
        <p14:creationId xmlns:p14="http://schemas.microsoft.com/office/powerpoint/2010/main" val="215892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71183-BC8E-A240-D29C-8F56A8B1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45D454-27ED-EDAD-4864-17A84D93EE3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- </a:t>
            </a:r>
            <a:r>
              <a:rPr lang="pl-PL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varags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D14F91A-75F8-5499-976A-35A68D5F5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34" y="2276872"/>
            <a:ext cx="5505450" cy="4219575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30F6E875-B02F-79DC-FACA-2E9A8AD3D9CD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427984" y="1915587"/>
            <a:ext cx="1235021" cy="7225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A6443B9-6DE5-62C8-84E1-777818144F1D}"/>
              </a:ext>
            </a:extLst>
          </p:cNvPr>
          <p:cNvSpPr txBox="1"/>
          <p:nvPr/>
        </p:nvSpPr>
        <p:spPr>
          <a:xfrm>
            <a:off x="4980767" y="1269256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argumenty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zmienne</a:t>
            </a:r>
          </a:p>
        </p:txBody>
      </p:sp>
    </p:spTree>
    <p:extLst>
      <p:ext uri="{BB962C8B-B14F-4D97-AF65-F5344CB8AC3E}">
        <p14:creationId xmlns:p14="http://schemas.microsoft.com/office/powerpoint/2010/main" val="301906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5230A-82BE-8D0C-B163-AA647CE9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3928AB-9B96-25FD-F57E-756274305D4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rozszerzające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DCC0B10-27D7-5F68-66A8-2BF121F9D46A}"/>
              </a:ext>
            </a:extLst>
          </p:cNvPr>
          <p:cNvSpPr txBox="1"/>
          <p:nvPr/>
        </p:nvSpPr>
        <p:spPr>
          <a:xfrm>
            <a:off x="971600" y="908720"/>
            <a:ext cx="817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Funkcje rozszerzające </a:t>
            </a:r>
            <a:r>
              <a:rPr lang="pl-PL" sz="1600" dirty="0"/>
              <a:t>pozwalają na dodawanie nowych funkcji do </a:t>
            </a:r>
            <a:r>
              <a:rPr lang="pl-PL" sz="1600" b="1" dirty="0"/>
              <a:t>istniejących klas</a:t>
            </a:r>
            <a:r>
              <a:rPr lang="pl-PL" sz="1600" dirty="0"/>
              <a:t>, bez konieczności ich modyfikacji. Dzięki nim możemy rozszerzyć funkcjonalność klas standardowych (np. </a:t>
            </a:r>
            <a:r>
              <a:rPr lang="pl-PL" sz="1600" b="1" dirty="0"/>
              <a:t>String</a:t>
            </a:r>
            <a:r>
              <a:rPr lang="pl-PL" sz="1600" dirty="0"/>
              <a:t>, </a:t>
            </a:r>
            <a:r>
              <a:rPr lang="pl-PL" sz="1600" b="1" dirty="0"/>
              <a:t>List</a:t>
            </a:r>
            <a:r>
              <a:rPr lang="pl-PL" sz="1600" dirty="0"/>
              <a:t>) lub klas własnych.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Funkcje rozszerzające są definiowane </a:t>
            </a:r>
            <a:r>
              <a:rPr lang="pl-PL" sz="1600" b="1" dirty="0"/>
              <a:t>poza klasą</a:t>
            </a:r>
            <a:r>
              <a:rPr lang="pl-PL" sz="1600" dirty="0"/>
              <a:t>, ale mają dostęp do </a:t>
            </a:r>
            <a:r>
              <a:rPr lang="pl-PL" sz="1600" b="1" dirty="0"/>
              <a:t>obiektu klasy</a:t>
            </a:r>
            <a:r>
              <a:rPr lang="pl-PL" sz="1600" dirty="0"/>
              <a:t>, dla której zostały utworzone, za pomocą słowa kluczowego </a:t>
            </a:r>
            <a:r>
              <a:rPr lang="pl-PL" sz="1600" b="1" dirty="0" err="1"/>
              <a:t>this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FC7CCEA-AE9B-20A8-6436-559BC54EC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96" y="2701129"/>
            <a:ext cx="5760640" cy="1113253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729546D2-E369-D4C5-F05B-473903355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1922" y="5574790"/>
            <a:ext cx="5524500" cy="466725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BF004383-8B07-CFCA-B841-D276705831A4}"/>
              </a:ext>
            </a:extLst>
          </p:cNvPr>
          <p:cNvCxnSpPr>
            <a:cxnSpLocks/>
          </p:cNvCxnSpPr>
          <p:nvPr/>
        </p:nvCxnSpPr>
        <p:spPr>
          <a:xfrm>
            <a:off x="2529592" y="5533074"/>
            <a:ext cx="590612" cy="1431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29103EA-C3DC-D0C2-00FC-6D0CC81A5D91}"/>
              </a:ext>
            </a:extLst>
          </p:cNvPr>
          <p:cNvSpPr txBox="1"/>
          <p:nvPr/>
        </p:nvSpPr>
        <p:spPr>
          <a:xfrm>
            <a:off x="1287429" y="5037821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68654232-6C64-96FC-B30A-9CA2AD795EAF}"/>
              </a:ext>
            </a:extLst>
          </p:cNvPr>
          <p:cNvCxnSpPr>
            <a:cxnSpLocks/>
          </p:cNvCxnSpPr>
          <p:nvPr/>
        </p:nvCxnSpPr>
        <p:spPr>
          <a:xfrm>
            <a:off x="3652534" y="5155676"/>
            <a:ext cx="401223" cy="45109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077B413-7EB7-D704-6616-4E53C687A13E}"/>
              </a:ext>
            </a:extLst>
          </p:cNvPr>
          <p:cNvSpPr txBox="1"/>
          <p:nvPr/>
        </p:nvSpPr>
        <p:spPr>
          <a:xfrm>
            <a:off x="2883128" y="4455112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rozszerzany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3D5D4979-9B8C-52C4-1FDA-5DDEA151E89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013459" y="4823251"/>
            <a:ext cx="538495" cy="8530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A950496-F7B6-2B7D-D591-432A7822B680}"/>
              </a:ext>
            </a:extLst>
          </p:cNvPr>
          <p:cNvSpPr txBox="1"/>
          <p:nvPr/>
        </p:nvSpPr>
        <p:spPr>
          <a:xfrm>
            <a:off x="4542817" y="4176920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3EC4FBE4-C8DE-805E-8439-9F189674F52C}"/>
              </a:ext>
            </a:extLst>
          </p:cNvPr>
          <p:cNvCxnSpPr>
            <a:cxnSpLocks/>
          </p:cNvCxnSpPr>
          <p:nvPr/>
        </p:nvCxnSpPr>
        <p:spPr>
          <a:xfrm flipH="1">
            <a:off x="7544845" y="4889086"/>
            <a:ext cx="381283" cy="7749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84AA2592-DFB5-982B-CCAA-DE4262BCFAF1}"/>
              </a:ext>
            </a:extLst>
          </p:cNvPr>
          <p:cNvSpPr txBox="1"/>
          <p:nvPr/>
        </p:nvSpPr>
        <p:spPr>
          <a:xfrm>
            <a:off x="7363009" y="4242755"/>
            <a:ext cx="122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zwracany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1B6772AB-DD9A-9BAE-39AD-182F5558D6D5}"/>
              </a:ext>
            </a:extLst>
          </p:cNvPr>
          <p:cNvCxnSpPr>
            <a:cxnSpLocks/>
          </p:cNvCxnSpPr>
          <p:nvPr/>
        </p:nvCxnSpPr>
        <p:spPr>
          <a:xfrm>
            <a:off x="6552487" y="4915388"/>
            <a:ext cx="115858" cy="7872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BA6EEC74-D64C-0E1F-C869-38F8B54214F2}"/>
              </a:ext>
            </a:extLst>
          </p:cNvPr>
          <p:cNvSpPr txBox="1"/>
          <p:nvPr/>
        </p:nvSpPr>
        <p:spPr>
          <a:xfrm>
            <a:off x="5806130" y="4203222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lista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parametrów</a:t>
            </a:r>
          </a:p>
        </p:txBody>
      </p:sp>
    </p:spTree>
    <p:extLst>
      <p:ext uri="{BB962C8B-B14F-4D97-AF65-F5344CB8AC3E}">
        <p14:creationId xmlns:p14="http://schemas.microsoft.com/office/powerpoint/2010/main" val="379161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79B49-9B53-4F4C-839A-8041C6AD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0190DD-D505-3281-E16A-DDE7D525ED2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rozszerzające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07E3F5A-7065-DCE6-4762-BF1051524568}"/>
              </a:ext>
            </a:extLst>
          </p:cNvPr>
          <p:cNvSpPr txBox="1"/>
          <p:nvPr/>
        </p:nvSpPr>
        <p:spPr>
          <a:xfrm>
            <a:off x="971600" y="908720"/>
            <a:ext cx="817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Funkcje rozszerzające </a:t>
            </a:r>
            <a:r>
              <a:rPr lang="pl-PL" sz="1600" dirty="0"/>
              <a:t>pozwalają na dodawanie nowych funkcji do </a:t>
            </a:r>
            <a:r>
              <a:rPr lang="pl-PL" sz="1600" b="1" dirty="0"/>
              <a:t>istniejących klas</a:t>
            </a:r>
            <a:r>
              <a:rPr lang="pl-PL" sz="1600" dirty="0"/>
              <a:t>, bez konieczności ich modyfikacji. Dzięki nim możemy rozszerzyć funkcjonalność klas standardowych (np. </a:t>
            </a:r>
            <a:r>
              <a:rPr lang="pl-PL" sz="1600" b="1" dirty="0"/>
              <a:t>String</a:t>
            </a:r>
            <a:r>
              <a:rPr lang="pl-PL" sz="1600" dirty="0"/>
              <a:t>, </a:t>
            </a:r>
            <a:r>
              <a:rPr lang="pl-PL" sz="1600" b="1" dirty="0"/>
              <a:t>List</a:t>
            </a:r>
            <a:r>
              <a:rPr lang="pl-PL" sz="1600" dirty="0"/>
              <a:t>) lub klas własnych.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Funkcje rozszerzające są definiowane </a:t>
            </a:r>
            <a:r>
              <a:rPr lang="pl-PL" sz="1600" b="1" dirty="0"/>
              <a:t>poza klasą</a:t>
            </a:r>
            <a:r>
              <a:rPr lang="pl-PL" sz="1600" dirty="0"/>
              <a:t>, ale mają dostęp do </a:t>
            </a:r>
            <a:r>
              <a:rPr lang="pl-PL" sz="1600" b="1" dirty="0"/>
              <a:t>obiektu klasy</a:t>
            </a:r>
            <a:r>
              <a:rPr lang="pl-PL" sz="1600" dirty="0"/>
              <a:t>, dla której zostały utworzone, za pomocą słowa kluczowego </a:t>
            </a:r>
            <a:r>
              <a:rPr lang="pl-PL" sz="1600" b="1" dirty="0" err="1"/>
              <a:t>this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D43E67B-2D85-456D-A369-0B888D48D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781" y="2495925"/>
            <a:ext cx="5760640" cy="1113253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F285660B-ECAB-D596-6A20-D63AE9442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148" y="3573016"/>
            <a:ext cx="6750227" cy="324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86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B2D60-32CB-6869-64A0-3DF6F2CE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BB4A1-C435-FABD-2BAC-1EFCFD5A523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infiksowe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3E185A3-571F-44BB-B76D-AF6937591985}"/>
              </a:ext>
            </a:extLst>
          </p:cNvPr>
          <p:cNvSpPr txBox="1"/>
          <p:nvPr/>
        </p:nvSpPr>
        <p:spPr>
          <a:xfrm>
            <a:off x="971600" y="908720"/>
            <a:ext cx="8172400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Funkcje oznaczone słowem kluczowym </a:t>
            </a:r>
            <a:r>
              <a:rPr lang="pl-PL" sz="1600" b="1" dirty="0" err="1"/>
              <a:t>infix</a:t>
            </a:r>
            <a:r>
              <a:rPr lang="pl-PL" sz="1600" dirty="0"/>
              <a:t> mogą być wywoływane przy użyciu </a:t>
            </a:r>
            <a:r>
              <a:rPr lang="pl-PL" sz="1600" b="1" dirty="0"/>
              <a:t>notacji </a:t>
            </a:r>
            <a:r>
              <a:rPr lang="pl-PL" sz="1600" b="1" dirty="0" err="1"/>
              <a:t>infiksowej</a:t>
            </a:r>
            <a:r>
              <a:rPr lang="pl-PL" sz="1600" dirty="0"/>
              <a:t>, co oznacza, że </a:t>
            </a:r>
            <a:r>
              <a:rPr lang="pl-PL" sz="1600" b="1" dirty="0"/>
              <a:t>można pominąć kropkę i nawiasy w wywołaniu</a:t>
            </a:r>
            <a:r>
              <a:rPr lang="pl-PL" sz="1600" dirty="0"/>
              <a:t>.</a:t>
            </a:r>
          </a:p>
          <a:p>
            <a:pPr algn="just">
              <a:lnSpc>
                <a:spcPct val="150000"/>
              </a:lnSpc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Aby funkcja mogła być oznaczona jako </a:t>
            </a:r>
            <a:r>
              <a:rPr lang="pl-PL" sz="1600" dirty="0" err="1"/>
              <a:t>infiksowa</a:t>
            </a:r>
            <a:r>
              <a:rPr lang="pl-PL" sz="1600" dirty="0"/>
              <a:t>, musi spełniać poniższe wymagania: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Funkcja musi być funkcją członkowską </a:t>
            </a:r>
            <a:r>
              <a:rPr lang="pl-PL" sz="1600" dirty="0"/>
              <a:t>lub </a:t>
            </a:r>
            <a:r>
              <a:rPr lang="pl-PL" sz="1600" b="1" dirty="0"/>
              <a:t>funkcją rozszerzającą</a:t>
            </a:r>
            <a:r>
              <a:rPr lang="pl-PL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Nie można używać funkcji globalnych jako </a:t>
            </a:r>
            <a:r>
              <a:rPr lang="pl-PL" sz="1600" b="1" dirty="0" err="1"/>
              <a:t>infiksowych</a:t>
            </a:r>
            <a:r>
              <a:rPr lang="pl-PL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Funkcja musi mieć dokładnie jeden parametr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00C1B723-E775-0A81-93ED-1617129E6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5229200"/>
            <a:ext cx="7060704" cy="415835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AD6CDC90-8BFF-9D6E-FB91-1CA54CE0D6F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864927" y="4888422"/>
            <a:ext cx="373811" cy="3686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362EC80-C8E1-ABCE-5B92-8A6F51481FAE}"/>
              </a:ext>
            </a:extLst>
          </p:cNvPr>
          <p:cNvSpPr txBox="1"/>
          <p:nvPr/>
        </p:nvSpPr>
        <p:spPr>
          <a:xfrm>
            <a:off x="1259632" y="4242091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7686F0B9-9DB3-4422-0C86-DED752ED6E92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656315" y="4191574"/>
            <a:ext cx="637465" cy="110963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0EE7063-489B-7441-93ED-E8999604026B}"/>
              </a:ext>
            </a:extLst>
          </p:cNvPr>
          <p:cNvSpPr txBox="1"/>
          <p:nvPr/>
        </p:nvSpPr>
        <p:spPr>
          <a:xfrm>
            <a:off x="3541010" y="3545243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rozszerzany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974E971D-A3B3-A65D-2CDC-327F30588595}"/>
              </a:ext>
            </a:extLst>
          </p:cNvPr>
          <p:cNvCxnSpPr>
            <a:cxnSpLocks/>
          </p:cNvCxnSpPr>
          <p:nvPr/>
        </p:nvCxnSpPr>
        <p:spPr>
          <a:xfrm flipH="1">
            <a:off x="4644008" y="4798344"/>
            <a:ext cx="288032" cy="4587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5088EF3-1A0E-1E02-05A6-EBBFAB487666}"/>
              </a:ext>
            </a:extLst>
          </p:cNvPr>
          <p:cNvSpPr txBox="1"/>
          <p:nvPr/>
        </p:nvSpPr>
        <p:spPr>
          <a:xfrm>
            <a:off x="4563973" y="4146014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97C60F8C-6738-3C4E-6F08-55F10359A05E}"/>
              </a:ext>
            </a:extLst>
          </p:cNvPr>
          <p:cNvSpPr txBox="1"/>
          <p:nvPr/>
        </p:nvSpPr>
        <p:spPr>
          <a:xfrm>
            <a:off x="2567167" y="4152013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1F5B74C4-BAB4-95D3-8E10-A9414B6EC133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083191" y="4798344"/>
            <a:ext cx="89271" cy="45915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F154EAFE-887B-72F5-6A67-15EE654513C2}"/>
              </a:ext>
            </a:extLst>
          </p:cNvPr>
          <p:cNvCxnSpPr>
            <a:cxnSpLocks/>
          </p:cNvCxnSpPr>
          <p:nvPr/>
        </p:nvCxnSpPr>
        <p:spPr>
          <a:xfrm flipH="1">
            <a:off x="5876377" y="4770427"/>
            <a:ext cx="288032" cy="4587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24427D1-2BAF-178D-405B-FC06408CA599}"/>
              </a:ext>
            </a:extLst>
          </p:cNvPr>
          <p:cNvSpPr txBox="1"/>
          <p:nvPr/>
        </p:nvSpPr>
        <p:spPr>
          <a:xfrm>
            <a:off x="5578350" y="4354592"/>
            <a:ext cx="1172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</a:t>
            </a:r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0A3E80AB-DAE3-8587-016C-2E62CAB92F77}"/>
              </a:ext>
            </a:extLst>
          </p:cNvPr>
          <p:cNvCxnSpPr>
            <a:cxnSpLocks/>
          </p:cNvCxnSpPr>
          <p:nvPr/>
        </p:nvCxnSpPr>
        <p:spPr>
          <a:xfrm flipH="1">
            <a:off x="7740352" y="4829425"/>
            <a:ext cx="144016" cy="4380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DEECDAFE-4EE4-DAE8-873F-F169DAD8031C}"/>
              </a:ext>
            </a:extLst>
          </p:cNvPr>
          <p:cNvSpPr txBox="1"/>
          <p:nvPr/>
        </p:nvSpPr>
        <p:spPr>
          <a:xfrm>
            <a:off x="7272661" y="4120967"/>
            <a:ext cx="122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zwracany</a:t>
            </a:r>
          </a:p>
        </p:txBody>
      </p:sp>
    </p:spTree>
    <p:extLst>
      <p:ext uri="{BB962C8B-B14F-4D97-AF65-F5344CB8AC3E}">
        <p14:creationId xmlns:p14="http://schemas.microsoft.com/office/powerpoint/2010/main" val="2601711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A0B0B-C764-A027-2DB7-576DB7E08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40E25D-B169-B040-8400-264A96EA986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infiksowe</a:t>
            </a:r>
            <a:endParaRPr lang="pl-PL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819A8F7-FBA3-ECBA-B284-1B71F168F3BC}"/>
              </a:ext>
            </a:extLst>
          </p:cNvPr>
          <p:cNvSpPr txBox="1"/>
          <p:nvPr/>
        </p:nvSpPr>
        <p:spPr>
          <a:xfrm>
            <a:off x="971600" y="908720"/>
            <a:ext cx="8172400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Funkcje oznaczone słowem kluczowym </a:t>
            </a:r>
            <a:r>
              <a:rPr lang="pl-PL" sz="1600" b="1" dirty="0" err="1"/>
              <a:t>infix</a:t>
            </a:r>
            <a:r>
              <a:rPr lang="pl-PL" sz="1600" dirty="0"/>
              <a:t> mogą być wywoływane przy użyciu </a:t>
            </a:r>
            <a:r>
              <a:rPr lang="pl-PL" sz="1600" b="1" dirty="0"/>
              <a:t>notacji </a:t>
            </a:r>
            <a:r>
              <a:rPr lang="pl-PL" sz="1600" b="1" dirty="0" err="1"/>
              <a:t>infiksowej</a:t>
            </a:r>
            <a:r>
              <a:rPr lang="pl-PL" sz="1600" dirty="0"/>
              <a:t>, co oznacza, że </a:t>
            </a:r>
            <a:r>
              <a:rPr lang="pl-PL" sz="1600" b="1" dirty="0"/>
              <a:t>można pominąć kropkę i nawiasy w wywołaniu</a:t>
            </a:r>
            <a:r>
              <a:rPr lang="pl-PL" sz="1600" dirty="0"/>
              <a:t>.</a:t>
            </a:r>
          </a:p>
          <a:p>
            <a:pPr algn="just">
              <a:lnSpc>
                <a:spcPct val="150000"/>
              </a:lnSpc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Aby funkcja mogła być oznaczona jako </a:t>
            </a:r>
            <a:r>
              <a:rPr lang="pl-PL" sz="1600" dirty="0" err="1"/>
              <a:t>infiksowa</a:t>
            </a:r>
            <a:r>
              <a:rPr lang="pl-PL" sz="1600" dirty="0"/>
              <a:t>, musi spełniać poniższe wymagania: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Funkcja musi być funkcją członkowską </a:t>
            </a:r>
            <a:r>
              <a:rPr lang="pl-PL" sz="1600" dirty="0"/>
              <a:t>lub </a:t>
            </a:r>
            <a:r>
              <a:rPr lang="pl-PL" sz="1600" b="1" dirty="0"/>
              <a:t>funkcją rozszerzającą</a:t>
            </a:r>
            <a:r>
              <a:rPr lang="pl-PL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Nie można używać funkcji globalnych jako </a:t>
            </a:r>
            <a:r>
              <a:rPr lang="pl-PL" sz="1600" b="1" dirty="0" err="1"/>
              <a:t>infiksowych</a:t>
            </a:r>
            <a:r>
              <a:rPr lang="pl-PL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Funkcja musi mieć dokładnie jeden parametr</a:t>
            </a:r>
            <a:r>
              <a:rPr lang="pl-PL" sz="1600" dirty="0"/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2EB38D8-BBE0-1D1E-B7C6-8C8EE398B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3641845"/>
            <a:ext cx="60102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2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979D6-8D09-E520-4D89-F51452D44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5F2A9E-CE37-EA50-EF40-0E4B9B1FF78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2560DB8-8815-ABA5-B47F-099908AA1286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Funkcje lambda to zwięzły sposób definiowania </a:t>
            </a:r>
            <a:r>
              <a:rPr lang="pl-PL" sz="1600" b="1" dirty="0"/>
              <a:t>funkcji anonimowych</a:t>
            </a:r>
            <a:r>
              <a:rPr lang="pl-PL" sz="1600" dirty="0"/>
              <a:t>. Są często wykorzystywane jako funkcje przekazane jako argumenty do innej funkcji.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06E85A3-11D8-88D0-86E7-339A2AB22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772816"/>
            <a:ext cx="350520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28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AC6EE-91A8-3D6E-0482-87520300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45D8E6-BC35-0F79-F26B-552E16E70CA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AFD4F79-2035-8F45-D91E-E4B6DFD8881C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Funkcje lambda to zwięzły sposób definiowania </a:t>
            </a:r>
            <a:r>
              <a:rPr lang="pl-PL" sz="1600" b="1" dirty="0"/>
              <a:t>funkcji anonimowych</a:t>
            </a:r>
            <a:r>
              <a:rPr lang="pl-PL" sz="1600" dirty="0"/>
              <a:t>. Są często wykorzystywane jako funkcje przekazane jako argumenty do innej funkcji.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F701DA68-4AC8-C877-5DBA-D54AAFD02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772816"/>
            <a:ext cx="3505200" cy="66675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A4C99233-83C2-02E5-9509-A414F7184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3933056"/>
            <a:ext cx="5286375" cy="1647825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8BEB23AA-3BFD-F3FD-7DEF-6919A209D3C4}"/>
              </a:ext>
            </a:extLst>
          </p:cNvPr>
          <p:cNvSpPr txBox="1"/>
          <p:nvPr/>
        </p:nvSpPr>
        <p:spPr>
          <a:xfrm>
            <a:off x="3789638" y="2817293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lista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parametrów</a:t>
            </a:r>
          </a:p>
        </p:txBody>
      </p:sp>
      <p:sp>
        <p:nvSpPr>
          <p:cNvPr id="7" name="Nawias klamrowy otwierający 6">
            <a:extLst>
              <a:ext uri="{FF2B5EF4-FFF2-40B4-BE49-F238E27FC236}">
                <a16:creationId xmlns:a16="http://schemas.microsoft.com/office/drawing/2014/main" id="{3466B832-7F48-47DF-AAC8-1B06276E14E7}"/>
              </a:ext>
            </a:extLst>
          </p:cNvPr>
          <p:cNvSpPr/>
          <p:nvPr/>
        </p:nvSpPr>
        <p:spPr>
          <a:xfrm rot="5400000">
            <a:off x="4292409" y="2816123"/>
            <a:ext cx="487174" cy="1800200"/>
          </a:xfrm>
          <a:custGeom>
            <a:avLst/>
            <a:gdLst>
              <a:gd name="connsiteX0" fmla="*/ 487174 w 487174"/>
              <a:gd name="connsiteY0" fmla="*/ 1800200 h 1800200"/>
              <a:gd name="connsiteX1" fmla="*/ 243587 w 487174"/>
              <a:gd name="connsiteY1" fmla="*/ 1759604 h 1800200"/>
              <a:gd name="connsiteX2" fmla="*/ 243587 w 487174"/>
              <a:gd name="connsiteY2" fmla="*/ 940696 h 1800200"/>
              <a:gd name="connsiteX3" fmla="*/ 0 w 487174"/>
              <a:gd name="connsiteY3" fmla="*/ 900100 h 1800200"/>
              <a:gd name="connsiteX4" fmla="*/ 243587 w 487174"/>
              <a:gd name="connsiteY4" fmla="*/ 859504 h 1800200"/>
              <a:gd name="connsiteX5" fmla="*/ 243587 w 487174"/>
              <a:gd name="connsiteY5" fmla="*/ 40596 h 1800200"/>
              <a:gd name="connsiteX6" fmla="*/ 487174 w 487174"/>
              <a:gd name="connsiteY6" fmla="*/ 0 h 1800200"/>
              <a:gd name="connsiteX7" fmla="*/ 487174 w 487174"/>
              <a:gd name="connsiteY7" fmla="*/ 1800200 h 1800200"/>
              <a:gd name="connsiteX0" fmla="*/ 487174 w 487174"/>
              <a:gd name="connsiteY0" fmla="*/ 1800200 h 1800200"/>
              <a:gd name="connsiteX1" fmla="*/ 243587 w 487174"/>
              <a:gd name="connsiteY1" fmla="*/ 1759604 h 1800200"/>
              <a:gd name="connsiteX2" fmla="*/ 243587 w 487174"/>
              <a:gd name="connsiteY2" fmla="*/ 940696 h 1800200"/>
              <a:gd name="connsiteX3" fmla="*/ 0 w 487174"/>
              <a:gd name="connsiteY3" fmla="*/ 900100 h 1800200"/>
              <a:gd name="connsiteX4" fmla="*/ 243587 w 487174"/>
              <a:gd name="connsiteY4" fmla="*/ 859504 h 1800200"/>
              <a:gd name="connsiteX5" fmla="*/ 243587 w 487174"/>
              <a:gd name="connsiteY5" fmla="*/ 40596 h 1800200"/>
              <a:gd name="connsiteX6" fmla="*/ 487174 w 48717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174" h="1800200" stroke="0" extrusionOk="0">
                <a:moveTo>
                  <a:pt x="487174" y="1800200"/>
                </a:moveTo>
                <a:cubicBezTo>
                  <a:pt x="352287" y="1799979"/>
                  <a:pt x="242931" y="1782271"/>
                  <a:pt x="243587" y="1759604"/>
                </a:cubicBezTo>
                <a:cubicBezTo>
                  <a:pt x="219305" y="1504358"/>
                  <a:pt x="176115" y="1116405"/>
                  <a:pt x="243587" y="940696"/>
                </a:cubicBezTo>
                <a:cubicBezTo>
                  <a:pt x="231972" y="929617"/>
                  <a:pt x="132986" y="908629"/>
                  <a:pt x="0" y="900100"/>
                </a:cubicBezTo>
                <a:cubicBezTo>
                  <a:pt x="130915" y="898122"/>
                  <a:pt x="245630" y="882901"/>
                  <a:pt x="243587" y="859504"/>
                </a:cubicBezTo>
                <a:cubicBezTo>
                  <a:pt x="256162" y="554998"/>
                  <a:pt x="292758" y="301331"/>
                  <a:pt x="243587" y="40596"/>
                </a:cubicBezTo>
                <a:cubicBezTo>
                  <a:pt x="233420" y="16618"/>
                  <a:pt x="345277" y="6937"/>
                  <a:pt x="487174" y="0"/>
                </a:cubicBezTo>
                <a:cubicBezTo>
                  <a:pt x="635101" y="316773"/>
                  <a:pt x="365771" y="1337871"/>
                  <a:pt x="487174" y="1800200"/>
                </a:cubicBezTo>
                <a:close/>
              </a:path>
              <a:path w="487174" h="1800200" fill="none" extrusionOk="0">
                <a:moveTo>
                  <a:pt x="487174" y="1800200"/>
                </a:moveTo>
                <a:cubicBezTo>
                  <a:pt x="349173" y="1799954"/>
                  <a:pt x="241977" y="1778742"/>
                  <a:pt x="243587" y="1759604"/>
                </a:cubicBezTo>
                <a:cubicBezTo>
                  <a:pt x="233813" y="1439558"/>
                  <a:pt x="215579" y="1077829"/>
                  <a:pt x="243587" y="940696"/>
                </a:cubicBezTo>
                <a:cubicBezTo>
                  <a:pt x="239414" y="925736"/>
                  <a:pt x="146998" y="909366"/>
                  <a:pt x="0" y="900100"/>
                </a:cubicBezTo>
                <a:cubicBezTo>
                  <a:pt x="134378" y="903694"/>
                  <a:pt x="246665" y="880099"/>
                  <a:pt x="243587" y="859504"/>
                </a:cubicBezTo>
                <a:cubicBezTo>
                  <a:pt x="297840" y="675417"/>
                  <a:pt x="249679" y="389838"/>
                  <a:pt x="243587" y="40596"/>
                </a:cubicBezTo>
                <a:cubicBezTo>
                  <a:pt x="248742" y="28381"/>
                  <a:pt x="347438" y="2746"/>
                  <a:pt x="487174" y="0"/>
                </a:cubicBezTo>
              </a:path>
              <a:path w="487174" h="1800200" fill="none" stroke="0" extrusionOk="0">
                <a:moveTo>
                  <a:pt x="487174" y="1800200"/>
                </a:moveTo>
                <a:cubicBezTo>
                  <a:pt x="353358" y="1800599"/>
                  <a:pt x="245416" y="1782465"/>
                  <a:pt x="243587" y="1759604"/>
                </a:cubicBezTo>
                <a:cubicBezTo>
                  <a:pt x="180150" y="1621914"/>
                  <a:pt x="311069" y="1299364"/>
                  <a:pt x="243587" y="940696"/>
                </a:cubicBezTo>
                <a:cubicBezTo>
                  <a:pt x="249266" y="926728"/>
                  <a:pt x="135616" y="911362"/>
                  <a:pt x="0" y="900100"/>
                </a:cubicBezTo>
                <a:cubicBezTo>
                  <a:pt x="135286" y="901266"/>
                  <a:pt x="245774" y="884604"/>
                  <a:pt x="243587" y="859504"/>
                </a:cubicBezTo>
                <a:cubicBezTo>
                  <a:pt x="261588" y="541109"/>
                  <a:pt x="216277" y="192399"/>
                  <a:pt x="243587" y="40596"/>
                </a:cubicBezTo>
                <a:cubicBezTo>
                  <a:pt x="223369" y="21495"/>
                  <a:pt x="340177" y="-8603"/>
                  <a:pt x="487174" y="0"/>
                </a:cubicBezTo>
              </a:path>
            </a:pathLst>
          </a:custGeom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Nawias klamrowy otwierający 7">
            <a:extLst>
              <a:ext uri="{FF2B5EF4-FFF2-40B4-BE49-F238E27FC236}">
                <a16:creationId xmlns:a16="http://schemas.microsoft.com/office/drawing/2014/main" id="{FEDD182F-21D7-A22C-1B57-CC92E0F9517B}"/>
              </a:ext>
            </a:extLst>
          </p:cNvPr>
          <p:cNvSpPr/>
          <p:nvPr/>
        </p:nvSpPr>
        <p:spPr>
          <a:xfrm rot="5400000">
            <a:off x="6056605" y="3329429"/>
            <a:ext cx="487174" cy="720080"/>
          </a:xfrm>
          <a:custGeom>
            <a:avLst/>
            <a:gdLst>
              <a:gd name="connsiteX0" fmla="*/ 487174 w 487174"/>
              <a:gd name="connsiteY0" fmla="*/ 720080 h 720080"/>
              <a:gd name="connsiteX1" fmla="*/ 243587 w 487174"/>
              <a:gd name="connsiteY1" fmla="*/ 679484 h 720080"/>
              <a:gd name="connsiteX2" fmla="*/ 243587 w 487174"/>
              <a:gd name="connsiteY2" fmla="*/ 400636 h 720080"/>
              <a:gd name="connsiteX3" fmla="*/ 0 w 487174"/>
              <a:gd name="connsiteY3" fmla="*/ 360040 h 720080"/>
              <a:gd name="connsiteX4" fmla="*/ 243587 w 487174"/>
              <a:gd name="connsiteY4" fmla="*/ 319444 h 720080"/>
              <a:gd name="connsiteX5" fmla="*/ 243587 w 487174"/>
              <a:gd name="connsiteY5" fmla="*/ 40596 h 720080"/>
              <a:gd name="connsiteX6" fmla="*/ 487174 w 487174"/>
              <a:gd name="connsiteY6" fmla="*/ 0 h 720080"/>
              <a:gd name="connsiteX7" fmla="*/ 487174 w 487174"/>
              <a:gd name="connsiteY7" fmla="*/ 720080 h 720080"/>
              <a:gd name="connsiteX0" fmla="*/ 487174 w 487174"/>
              <a:gd name="connsiteY0" fmla="*/ 720080 h 720080"/>
              <a:gd name="connsiteX1" fmla="*/ 243587 w 487174"/>
              <a:gd name="connsiteY1" fmla="*/ 679484 h 720080"/>
              <a:gd name="connsiteX2" fmla="*/ 243587 w 487174"/>
              <a:gd name="connsiteY2" fmla="*/ 400636 h 720080"/>
              <a:gd name="connsiteX3" fmla="*/ 0 w 487174"/>
              <a:gd name="connsiteY3" fmla="*/ 360040 h 720080"/>
              <a:gd name="connsiteX4" fmla="*/ 243587 w 487174"/>
              <a:gd name="connsiteY4" fmla="*/ 319444 h 720080"/>
              <a:gd name="connsiteX5" fmla="*/ 243587 w 487174"/>
              <a:gd name="connsiteY5" fmla="*/ 40596 h 720080"/>
              <a:gd name="connsiteX6" fmla="*/ 487174 w 487174"/>
              <a:gd name="connsiteY6" fmla="*/ 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174" h="720080" stroke="0" extrusionOk="0">
                <a:moveTo>
                  <a:pt x="487174" y="720080"/>
                </a:moveTo>
                <a:cubicBezTo>
                  <a:pt x="352287" y="719859"/>
                  <a:pt x="242931" y="702151"/>
                  <a:pt x="243587" y="679484"/>
                </a:cubicBezTo>
                <a:cubicBezTo>
                  <a:pt x="220623" y="592734"/>
                  <a:pt x="230069" y="434096"/>
                  <a:pt x="243587" y="400636"/>
                </a:cubicBezTo>
                <a:cubicBezTo>
                  <a:pt x="231972" y="389557"/>
                  <a:pt x="132986" y="368569"/>
                  <a:pt x="0" y="360040"/>
                </a:cubicBezTo>
                <a:cubicBezTo>
                  <a:pt x="130915" y="358062"/>
                  <a:pt x="245630" y="342841"/>
                  <a:pt x="243587" y="319444"/>
                </a:cubicBezTo>
                <a:cubicBezTo>
                  <a:pt x="230159" y="269718"/>
                  <a:pt x="237761" y="76148"/>
                  <a:pt x="243587" y="40596"/>
                </a:cubicBezTo>
                <a:cubicBezTo>
                  <a:pt x="233420" y="16618"/>
                  <a:pt x="345277" y="6937"/>
                  <a:pt x="487174" y="0"/>
                </a:cubicBezTo>
                <a:cubicBezTo>
                  <a:pt x="473083" y="202857"/>
                  <a:pt x="462982" y="507672"/>
                  <a:pt x="487174" y="720080"/>
                </a:cubicBezTo>
                <a:close/>
              </a:path>
              <a:path w="487174" h="720080" fill="none" extrusionOk="0">
                <a:moveTo>
                  <a:pt x="487174" y="720080"/>
                </a:moveTo>
                <a:cubicBezTo>
                  <a:pt x="349173" y="719834"/>
                  <a:pt x="241977" y="698622"/>
                  <a:pt x="243587" y="679484"/>
                </a:cubicBezTo>
                <a:cubicBezTo>
                  <a:pt x="239451" y="565705"/>
                  <a:pt x="244141" y="533628"/>
                  <a:pt x="243587" y="400636"/>
                </a:cubicBezTo>
                <a:cubicBezTo>
                  <a:pt x="239414" y="385676"/>
                  <a:pt x="146998" y="369306"/>
                  <a:pt x="0" y="360040"/>
                </a:cubicBezTo>
                <a:cubicBezTo>
                  <a:pt x="134378" y="363634"/>
                  <a:pt x="246665" y="340039"/>
                  <a:pt x="243587" y="319444"/>
                </a:cubicBezTo>
                <a:cubicBezTo>
                  <a:pt x="242865" y="195437"/>
                  <a:pt x="255744" y="174050"/>
                  <a:pt x="243587" y="40596"/>
                </a:cubicBezTo>
                <a:cubicBezTo>
                  <a:pt x="248742" y="28381"/>
                  <a:pt x="347438" y="2746"/>
                  <a:pt x="487174" y="0"/>
                </a:cubicBezTo>
              </a:path>
              <a:path w="487174" h="720080" fill="none" stroke="0" extrusionOk="0">
                <a:moveTo>
                  <a:pt x="487174" y="720080"/>
                </a:moveTo>
                <a:cubicBezTo>
                  <a:pt x="353358" y="720479"/>
                  <a:pt x="245416" y="702345"/>
                  <a:pt x="243587" y="679484"/>
                </a:cubicBezTo>
                <a:cubicBezTo>
                  <a:pt x="228905" y="551192"/>
                  <a:pt x="229237" y="528963"/>
                  <a:pt x="243587" y="400636"/>
                </a:cubicBezTo>
                <a:cubicBezTo>
                  <a:pt x="249266" y="386668"/>
                  <a:pt x="135616" y="371302"/>
                  <a:pt x="0" y="360040"/>
                </a:cubicBezTo>
                <a:cubicBezTo>
                  <a:pt x="135286" y="361206"/>
                  <a:pt x="245774" y="344544"/>
                  <a:pt x="243587" y="319444"/>
                </a:cubicBezTo>
                <a:cubicBezTo>
                  <a:pt x="250570" y="197400"/>
                  <a:pt x="227427" y="144928"/>
                  <a:pt x="243587" y="40596"/>
                </a:cubicBezTo>
                <a:cubicBezTo>
                  <a:pt x="223369" y="21495"/>
                  <a:pt x="340177" y="-8603"/>
                  <a:pt x="487174" y="0"/>
                </a:cubicBezTo>
              </a:path>
            </a:pathLst>
          </a:custGeom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535F8C7-FEAB-4070-F651-37D73B8E4C36}"/>
              </a:ext>
            </a:extLst>
          </p:cNvPr>
          <p:cNvSpPr txBox="1"/>
          <p:nvPr/>
        </p:nvSpPr>
        <p:spPr>
          <a:xfrm>
            <a:off x="5835962" y="2782669"/>
            <a:ext cx="928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ciało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</p:spTree>
    <p:extLst>
      <p:ext uri="{BB962C8B-B14F-4D97-AF65-F5344CB8AC3E}">
        <p14:creationId xmlns:p14="http://schemas.microsoft.com/office/powerpoint/2010/main" val="436729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1E04D-E724-68A9-2BB2-56E82A47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730399-A2BA-2EDA-0571-B66A95DD249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8D66534-64D5-046B-B65B-DD913F9FA730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Funkcje lambda to zwięzły sposób definiowania </a:t>
            </a:r>
            <a:r>
              <a:rPr lang="pl-PL" sz="1600" b="1" dirty="0"/>
              <a:t>funkcji anonimowych</a:t>
            </a:r>
            <a:r>
              <a:rPr lang="pl-PL" sz="1600" dirty="0"/>
              <a:t>. Są często wykorzystywane jako funkcje przekazane jako argumenty do innej funkcji.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7CA240E-B228-B9E0-040B-8BE41D44F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772816"/>
            <a:ext cx="3505200" cy="66675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42527B1-75D0-96C2-AE22-152499D4C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688" y="2475149"/>
            <a:ext cx="4350271" cy="135603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F729E99F-34AF-1A42-DC9A-F135C694792D}"/>
              </a:ext>
            </a:extLst>
          </p:cNvPr>
          <p:cNvSpPr txBox="1"/>
          <p:nvPr/>
        </p:nvSpPr>
        <p:spPr>
          <a:xfrm>
            <a:off x="971600" y="3866762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Dla lambd z jednym parametrem można pominąć nazwę parametru i użyć domyślnego słowa kluczowego </a:t>
            </a:r>
            <a:r>
              <a:rPr lang="pl-PL" sz="1600" b="1" dirty="0" err="1"/>
              <a:t>it</a:t>
            </a:r>
            <a:endParaRPr lang="pl-PL" sz="1600" b="1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9E3904AF-1593-5554-372C-353BDEB769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608" y="4652105"/>
            <a:ext cx="4875435" cy="218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12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8E056-2C9C-261D-B23C-64C5DFB30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8C8994-347B-E711-B594-75C93247473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2C6C7B6-1405-25C9-C6CF-1B6D2C1A2E29}"/>
              </a:ext>
            </a:extLst>
          </p:cNvPr>
          <p:cNvSpPr txBox="1"/>
          <p:nvPr/>
        </p:nvSpPr>
        <p:spPr>
          <a:xfrm>
            <a:off x="1187624" y="908720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zwracają wartość </a:t>
            </a:r>
            <a:r>
              <a:rPr lang="pl-PL" sz="1600" b="1" dirty="0"/>
              <a:t>ostatniego wyrażenia.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985B0E0-D12B-5C3C-B553-DAE01C023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3269910"/>
            <a:ext cx="6390723" cy="2682627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26E88AF7-16F4-3808-36B1-6E806A3E2642}"/>
              </a:ext>
            </a:extLst>
          </p:cNvPr>
          <p:cNvSpPr txBox="1"/>
          <p:nvPr/>
        </p:nvSpPr>
        <p:spPr>
          <a:xfrm>
            <a:off x="1201528" y="3861048"/>
            <a:ext cx="1325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wartość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zwracana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B94B9B2F-5DCD-770B-5B1E-4AE17807F11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526902" y="4184214"/>
            <a:ext cx="705464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8144743-6E73-4480-CFCC-5AC069A003ED}"/>
              </a:ext>
            </a:extLst>
          </p:cNvPr>
          <p:cNvSpPr txBox="1"/>
          <p:nvPr/>
        </p:nvSpPr>
        <p:spPr>
          <a:xfrm>
            <a:off x="4599538" y="2158375"/>
            <a:ext cx="1574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lista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parametrów</a:t>
            </a:r>
          </a:p>
        </p:txBody>
      </p:sp>
      <p:sp>
        <p:nvSpPr>
          <p:cNvPr id="12" name="Nawias klamrowy otwierający 11">
            <a:extLst>
              <a:ext uri="{FF2B5EF4-FFF2-40B4-BE49-F238E27FC236}">
                <a16:creationId xmlns:a16="http://schemas.microsoft.com/office/drawing/2014/main" id="{EE4AC955-CBC8-4B32-F963-8500D1A47C33}"/>
              </a:ext>
            </a:extLst>
          </p:cNvPr>
          <p:cNvSpPr/>
          <p:nvPr/>
        </p:nvSpPr>
        <p:spPr>
          <a:xfrm rot="5400000">
            <a:off x="5156505" y="2220201"/>
            <a:ext cx="487174" cy="1656184"/>
          </a:xfrm>
          <a:custGeom>
            <a:avLst/>
            <a:gdLst>
              <a:gd name="connsiteX0" fmla="*/ 487174 w 487174"/>
              <a:gd name="connsiteY0" fmla="*/ 1656184 h 1656184"/>
              <a:gd name="connsiteX1" fmla="*/ 243587 w 487174"/>
              <a:gd name="connsiteY1" fmla="*/ 1615588 h 1656184"/>
              <a:gd name="connsiteX2" fmla="*/ 243587 w 487174"/>
              <a:gd name="connsiteY2" fmla="*/ 868688 h 1656184"/>
              <a:gd name="connsiteX3" fmla="*/ 0 w 487174"/>
              <a:gd name="connsiteY3" fmla="*/ 828092 h 1656184"/>
              <a:gd name="connsiteX4" fmla="*/ 243587 w 487174"/>
              <a:gd name="connsiteY4" fmla="*/ 787496 h 1656184"/>
              <a:gd name="connsiteX5" fmla="*/ 243587 w 487174"/>
              <a:gd name="connsiteY5" fmla="*/ 40596 h 1656184"/>
              <a:gd name="connsiteX6" fmla="*/ 487174 w 487174"/>
              <a:gd name="connsiteY6" fmla="*/ 0 h 1656184"/>
              <a:gd name="connsiteX7" fmla="*/ 487174 w 487174"/>
              <a:gd name="connsiteY7" fmla="*/ 1656184 h 1656184"/>
              <a:gd name="connsiteX0" fmla="*/ 487174 w 487174"/>
              <a:gd name="connsiteY0" fmla="*/ 1656184 h 1656184"/>
              <a:gd name="connsiteX1" fmla="*/ 243587 w 487174"/>
              <a:gd name="connsiteY1" fmla="*/ 1615588 h 1656184"/>
              <a:gd name="connsiteX2" fmla="*/ 243587 w 487174"/>
              <a:gd name="connsiteY2" fmla="*/ 868688 h 1656184"/>
              <a:gd name="connsiteX3" fmla="*/ 0 w 487174"/>
              <a:gd name="connsiteY3" fmla="*/ 828092 h 1656184"/>
              <a:gd name="connsiteX4" fmla="*/ 243587 w 487174"/>
              <a:gd name="connsiteY4" fmla="*/ 787496 h 1656184"/>
              <a:gd name="connsiteX5" fmla="*/ 243587 w 487174"/>
              <a:gd name="connsiteY5" fmla="*/ 40596 h 1656184"/>
              <a:gd name="connsiteX6" fmla="*/ 487174 w 487174"/>
              <a:gd name="connsiteY6" fmla="*/ 0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174" h="1656184" stroke="0" extrusionOk="0">
                <a:moveTo>
                  <a:pt x="487174" y="1656184"/>
                </a:moveTo>
                <a:cubicBezTo>
                  <a:pt x="352287" y="1655963"/>
                  <a:pt x="242931" y="1638255"/>
                  <a:pt x="243587" y="1615588"/>
                </a:cubicBezTo>
                <a:cubicBezTo>
                  <a:pt x="211754" y="1408077"/>
                  <a:pt x="277585" y="1005188"/>
                  <a:pt x="243587" y="868688"/>
                </a:cubicBezTo>
                <a:cubicBezTo>
                  <a:pt x="231972" y="857609"/>
                  <a:pt x="132986" y="836621"/>
                  <a:pt x="0" y="828092"/>
                </a:cubicBezTo>
                <a:cubicBezTo>
                  <a:pt x="130915" y="826114"/>
                  <a:pt x="245630" y="810893"/>
                  <a:pt x="243587" y="787496"/>
                </a:cubicBezTo>
                <a:cubicBezTo>
                  <a:pt x="287881" y="505883"/>
                  <a:pt x="257007" y="144599"/>
                  <a:pt x="243587" y="40596"/>
                </a:cubicBezTo>
                <a:cubicBezTo>
                  <a:pt x="233420" y="16618"/>
                  <a:pt x="345277" y="6937"/>
                  <a:pt x="487174" y="0"/>
                </a:cubicBezTo>
                <a:cubicBezTo>
                  <a:pt x="622140" y="474849"/>
                  <a:pt x="365771" y="1323347"/>
                  <a:pt x="487174" y="1656184"/>
                </a:cubicBezTo>
                <a:close/>
              </a:path>
              <a:path w="487174" h="1656184" fill="none" extrusionOk="0">
                <a:moveTo>
                  <a:pt x="487174" y="1656184"/>
                </a:moveTo>
                <a:cubicBezTo>
                  <a:pt x="349173" y="1655938"/>
                  <a:pt x="241977" y="1634726"/>
                  <a:pt x="243587" y="1615588"/>
                </a:cubicBezTo>
                <a:cubicBezTo>
                  <a:pt x="267803" y="1496943"/>
                  <a:pt x="222896" y="1047077"/>
                  <a:pt x="243587" y="868688"/>
                </a:cubicBezTo>
                <a:cubicBezTo>
                  <a:pt x="239414" y="853728"/>
                  <a:pt x="146998" y="837358"/>
                  <a:pt x="0" y="828092"/>
                </a:cubicBezTo>
                <a:cubicBezTo>
                  <a:pt x="134378" y="831686"/>
                  <a:pt x="246665" y="808091"/>
                  <a:pt x="243587" y="787496"/>
                </a:cubicBezTo>
                <a:cubicBezTo>
                  <a:pt x="225299" y="442825"/>
                  <a:pt x="269947" y="258842"/>
                  <a:pt x="243587" y="40596"/>
                </a:cubicBezTo>
                <a:cubicBezTo>
                  <a:pt x="248742" y="28381"/>
                  <a:pt x="347438" y="2746"/>
                  <a:pt x="487174" y="0"/>
                </a:cubicBezTo>
              </a:path>
              <a:path w="487174" h="1656184" fill="none" stroke="0" extrusionOk="0">
                <a:moveTo>
                  <a:pt x="487174" y="1656184"/>
                </a:moveTo>
                <a:cubicBezTo>
                  <a:pt x="353358" y="1656583"/>
                  <a:pt x="245416" y="1638449"/>
                  <a:pt x="243587" y="1615588"/>
                </a:cubicBezTo>
                <a:cubicBezTo>
                  <a:pt x="298643" y="1503837"/>
                  <a:pt x="225784" y="1165524"/>
                  <a:pt x="243587" y="868688"/>
                </a:cubicBezTo>
                <a:cubicBezTo>
                  <a:pt x="249266" y="854720"/>
                  <a:pt x="135616" y="839354"/>
                  <a:pt x="0" y="828092"/>
                </a:cubicBezTo>
                <a:cubicBezTo>
                  <a:pt x="135286" y="829258"/>
                  <a:pt x="245774" y="812596"/>
                  <a:pt x="243587" y="787496"/>
                </a:cubicBezTo>
                <a:cubicBezTo>
                  <a:pt x="230833" y="612400"/>
                  <a:pt x="246583" y="357787"/>
                  <a:pt x="243587" y="40596"/>
                </a:cubicBezTo>
                <a:cubicBezTo>
                  <a:pt x="223369" y="21495"/>
                  <a:pt x="340177" y="-8603"/>
                  <a:pt x="487174" y="0"/>
                </a:cubicBezTo>
              </a:path>
            </a:pathLst>
          </a:custGeom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Nawias klamrowy otwierający 12">
            <a:extLst>
              <a:ext uri="{FF2B5EF4-FFF2-40B4-BE49-F238E27FC236}">
                <a16:creationId xmlns:a16="http://schemas.microsoft.com/office/drawing/2014/main" id="{F004C325-392E-673C-4D67-90F877FBA858}"/>
              </a:ext>
            </a:extLst>
          </p:cNvPr>
          <p:cNvSpPr/>
          <p:nvPr/>
        </p:nvSpPr>
        <p:spPr>
          <a:xfrm rot="10800000">
            <a:off x="6617100" y="3645024"/>
            <a:ext cx="487174" cy="720080"/>
          </a:xfrm>
          <a:custGeom>
            <a:avLst/>
            <a:gdLst>
              <a:gd name="connsiteX0" fmla="*/ 487174 w 487174"/>
              <a:gd name="connsiteY0" fmla="*/ 720080 h 720080"/>
              <a:gd name="connsiteX1" fmla="*/ 243587 w 487174"/>
              <a:gd name="connsiteY1" fmla="*/ 679484 h 720080"/>
              <a:gd name="connsiteX2" fmla="*/ 243587 w 487174"/>
              <a:gd name="connsiteY2" fmla="*/ 400636 h 720080"/>
              <a:gd name="connsiteX3" fmla="*/ 0 w 487174"/>
              <a:gd name="connsiteY3" fmla="*/ 360040 h 720080"/>
              <a:gd name="connsiteX4" fmla="*/ 243587 w 487174"/>
              <a:gd name="connsiteY4" fmla="*/ 319444 h 720080"/>
              <a:gd name="connsiteX5" fmla="*/ 243587 w 487174"/>
              <a:gd name="connsiteY5" fmla="*/ 40596 h 720080"/>
              <a:gd name="connsiteX6" fmla="*/ 487174 w 487174"/>
              <a:gd name="connsiteY6" fmla="*/ 0 h 720080"/>
              <a:gd name="connsiteX7" fmla="*/ 487174 w 487174"/>
              <a:gd name="connsiteY7" fmla="*/ 720080 h 720080"/>
              <a:gd name="connsiteX0" fmla="*/ 487174 w 487174"/>
              <a:gd name="connsiteY0" fmla="*/ 720080 h 720080"/>
              <a:gd name="connsiteX1" fmla="*/ 243587 w 487174"/>
              <a:gd name="connsiteY1" fmla="*/ 679484 h 720080"/>
              <a:gd name="connsiteX2" fmla="*/ 243587 w 487174"/>
              <a:gd name="connsiteY2" fmla="*/ 400636 h 720080"/>
              <a:gd name="connsiteX3" fmla="*/ 0 w 487174"/>
              <a:gd name="connsiteY3" fmla="*/ 360040 h 720080"/>
              <a:gd name="connsiteX4" fmla="*/ 243587 w 487174"/>
              <a:gd name="connsiteY4" fmla="*/ 319444 h 720080"/>
              <a:gd name="connsiteX5" fmla="*/ 243587 w 487174"/>
              <a:gd name="connsiteY5" fmla="*/ 40596 h 720080"/>
              <a:gd name="connsiteX6" fmla="*/ 487174 w 487174"/>
              <a:gd name="connsiteY6" fmla="*/ 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174" h="720080" stroke="0" extrusionOk="0">
                <a:moveTo>
                  <a:pt x="487174" y="720080"/>
                </a:moveTo>
                <a:cubicBezTo>
                  <a:pt x="352287" y="719859"/>
                  <a:pt x="242931" y="702151"/>
                  <a:pt x="243587" y="679484"/>
                </a:cubicBezTo>
                <a:cubicBezTo>
                  <a:pt x="220623" y="592734"/>
                  <a:pt x="230069" y="434096"/>
                  <a:pt x="243587" y="400636"/>
                </a:cubicBezTo>
                <a:cubicBezTo>
                  <a:pt x="231972" y="389557"/>
                  <a:pt x="132986" y="368569"/>
                  <a:pt x="0" y="360040"/>
                </a:cubicBezTo>
                <a:cubicBezTo>
                  <a:pt x="130915" y="358062"/>
                  <a:pt x="245630" y="342841"/>
                  <a:pt x="243587" y="319444"/>
                </a:cubicBezTo>
                <a:cubicBezTo>
                  <a:pt x="230159" y="269718"/>
                  <a:pt x="237761" y="76148"/>
                  <a:pt x="243587" y="40596"/>
                </a:cubicBezTo>
                <a:cubicBezTo>
                  <a:pt x="233420" y="16618"/>
                  <a:pt x="345277" y="6937"/>
                  <a:pt x="487174" y="0"/>
                </a:cubicBezTo>
                <a:cubicBezTo>
                  <a:pt x="473083" y="202857"/>
                  <a:pt x="462982" y="507672"/>
                  <a:pt x="487174" y="720080"/>
                </a:cubicBezTo>
                <a:close/>
              </a:path>
              <a:path w="487174" h="720080" fill="none" extrusionOk="0">
                <a:moveTo>
                  <a:pt x="487174" y="720080"/>
                </a:moveTo>
                <a:cubicBezTo>
                  <a:pt x="349173" y="719834"/>
                  <a:pt x="241977" y="698622"/>
                  <a:pt x="243587" y="679484"/>
                </a:cubicBezTo>
                <a:cubicBezTo>
                  <a:pt x="239451" y="565705"/>
                  <a:pt x="244141" y="533628"/>
                  <a:pt x="243587" y="400636"/>
                </a:cubicBezTo>
                <a:cubicBezTo>
                  <a:pt x="239414" y="385676"/>
                  <a:pt x="146998" y="369306"/>
                  <a:pt x="0" y="360040"/>
                </a:cubicBezTo>
                <a:cubicBezTo>
                  <a:pt x="134378" y="363634"/>
                  <a:pt x="246665" y="340039"/>
                  <a:pt x="243587" y="319444"/>
                </a:cubicBezTo>
                <a:cubicBezTo>
                  <a:pt x="242865" y="195437"/>
                  <a:pt x="255744" y="174050"/>
                  <a:pt x="243587" y="40596"/>
                </a:cubicBezTo>
                <a:cubicBezTo>
                  <a:pt x="248742" y="28381"/>
                  <a:pt x="347438" y="2746"/>
                  <a:pt x="487174" y="0"/>
                </a:cubicBezTo>
              </a:path>
              <a:path w="487174" h="720080" fill="none" stroke="0" extrusionOk="0">
                <a:moveTo>
                  <a:pt x="487174" y="720080"/>
                </a:moveTo>
                <a:cubicBezTo>
                  <a:pt x="353358" y="720479"/>
                  <a:pt x="245416" y="702345"/>
                  <a:pt x="243587" y="679484"/>
                </a:cubicBezTo>
                <a:cubicBezTo>
                  <a:pt x="228905" y="551192"/>
                  <a:pt x="229237" y="528963"/>
                  <a:pt x="243587" y="400636"/>
                </a:cubicBezTo>
                <a:cubicBezTo>
                  <a:pt x="249266" y="386668"/>
                  <a:pt x="135616" y="371302"/>
                  <a:pt x="0" y="360040"/>
                </a:cubicBezTo>
                <a:cubicBezTo>
                  <a:pt x="135286" y="361206"/>
                  <a:pt x="245774" y="344544"/>
                  <a:pt x="243587" y="319444"/>
                </a:cubicBezTo>
                <a:cubicBezTo>
                  <a:pt x="250570" y="197400"/>
                  <a:pt x="227427" y="144928"/>
                  <a:pt x="243587" y="40596"/>
                </a:cubicBezTo>
                <a:cubicBezTo>
                  <a:pt x="223369" y="21495"/>
                  <a:pt x="340177" y="-8603"/>
                  <a:pt x="487174" y="0"/>
                </a:cubicBezTo>
              </a:path>
            </a:pathLst>
          </a:custGeom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66D602B-E833-C277-3727-01D9D837682C}"/>
              </a:ext>
            </a:extLst>
          </p:cNvPr>
          <p:cNvSpPr txBox="1"/>
          <p:nvPr/>
        </p:nvSpPr>
        <p:spPr>
          <a:xfrm>
            <a:off x="7125168" y="3665782"/>
            <a:ext cx="928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ciało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</p:spTree>
    <p:extLst>
      <p:ext uri="{BB962C8B-B14F-4D97-AF65-F5344CB8AC3E}">
        <p14:creationId xmlns:p14="http://schemas.microsoft.com/office/powerpoint/2010/main" val="1660894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12360-B41D-EFB4-1689-D8CA026A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raz 35">
            <a:extLst>
              <a:ext uri="{FF2B5EF4-FFF2-40B4-BE49-F238E27FC236}">
                <a16:creationId xmlns:a16="http://schemas.microsoft.com/office/drawing/2014/main" id="{45313EBB-A1AF-B49E-0B0E-A78495028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044" y="3717032"/>
            <a:ext cx="7374287" cy="1824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53B808-95E8-32E1-75A6-6791DDE2FAC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432AB34-0D95-28A8-FFEE-46DDF8CA0FD0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to </a:t>
            </a:r>
            <a:r>
              <a:rPr lang="pl-PL" sz="1600" b="1" dirty="0"/>
              <a:t>wyrażenia funkcjonalne</a:t>
            </a:r>
            <a:r>
              <a:rPr lang="pl-PL" sz="1600" dirty="0"/>
              <a:t>, które można przekazywać jako parametry do funkcji.</a:t>
            </a:r>
            <a:endParaRPr lang="pl-PL" sz="1600" b="1" dirty="0"/>
          </a:p>
        </p:txBody>
      </p:sp>
    </p:spTree>
    <p:extLst>
      <p:ext uri="{BB962C8B-B14F-4D97-AF65-F5344CB8AC3E}">
        <p14:creationId xmlns:p14="http://schemas.microsoft.com/office/powerpoint/2010/main" val="598621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B9A8F-7877-0AEA-BE3E-98C76A73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raz 35">
            <a:extLst>
              <a:ext uri="{FF2B5EF4-FFF2-40B4-BE49-F238E27FC236}">
                <a16:creationId xmlns:a16="http://schemas.microsoft.com/office/drawing/2014/main" id="{FED3F211-F83C-C341-EFE1-E811E168C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044" y="3717032"/>
            <a:ext cx="7374287" cy="1824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07AC8CE-E529-C8D9-CF3A-85A9B05B646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078C100-8576-35CC-2374-22276006EFD2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to </a:t>
            </a:r>
            <a:r>
              <a:rPr lang="pl-PL" sz="1600" b="1" dirty="0"/>
              <a:t>wyrażenia funkcjonalne</a:t>
            </a:r>
            <a:r>
              <a:rPr lang="pl-PL" sz="1600" dirty="0"/>
              <a:t>, które można przekazywać jako parametry do funkcji.</a:t>
            </a:r>
            <a:endParaRPr lang="pl-PL" sz="1600" b="1" dirty="0"/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338FF8EC-DC26-7BDC-9B80-F0183366A582}"/>
              </a:ext>
            </a:extLst>
          </p:cNvPr>
          <p:cNvCxnSpPr>
            <a:cxnSpLocks/>
          </p:cNvCxnSpPr>
          <p:nvPr/>
        </p:nvCxnSpPr>
        <p:spPr>
          <a:xfrm>
            <a:off x="1773675" y="3667186"/>
            <a:ext cx="373811" cy="3686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AC7C4052-926E-139B-4263-1E09E02985C2}"/>
              </a:ext>
            </a:extLst>
          </p:cNvPr>
          <p:cNvSpPr txBox="1"/>
          <p:nvPr/>
        </p:nvSpPr>
        <p:spPr>
          <a:xfrm>
            <a:off x="1168380" y="2977566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EC5AD015-1480-2BA3-B996-E0A5F4951407}"/>
              </a:ext>
            </a:extLst>
          </p:cNvPr>
          <p:cNvCxnSpPr>
            <a:cxnSpLocks/>
          </p:cNvCxnSpPr>
          <p:nvPr/>
        </p:nvCxnSpPr>
        <p:spPr>
          <a:xfrm>
            <a:off x="2926235" y="3425479"/>
            <a:ext cx="71576" cy="5058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22A59CE1-5265-D826-AFB5-FDAFDDF57D01}"/>
              </a:ext>
            </a:extLst>
          </p:cNvPr>
          <p:cNvSpPr txBox="1"/>
          <p:nvPr/>
        </p:nvSpPr>
        <p:spPr>
          <a:xfrm>
            <a:off x="2471165" y="2754225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7D76E27D-2A30-0EFA-6DA9-F5E319C1D9E8}"/>
              </a:ext>
            </a:extLst>
          </p:cNvPr>
          <p:cNvCxnSpPr>
            <a:cxnSpLocks/>
          </p:cNvCxnSpPr>
          <p:nvPr/>
        </p:nvCxnSpPr>
        <p:spPr>
          <a:xfrm flipH="1">
            <a:off x="4172471" y="3447767"/>
            <a:ext cx="49476" cy="47870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6C0504EE-C7AE-6377-7988-59B42640B016}"/>
              </a:ext>
            </a:extLst>
          </p:cNvPr>
          <p:cNvSpPr txBox="1"/>
          <p:nvPr/>
        </p:nvSpPr>
        <p:spPr>
          <a:xfrm>
            <a:off x="3555919" y="2808686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0454583D-B97C-C894-2430-40BD52FC2A7F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4846924" y="2792928"/>
            <a:ext cx="257930" cy="123799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A906251F-4584-2AD9-DCD4-9B38E7EEDF96}"/>
              </a:ext>
            </a:extLst>
          </p:cNvPr>
          <p:cNvSpPr txBox="1"/>
          <p:nvPr/>
        </p:nvSpPr>
        <p:spPr>
          <a:xfrm>
            <a:off x="4448264" y="2146597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</p:spTree>
    <p:extLst>
      <p:ext uri="{BB962C8B-B14F-4D97-AF65-F5344CB8AC3E}">
        <p14:creationId xmlns:p14="http://schemas.microsoft.com/office/powerpoint/2010/main" val="2540337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B9304-9755-D508-B6CB-B4C10D14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raz 35">
            <a:extLst>
              <a:ext uri="{FF2B5EF4-FFF2-40B4-BE49-F238E27FC236}">
                <a16:creationId xmlns:a16="http://schemas.microsoft.com/office/drawing/2014/main" id="{CAA99F6D-A4B8-ED0E-352E-B7D408F96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044" y="3717032"/>
            <a:ext cx="7374287" cy="1824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BC3FB2-23D6-24D1-9A39-B3E90A714A2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C1FC400-7768-09E5-60F3-33C892E971A2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to </a:t>
            </a:r>
            <a:r>
              <a:rPr lang="pl-PL" sz="1600" b="1" dirty="0"/>
              <a:t>wyrażenia funkcjonalne</a:t>
            </a:r>
            <a:r>
              <a:rPr lang="pl-PL" sz="1600" dirty="0"/>
              <a:t>, które można przekazywać jako parametry do funkcji.</a:t>
            </a:r>
            <a:endParaRPr lang="pl-PL" sz="1600" b="1" dirty="0"/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F69293C9-7086-BFE6-9AD6-03AF78AA54FF}"/>
              </a:ext>
            </a:extLst>
          </p:cNvPr>
          <p:cNvCxnSpPr>
            <a:cxnSpLocks/>
          </p:cNvCxnSpPr>
          <p:nvPr/>
        </p:nvCxnSpPr>
        <p:spPr>
          <a:xfrm>
            <a:off x="1773675" y="3667186"/>
            <a:ext cx="373811" cy="3686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E13CB6CA-B2BB-3DE6-555F-EEC87F4715CF}"/>
              </a:ext>
            </a:extLst>
          </p:cNvPr>
          <p:cNvSpPr txBox="1"/>
          <p:nvPr/>
        </p:nvSpPr>
        <p:spPr>
          <a:xfrm>
            <a:off x="1168380" y="2977566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DA36F5CA-50D2-C2C2-8298-AE546E1BEB25}"/>
              </a:ext>
            </a:extLst>
          </p:cNvPr>
          <p:cNvCxnSpPr>
            <a:cxnSpLocks/>
          </p:cNvCxnSpPr>
          <p:nvPr/>
        </p:nvCxnSpPr>
        <p:spPr>
          <a:xfrm>
            <a:off x="2926235" y="3425479"/>
            <a:ext cx="71576" cy="5058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40E66D86-1E06-F23C-CC26-BB7F8A160408}"/>
              </a:ext>
            </a:extLst>
          </p:cNvPr>
          <p:cNvSpPr txBox="1"/>
          <p:nvPr/>
        </p:nvSpPr>
        <p:spPr>
          <a:xfrm>
            <a:off x="2471165" y="2754225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2E6EF6AD-4B53-97CE-7E79-5D5FB30A1578}"/>
              </a:ext>
            </a:extLst>
          </p:cNvPr>
          <p:cNvCxnSpPr>
            <a:cxnSpLocks/>
          </p:cNvCxnSpPr>
          <p:nvPr/>
        </p:nvCxnSpPr>
        <p:spPr>
          <a:xfrm flipH="1">
            <a:off x="4172471" y="3447767"/>
            <a:ext cx="49476" cy="47870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066A101E-8DCF-7134-AFDE-48C37602E4E4}"/>
              </a:ext>
            </a:extLst>
          </p:cNvPr>
          <p:cNvSpPr txBox="1"/>
          <p:nvPr/>
        </p:nvSpPr>
        <p:spPr>
          <a:xfrm>
            <a:off x="3555919" y="2808686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B78EA2FB-1037-8F4E-234C-D9600F92A410}"/>
              </a:ext>
            </a:extLst>
          </p:cNvPr>
          <p:cNvCxnSpPr>
            <a:cxnSpLocks/>
          </p:cNvCxnSpPr>
          <p:nvPr/>
        </p:nvCxnSpPr>
        <p:spPr>
          <a:xfrm flipH="1">
            <a:off x="5652120" y="2434266"/>
            <a:ext cx="718949" cy="14922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9CFEDFFA-110F-B628-F38E-53F5480E0C48}"/>
              </a:ext>
            </a:extLst>
          </p:cNvPr>
          <p:cNvSpPr txBox="1"/>
          <p:nvPr/>
        </p:nvSpPr>
        <p:spPr>
          <a:xfrm>
            <a:off x="5714479" y="1787935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3EFA91D9-4E64-8043-2380-33E88419FA99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4846924" y="2792928"/>
            <a:ext cx="257930" cy="123799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483B74DE-6FB5-3B39-AACB-27221686365F}"/>
              </a:ext>
            </a:extLst>
          </p:cNvPr>
          <p:cNvSpPr txBox="1"/>
          <p:nvPr/>
        </p:nvSpPr>
        <p:spPr>
          <a:xfrm>
            <a:off x="4448264" y="2146597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C3C05355-0AD2-C74E-146A-D9E13E459B3E}"/>
              </a:ext>
            </a:extLst>
          </p:cNvPr>
          <p:cNvSpPr txBox="1"/>
          <p:nvPr/>
        </p:nvSpPr>
        <p:spPr>
          <a:xfrm>
            <a:off x="6579705" y="2761756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sp>
        <p:nvSpPr>
          <p:cNvPr id="34" name="Nawias klamrowy otwierający 33">
            <a:extLst>
              <a:ext uri="{FF2B5EF4-FFF2-40B4-BE49-F238E27FC236}">
                <a16:creationId xmlns:a16="http://schemas.microsoft.com/office/drawing/2014/main" id="{3D998846-F895-BA14-3B73-648F19F72ECE}"/>
              </a:ext>
            </a:extLst>
          </p:cNvPr>
          <p:cNvSpPr/>
          <p:nvPr/>
        </p:nvSpPr>
        <p:spPr>
          <a:xfrm rot="5400000">
            <a:off x="7020271" y="2503929"/>
            <a:ext cx="432048" cy="2304256"/>
          </a:xfrm>
          <a:custGeom>
            <a:avLst/>
            <a:gdLst>
              <a:gd name="connsiteX0" fmla="*/ 432048 w 432048"/>
              <a:gd name="connsiteY0" fmla="*/ 2304256 h 2304256"/>
              <a:gd name="connsiteX1" fmla="*/ 216024 w 432048"/>
              <a:gd name="connsiteY1" fmla="*/ 2268253 h 2304256"/>
              <a:gd name="connsiteX2" fmla="*/ 216024 w 432048"/>
              <a:gd name="connsiteY2" fmla="*/ 1188131 h 2304256"/>
              <a:gd name="connsiteX3" fmla="*/ 0 w 432048"/>
              <a:gd name="connsiteY3" fmla="*/ 1152128 h 2304256"/>
              <a:gd name="connsiteX4" fmla="*/ 216024 w 432048"/>
              <a:gd name="connsiteY4" fmla="*/ 1116125 h 2304256"/>
              <a:gd name="connsiteX5" fmla="*/ 216024 w 432048"/>
              <a:gd name="connsiteY5" fmla="*/ 36003 h 2304256"/>
              <a:gd name="connsiteX6" fmla="*/ 432048 w 432048"/>
              <a:gd name="connsiteY6" fmla="*/ 0 h 2304256"/>
              <a:gd name="connsiteX7" fmla="*/ 432048 w 432048"/>
              <a:gd name="connsiteY7" fmla="*/ 2304256 h 2304256"/>
              <a:gd name="connsiteX0" fmla="*/ 432048 w 432048"/>
              <a:gd name="connsiteY0" fmla="*/ 2304256 h 2304256"/>
              <a:gd name="connsiteX1" fmla="*/ 216024 w 432048"/>
              <a:gd name="connsiteY1" fmla="*/ 2268253 h 2304256"/>
              <a:gd name="connsiteX2" fmla="*/ 216024 w 432048"/>
              <a:gd name="connsiteY2" fmla="*/ 1188131 h 2304256"/>
              <a:gd name="connsiteX3" fmla="*/ 0 w 432048"/>
              <a:gd name="connsiteY3" fmla="*/ 1152128 h 2304256"/>
              <a:gd name="connsiteX4" fmla="*/ 216024 w 432048"/>
              <a:gd name="connsiteY4" fmla="*/ 1116125 h 2304256"/>
              <a:gd name="connsiteX5" fmla="*/ 216024 w 432048"/>
              <a:gd name="connsiteY5" fmla="*/ 36003 h 2304256"/>
              <a:gd name="connsiteX6" fmla="*/ 432048 w 432048"/>
              <a:gd name="connsiteY6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048" h="2304256" stroke="0" extrusionOk="0">
                <a:moveTo>
                  <a:pt x="432048" y="2304256"/>
                </a:moveTo>
                <a:cubicBezTo>
                  <a:pt x="312460" y="2304083"/>
                  <a:pt x="214536" y="2288695"/>
                  <a:pt x="216024" y="2268253"/>
                </a:cubicBezTo>
                <a:cubicBezTo>
                  <a:pt x="263644" y="1898099"/>
                  <a:pt x="158826" y="1489567"/>
                  <a:pt x="216024" y="1188131"/>
                </a:cubicBezTo>
                <a:cubicBezTo>
                  <a:pt x="203069" y="1180899"/>
                  <a:pt x="118715" y="1155401"/>
                  <a:pt x="0" y="1152128"/>
                </a:cubicBezTo>
                <a:cubicBezTo>
                  <a:pt x="117221" y="1150987"/>
                  <a:pt x="219487" y="1137664"/>
                  <a:pt x="216024" y="1116125"/>
                </a:cubicBezTo>
                <a:cubicBezTo>
                  <a:pt x="199426" y="984593"/>
                  <a:pt x="262552" y="533593"/>
                  <a:pt x="216024" y="36003"/>
                </a:cubicBezTo>
                <a:cubicBezTo>
                  <a:pt x="201189" y="13847"/>
                  <a:pt x="299965" y="12029"/>
                  <a:pt x="432048" y="0"/>
                </a:cubicBezTo>
                <a:cubicBezTo>
                  <a:pt x="383817" y="368040"/>
                  <a:pt x="516503" y="1474993"/>
                  <a:pt x="432048" y="2304256"/>
                </a:cubicBezTo>
                <a:close/>
              </a:path>
              <a:path w="432048" h="2304256" fill="none" extrusionOk="0">
                <a:moveTo>
                  <a:pt x="432048" y="2304256"/>
                </a:moveTo>
                <a:cubicBezTo>
                  <a:pt x="309814" y="2304048"/>
                  <a:pt x="215494" y="2287056"/>
                  <a:pt x="216024" y="2268253"/>
                </a:cubicBezTo>
                <a:cubicBezTo>
                  <a:pt x="290357" y="1821490"/>
                  <a:pt x="155078" y="1629391"/>
                  <a:pt x="216024" y="1188131"/>
                </a:cubicBezTo>
                <a:cubicBezTo>
                  <a:pt x="208097" y="1182420"/>
                  <a:pt x="125321" y="1156597"/>
                  <a:pt x="0" y="1152128"/>
                </a:cubicBezTo>
                <a:cubicBezTo>
                  <a:pt x="119148" y="1155913"/>
                  <a:pt x="217770" y="1134973"/>
                  <a:pt x="216024" y="1116125"/>
                </a:cubicBezTo>
                <a:cubicBezTo>
                  <a:pt x="121135" y="760017"/>
                  <a:pt x="189461" y="464333"/>
                  <a:pt x="216024" y="36003"/>
                </a:cubicBezTo>
                <a:cubicBezTo>
                  <a:pt x="221108" y="26185"/>
                  <a:pt x="302975" y="5150"/>
                  <a:pt x="432048" y="0"/>
                </a:cubicBezTo>
              </a:path>
              <a:path w="432048" h="2304256" fill="none" stroke="0" extrusionOk="0">
                <a:moveTo>
                  <a:pt x="432048" y="2304256"/>
                </a:moveTo>
                <a:cubicBezTo>
                  <a:pt x="315111" y="2305583"/>
                  <a:pt x="218994" y="2288851"/>
                  <a:pt x="216024" y="2268253"/>
                </a:cubicBezTo>
                <a:cubicBezTo>
                  <a:pt x="172524" y="2011679"/>
                  <a:pt x="134420" y="1417087"/>
                  <a:pt x="216024" y="1188131"/>
                </a:cubicBezTo>
                <a:cubicBezTo>
                  <a:pt x="224247" y="1180488"/>
                  <a:pt x="121067" y="1170359"/>
                  <a:pt x="0" y="1152128"/>
                </a:cubicBezTo>
                <a:cubicBezTo>
                  <a:pt x="120201" y="1153506"/>
                  <a:pt x="216504" y="1136596"/>
                  <a:pt x="216024" y="1116125"/>
                </a:cubicBezTo>
                <a:cubicBezTo>
                  <a:pt x="205245" y="940785"/>
                  <a:pt x="136649" y="513479"/>
                  <a:pt x="216024" y="36003"/>
                </a:cubicBezTo>
                <a:cubicBezTo>
                  <a:pt x="197852" y="19103"/>
                  <a:pt x="299020" y="-9467"/>
                  <a:pt x="432048" y="0"/>
                </a:cubicBezTo>
              </a:path>
            </a:pathLst>
          </a:custGeom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5827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8119CF-B30D-F216-8856-99406CEF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raz 35">
            <a:extLst>
              <a:ext uri="{FF2B5EF4-FFF2-40B4-BE49-F238E27FC236}">
                <a16:creationId xmlns:a16="http://schemas.microsoft.com/office/drawing/2014/main" id="{1350A761-10F0-CFC8-E739-1FEE2FC3A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044" y="3717032"/>
            <a:ext cx="7374287" cy="1824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C80195D-E170-27D0-F443-A861BB8CBA9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174E841-23CC-BCB1-5D5E-7B7B830EAC53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to </a:t>
            </a:r>
            <a:r>
              <a:rPr lang="pl-PL" sz="1600" b="1" dirty="0"/>
              <a:t>wyrażenia funkcjonalne</a:t>
            </a:r>
            <a:r>
              <a:rPr lang="pl-PL" sz="1600" dirty="0"/>
              <a:t>, które można przekazywać jako parametry do funkcji.</a:t>
            </a:r>
            <a:endParaRPr lang="pl-PL" sz="1600" b="1" dirty="0"/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8720945F-C0DD-009E-0A6C-9EC9609417E4}"/>
              </a:ext>
            </a:extLst>
          </p:cNvPr>
          <p:cNvCxnSpPr>
            <a:cxnSpLocks/>
          </p:cNvCxnSpPr>
          <p:nvPr/>
        </p:nvCxnSpPr>
        <p:spPr>
          <a:xfrm>
            <a:off x="1773675" y="3667186"/>
            <a:ext cx="373811" cy="3686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D348ED4-5293-4F68-AA4C-21F7D58D3D37}"/>
              </a:ext>
            </a:extLst>
          </p:cNvPr>
          <p:cNvSpPr txBox="1"/>
          <p:nvPr/>
        </p:nvSpPr>
        <p:spPr>
          <a:xfrm>
            <a:off x="1168380" y="2977566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766B9859-E479-CC77-8A8D-7E3E5B1F9F58}"/>
              </a:ext>
            </a:extLst>
          </p:cNvPr>
          <p:cNvCxnSpPr>
            <a:cxnSpLocks/>
          </p:cNvCxnSpPr>
          <p:nvPr/>
        </p:nvCxnSpPr>
        <p:spPr>
          <a:xfrm>
            <a:off x="2926235" y="3425479"/>
            <a:ext cx="71576" cy="5058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E4A85927-E65E-BE1C-2C05-1974DCB14F2A}"/>
              </a:ext>
            </a:extLst>
          </p:cNvPr>
          <p:cNvSpPr txBox="1"/>
          <p:nvPr/>
        </p:nvSpPr>
        <p:spPr>
          <a:xfrm>
            <a:off x="2471165" y="2754225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625845C9-45B6-0695-8EE4-FA59A6C76392}"/>
              </a:ext>
            </a:extLst>
          </p:cNvPr>
          <p:cNvCxnSpPr>
            <a:cxnSpLocks/>
          </p:cNvCxnSpPr>
          <p:nvPr/>
        </p:nvCxnSpPr>
        <p:spPr>
          <a:xfrm flipH="1">
            <a:off x="4172471" y="3447767"/>
            <a:ext cx="49476" cy="47870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66C94D84-B5D7-4AB2-7DBA-7530753ED3E3}"/>
              </a:ext>
            </a:extLst>
          </p:cNvPr>
          <p:cNvSpPr txBox="1"/>
          <p:nvPr/>
        </p:nvSpPr>
        <p:spPr>
          <a:xfrm>
            <a:off x="3555919" y="2808686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F11803A2-9898-F6CD-464D-02367787C670}"/>
              </a:ext>
            </a:extLst>
          </p:cNvPr>
          <p:cNvCxnSpPr>
            <a:cxnSpLocks/>
          </p:cNvCxnSpPr>
          <p:nvPr/>
        </p:nvCxnSpPr>
        <p:spPr>
          <a:xfrm flipH="1">
            <a:off x="5652120" y="2434266"/>
            <a:ext cx="718949" cy="14922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2009157C-F494-1216-08AC-45F8EE65BC39}"/>
              </a:ext>
            </a:extLst>
          </p:cNvPr>
          <p:cNvSpPr txBox="1"/>
          <p:nvPr/>
        </p:nvSpPr>
        <p:spPr>
          <a:xfrm>
            <a:off x="5714479" y="1787935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45864A3E-B406-98FD-F15A-E02D783F6D63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4846924" y="2792928"/>
            <a:ext cx="257930" cy="123799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03D54C06-EBE4-F123-D00D-B2721BD91E99}"/>
              </a:ext>
            </a:extLst>
          </p:cNvPr>
          <p:cNvSpPr txBox="1"/>
          <p:nvPr/>
        </p:nvSpPr>
        <p:spPr>
          <a:xfrm>
            <a:off x="4448264" y="2146597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10278C62-73BC-50E1-3BFB-584BEC2CC51C}"/>
              </a:ext>
            </a:extLst>
          </p:cNvPr>
          <p:cNvSpPr txBox="1"/>
          <p:nvPr/>
        </p:nvSpPr>
        <p:spPr>
          <a:xfrm>
            <a:off x="6579705" y="2761756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sp>
        <p:nvSpPr>
          <p:cNvPr id="34" name="Nawias klamrowy otwierający 33">
            <a:extLst>
              <a:ext uri="{FF2B5EF4-FFF2-40B4-BE49-F238E27FC236}">
                <a16:creationId xmlns:a16="http://schemas.microsoft.com/office/drawing/2014/main" id="{DE69A7C5-FF60-1943-AFF5-1411316337B1}"/>
              </a:ext>
            </a:extLst>
          </p:cNvPr>
          <p:cNvSpPr/>
          <p:nvPr/>
        </p:nvSpPr>
        <p:spPr>
          <a:xfrm rot="5400000">
            <a:off x="7020271" y="2503929"/>
            <a:ext cx="432048" cy="2304256"/>
          </a:xfrm>
          <a:custGeom>
            <a:avLst/>
            <a:gdLst>
              <a:gd name="connsiteX0" fmla="*/ 432048 w 432048"/>
              <a:gd name="connsiteY0" fmla="*/ 2304256 h 2304256"/>
              <a:gd name="connsiteX1" fmla="*/ 216024 w 432048"/>
              <a:gd name="connsiteY1" fmla="*/ 2268253 h 2304256"/>
              <a:gd name="connsiteX2" fmla="*/ 216024 w 432048"/>
              <a:gd name="connsiteY2" fmla="*/ 1188131 h 2304256"/>
              <a:gd name="connsiteX3" fmla="*/ 0 w 432048"/>
              <a:gd name="connsiteY3" fmla="*/ 1152128 h 2304256"/>
              <a:gd name="connsiteX4" fmla="*/ 216024 w 432048"/>
              <a:gd name="connsiteY4" fmla="*/ 1116125 h 2304256"/>
              <a:gd name="connsiteX5" fmla="*/ 216024 w 432048"/>
              <a:gd name="connsiteY5" fmla="*/ 36003 h 2304256"/>
              <a:gd name="connsiteX6" fmla="*/ 432048 w 432048"/>
              <a:gd name="connsiteY6" fmla="*/ 0 h 2304256"/>
              <a:gd name="connsiteX7" fmla="*/ 432048 w 432048"/>
              <a:gd name="connsiteY7" fmla="*/ 2304256 h 2304256"/>
              <a:gd name="connsiteX0" fmla="*/ 432048 w 432048"/>
              <a:gd name="connsiteY0" fmla="*/ 2304256 h 2304256"/>
              <a:gd name="connsiteX1" fmla="*/ 216024 w 432048"/>
              <a:gd name="connsiteY1" fmla="*/ 2268253 h 2304256"/>
              <a:gd name="connsiteX2" fmla="*/ 216024 w 432048"/>
              <a:gd name="connsiteY2" fmla="*/ 1188131 h 2304256"/>
              <a:gd name="connsiteX3" fmla="*/ 0 w 432048"/>
              <a:gd name="connsiteY3" fmla="*/ 1152128 h 2304256"/>
              <a:gd name="connsiteX4" fmla="*/ 216024 w 432048"/>
              <a:gd name="connsiteY4" fmla="*/ 1116125 h 2304256"/>
              <a:gd name="connsiteX5" fmla="*/ 216024 w 432048"/>
              <a:gd name="connsiteY5" fmla="*/ 36003 h 2304256"/>
              <a:gd name="connsiteX6" fmla="*/ 432048 w 432048"/>
              <a:gd name="connsiteY6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048" h="2304256" stroke="0" extrusionOk="0">
                <a:moveTo>
                  <a:pt x="432048" y="2304256"/>
                </a:moveTo>
                <a:cubicBezTo>
                  <a:pt x="312460" y="2304083"/>
                  <a:pt x="214536" y="2288695"/>
                  <a:pt x="216024" y="2268253"/>
                </a:cubicBezTo>
                <a:cubicBezTo>
                  <a:pt x="263644" y="1898099"/>
                  <a:pt x="158826" y="1489567"/>
                  <a:pt x="216024" y="1188131"/>
                </a:cubicBezTo>
                <a:cubicBezTo>
                  <a:pt x="203069" y="1180899"/>
                  <a:pt x="118715" y="1155401"/>
                  <a:pt x="0" y="1152128"/>
                </a:cubicBezTo>
                <a:cubicBezTo>
                  <a:pt x="117221" y="1150987"/>
                  <a:pt x="219487" y="1137664"/>
                  <a:pt x="216024" y="1116125"/>
                </a:cubicBezTo>
                <a:cubicBezTo>
                  <a:pt x="199426" y="984593"/>
                  <a:pt x="262552" y="533593"/>
                  <a:pt x="216024" y="36003"/>
                </a:cubicBezTo>
                <a:cubicBezTo>
                  <a:pt x="201189" y="13847"/>
                  <a:pt x="299965" y="12029"/>
                  <a:pt x="432048" y="0"/>
                </a:cubicBezTo>
                <a:cubicBezTo>
                  <a:pt x="383817" y="368040"/>
                  <a:pt x="516503" y="1474993"/>
                  <a:pt x="432048" y="2304256"/>
                </a:cubicBezTo>
                <a:close/>
              </a:path>
              <a:path w="432048" h="2304256" fill="none" extrusionOk="0">
                <a:moveTo>
                  <a:pt x="432048" y="2304256"/>
                </a:moveTo>
                <a:cubicBezTo>
                  <a:pt x="309814" y="2304048"/>
                  <a:pt x="215494" y="2287056"/>
                  <a:pt x="216024" y="2268253"/>
                </a:cubicBezTo>
                <a:cubicBezTo>
                  <a:pt x="290357" y="1821490"/>
                  <a:pt x="155078" y="1629391"/>
                  <a:pt x="216024" y="1188131"/>
                </a:cubicBezTo>
                <a:cubicBezTo>
                  <a:pt x="208097" y="1182420"/>
                  <a:pt x="125321" y="1156597"/>
                  <a:pt x="0" y="1152128"/>
                </a:cubicBezTo>
                <a:cubicBezTo>
                  <a:pt x="119148" y="1155913"/>
                  <a:pt x="217770" y="1134973"/>
                  <a:pt x="216024" y="1116125"/>
                </a:cubicBezTo>
                <a:cubicBezTo>
                  <a:pt x="121135" y="760017"/>
                  <a:pt x="189461" y="464333"/>
                  <a:pt x="216024" y="36003"/>
                </a:cubicBezTo>
                <a:cubicBezTo>
                  <a:pt x="221108" y="26185"/>
                  <a:pt x="302975" y="5150"/>
                  <a:pt x="432048" y="0"/>
                </a:cubicBezTo>
              </a:path>
              <a:path w="432048" h="2304256" fill="none" stroke="0" extrusionOk="0">
                <a:moveTo>
                  <a:pt x="432048" y="2304256"/>
                </a:moveTo>
                <a:cubicBezTo>
                  <a:pt x="315111" y="2305583"/>
                  <a:pt x="218994" y="2288851"/>
                  <a:pt x="216024" y="2268253"/>
                </a:cubicBezTo>
                <a:cubicBezTo>
                  <a:pt x="172524" y="2011679"/>
                  <a:pt x="134420" y="1417087"/>
                  <a:pt x="216024" y="1188131"/>
                </a:cubicBezTo>
                <a:cubicBezTo>
                  <a:pt x="224247" y="1180488"/>
                  <a:pt x="121067" y="1170359"/>
                  <a:pt x="0" y="1152128"/>
                </a:cubicBezTo>
                <a:cubicBezTo>
                  <a:pt x="120201" y="1153506"/>
                  <a:pt x="216504" y="1136596"/>
                  <a:pt x="216024" y="1116125"/>
                </a:cubicBezTo>
                <a:cubicBezTo>
                  <a:pt x="205245" y="940785"/>
                  <a:pt x="136649" y="513479"/>
                  <a:pt x="216024" y="36003"/>
                </a:cubicBezTo>
                <a:cubicBezTo>
                  <a:pt x="197852" y="19103"/>
                  <a:pt x="299020" y="-9467"/>
                  <a:pt x="432048" y="0"/>
                </a:cubicBezTo>
              </a:path>
            </a:pathLst>
          </a:custGeom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1" name="Nawias klamrowy otwierający 40">
            <a:extLst>
              <a:ext uri="{FF2B5EF4-FFF2-40B4-BE49-F238E27FC236}">
                <a16:creationId xmlns:a16="http://schemas.microsoft.com/office/drawing/2014/main" id="{29138047-2DC8-F99D-7FB7-FBEFC0D6CE1C}"/>
              </a:ext>
            </a:extLst>
          </p:cNvPr>
          <p:cNvSpPr/>
          <p:nvPr/>
        </p:nvSpPr>
        <p:spPr>
          <a:xfrm rot="16200000">
            <a:off x="6534812" y="3875035"/>
            <a:ext cx="432048" cy="1286295"/>
          </a:xfrm>
          <a:custGeom>
            <a:avLst/>
            <a:gdLst>
              <a:gd name="connsiteX0" fmla="*/ 432048 w 432048"/>
              <a:gd name="connsiteY0" fmla="*/ 1286295 h 1286295"/>
              <a:gd name="connsiteX1" fmla="*/ 216024 w 432048"/>
              <a:gd name="connsiteY1" fmla="*/ 1250292 h 1286295"/>
              <a:gd name="connsiteX2" fmla="*/ 216024 w 432048"/>
              <a:gd name="connsiteY2" fmla="*/ 679150 h 1286295"/>
              <a:gd name="connsiteX3" fmla="*/ 0 w 432048"/>
              <a:gd name="connsiteY3" fmla="*/ 643147 h 1286295"/>
              <a:gd name="connsiteX4" fmla="*/ 216024 w 432048"/>
              <a:gd name="connsiteY4" fmla="*/ 607144 h 1286295"/>
              <a:gd name="connsiteX5" fmla="*/ 216024 w 432048"/>
              <a:gd name="connsiteY5" fmla="*/ 36003 h 1286295"/>
              <a:gd name="connsiteX6" fmla="*/ 432048 w 432048"/>
              <a:gd name="connsiteY6" fmla="*/ 0 h 1286295"/>
              <a:gd name="connsiteX7" fmla="*/ 432048 w 432048"/>
              <a:gd name="connsiteY7" fmla="*/ 1286295 h 1286295"/>
              <a:gd name="connsiteX0" fmla="*/ 432048 w 432048"/>
              <a:gd name="connsiteY0" fmla="*/ 1286295 h 1286295"/>
              <a:gd name="connsiteX1" fmla="*/ 216024 w 432048"/>
              <a:gd name="connsiteY1" fmla="*/ 1250292 h 1286295"/>
              <a:gd name="connsiteX2" fmla="*/ 216024 w 432048"/>
              <a:gd name="connsiteY2" fmla="*/ 679150 h 1286295"/>
              <a:gd name="connsiteX3" fmla="*/ 0 w 432048"/>
              <a:gd name="connsiteY3" fmla="*/ 643147 h 1286295"/>
              <a:gd name="connsiteX4" fmla="*/ 216024 w 432048"/>
              <a:gd name="connsiteY4" fmla="*/ 607144 h 1286295"/>
              <a:gd name="connsiteX5" fmla="*/ 216024 w 432048"/>
              <a:gd name="connsiteY5" fmla="*/ 36003 h 1286295"/>
              <a:gd name="connsiteX6" fmla="*/ 432048 w 432048"/>
              <a:gd name="connsiteY6" fmla="*/ 0 h 1286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048" h="1286295" stroke="0" extrusionOk="0">
                <a:moveTo>
                  <a:pt x="432048" y="1286295"/>
                </a:moveTo>
                <a:cubicBezTo>
                  <a:pt x="312460" y="1286122"/>
                  <a:pt x="214536" y="1270734"/>
                  <a:pt x="216024" y="1250292"/>
                </a:cubicBezTo>
                <a:cubicBezTo>
                  <a:pt x="260253" y="1107570"/>
                  <a:pt x="224906" y="794956"/>
                  <a:pt x="216024" y="679150"/>
                </a:cubicBezTo>
                <a:cubicBezTo>
                  <a:pt x="203069" y="671918"/>
                  <a:pt x="118715" y="646420"/>
                  <a:pt x="0" y="643147"/>
                </a:cubicBezTo>
                <a:cubicBezTo>
                  <a:pt x="117221" y="642006"/>
                  <a:pt x="219487" y="628683"/>
                  <a:pt x="216024" y="607144"/>
                </a:cubicBezTo>
                <a:cubicBezTo>
                  <a:pt x="262905" y="438877"/>
                  <a:pt x="233811" y="286126"/>
                  <a:pt x="216024" y="36003"/>
                </a:cubicBezTo>
                <a:cubicBezTo>
                  <a:pt x="201189" y="13847"/>
                  <a:pt x="299965" y="12029"/>
                  <a:pt x="432048" y="0"/>
                </a:cubicBezTo>
                <a:cubicBezTo>
                  <a:pt x="546413" y="533547"/>
                  <a:pt x="341811" y="1044808"/>
                  <a:pt x="432048" y="1286295"/>
                </a:cubicBezTo>
                <a:close/>
              </a:path>
              <a:path w="432048" h="1286295" fill="none" extrusionOk="0">
                <a:moveTo>
                  <a:pt x="432048" y="1286295"/>
                </a:moveTo>
                <a:cubicBezTo>
                  <a:pt x="309814" y="1286087"/>
                  <a:pt x="215494" y="1269095"/>
                  <a:pt x="216024" y="1250292"/>
                </a:cubicBezTo>
                <a:cubicBezTo>
                  <a:pt x="177931" y="969866"/>
                  <a:pt x="187950" y="905718"/>
                  <a:pt x="216024" y="679150"/>
                </a:cubicBezTo>
                <a:cubicBezTo>
                  <a:pt x="208097" y="673439"/>
                  <a:pt x="125321" y="647616"/>
                  <a:pt x="0" y="643147"/>
                </a:cubicBezTo>
                <a:cubicBezTo>
                  <a:pt x="119148" y="646932"/>
                  <a:pt x="217770" y="625992"/>
                  <a:pt x="216024" y="607144"/>
                </a:cubicBezTo>
                <a:cubicBezTo>
                  <a:pt x="243541" y="329641"/>
                  <a:pt x="231596" y="282281"/>
                  <a:pt x="216024" y="36003"/>
                </a:cubicBezTo>
                <a:cubicBezTo>
                  <a:pt x="221108" y="26185"/>
                  <a:pt x="302975" y="5150"/>
                  <a:pt x="432048" y="0"/>
                </a:cubicBezTo>
              </a:path>
              <a:path w="432048" h="1286295" fill="none" stroke="0" extrusionOk="0">
                <a:moveTo>
                  <a:pt x="432048" y="1286295"/>
                </a:moveTo>
                <a:cubicBezTo>
                  <a:pt x="315111" y="1287622"/>
                  <a:pt x="218994" y="1270890"/>
                  <a:pt x="216024" y="1250292"/>
                </a:cubicBezTo>
                <a:cubicBezTo>
                  <a:pt x="243924" y="1110637"/>
                  <a:pt x="230026" y="845608"/>
                  <a:pt x="216024" y="679150"/>
                </a:cubicBezTo>
                <a:cubicBezTo>
                  <a:pt x="224247" y="671507"/>
                  <a:pt x="121067" y="661378"/>
                  <a:pt x="0" y="643147"/>
                </a:cubicBezTo>
                <a:cubicBezTo>
                  <a:pt x="120201" y="644525"/>
                  <a:pt x="216504" y="627615"/>
                  <a:pt x="216024" y="607144"/>
                </a:cubicBezTo>
                <a:cubicBezTo>
                  <a:pt x="177939" y="465580"/>
                  <a:pt x="229204" y="159918"/>
                  <a:pt x="216024" y="36003"/>
                </a:cubicBezTo>
                <a:cubicBezTo>
                  <a:pt x="197852" y="19103"/>
                  <a:pt x="299020" y="-9467"/>
                  <a:pt x="432048" y="0"/>
                </a:cubicBezTo>
              </a:path>
            </a:pathLst>
          </a:custGeom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5A9856BB-B9A5-1578-4CD9-247F7EB08D1B}"/>
              </a:ext>
            </a:extLst>
          </p:cNvPr>
          <p:cNvSpPr txBox="1"/>
          <p:nvPr/>
        </p:nvSpPr>
        <p:spPr>
          <a:xfrm>
            <a:off x="6004478" y="4734207"/>
            <a:ext cx="14927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lista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typów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parametrów</a:t>
            </a:r>
          </a:p>
        </p:txBody>
      </p:sp>
      <p:cxnSp>
        <p:nvCxnSpPr>
          <p:cNvPr id="43" name="Łącznik prosty ze strzałką 42">
            <a:extLst>
              <a:ext uri="{FF2B5EF4-FFF2-40B4-BE49-F238E27FC236}">
                <a16:creationId xmlns:a16="http://schemas.microsoft.com/office/drawing/2014/main" id="{7E2BF730-45C2-BDE4-D0C5-C33E391A553E}"/>
              </a:ext>
            </a:extLst>
          </p:cNvPr>
          <p:cNvCxnSpPr>
            <a:cxnSpLocks/>
          </p:cNvCxnSpPr>
          <p:nvPr/>
        </p:nvCxnSpPr>
        <p:spPr>
          <a:xfrm flipH="1" flipV="1">
            <a:off x="8079541" y="4317360"/>
            <a:ext cx="21980" cy="4168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04588F9A-4D33-BE24-091E-7CBF010B73AD}"/>
              </a:ext>
            </a:extLst>
          </p:cNvPr>
          <p:cNvSpPr txBox="1"/>
          <p:nvPr/>
        </p:nvSpPr>
        <p:spPr>
          <a:xfrm>
            <a:off x="7527451" y="4727517"/>
            <a:ext cx="122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zwracany</a:t>
            </a:r>
          </a:p>
        </p:txBody>
      </p:sp>
    </p:spTree>
    <p:extLst>
      <p:ext uri="{BB962C8B-B14F-4D97-AF65-F5344CB8AC3E}">
        <p14:creationId xmlns:p14="http://schemas.microsoft.com/office/powerpoint/2010/main" val="2378135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413C9-01DC-2901-F342-24FAA394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B6476F-D3BF-2B3D-8722-1D6BCEB1007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0A23481-FCF2-D805-391F-E1D502A10D42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to </a:t>
            </a:r>
            <a:r>
              <a:rPr lang="pl-PL" sz="1600" b="1" dirty="0"/>
              <a:t>wyrażenia funkcjonalne</a:t>
            </a:r>
            <a:r>
              <a:rPr lang="pl-PL" sz="1600" dirty="0"/>
              <a:t>, które można przekazywać jako parametry do funkcji.</a:t>
            </a:r>
            <a:endParaRPr lang="pl-PL" sz="16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55D255D-DD4D-9174-E990-884D64F26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13" y="3933056"/>
            <a:ext cx="4968552" cy="48728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3F3B4381-3707-B4EE-62CF-0CC63DF99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713" y="2132856"/>
            <a:ext cx="7510412" cy="393359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0E461387-BB04-B45A-8B2D-ADAA3B975F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345" y="4725144"/>
            <a:ext cx="1546733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78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FDAB8-EBB4-C030-D65E-FF73E2B70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E663C8-8828-B8F1-E05E-259338B44F6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01B27EC-EA96-A8A7-F587-BF76B515ECB2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to </a:t>
            </a:r>
            <a:r>
              <a:rPr lang="pl-PL" sz="1600" b="1" dirty="0"/>
              <a:t>wyrażenia funkcjonalne</a:t>
            </a:r>
            <a:r>
              <a:rPr lang="pl-PL" sz="1600" dirty="0"/>
              <a:t>, które można przekazywać jako parametry do funkcji.</a:t>
            </a:r>
            <a:endParaRPr lang="pl-PL" sz="16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4D982B8-7903-44F6-F305-2CFEC71B4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13" y="3917743"/>
            <a:ext cx="4968552" cy="48728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868D3E78-D076-9214-4F53-4283AE453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713" y="2132856"/>
            <a:ext cx="7510412" cy="393359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E8FE33C8-070B-7161-F709-3281F4896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345" y="4725144"/>
            <a:ext cx="1546733" cy="1080120"/>
          </a:xfrm>
          <a:prstGeom prst="rect">
            <a:avLst/>
          </a:prstGeom>
        </p:spPr>
      </p:pic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6EBDE592-5645-6F87-92EA-571C61AF0DB6}"/>
              </a:ext>
            </a:extLst>
          </p:cNvPr>
          <p:cNvCxnSpPr>
            <a:cxnSpLocks/>
          </p:cNvCxnSpPr>
          <p:nvPr/>
        </p:nvCxnSpPr>
        <p:spPr>
          <a:xfrm flipH="1">
            <a:off x="2915816" y="2610640"/>
            <a:ext cx="1008112" cy="13944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9A840549-8439-677D-F851-E9119B72CE76}"/>
              </a:ext>
            </a:extLst>
          </p:cNvPr>
          <p:cNvSpPr/>
          <p:nvPr/>
        </p:nvSpPr>
        <p:spPr>
          <a:xfrm>
            <a:off x="3341774" y="2130440"/>
            <a:ext cx="1230226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2CA7CE7A-9B9D-0875-B774-AF1E563EB822}"/>
              </a:ext>
            </a:extLst>
          </p:cNvPr>
          <p:cNvSpPr/>
          <p:nvPr/>
        </p:nvSpPr>
        <p:spPr>
          <a:xfrm>
            <a:off x="2753078" y="3976107"/>
            <a:ext cx="292957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7836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3A494-107B-EEA1-818B-125CB2F3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B813A4-D09C-C02B-7932-5CA46A323C6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672A077-968E-7EE9-5AF4-710ADA38181B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to </a:t>
            </a:r>
            <a:r>
              <a:rPr lang="pl-PL" sz="1600" b="1" dirty="0"/>
              <a:t>wyrażenia funkcjonalne</a:t>
            </a:r>
            <a:r>
              <a:rPr lang="pl-PL" sz="1600" dirty="0"/>
              <a:t>, które można przekazywać jako parametry do funkcji.</a:t>
            </a:r>
            <a:endParaRPr lang="pl-PL" sz="16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52FACB8-620C-E46E-1819-E144DB3D3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13" y="3917743"/>
            <a:ext cx="4968552" cy="48728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6934AE0-AA29-4087-F99B-7E8450DA4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713" y="2132856"/>
            <a:ext cx="7510412" cy="393359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3AFABD77-203A-C156-CA09-0D2DA5308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345" y="4725144"/>
            <a:ext cx="1546733" cy="1080120"/>
          </a:xfrm>
          <a:prstGeom prst="rect">
            <a:avLst/>
          </a:prstGeom>
        </p:spPr>
      </p:pic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FE8A7483-7BF3-4353-5B00-6524AC3366C9}"/>
              </a:ext>
            </a:extLst>
          </p:cNvPr>
          <p:cNvCxnSpPr>
            <a:cxnSpLocks/>
          </p:cNvCxnSpPr>
          <p:nvPr/>
        </p:nvCxnSpPr>
        <p:spPr>
          <a:xfrm flipH="1">
            <a:off x="2915816" y="2610640"/>
            <a:ext cx="1008112" cy="13944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Łącznik prosty ze strzałką 37">
            <a:extLst>
              <a:ext uri="{FF2B5EF4-FFF2-40B4-BE49-F238E27FC236}">
                <a16:creationId xmlns:a16="http://schemas.microsoft.com/office/drawing/2014/main" id="{1389737F-FF98-87B2-F659-16D6F7BAFE19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4720300" y="2526215"/>
            <a:ext cx="1870066" cy="13818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388FF73C-B9EB-08C4-94CB-D6B809F557F0}"/>
              </a:ext>
            </a:extLst>
          </p:cNvPr>
          <p:cNvSpPr/>
          <p:nvPr/>
        </p:nvSpPr>
        <p:spPr>
          <a:xfrm>
            <a:off x="4720300" y="2120760"/>
            <a:ext cx="3740132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11E01B2B-2CEF-C8ED-AA61-BC6DEC8D565C}"/>
              </a:ext>
            </a:extLst>
          </p:cNvPr>
          <p:cNvSpPr/>
          <p:nvPr/>
        </p:nvSpPr>
        <p:spPr>
          <a:xfrm>
            <a:off x="3136124" y="3917743"/>
            <a:ext cx="3020052" cy="47760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280F1584-B6CC-CF62-A4A3-DDD0B76022F6}"/>
              </a:ext>
            </a:extLst>
          </p:cNvPr>
          <p:cNvSpPr/>
          <p:nvPr/>
        </p:nvSpPr>
        <p:spPr>
          <a:xfrm>
            <a:off x="3341774" y="2130440"/>
            <a:ext cx="1230226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A2C6018B-B67B-35E6-8E29-98B75041EA98}"/>
              </a:ext>
            </a:extLst>
          </p:cNvPr>
          <p:cNvSpPr/>
          <p:nvPr/>
        </p:nvSpPr>
        <p:spPr>
          <a:xfrm>
            <a:off x="2753078" y="3976107"/>
            <a:ext cx="292957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9129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E73029-0039-DF66-D481-426455DA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9CB8E5-967D-3850-BB92-B8D4E90D11F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F0CAAAD-EE02-35B5-038D-6481E5A4BE46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to </a:t>
            </a:r>
            <a:r>
              <a:rPr lang="pl-PL" sz="1600" b="1" dirty="0"/>
              <a:t>wyrażenia funkcjonalne</a:t>
            </a:r>
            <a:r>
              <a:rPr lang="pl-PL" sz="1600" dirty="0"/>
              <a:t>, które można przekazywać jako parametry do funkcji.</a:t>
            </a:r>
            <a:endParaRPr lang="pl-PL" sz="16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EB5CFEF-E791-D69F-A18F-847408CA3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13" y="3933056"/>
            <a:ext cx="4968552" cy="48728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17349CD-ACF1-77D0-E98E-7F2586626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713" y="2132856"/>
            <a:ext cx="7510412" cy="393359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FB34C987-FC31-55DF-EE27-B56977C57D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345" y="4725144"/>
            <a:ext cx="1546733" cy="1080120"/>
          </a:xfrm>
          <a:prstGeom prst="rect">
            <a:avLst/>
          </a:prstGeom>
        </p:spPr>
      </p:pic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B43266FC-87FB-0D81-6BC7-47FACF943D3F}"/>
              </a:ext>
            </a:extLst>
          </p:cNvPr>
          <p:cNvCxnSpPr>
            <a:cxnSpLocks/>
          </p:cNvCxnSpPr>
          <p:nvPr/>
        </p:nvCxnSpPr>
        <p:spPr>
          <a:xfrm flipH="1">
            <a:off x="2915816" y="2610640"/>
            <a:ext cx="1008112" cy="13944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Łącznik prosty ze strzałką 37">
            <a:extLst>
              <a:ext uri="{FF2B5EF4-FFF2-40B4-BE49-F238E27FC236}">
                <a16:creationId xmlns:a16="http://schemas.microsoft.com/office/drawing/2014/main" id="{CCE62050-1D7F-1392-FF90-0E0D5DE93DB6}"/>
              </a:ext>
            </a:extLst>
          </p:cNvPr>
          <p:cNvCxnSpPr>
            <a:cxnSpLocks/>
          </p:cNvCxnSpPr>
          <p:nvPr/>
        </p:nvCxnSpPr>
        <p:spPr>
          <a:xfrm flipH="1">
            <a:off x="3347864" y="2487195"/>
            <a:ext cx="2693822" cy="158987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441B5683-D926-1ADF-C968-13D026BBE333}"/>
              </a:ext>
            </a:extLst>
          </p:cNvPr>
          <p:cNvCxnSpPr>
            <a:cxnSpLocks/>
          </p:cNvCxnSpPr>
          <p:nvPr/>
        </p:nvCxnSpPr>
        <p:spPr>
          <a:xfrm flipH="1">
            <a:off x="3686008" y="2487195"/>
            <a:ext cx="3262256" cy="16174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025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D67C2-F7E0-5D26-3C89-4B48F8F7A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FC5D96-77B3-C343-EFF4-B65C8253E73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9D91E20-AA68-8335-45BE-331C4CFA923B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Lambdy to </a:t>
            </a:r>
            <a:r>
              <a:rPr lang="pl-PL" sz="1600" b="1" dirty="0"/>
              <a:t>wyrażenia funkcjonalne</a:t>
            </a:r>
            <a:r>
              <a:rPr lang="pl-PL" sz="1600" dirty="0"/>
              <a:t>, które można przekazywać jako parametry do funkcji.</a:t>
            </a:r>
            <a:endParaRPr lang="pl-PL" sz="1600" b="1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C6276C88-6657-BCC6-477E-56512F09A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125" y="1994292"/>
            <a:ext cx="7994370" cy="486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66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ED7A8F-CDA8-FADF-F492-DD3C5390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0876A4-6E37-CA4A-FC95-30CF2A47AB0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BC1D555-5D0E-54FC-10F1-9FA95CB059DE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5F65E632-17DC-9BF7-C7CA-06E97FE7D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18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CC72C-BF73-CAB6-313E-3E508CE9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725ADC-65E3-A9A2-33BA-52E01CAEC75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8CC354D-854A-E127-A119-DDABDED96A5B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7CB44FB7-B08F-0AE7-7FA5-5D2678D0D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088DF9E1-7D5E-3DC2-B90C-62D2862CF303}"/>
              </a:ext>
            </a:extLst>
          </p:cNvPr>
          <p:cNvSpPr/>
          <p:nvPr/>
        </p:nvSpPr>
        <p:spPr>
          <a:xfrm>
            <a:off x="2843808" y="2132856"/>
            <a:ext cx="5400600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3A6721E9-C0BF-BA9A-793D-0E6477A2CF50}"/>
              </a:ext>
            </a:extLst>
          </p:cNvPr>
          <p:cNvSpPr/>
          <p:nvPr/>
        </p:nvSpPr>
        <p:spPr>
          <a:xfrm>
            <a:off x="3995936" y="3429000"/>
            <a:ext cx="3456384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63909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42E49-C988-71BF-1024-7D4E7838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997DA5-D6FC-24DF-2680-D4CC6C1797F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DF20CD6-4804-007C-38E8-B3662C5A9008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6F60B81C-AD7D-203F-E871-70ABBD433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E9215FEB-EB6E-EE8D-7C50-A264EBAD59BB}"/>
              </a:ext>
            </a:extLst>
          </p:cNvPr>
          <p:cNvSpPr/>
          <p:nvPr/>
        </p:nvSpPr>
        <p:spPr>
          <a:xfrm>
            <a:off x="2843808" y="2132856"/>
            <a:ext cx="5400600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2F962F3C-447B-181B-CCD6-1479C61AE52C}"/>
              </a:ext>
            </a:extLst>
          </p:cNvPr>
          <p:cNvSpPr/>
          <p:nvPr/>
        </p:nvSpPr>
        <p:spPr>
          <a:xfrm>
            <a:off x="3995936" y="3429000"/>
            <a:ext cx="3456384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41E8002E-96B7-E88E-3450-6C1A2A90C57F}"/>
              </a:ext>
            </a:extLst>
          </p:cNvPr>
          <p:cNvCxnSpPr>
            <a:cxnSpLocks/>
          </p:cNvCxnSpPr>
          <p:nvPr/>
        </p:nvCxnSpPr>
        <p:spPr>
          <a:xfrm>
            <a:off x="3509065" y="2521047"/>
            <a:ext cx="702895" cy="10519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035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B3A03-3776-A64D-92FB-CEC55C62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14A845-D352-801B-88B8-C7ACFC19CC6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E43F454-0C2D-1B53-48C0-04120D67BEA0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7FD2575A-FA29-7C6D-52B4-830B8236E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91724241-FE8F-AFAA-6B83-55FD95A838F6}"/>
              </a:ext>
            </a:extLst>
          </p:cNvPr>
          <p:cNvSpPr/>
          <p:nvPr/>
        </p:nvSpPr>
        <p:spPr>
          <a:xfrm>
            <a:off x="2843808" y="2132856"/>
            <a:ext cx="5400600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FE2B911A-69FC-CFA2-E069-8122832F76BB}"/>
              </a:ext>
            </a:extLst>
          </p:cNvPr>
          <p:cNvSpPr/>
          <p:nvPr/>
        </p:nvSpPr>
        <p:spPr>
          <a:xfrm>
            <a:off x="3995936" y="3429000"/>
            <a:ext cx="3456384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A3BC0895-FCBC-18BD-FC02-2E8BA9CBF06C}"/>
              </a:ext>
            </a:extLst>
          </p:cNvPr>
          <p:cNvCxnSpPr>
            <a:cxnSpLocks/>
          </p:cNvCxnSpPr>
          <p:nvPr/>
        </p:nvCxnSpPr>
        <p:spPr>
          <a:xfrm>
            <a:off x="3509065" y="2521047"/>
            <a:ext cx="702895" cy="10519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4D764917-E729-ADA3-611D-CD51073C52FE}"/>
              </a:ext>
            </a:extLst>
          </p:cNvPr>
          <p:cNvCxnSpPr>
            <a:cxnSpLocks/>
          </p:cNvCxnSpPr>
          <p:nvPr/>
        </p:nvCxnSpPr>
        <p:spPr>
          <a:xfrm>
            <a:off x="4148634" y="2521047"/>
            <a:ext cx="495374" cy="10030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823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3E083-BFDB-6246-1183-D9D27C01B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F4DA9D-1A40-6B94-12D3-F202AB8295B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8E9A293-96F1-1592-4795-58504C175B5C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B6925FED-56BF-EBAF-B950-36EF98858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8B534539-2763-983C-7D71-F9F4C046179C}"/>
              </a:ext>
            </a:extLst>
          </p:cNvPr>
          <p:cNvSpPr/>
          <p:nvPr/>
        </p:nvSpPr>
        <p:spPr>
          <a:xfrm>
            <a:off x="2843808" y="2132856"/>
            <a:ext cx="5400600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B2771931-C5FD-6589-CB95-D7A6D8947521}"/>
              </a:ext>
            </a:extLst>
          </p:cNvPr>
          <p:cNvSpPr/>
          <p:nvPr/>
        </p:nvSpPr>
        <p:spPr>
          <a:xfrm>
            <a:off x="3995936" y="3429000"/>
            <a:ext cx="3456384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86F00E17-2462-877F-D719-08AF84367A39}"/>
              </a:ext>
            </a:extLst>
          </p:cNvPr>
          <p:cNvCxnSpPr>
            <a:cxnSpLocks/>
          </p:cNvCxnSpPr>
          <p:nvPr/>
        </p:nvCxnSpPr>
        <p:spPr>
          <a:xfrm>
            <a:off x="3509065" y="2521047"/>
            <a:ext cx="702895" cy="10519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B93595FF-C1EA-D76C-B5EA-894F3AEFE358}"/>
              </a:ext>
            </a:extLst>
          </p:cNvPr>
          <p:cNvCxnSpPr>
            <a:cxnSpLocks/>
          </p:cNvCxnSpPr>
          <p:nvPr/>
        </p:nvCxnSpPr>
        <p:spPr>
          <a:xfrm>
            <a:off x="4148634" y="2521047"/>
            <a:ext cx="495374" cy="10030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88C7C74E-B756-29BF-5BF6-FE82941ADBFF}"/>
              </a:ext>
            </a:extLst>
          </p:cNvPr>
          <p:cNvCxnSpPr>
            <a:cxnSpLocks/>
          </p:cNvCxnSpPr>
          <p:nvPr/>
        </p:nvCxnSpPr>
        <p:spPr>
          <a:xfrm flipH="1">
            <a:off x="5076056" y="2477689"/>
            <a:ext cx="258573" cy="104591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136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7BF78-95EE-C8A1-F2D1-1ED4988F1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5D1E6B-DBA6-FCA0-7D87-4401A4D7750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1807293-F2C2-BB0B-0188-7326EF97A841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3B0A7DFF-1DE6-C1FE-EA96-9A9F86D4C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20796E1C-8CFA-7C2C-E7A6-0ADD3542A6C2}"/>
              </a:ext>
            </a:extLst>
          </p:cNvPr>
          <p:cNvSpPr/>
          <p:nvPr/>
        </p:nvSpPr>
        <p:spPr>
          <a:xfrm>
            <a:off x="2843808" y="2132856"/>
            <a:ext cx="5400600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738768C0-112F-C099-EDCB-A99D270BD2CB}"/>
              </a:ext>
            </a:extLst>
          </p:cNvPr>
          <p:cNvSpPr/>
          <p:nvPr/>
        </p:nvSpPr>
        <p:spPr>
          <a:xfrm>
            <a:off x="3995936" y="3429000"/>
            <a:ext cx="3456384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78588DBB-C5FB-5DCA-C95F-9045755BCBC2}"/>
              </a:ext>
            </a:extLst>
          </p:cNvPr>
          <p:cNvCxnSpPr>
            <a:cxnSpLocks/>
          </p:cNvCxnSpPr>
          <p:nvPr/>
        </p:nvCxnSpPr>
        <p:spPr>
          <a:xfrm>
            <a:off x="3509065" y="2521047"/>
            <a:ext cx="702895" cy="10519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F2321193-9FCC-0E34-B6AC-FD66E0484C78}"/>
              </a:ext>
            </a:extLst>
          </p:cNvPr>
          <p:cNvCxnSpPr>
            <a:cxnSpLocks/>
          </p:cNvCxnSpPr>
          <p:nvPr/>
        </p:nvCxnSpPr>
        <p:spPr>
          <a:xfrm>
            <a:off x="4148634" y="2521047"/>
            <a:ext cx="495374" cy="10030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FA94AE4E-CD96-58F8-8FBF-05F122332343}"/>
              </a:ext>
            </a:extLst>
          </p:cNvPr>
          <p:cNvCxnSpPr>
            <a:cxnSpLocks/>
          </p:cNvCxnSpPr>
          <p:nvPr/>
        </p:nvCxnSpPr>
        <p:spPr>
          <a:xfrm flipH="1">
            <a:off x="5242161" y="2459788"/>
            <a:ext cx="1156469" cy="10887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71861E19-D365-258E-7C9E-D3085F92A7BA}"/>
              </a:ext>
            </a:extLst>
          </p:cNvPr>
          <p:cNvCxnSpPr>
            <a:cxnSpLocks/>
          </p:cNvCxnSpPr>
          <p:nvPr/>
        </p:nvCxnSpPr>
        <p:spPr>
          <a:xfrm flipH="1">
            <a:off x="5076056" y="2477689"/>
            <a:ext cx="258573" cy="104591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794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E9840-C749-76AD-AA25-B7247C58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D7F0FD-EA48-2C02-E3E5-5907CE69E66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E524EC2-2F15-4F8A-3C17-E6E5E0110A0B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CA903361-09D2-1802-B4EB-279F71B32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9ADF30BD-AAA0-7541-E3BB-8163523B136A}"/>
              </a:ext>
            </a:extLst>
          </p:cNvPr>
          <p:cNvSpPr/>
          <p:nvPr/>
        </p:nvSpPr>
        <p:spPr>
          <a:xfrm>
            <a:off x="2843808" y="2132856"/>
            <a:ext cx="5400600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50420044-1C46-6381-BBAC-FECE0891B176}"/>
              </a:ext>
            </a:extLst>
          </p:cNvPr>
          <p:cNvSpPr/>
          <p:nvPr/>
        </p:nvSpPr>
        <p:spPr>
          <a:xfrm>
            <a:off x="3995936" y="3429000"/>
            <a:ext cx="3456384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809E0579-E5D1-1DC8-591D-C6C8AFF6A993}"/>
              </a:ext>
            </a:extLst>
          </p:cNvPr>
          <p:cNvCxnSpPr>
            <a:cxnSpLocks/>
          </p:cNvCxnSpPr>
          <p:nvPr/>
        </p:nvCxnSpPr>
        <p:spPr>
          <a:xfrm>
            <a:off x="3509065" y="2521047"/>
            <a:ext cx="702895" cy="10519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8C7924FA-CF08-780B-DAC9-04D7A080A572}"/>
              </a:ext>
            </a:extLst>
          </p:cNvPr>
          <p:cNvCxnSpPr>
            <a:cxnSpLocks/>
          </p:cNvCxnSpPr>
          <p:nvPr/>
        </p:nvCxnSpPr>
        <p:spPr>
          <a:xfrm>
            <a:off x="4148634" y="2521047"/>
            <a:ext cx="495374" cy="10030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177EC499-F7AA-AF78-B270-EC14E967EE2D}"/>
              </a:ext>
            </a:extLst>
          </p:cNvPr>
          <p:cNvCxnSpPr>
            <a:cxnSpLocks/>
          </p:cNvCxnSpPr>
          <p:nvPr/>
        </p:nvCxnSpPr>
        <p:spPr>
          <a:xfrm flipH="1">
            <a:off x="5242161" y="2459788"/>
            <a:ext cx="1156469" cy="10887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22B4EC9A-37CB-D13F-7EAC-F398BF16C620}"/>
              </a:ext>
            </a:extLst>
          </p:cNvPr>
          <p:cNvCxnSpPr>
            <a:cxnSpLocks/>
          </p:cNvCxnSpPr>
          <p:nvPr/>
        </p:nvCxnSpPr>
        <p:spPr>
          <a:xfrm flipH="1">
            <a:off x="5674209" y="2471133"/>
            <a:ext cx="1322574" cy="10529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8882B2F1-F0FC-40B3-9500-9849B245D641}"/>
              </a:ext>
            </a:extLst>
          </p:cNvPr>
          <p:cNvCxnSpPr>
            <a:cxnSpLocks/>
          </p:cNvCxnSpPr>
          <p:nvPr/>
        </p:nvCxnSpPr>
        <p:spPr>
          <a:xfrm flipH="1">
            <a:off x="5076056" y="2477689"/>
            <a:ext cx="258573" cy="104591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686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2DCBE-D5DD-B3EE-7484-5A55B14F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95C495-8484-C47B-DE8B-51C51C6AC1C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F250D9A-6F26-B73C-5396-3ED235D06461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EB9F9CAD-E865-6AB7-8876-780079A96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655657B0-3052-818F-FB8C-6C6FD8A6C1FF}"/>
              </a:ext>
            </a:extLst>
          </p:cNvPr>
          <p:cNvSpPr/>
          <p:nvPr/>
        </p:nvSpPr>
        <p:spPr>
          <a:xfrm>
            <a:off x="2843808" y="2132856"/>
            <a:ext cx="5400600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D53B1C30-B09B-12F7-E632-472A9F5C41CE}"/>
              </a:ext>
            </a:extLst>
          </p:cNvPr>
          <p:cNvSpPr/>
          <p:nvPr/>
        </p:nvSpPr>
        <p:spPr>
          <a:xfrm>
            <a:off x="3995936" y="3429000"/>
            <a:ext cx="3456384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7B0C02C7-8F01-F765-2619-A2FDC0D5684E}"/>
              </a:ext>
            </a:extLst>
          </p:cNvPr>
          <p:cNvCxnSpPr>
            <a:cxnSpLocks/>
          </p:cNvCxnSpPr>
          <p:nvPr/>
        </p:nvCxnSpPr>
        <p:spPr>
          <a:xfrm>
            <a:off x="3509065" y="2521047"/>
            <a:ext cx="702895" cy="10519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7B641EA4-6F7B-0069-7D30-1B4E6E192E2C}"/>
              </a:ext>
            </a:extLst>
          </p:cNvPr>
          <p:cNvCxnSpPr>
            <a:cxnSpLocks/>
          </p:cNvCxnSpPr>
          <p:nvPr/>
        </p:nvCxnSpPr>
        <p:spPr>
          <a:xfrm>
            <a:off x="4148634" y="2521047"/>
            <a:ext cx="495374" cy="10030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9872C0EE-F3C1-6F21-304F-670E45E1A695}"/>
              </a:ext>
            </a:extLst>
          </p:cNvPr>
          <p:cNvCxnSpPr>
            <a:cxnSpLocks/>
          </p:cNvCxnSpPr>
          <p:nvPr/>
        </p:nvCxnSpPr>
        <p:spPr>
          <a:xfrm flipH="1">
            <a:off x="5242161" y="2459788"/>
            <a:ext cx="1156469" cy="10887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8A43B33F-7ECB-272D-4ABD-C96C513692FE}"/>
              </a:ext>
            </a:extLst>
          </p:cNvPr>
          <p:cNvCxnSpPr>
            <a:cxnSpLocks/>
          </p:cNvCxnSpPr>
          <p:nvPr/>
        </p:nvCxnSpPr>
        <p:spPr>
          <a:xfrm flipH="1">
            <a:off x="5674209" y="2471133"/>
            <a:ext cx="1322574" cy="10529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4257EDCD-0519-734B-6088-6130BB55DD7A}"/>
              </a:ext>
            </a:extLst>
          </p:cNvPr>
          <p:cNvCxnSpPr>
            <a:cxnSpLocks/>
          </p:cNvCxnSpPr>
          <p:nvPr/>
        </p:nvCxnSpPr>
        <p:spPr>
          <a:xfrm flipH="1">
            <a:off x="5076056" y="2477689"/>
            <a:ext cx="258573" cy="104591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DBC77CE3-E0AB-573A-ABD1-B2916ADC6C7F}"/>
              </a:ext>
            </a:extLst>
          </p:cNvPr>
          <p:cNvCxnSpPr>
            <a:cxnSpLocks/>
          </p:cNvCxnSpPr>
          <p:nvPr/>
        </p:nvCxnSpPr>
        <p:spPr>
          <a:xfrm flipH="1">
            <a:off x="6497112" y="2459788"/>
            <a:ext cx="1410167" cy="108876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859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78F31-2B6E-FBCE-31BE-5038050A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EB2DC1-7BEB-77AD-4F6D-86324B85B76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3631B25-00ED-3B77-134C-2B6F418BE2E6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552F5925-ABCF-355F-872D-22E7B88BC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C4595F9C-BA6B-8CA4-A51A-9DBD6853D650}"/>
              </a:ext>
            </a:extLst>
          </p:cNvPr>
          <p:cNvSpPr/>
          <p:nvPr/>
        </p:nvSpPr>
        <p:spPr>
          <a:xfrm>
            <a:off x="2843808" y="2132856"/>
            <a:ext cx="5400600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D5844BF-988A-AA24-7638-5B06A580A339}"/>
              </a:ext>
            </a:extLst>
          </p:cNvPr>
          <p:cNvSpPr/>
          <p:nvPr/>
        </p:nvSpPr>
        <p:spPr>
          <a:xfrm>
            <a:off x="3995936" y="3429000"/>
            <a:ext cx="3456384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3196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2DF0-DAF0-D4CC-EF24-EC372CC8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97DF25-53CD-DA52-8360-AA6FEC58F6D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828E2D6-E3DD-F358-7C76-F43316B8A8C5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</a:t>
            </a:r>
            <a:r>
              <a:rPr lang="pl-PL" sz="1600" b="1" dirty="0"/>
              <a:t>ostatnim parametrem funkcji</a:t>
            </a:r>
            <a:r>
              <a:rPr lang="pl-PL" sz="1600" dirty="0"/>
              <a:t>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3FA6EAB-3618-1DE6-7BF2-881C40B17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662B6EE4-BF54-39E4-CAE3-E8B1B31E1FB5}"/>
              </a:ext>
            </a:extLst>
          </p:cNvPr>
          <p:cNvSpPr/>
          <p:nvPr/>
        </p:nvSpPr>
        <p:spPr>
          <a:xfrm>
            <a:off x="2843808" y="2132856"/>
            <a:ext cx="5400600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369A9358-CBB8-1011-C517-B79D2D4C43E0}"/>
              </a:ext>
            </a:extLst>
          </p:cNvPr>
          <p:cNvSpPr/>
          <p:nvPr/>
        </p:nvSpPr>
        <p:spPr>
          <a:xfrm>
            <a:off x="3995936" y="3429000"/>
            <a:ext cx="3456384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D1346B0B-8D6A-4098-4EE2-2EC65C1BE6AF}"/>
              </a:ext>
            </a:extLst>
          </p:cNvPr>
          <p:cNvSpPr/>
          <p:nvPr/>
        </p:nvSpPr>
        <p:spPr>
          <a:xfrm>
            <a:off x="3959932" y="4738045"/>
            <a:ext cx="3168352" cy="4054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4517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90FDF-D6F3-3146-F135-FAF29559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F953E9-E499-938D-AFA1-9D67FF0C331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DD9BFC2-5386-6CBB-C4F1-B3189488D190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C769CA8E-EA5F-6969-60CE-43FBB7CA9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11" name="Owal 10">
            <a:extLst>
              <a:ext uri="{FF2B5EF4-FFF2-40B4-BE49-F238E27FC236}">
                <a16:creationId xmlns:a16="http://schemas.microsoft.com/office/drawing/2014/main" id="{7ABE78F2-FDF7-B2DC-687F-63FDF48B7885}"/>
              </a:ext>
            </a:extLst>
          </p:cNvPr>
          <p:cNvSpPr/>
          <p:nvPr/>
        </p:nvSpPr>
        <p:spPr>
          <a:xfrm>
            <a:off x="2843808" y="2167292"/>
            <a:ext cx="972108" cy="376101"/>
          </a:xfrm>
          <a:prstGeom prst="ellipse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B8F2DD85-44AE-03A9-F7BD-4D028F573C47}"/>
              </a:ext>
            </a:extLst>
          </p:cNvPr>
          <p:cNvCxnSpPr>
            <a:cxnSpLocks/>
            <a:stCxn id="11" idx="4"/>
            <a:endCxn id="6" idx="0"/>
          </p:cNvCxnSpPr>
          <p:nvPr/>
        </p:nvCxnSpPr>
        <p:spPr>
          <a:xfrm>
            <a:off x="3329862" y="2543393"/>
            <a:ext cx="953786" cy="9497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wal 4">
            <a:extLst>
              <a:ext uri="{FF2B5EF4-FFF2-40B4-BE49-F238E27FC236}">
                <a16:creationId xmlns:a16="http://schemas.microsoft.com/office/drawing/2014/main" id="{291B0ADA-97AF-6B97-D46F-E858397DF720}"/>
              </a:ext>
            </a:extLst>
          </p:cNvPr>
          <p:cNvSpPr/>
          <p:nvPr/>
        </p:nvSpPr>
        <p:spPr>
          <a:xfrm>
            <a:off x="3937017" y="4803403"/>
            <a:ext cx="673620" cy="376101"/>
          </a:xfrm>
          <a:prstGeom prst="ellipse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Owal 5">
            <a:extLst>
              <a:ext uri="{FF2B5EF4-FFF2-40B4-BE49-F238E27FC236}">
                <a16:creationId xmlns:a16="http://schemas.microsoft.com/office/drawing/2014/main" id="{8AC4AF87-4433-E05B-DE85-CFB7D9E917DA}"/>
              </a:ext>
            </a:extLst>
          </p:cNvPr>
          <p:cNvSpPr/>
          <p:nvPr/>
        </p:nvSpPr>
        <p:spPr>
          <a:xfrm>
            <a:off x="3946838" y="3493179"/>
            <a:ext cx="673620" cy="376101"/>
          </a:xfrm>
          <a:prstGeom prst="ellipse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9AD7D370-F490-EB9A-B7CB-20D8C2725773}"/>
              </a:ext>
            </a:extLst>
          </p:cNvPr>
          <p:cNvCxnSpPr>
            <a:cxnSpLocks/>
            <a:stCxn id="11" idx="4"/>
            <a:endCxn id="5" idx="0"/>
          </p:cNvCxnSpPr>
          <p:nvPr/>
        </p:nvCxnSpPr>
        <p:spPr>
          <a:xfrm>
            <a:off x="3329862" y="2543393"/>
            <a:ext cx="943965" cy="226001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60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613CC-575F-DFE0-D92D-E00DE223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3ABAB4-C679-3D95-4A21-EA6FD52F640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63B8B95-9234-8D2A-AC26-808A5806DC10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40948965-CB48-E349-0308-FFF37E224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11" name="Owal 10">
            <a:extLst>
              <a:ext uri="{FF2B5EF4-FFF2-40B4-BE49-F238E27FC236}">
                <a16:creationId xmlns:a16="http://schemas.microsoft.com/office/drawing/2014/main" id="{22922E0E-724D-E73D-AEA9-5E53AA2CC22E}"/>
              </a:ext>
            </a:extLst>
          </p:cNvPr>
          <p:cNvSpPr/>
          <p:nvPr/>
        </p:nvSpPr>
        <p:spPr>
          <a:xfrm>
            <a:off x="3787773" y="2182955"/>
            <a:ext cx="972108" cy="376101"/>
          </a:xfrm>
          <a:prstGeom prst="ellipse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CCCE80F5-488A-3F82-D6A2-7E7F2F769E28}"/>
              </a:ext>
            </a:extLst>
          </p:cNvPr>
          <p:cNvCxnSpPr>
            <a:cxnSpLocks/>
            <a:stCxn id="11" idx="4"/>
            <a:endCxn id="6" idx="0"/>
          </p:cNvCxnSpPr>
          <p:nvPr/>
        </p:nvCxnSpPr>
        <p:spPr>
          <a:xfrm>
            <a:off x="4273827" y="2559056"/>
            <a:ext cx="377654" cy="9341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wal 4">
            <a:extLst>
              <a:ext uri="{FF2B5EF4-FFF2-40B4-BE49-F238E27FC236}">
                <a16:creationId xmlns:a16="http://schemas.microsoft.com/office/drawing/2014/main" id="{01F39073-99D5-DEAD-501E-0999B0209490}"/>
              </a:ext>
            </a:extLst>
          </p:cNvPr>
          <p:cNvSpPr/>
          <p:nvPr/>
        </p:nvSpPr>
        <p:spPr>
          <a:xfrm>
            <a:off x="4319936" y="4799487"/>
            <a:ext cx="673620" cy="376101"/>
          </a:xfrm>
          <a:prstGeom prst="ellipse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Owal 5">
            <a:extLst>
              <a:ext uri="{FF2B5EF4-FFF2-40B4-BE49-F238E27FC236}">
                <a16:creationId xmlns:a16="http://schemas.microsoft.com/office/drawing/2014/main" id="{E3894599-5CA0-4FD4-D3D9-80F8617612EC}"/>
              </a:ext>
            </a:extLst>
          </p:cNvPr>
          <p:cNvSpPr/>
          <p:nvPr/>
        </p:nvSpPr>
        <p:spPr>
          <a:xfrm>
            <a:off x="4314671" y="3493178"/>
            <a:ext cx="673620" cy="376101"/>
          </a:xfrm>
          <a:prstGeom prst="ellipse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AED3C6F5-F9DC-C710-AE9F-B191E828C3C5}"/>
              </a:ext>
            </a:extLst>
          </p:cNvPr>
          <p:cNvCxnSpPr>
            <a:cxnSpLocks/>
            <a:stCxn id="11" idx="4"/>
            <a:endCxn id="5" idx="0"/>
          </p:cNvCxnSpPr>
          <p:nvPr/>
        </p:nvCxnSpPr>
        <p:spPr>
          <a:xfrm>
            <a:off x="4273827" y="2559056"/>
            <a:ext cx="382919" cy="224043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4583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1263E-3AAD-07FE-ABEE-392D30DF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AD7E96-EA41-7D67-AA45-E63E9FB341E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8F67516-13F4-C63A-363F-0DD1B34ED720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BE5F41D5-CD39-EF6E-461E-0E09313E5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  <p:sp>
        <p:nvSpPr>
          <p:cNvPr id="11" name="Owal 10">
            <a:extLst>
              <a:ext uri="{FF2B5EF4-FFF2-40B4-BE49-F238E27FC236}">
                <a16:creationId xmlns:a16="http://schemas.microsoft.com/office/drawing/2014/main" id="{B352B42A-3D83-0205-E527-7BEEAACFCF75}"/>
              </a:ext>
            </a:extLst>
          </p:cNvPr>
          <p:cNvSpPr/>
          <p:nvPr/>
        </p:nvSpPr>
        <p:spPr>
          <a:xfrm>
            <a:off x="4716016" y="2189469"/>
            <a:ext cx="4320480" cy="376101"/>
          </a:xfrm>
          <a:prstGeom prst="ellipse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1461424A-FE47-DB94-F9B6-5C10FF8DC8A2}"/>
              </a:ext>
            </a:extLst>
          </p:cNvPr>
          <p:cNvCxnSpPr>
            <a:cxnSpLocks/>
            <a:stCxn id="11" idx="4"/>
            <a:endCxn id="6" idx="0"/>
          </p:cNvCxnSpPr>
          <p:nvPr/>
        </p:nvCxnSpPr>
        <p:spPr>
          <a:xfrm flipH="1">
            <a:off x="5958153" y="2565570"/>
            <a:ext cx="918103" cy="92760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wal 4">
            <a:extLst>
              <a:ext uri="{FF2B5EF4-FFF2-40B4-BE49-F238E27FC236}">
                <a16:creationId xmlns:a16="http://schemas.microsoft.com/office/drawing/2014/main" id="{BF8F6259-8E5C-B67F-FBC7-76DCAF3308BA}"/>
              </a:ext>
            </a:extLst>
          </p:cNvPr>
          <p:cNvSpPr/>
          <p:nvPr/>
        </p:nvSpPr>
        <p:spPr>
          <a:xfrm>
            <a:off x="4899026" y="4796887"/>
            <a:ext cx="2193253" cy="376101"/>
          </a:xfrm>
          <a:prstGeom prst="ellipse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Owal 5">
            <a:extLst>
              <a:ext uri="{FF2B5EF4-FFF2-40B4-BE49-F238E27FC236}">
                <a16:creationId xmlns:a16="http://schemas.microsoft.com/office/drawing/2014/main" id="{C8DCC6AF-CC98-C04B-6602-D6E9B4B4D7B5}"/>
              </a:ext>
            </a:extLst>
          </p:cNvPr>
          <p:cNvSpPr/>
          <p:nvPr/>
        </p:nvSpPr>
        <p:spPr>
          <a:xfrm>
            <a:off x="4896034" y="3493178"/>
            <a:ext cx="2124237" cy="376101"/>
          </a:xfrm>
          <a:prstGeom prst="ellipse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83F1573B-5002-3D29-4941-D47792E9F09D}"/>
              </a:ext>
            </a:extLst>
          </p:cNvPr>
          <p:cNvCxnSpPr>
            <a:cxnSpLocks/>
            <a:stCxn id="11" idx="4"/>
            <a:endCxn id="5" idx="0"/>
          </p:cNvCxnSpPr>
          <p:nvPr/>
        </p:nvCxnSpPr>
        <p:spPr>
          <a:xfrm flipH="1">
            <a:off x="5995653" y="2565570"/>
            <a:ext cx="880603" cy="223131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302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6354F-B8E4-2486-955B-DD80B183C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9969F5-2DE1-30A0-3215-5D591D22E65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4A0C1DA-F075-F707-58C1-FE9AA5E2A5F1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0332BC06-A710-DACA-7835-49EA211B3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8167"/>
            <a:ext cx="9144000" cy="490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0470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BE345-A3C0-53F8-4BCB-AC376797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70F88-4235-6911-F43C-B4741ED4FFD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B6F4CFE-DD1B-FE98-7D1B-14A855BAFBE7}"/>
              </a:ext>
            </a:extLst>
          </p:cNvPr>
          <p:cNvSpPr txBox="1"/>
          <p:nvPr/>
        </p:nvSpPr>
        <p:spPr>
          <a:xfrm>
            <a:off x="971600" y="764704"/>
            <a:ext cx="7848871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jest ostatnim parametrem funkcji, można ją zapisać </a:t>
            </a:r>
            <a:r>
              <a:rPr lang="pl-PL" sz="1600" b="1" dirty="0"/>
              <a:t>poza nawiasami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BDC6E9D-959A-D5FF-76F3-1402C023F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725" y="1844824"/>
            <a:ext cx="5924550" cy="2524125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F3FF53F9-5EA0-5F52-A7EA-99A093A70FE6}"/>
              </a:ext>
            </a:extLst>
          </p:cNvPr>
          <p:cNvCxnSpPr>
            <a:cxnSpLocks/>
          </p:cNvCxnSpPr>
          <p:nvPr/>
        </p:nvCxnSpPr>
        <p:spPr>
          <a:xfrm flipH="1">
            <a:off x="6732240" y="1189066"/>
            <a:ext cx="936104" cy="17352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4912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54803-2879-0181-8B3D-3DC1453F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35D4F1-9A8B-4B74-F431-10713EC9E3F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C184BEE-45CD-CEAB-4523-31B178E69FF1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Przy pracy z funkcjami wyższego rzędu, często wykorzystuje się </a:t>
            </a:r>
            <a:r>
              <a:rPr lang="pl-PL" sz="1600" b="1" dirty="0"/>
              <a:t>parametry nazwane.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E178A54-BBDA-A054-71ED-261CA20B2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044" y="1694063"/>
            <a:ext cx="5469723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82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700BC-1B69-72FD-56F6-348CA1B7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E31F61-9252-774F-4F13-BB711ABB684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Lambda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2AD57A4-4904-4A53-3222-AAFED2FCA7B6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Jeśli lambda bezpośrednio mapuje dane wejściowe na wyjście, można użyć </a:t>
            </a:r>
            <a:r>
              <a:rPr lang="pl-PL" sz="1600" b="1" dirty="0"/>
              <a:t>operatora ::</a:t>
            </a:r>
            <a:endParaRPr lang="pl-PL" sz="1600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27A7513-A5C1-BE4A-D9DD-B7E76CEEC5E6}"/>
              </a:ext>
            </a:extLst>
          </p:cNvPr>
          <p:cNvSpPr txBox="1"/>
          <p:nvPr/>
        </p:nvSpPr>
        <p:spPr>
          <a:xfrm>
            <a:off x="1008110" y="5589240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b="1" dirty="0"/>
              <a:t>Operator</a:t>
            </a:r>
            <a:r>
              <a:rPr lang="pl-PL" sz="1600" dirty="0"/>
              <a:t> </a:t>
            </a:r>
            <a:r>
              <a:rPr lang="pl-PL" sz="1600" b="1" dirty="0"/>
              <a:t>::</a:t>
            </a:r>
            <a:r>
              <a:rPr lang="pl-PL" sz="1600" dirty="0"/>
              <a:t> w Kotlinie jest referencją do funkcji lub właściwości. Używany jest do przekazywania funkcji lub właściwości jako argumentu lub do uzyskiwania referencji do nich.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9D7513D-2D13-82DC-F02E-28771A038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2324100"/>
            <a:ext cx="59436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31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99595-4EFE-1E5B-25CC-32AFB07FD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45D53D-14BA-021A-5C49-A24B7C6912F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generyczne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A2299EA-A3FD-AFA1-AFC7-795801EAFB66}"/>
              </a:ext>
            </a:extLst>
          </p:cNvPr>
          <p:cNvSpPr txBox="1"/>
          <p:nvPr/>
        </p:nvSpPr>
        <p:spPr>
          <a:xfrm>
            <a:off x="1187624" y="908720"/>
            <a:ext cx="7848871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Funkcje generyczne </a:t>
            </a:r>
            <a:r>
              <a:rPr lang="pl-PL" sz="1600" dirty="0"/>
              <a:t>to takie, które przyjmują </a:t>
            </a:r>
            <a:r>
              <a:rPr lang="pl-PL" sz="1600" b="1" dirty="0"/>
              <a:t>parametry typowane</a:t>
            </a:r>
            <a:r>
              <a:rPr lang="pl-PL" sz="1600" dirty="0"/>
              <a:t>. Pozwalają one definiować funkcję, która będzie działać dla różnych typów danych bez konieczności tworzenia osobnych wersji dla każdego typu.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429DA6B7-1B76-E0D8-0AB1-CC2EA7A39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2158133"/>
            <a:ext cx="3960440" cy="1093752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824E56C-57F8-3824-6D7F-E93D651BBAA6}"/>
              </a:ext>
            </a:extLst>
          </p:cNvPr>
          <p:cNvSpPr txBox="1"/>
          <p:nvPr/>
        </p:nvSpPr>
        <p:spPr>
          <a:xfrm>
            <a:off x="1168824" y="5733256"/>
            <a:ext cx="7776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b="1" dirty="0"/>
              <a:t>&lt;T&gt;</a:t>
            </a:r>
            <a:r>
              <a:rPr lang="pl-PL" sz="1600" dirty="0"/>
              <a:t> – oznacza </a:t>
            </a:r>
            <a:r>
              <a:rPr lang="pl-PL" sz="1600" b="1" dirty="0"/>
              <a:t>parametr typu </a:t>
            </a:r>
            <a:r>
              <a:rPr lang="pl-PL" sz="1600" dirty="0"/>
              <a:t>(nazwa jest dowolna, ale często używa się </a:t>
            </a:r>
            <a:r>
              <a:rPr lang="pl-PL" sz="1600" b="1" dirty="0"/>
              <a:t>T, E, K, V, A</a:t>
            </a:r>
            <a:r>
              <a:rPr lang="pl-PL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b="1" dirty="0"/>
              <a:t>T</a:t>
            </a:r>
            <a:r>
              <a:rPr lang="pl-PL" sz="1600" dirty="0"/>
              <a:t> może być dowolnym typem, takim jak </a:t>
            </a:r>
            <a:r>
              <a:rPr lang="pl-PL" sz="1600" b="1" dirty="0" err="1"/>
              <a:t>Int</a:t>
            </a:r>
            <a:r>
              <a:rPr lang="pl-PL" sz="1600" dirty="0"/>
              <a:t>, </a:t>
            </a:r>
            <a:r>
              <a:rPr lang="pl-PL" sz="1600" b="1" dirty="0"/>
              <a:t>String</a:t>
            </a:r>
            <a:r>
              <a:rPr lang="pl-PL" sz="1600" dirty="0"/>
              <a:t>, czy niestandardowe klasy.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CE31F02-01D8-0FCC-9040-1C7BDEDAA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743" y="5085184"/>
            <a:ext cx="4418632" cy="378200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30A9AE85-4ECE-E447-6809-7A4536848680}"/>
              </a:ext>
            </a:extLst>
          </p:cNvPr>
          <p:cNvCxnSpPr>
            <a:cxnSpLocks/>
          </p:cNvCxnSpPr>
          <p:nvPr/>
        </p:nvCxnSpPr>
        <p:spPr>
          <a:xfrm>
            <a:off x="2587426" y="4815312"/>
            <a:ext cx="373811" cy="3686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DF41BEB-4065-FB42-F275-DD42A1A084BE}"/>
              </a:ext>
            </a:extLst>
          </p:cNvPr>
          <p:cNvSpPr txBox="1"/>
          <p:nvPr/>
        </p:nvSpPr>
        <p:spPr>
          <a:xfrm>
            <a:off x="1865870" y="4157450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1231E810-B6BB-E944-A6E0-74F5DEE1EFA1}"/>
              </a:ext>
            </a:extLst>
          </p:cNvPr>
          <p:cNvCxnSpPr>
            <a:cxnSpLocks/>
          </p:cNvCxnSpPr>
          <p:nvPr/>
        </p:nvCxnSpPr>
        <p:spPr>
          <a:xfrm>
            <a:off x="3555919" y="4629108"/>
            <a:ext cx="71576" cy="5058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4CC35FB-5A69-D904-5D78-FB8368321D61}"/>
              </a:ext>
            </a:extLst>
          </p:cNvPr>
          <p:cNvSpPr txBox="1"/>
          <p:nvPr/>
        </p:nvSpPr>
        <p:spPr>
          <a:xfrm>
            <a:off x="2900789" y="3835082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typowany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2650F2B3-47C9-0118-9907-8672E900C5F8}"/>
              </a:ext>
            </a:extLst>
          </p:cNvPr>
          <p:cNvCxnSpPr>
            <a:cxnSpLocks/>
          </p:cNvCxnSpPr>
          <p:nvPr/>
        </p:nvCxnSpPr>
        <p:spPr>
          <a:xfrm flipH="1">
            <a:off x="4547262" y="4642698"/>
            <a:ext cx="49476" cy="47870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E8D4CB4-D58B-39B0-A519-263ACE8B4CC1}"/>
              </a:ext>
            </a:extLst>
          </p:cNvPr>
          <p:cNvSpPr txBox="1"/>
          <p:nvPr/>
        </p:nvSpPr>
        <p:spPr>
          <a:xfrm>
            <a:off x="4256308" y="3873878"/>
            <a:ext cx="928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funkcji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C4E51688-00FA-C9E7-5235-AADD7BB47117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5424370" y="4152802"/>
            <a:ext cx="417313" cy="96090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10E637F4-6F27-491D-BC55-4728A30A9A90}"/>
              </a:ext>
            </a:extLst>
          </p:cNvPr>
          <p:cNvSpPr txBox="1"/>
          <p:nvPr/>
        </p:nvSpPr>
        <p:spPr>
          <a:xfrm>
            <a:off x="5185093" y="3506471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CCCE2AEB-946C-43D8-BA0D-2910A1EA2279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399938" y="4140025"/>
            <a:ext cx="921437" cy="96953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AA33D11F-C0B5-8403-1479-F7823B6EA0B3}"/>
              </a:ext>
            </a:extLst>
          </p:cNvPr>
          <p:cNvSpPr txBox="1"/>
          <p:nvPr/>
        </p:nvSpPr>
        <p:spPr>
          <a:xfrm>
            <a:off x="6664785" y="3493694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</p:spTree>
    <p:extLst>
      <p:ext uri="{BB962C8B-B14F-4D97-AF65-F5344CB8AC3E}">
        <p14:creationId xmlns:p14="http://schemas.microsoft.com/office/powerpoint/2010/main" val="3381896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12980-1DCA-BC16-0D51-AB121A080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B9DFBF-319A-D551-953F-82551B3C82E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generyczne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1B60A55-4600-2488-A577-78E8A8D7D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836712"/>
            <a:ext cx="540067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222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501EDC-62F1-91DC-12ED-0DFE5025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C23203-72FC-74CC-FB4F-E04AC2EC405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generyczne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A020E37-DC8F-C466-E1E3-89A21C9F9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1772816"/>
            <a:ext cx="4143375" cy="3600450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E9D185FB-708E-DA21-FB5B-D939956D982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5004048" y="2779187"/>
            <a:ext cx="2744822" cy="64981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4AED7F4-079E-2695-EC18-3CAA683B3A77}"/>
              </a:ext>
            </a:extLst>
          </p:cNvPr>
          <p:cNvSpPr txBox="1"/>
          <p:nvPr/>
        </p:nvSpPr>
        <p:spPr>
          <a:xfrm>
            <a:off x="7092280" y="2132856"/>
            <a:ext cx="1313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typowany</a:t>
            </a:r>
          </a:p>
        </p:txBody>
      </p:sp>
    </p:spTree>
    <p:extLst>
      <p:ext uri="{BB962C8B-B14F-4D97-AF65-F5344CB8AC3E}">
        <p14:creationId xmlns:p14="http://schemas.microsoft.com/office/powerpoint/2010/main" val="37154938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176CE-71BD-D186-D416-0AB6BCE20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07952A-9409-23A4-90E7-0037113C55C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generyczne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D843A32-1EB4-73E0-0AB0-18276CCF6ABD}"/>
              </a:ext>
            </a:extLst>
          </p:cNvPr>
          <p:cNvSpPr txBox="1"/>
          <p:nvPr/>
        </p:nvSpPr>
        <p:spPr>
          <a:xfrm>
            <a:off x="1187624" y="908720"/>
            <a:ext cx="784887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Czasami </a:t>
            </a:r>
            <a:r>
              <a:rPr lang="pl-PL" sz="1600" dirty="0" err="1"/>
              <a:t>wymgamy</a:t>
            </a:r>
            <a:r>
              <a:rPr lang="pl-PL" sz="1600" dirty="0"/>
              <a:t>, aby </a:t>
            </a:r>
            <a:r>
              <a:rPr lang="pl-PL" sz="1600" b="1" dirty="0"/>
              <a:t>parametr generyczny </a:t>
            </a:r>
            <a:r>
              <a:rPr lang="pl-PL" sz="1600" dirty="0"/>
              <a:t>był </a:t>
            </a:r>
            <a:r>
              <a:rPr lang="pl-PL" sz="1600" b="1" dirty="0"/>
              <a:t>ograniczony</a:t>
            </a:r>
            <a:r>
              <a:rPr lang="pl-PL" sz="1600" dirty="0"/>
              <a:t> do określonego typu lub jego podtypów. Używamy do tego słowa kluczowego </a:t>
            </a:r>
            <a:r>
              <a:rPr lang="pl-PL" sz="1600" b="1" dirty="0" err="1"/>
              <a:t>where</a:t>
            </a:r>
            <a:r>
              <a:rPr lang="pl-PL" sz="1600" dirty="0"/>
              <a:t> lub </a:t>
            </a:r>
            <a:r>
              <a:rPr lang="pl-PL" sz="1600" b="1" dirty="0"/>
              <a:t>:</a:t>
            </a:r>
            <a:endParaRPr lang="pl-PL" sz="16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0FAFE85-3820-DAB1-F531-BE13C71DF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1744596"/>
            <a:ext cx="6572250" cy="350520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3CDCEF13-925F-113F-AB18-B7EB98037353}"/>
              </a:ext>
            </a:extLst>
          </p:cNvPr>
          <p:cNvSpPr txBox="1"/>
          <p:nvPr/>
        </p:nvSpPr>
        <p:spPr>
          <a:xfrm>
            <a:off x="1043608" y="5445224"/>
            <a:ext cx="810039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 Parametr generyczny </a:t>
            </a:r>
            <a:r>
              <a:rPr lang="pl-PL" sz="1600" b="1" dirty="0"/>
              <a:t>T</a:t>
            </a:r>
            <a:r>
              <a:rPr lang="pl-PL" sz="1600" dirty="0"/>
              <a:t> musi implementować interfejs </a:t>
            </a:r>
            <a:r>
              <a:rPr lang="pl-PL" sz="1600" b="1" dirty="0" err="1"/>
              <a:t>Comparable</a:t>
            </a:r>
            <a:r>
              <a:rPr lang="pl-PL" sz="1600" b="1" dirty="0"/>
              <a:t>&lt;T&gt;</a:t>
            </a:r>
            <a:r>
              <a:rPr lang="pl-PL" sz="1600" dirty="0"/>
              <a:t>, aby można było używać operatorów porównania.</a:t>
            </a:r>
          </a:p>
        </p:txBody>
      </p:sp>
    </p:spTree>
    <p:extLst>
      <p:ext uri="{BB962C8B-B14F-4D97-AF65-F5344CB8AC3E}">
        <p14:creationId xmlns:p14="http://schemas.microsoft.com/office/powerpoint/2010/main" val="3541849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5F01C-C0C9-233D-6A99-52F7C33DE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F63430-0021-710F-539E-AFCE4DE0E55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tailrec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3A3CA1B-6F99-51A2-D83C-56029DC093DB}"/>
              </a:ext>
            </a:extLst>
          </p:cNvPr>
          <p:cNvSpPr txBox="1"/>
          <p:nvPr/>
        </p:nvSpPr>
        <p:spPr>
          <a:xfrm>
            <a:off x="1079612" y="703829"/>
            <a:ext cx="8064388" cy="346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pl-PL" sz="1600" dirty="0"/>
              <a:t>Kotlin wspiera styl </a:t>
            </a:r>
            <a:r>
              <a:rPr lang="pl-PL" sz="1600" b="1" dirty="0"/>
              <a:t>programowania funkcyjnego</a:t>
            </a:r>
            <a:r>
              <a:rPr lang="pl-PL" sz="1600" dirty="0"/>
              <a:t>, znany jako </a:t>
            </a:r>
            <a:r>
              <a:rPr lang="pl-PL" sz="1600" b="1" dirty="0"/>
              <a:t>rekursja ogonowa</a:t>
            </a:r>
            <a:r>
              <a:rPr lang="pl-PL" sz="1600" dirty="0"/>
              <a:t>. Jest to technika pozwalająca na </a:t>
            </a:r>
            <a:r>
              <a:rPr lang="pl-PL" sz="1600" b="1" dirty="0"/>
              <a:t>implementację algorytmów rekurencyjnych</a:t>
            </a:r>
            <a:r>
              <a:rPr lang="pl-PL" sz="1600" dirty="0"/>
              <a:t>, eliminując ryzyko </a:t>
            </a:r>
            <a:r>
              <a:rPr lang="pl-PL" sz="1600" b="1" dirty="0"/>
              <a:t>przepełnienia stosu</a:t>
            </a:r>
            <a:r>
              <a:rPr lang="pl-PL" sz="1600" dirty="0"/>
              <a:t>. Dzięki modyfikatorowi </a:t>
            </a:r>
            <a:r>
              <a:rPr lang="pl-PL" sz="1600" b="1" dirty="0" err="1"/>
              <a:t>tailrec</a:t>
            </a:r>
            <a:r>
              <a:rPr lang="pl-PL" sz="1600" dirty="0"/>
              <a:t> Kotlin optymalizuje wywołania rekurencyjne, przekształcając je w pętle podczas kompilacji.</a:t>
            </a:r>
          </a:p>
          <a:p>
            <a:pPr algn="just">
              <a:lnSpc>
                <a:spcPct val="200000"/>
              </a:lnSpc>
            </a:pPr>
            <a:endParaRPr lang="pl-PL" sz="1600" dirty="0"/>
          </a:p>
          <a:p>
            <a:pPr algn="just">
              <a:lnSpc>
                <a:spcPct val="200000"/>
              </a:lnSpc>
            </a:pPr>
            <a:r>
              <a:rPr lang="pl-PL" sz="1600" dirty="0"/>
              <a:t>Wywołanie rekurencyjne musi być </a:t>
            </a:r>
            <a:r>
              <a:rPr lang="pl-PL" sz="1600" b="1" dirty="0"/>
              <a:t>ostatnią operacją w funkcji</a:t>
            </a:r>
            <a:r>
              <a:rPr lang="pl-PL" sz="1600" dirty="0"/>
              <a:t>. Oznacza to, że po rekurencji </a:t>
            </a:r>
            <a:r>
              <a:rPr lang="pl-PL" sz="1600" b="1" dirty="0"/>
              <a:t>nie może być żadnego dodatkowego kodu</a:t>
            </a:r>
            <a:r>
              <a:rPr lang="pl-PL" sz="1600" dirty="0"/>
              <a:t>, ani bloków </a:t>
            </a:r>
            <a:r>
              <a:rPr lang="pl-PL" sz="1600" b="1" dirty="0" err="1"/>
              <a:t>try</a:t>
            </a:r>
            <a:r>
              <a:rPr lang="pl-PL" sz="1600" b="1" dirty="0"/>
              <a:t>/</a:t>
            </a:r>
            <a:r>
              <a:rPr lang="pl-PL" sz="1600" b="1" dirty="0" err="1"/>
              <a:t>catch</a:t>
            </a:r>
            <a:r>
              <a:rPr lang="pl-PL" sz="1600" b="1" dirty="0"/>
              <a:t>/</a:t>
            </a:r>
            <a:r>
              <a:rPr lang="pl-PL" sz="1600" b="1" dirty="0" err="1"/>
              <a:t>finally</a:t>
            </a:r>
            <a:r>
              <a:rPr lang="pl-PL" sz="1600" dirty="0"/>
              <a:t>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BEAEC6A-F90B-A104-2D84-B4AFF7652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313" y="4365104"/>
            <a:ext cx="7956376" cy="237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907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8DC14-F773-B590-A067-E466B8324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A2D776-81A8-8789-295E-37755742803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tailrec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3C91C11-C39E-EE68-6816-BB37DE064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980728"/>
            <a:ext cx="6886575" cy="5534025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975DE14F-7407-074B-71D3-A99CD5727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8425" y="5301208"/>
            <a:ext cx="2808312" cy="127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771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CEF62-AABF-50B3-866F-98388779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EA854-5550-4775-FD51-AA0937C4C90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3B7FE6B-F753-DC60-88D3-1340BB85E4B8}"/>
              </a:ext>
            </a:extLst>
          </p:cNvPr>
          <p:cNvSpPr txBox="1"/>
          <p:nvPr/>
        </p:nvSpPr>
        <p:spPr>
          <a:xfrm>
            <a:off x="1007095" y="908720"/>
            <a:ext cx="813690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Funkcje </a:t>
            </a:r>
            <a:r>
              <a:rPr lang="pl-PL" sz="1600" b="1" dirty="0" err="1"/>
              <a:t>inline</a:t>
            </a:r>
            <a:r>
              <a:rPr lang="pl-PL" sz="1600" dirty="0"/>
              <a:t> to mechanizm, który pozwala na optymalizację kodu poprzez zastępowanie </a:t>
            </a:r>
            <a:r>
              <a:rPr lang="pl-PL" sz="1600" dirty="0" err="1"/>
              <a:t>wywołań</a:t>
            </a:r>
            <a:r>
              <a:rPr lang="pl-PL" sz="1600" dirty="0"/>
              <a:t> funkcji ich ciałem </a:t>
            </a:r>
            <a:r>
              <a:rPr lang="pl-PL" sz="1600" b="1" dirty="0"/>
              <a:t>bezpośrednio w miejscu wywołania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AAE9392-1AD9-94FE-8B52-2BB0463F7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681124"/>
            <a:ext cx="4308562" cy="3203624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FC42D210-BEF0-5914-DD6A-8C1FCA50E58A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50910" y="4884748"/>
            <a:ext cx="4351288" cy="181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983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798EE-D520-24D6-3BC0-D8FFB549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ACFA0B-7E99-DB84-647D-009A5C64E08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B8A99D8-90A6-E130-722E-ACE7D9A19C94}"/>
              </a:ext>
            </a:extLst>
          </p:cNvPr>
          <p:cNvSpPr txBox="1"/>
          <p:nvPr/>
        </p:nvSpPr>
        <p:spPr>
          <a:xfrm>
            <a:off x="1007095" y="908720"/>
            <a:ext cx="8136905" cy="662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/>
              <a:t>non-</a:t>
            </a:r>
            <a:r>
              <a:rPr lang="pl-PL" sz="1600" b="1" dirty="0" err="1"/>
              <a:t>local</a:t>
            </a:r>
            <a:r>
              <a:rPr lang="pl-PL" sz="1600" b="1" dirty="0"/>
              <a:t> return</a:t>
            </a: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Funkcje </a:t>
            </a:r>
            <a:r>
              <a:rPr lang="pl-PL" sz="1600" b="1" dirty="0" err="1"/>
              <a:t>inline</a:t>
            </a:r>
            <a:r>
              <a:rPr lang="pl-PL" sz="1600" dirty="0"/>
              <a:t> zezwalają na użycie wyrażenia </a:t>
            </a:r>
            <a:r>
              <a:rPr lang="pl-PL" sz="1600" b="1" dirty="0"/>
              <a:t>return</a:t>
            </a:r>
            <a:r>
              <a:rPr lang="pl-PL" sz="1600" dirty="0"/>
              <a:t> wewnątrz funkcji lambda.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6F9AF28-1D03-0A09-958C-73281220D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02" y="1556792"/>
            <a:ext cx="8042080" cy="528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455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8D7A5-7707-4E76-4FB7-737E9D51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F5E9A9-A61E-31B9-CC28-A852616219A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0716FDE-AC46-2138-FD0A-7DB330519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36712"/>
            <a:ext cx="7935094" cy="5928930"/>
          </a:xfrm>
          <a:prstGeom prst="rect">
            <a:avLst/>
          </a:prstGeom>
        </p:spPr>
      </p:pic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26C95C39-1DCD-7761-1334-EF7E9495561B}"/>
              </a:ext>
            </a:extLst>
          </p:cNvPr>
          <p:cNvSpPr/>
          <p:nvPr/>
        </p:nvSpPr>
        <p:spPr>
          <a:xfrm>
            <a:off x="2843808" y="3645024"/>
            <a:ext cx="4032448" cy="36004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26321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FE82A-EB88-BE94-32D5-1879E6AF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A111A-7E3A-08DA-1AB7-8C6B1E6BF91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5A41929-D7E7-B259-D504-E5C391B65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02" y="836712"/>
            <a:ext cx="8285798" cy="5412213"/>
          </a:xfrm>
          <a:prstGeom prst="rect">
            <a:avLst/>
          </a:prstGeom>
        </p:spPr>
      </p:pic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041A169B-BA27-5036-55FE-DFF1EF451252}"/>
              </a:ext>
            </a:extLst>
          </p:cNvPr>
          <p:cNvSpPr/>
          <p:nvPr/>
        </p:nvSpPr>
        <p:spPr>
          <a:xfrm>
            <a:off x="2555776" y="3573016"/>
            <a:ext cx="6336704" cy="36004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7532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90B96-1284-85FB-4491-8683C9306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C50F6D-F966-F873-BE80-54C0F54DCE6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98BF419-F8BC-DC78-1294-B5F89635E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02" y="836712"/>
            <a:ext cx="8285798" cy="5412213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50C85D15-200D-75AD-925A-2D5F00C39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5777" y="4278730"/>
            <a:ext cx="4210050" cy="2543175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3726409B-3CCF-5418-DC76-79FCA5BF258E}"/>
              </a:ext>
            </a:extLst>
          </p:cNvPr>
          <p:cNvSpPr/>
          <p:nvPr/>
        </p:nvSpPr>
        <p:spPr>
          <a:xfrm>
            <a:off x="2555776" y="3584492"/>
            <a:ext cx="6264696" cy="34856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B5A2C3A7-E8AC-6E2C-9B65-41C2E26B70F4}"/>
              </a:ext>
            </a:extLst>
          </p:cNvPr>
          <p:cNvSpPr/>
          <p:nvPr/>
        </p:nvSpPr>
        <p:spPr>
          <a:xfrm>
            <a:off x="4860032" y="4261301"/>
            <a:ext cx="4289152" cy="254317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62723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3DAAE-18CA-C8E5-3765-94AD04BF7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647365-261F-52E4-D781-82A2725A341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05DF784D-98B4-C3E1-49FB-B07F1095C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10" y="836712"/>
            <a:ext cx="8277438" cy="5385945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758E5199-89BC-157D-4646-9BB539DFCAD4}"/>
              </a:ext>
            </a:extLst>
          </p:cNvPr>
          <p:cNvSpPr/>
          <p:nvPr/>
        </p:nvSpPr>
        <p:spPr>
          <a:xfrm>
            <a:off x="1187624" y="1052736"/>
            <a:ext cx="936104" cy="36004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140911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B76D2-C89B-9A32-6DF0-1554A63B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9E11F-8CE5-2F9E-1CC5-2B99F8E8795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4D0F4E7-F1EE-5B4F-6B2F-1D3F87D8A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62" y="846043"/>
            <a:ext cx="8277438" cy="538594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A6FE7DCA-0FF5-67D2-52EC-CBE83357D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736" y="3295650"/>
            <a:ext cx="3943350" cy="26670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A925FB4C-6C70-1235-3056-70687DABD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25" y="3649806"/>
            <a:ext cx="3943350" cy="26670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34F25E2C-F62D-652C-3363-579E56F4D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3784" y="3279578"/>
            <a:ext cx="3680965" cy="518876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0DFE5F72-7FA5-70A2-D842-166081611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752" y="3976299"/>
            <a:ext cx="3943350" cy="26670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1754ED2A-392D-EA50-8C53-59EA4F97C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338" y="4242999"/>
            <a:ext cx="3943350" cy="266700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DA6F0CF0-678C-39CE-6E68-747E0A46F3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728" y="3802458"/>
            <a:ext cx="4214809" cy="262696"/>
          </a:xfrm>
          <a:prstGeom prst="rect">
            <a:avLst/>
          </a:prstGeom>
        </p:spPr>
      </p:pic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8A3C0B97-58EE-AA79-9A3B-3E99EA976305}"/>
              </a:ext>
            </a:extLst>
          </p:cNvPr>
          <p:cNvSpPr/>
          <p:nvPr/>
        </p:nvSpPr>
        <p:spPr>
          <a:xfrm>
            <a:off x="1619672" y="2996952"/>
            <a:ext cx="4824536" cy="1944216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59141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5050DF-3111-0A40-F3A5-D7C79509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71BF93-3267-F6AC-A6CD-5DB14E12E7A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B99BDF1-2487-B1D9-60B9-E91EF0E20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10" y="836712"/>
            <a:ext cx="8277438" cy="5385945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70F98D5A-03D7-DE0E-D612-3703585ED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50" y="5211663"/>
            <a:ext cx="4248150" cy="1619250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83F65139-0688-25C6-BFA8-7DC624A8690F}"/>
              </a:ext>
            </a:extLst>
          </p:cNvPr>
          <p:cNvSpPr/>
          <p:nvPr/>
        </p:nvSpPr>
        <p:spPr>
          <a:xfrm>
            <a:off x="4895850" y="5144942"/>
            <a:ext cx="4248150" cy="161924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184216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10479-7012-0BC3-0A3C-1DA513C6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B8DE65-8344-6C43-2FF5-C4E4C5401BA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AD972D9-0BA3-28FE-C68F-AFFA0A01B3D9}"/>
              </a:ext>
            </a:extLst>
          </p:cNvPr>
          <p:cNvSpPr txBox="1"/>
          <p:nvPr/>
        </p:nvSpPr>
        <p:spPr>
          <a:xfrm>
            <a:off x="2987824" y="814453"/>
            <a:ext cx="4435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/>
              <a:t>Funkcje lambda </a:t>
            </a:r>
            <a:r>
              <a:rPr lang="pl-PL" sz="1600" b="1" dirty="0"/>
              <a:t>nie mogą być zagnieżdżane.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84B57CD-C091-F130-A1AB-C36CFFF19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153007"/>
            <a:ext cx="7609366" cy="5465771"/>
          </a:xfrm>
          <a:prstGeom prst="rect">
            <a:avLst/>
          </a:prstGeom>
        </p:spPr>
      </p:pic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A22E3E41-8A71-9D19-FA41-C3909A611960}"/>
              </a:ext>
            </a:extLst>
          </p:cNvPr>
          <p:cNvSpPr/>
          <p:nvPr/>
        </p:nvSpPr>
        <p:spPr>
          <a:xfrm>
            <a:off x="1835696" y="1624931"/>
            <a:ext cx="4248472" cy="3177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45523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982BC-18C0-B497-C1E1-91078D85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AFFFF1-7F05-46A3-0E06-6378E6302D8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3B51893-B9F0-C858-DE5B-F865E64F551E}"/>
              </a:ext>
            </a:extLst>
          </p:cNvPr>
          <p:cNvSpPr txBox="1"/>
          <p:nvPr/>
        </p:nvSpPr>
        <p:spPr>
          <a:xfrm>
            <a:off x="2987824" y="814453"/>
            <a:ext cx="4435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/>
              <a:t>Funkcje lambda </a:t>
            </a:r>
            <a:r>
              <a:rPr lang="pl-PL" sz="1600" b="1" dirty="0"/>
              <a:t>nie mogą być zagnieżdżane.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58EE42C4-DD5A-C03D-9217-B6690BBC2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153007"/>
            <a:ext cx="7609366" cy="5465771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F7C1B88D-624F-68EC-3A61-7A89CD9F6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" y="6000750"/>
            <a:ext cx="9048750" cy="857250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9D2743D1-31A6-FE17-6431-63EEEB4FCF32}"/>
              </a:ext>
            </a:extLst>
          </p:cNvPr>
          <p:cNvSpPr/>
          <p:nvPr/>
        </p:nvSpPr>
        <p:spPr>
          <a:xfrm>
            <a:off x="47625" y="5993228"/>
            <a:ext cx="9089148" cy="8572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30832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28066-976C-C8A5-778C-53BC2DDCA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08A37D-3010-9B7C-F4EE-D932215CB4B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549E5A6-D784-59C3-0C62-4DD55F616940}"/>
              </a:ext>
            </a:extLst>
          </p:cNvPr>
          <p:cNvSpPr txBox="1"/>
          <p:nvPr/>
        </p:nvSpPr>
        <p:spPr>
          <a:xfrm>
            <a:off x="971601" y="908720"/>
            <a:ext cx="81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Występują sytuacje, w których chcemy mieć możliwość </a:t>
            </a:r>
            <a:r>
              <a:rPr lang="pl-PL" sz="1600" b="1" dirty="0"/>
              <a:t>przejścia</a:t>
            </a:r>
            <a:r>
              <a:rPr lang="pl-PL" sz="1600" dirty="0"/>
              <a:t> (ang. </a:t>
            </a:r>
            <a:r>
              <a:rPr lang="pl-PL" sz="1600" b="1" i="1" dirty="0" err="1"/>
              <a:t>crossed</a:t>
            </a:r>
            <a:r>
              <a:rPr lang="pl-PL" sz="1600" dirty="0"/>
              <a:t>) do </a:t>
            </a:r>
            <a:r>
              <a:rPr lang="pl-PL" sz="1600" b="1" dirty="0"/>
              <a:t>innego kontekstu</a:t>
            </a:r>
            <a:r>
              <a:rPr lang="pl-PL" sz="1600" dirty="0"/>
              <a:t>. Do takich sytuacji Kotlin oferuje modyfikator </a:t>
            </a:r>
            <a:r>
              <a:rPr lang="pl-PL" sz="1600" b="1" dirty="0" err="1"/>
              <a:t>crossinline</a:t>
            </a:r>
            <a:endParaRPr lang="pl-PL" sz="16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DE95FDF-4BD7-9317-E898-FA3D9E107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28" y="1555215"/>
            <a:ext cx="7524328" cy="5269957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78FC2F9B-3A27-FB77-D96B-91076441E976}"/>
              </a:ext>
            </a:extLst>
          </p:cNvPr>
          <p:cNvSpPr/>
          <p:nvPr/>
        </p:nvSpPr>
        <p:spPr>
          <a:xfrm>
            <a:off x="5940152" y="1772816"/>
            <a:ext cx="1152128" cy="28803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93522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76B77-7A09-D6CD-5340-C6FDFD32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88B28-E26C-6A46-9DE2-BDDC61AD44D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102B45C-FBA2-4584-99D7-9C12F3C66A60}"/>
              </a:ext>
            </a:extLst>
          </p:cNvPr>
          <p:cNvSpPr txBox="1"/>
          <p:nvPr/>
        </p:nvSpPr>
        <p:spPr>
          <a:xfrm>
            <a:off x="971601" y="908720"/>
            <a:ext cx="81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Występują sytuacje, w których chcemy mieć możliwość </a:t>
            </a:r>
            <a:r>
              <a:rPr lang="pl-PL" sz="1600" b="1" dirty="0"/>
              <a:t>przejścia</a:t>
            </a:r>
            <a:r>
              <a:rPr lang="pl-PL" sz="1600" dirty="0"/>
              <a:t> (ang. </a:t>
            </a:r>
            <a:r>
              <a:rPr lang="pl-PL" sz="1600" i="1" dirty="0" err="1"/>
              <a:t>crossed</a:t>
            </a:r>
            <a:r>
              <a:rPr lang="pl-PL" sz="1600" dirty="0"/>
              <a:t>) do </a:t>
            </a:r>
            <a:r>
              <a:rPr lang="pl-PL" sz="1600" b="1" dirty="0"/>
              <a:t>innego kontekstu</a:t>
            </a:r>
            <a:r>
              <a:rPr lang="pl-PL" sz="1600" dirty="0"/>
              <a:t>. Do takich sytuacji Kotlin oferuje modyfikator </a:t>
            </a:r>
            <a:r>
              <a:rPr lang="pl-PL" sz="1600" b="1" dirty="0" err="1"/>
              <a:t>crossinline</a:t>
            </a:r>
            <a:endParaRPr lang="pl-PL" sz="16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003D65E-A457-91B3-3EFC-61C266C92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28" y="1555215"/>
            <a:ext cx="7524328" cy="5269957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AE27F035-A279-BD2E-53B7-983548ACA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01686"/>
            <a:ext cx="9144000" cy="2423486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F8966123-714D-986A-FA6C-9A073233150A}"/>
              </a:ext>
            </a:extLst>
          </p:cNvPr>
          <p:cNvSpPr/>
          <p:nvPr/>
        </p:nvSpPr>
        <p:spPr>
          <a:xfrm>
            <a:off x="0" y="4367322"/>
            <a:ext cx="9144000" cy="242348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00935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0DA65-1530-8377-5334-989C2E5D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964F2D-FC04-FDA5-1E4D-553A5A76F8E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B6A86FA-D3B6-66BB-386B-944040E52372}"/>
              </a:ext>
            </a:extLst>
          </p:cNvPr>
          <p:cNvSpPr txBox="1"/>
          <p:nvPr/>
        </p:nvSpPr>
        <p:spPr>
          <a:xfrm>
            <a:off x="971601" y="908720"/>
            <a:ext cx="81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Występują sytuacje, w których chcemy mieć możliwość </a:t>
            </a:r>
            <a:r>
              <a:rPr lang="pl-PL" sz="1600" b="1" dirty="0"/>
              <a:t>przejścia</a:t>
            </a:r>
            <a:r>
              <a:rPr lang="pl-PL" sz="1600" dirty="0"/>
              <a:t> (ang. *</a:t>
            </a:r>
            <a:r>
              <a:rPr lang="pl-PL" sz="1600" dirty="0" err="1"/>
              <a:t>crossed</a:t>
            </a:r>
            <a:r>
              <a:rPr lang="pl-PL" sz="1600" dirty="0"/>
              <a:t>*) do </a:t>
            </a:r>
            <a:r>
              <a:rPr lang="pl-PL" sz="1600" b="1" dirty="0"/>
              <a:t>innego kontekstu</a:t>
            </a:r>
            <a:r>
              <a:rPr lang="pl-PL" sz="1600" dirty="0"/>
              <a:t>. Do takich sytuacji Kotlin oferuje modyfikator </a:t>
            </a:r>
            <a:r>
              <a:rPr lang="pl-PL" sz="1600" b="1" dirty="0" err="1"/>
              <a:t>crossinline</a:t>
            </a:r>
            <a:endParaRPr lang="pl-PL" sz="1600" b="1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DB29390-31B0-C533-722E-CE775D437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426" y="1526592"/>
            <a:ext cx="8096574" cy="483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175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E99BE-AADC-2A6C-A69E-A35C058B8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EB0ED6-D4FA-264E-DF56-0E23D471BB7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inline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DCE9B0C-16B0-2152-B32E-3DA6FFEA3833}"/>
              </a:ext>
            </a:extLst>
          </p:cNvPr>
          <p:cNvSpPr txBox="1"/>
          <p:nvPr/>
        </p:nvSpPr>
        <p:spPr>
          <a:xfrm>
            <a:off x="2987824" y="814453"/>
            <a:ext cx="5291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/>
              <a:t>Możemy wywołać lambdy wewnątrz innej funkcji </a:t>
            </a:r>
            <a:r>
              <a:rPr lang="pl-PL" sz="1600" b="1" dirty="0" err="1"/>
              <a:t>inline</a:t>
            </a:r>
            <a:endParaRPr lang="pl-PL" sz="16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C6D306A-50BB-ADFF-3896-1276C3AFE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153007"/>
            <a:ext cx="7497990" cy="5704993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A03E8CC4-6327-7D47-E689-129F3E3A2C0D}"/>
              </a:ext>
            </a:extLst>
          </p:cNvPr>
          <p:cNvSpPr/>
          <p:nvPr/>
        </p:nvSpPr>
        <p:spPr>
          <a:xfrm>
            <a:off x="1547664" y="2636912"/>
            <a:ext cx="4824536" cy="93610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0C24DDA-7779-EC5D-6EE7-79B19879E3D2}"/>
              </a:ext>
            </a:extLst>
          </p:cNvPr>
          <p:cNvSpPr/>
          <p:nvPr/>
        </p:nvSpPr>
        <p:spPr>
          <a:xfrm>
            <a:off x="2051720" y="1617246"/>
            <a:ext cx="5256584" cy="299586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3477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3EF22-28BD-1CF3-F6D3-DAB1ACACA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FF24D2-5AFF-5796-6C42-E9970E7D81A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anonimowe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9419651-81E5-FA6D-D692-C400C15FC49A}"/>
              </a:ext>
            </a:extLst>
          </p:cNvPr>
          <p:cNvSpPr txBox="1"/>
          <p:nvPr/>
        </p:nvSpPr>
        <p:spPr>
          <a:xfrm>
            <a:off x="1403648" y="908720"/>
            <a:ext cx="7052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/>
              <a:t>Funkcje anonimowe w Kotlinie to funkcje, które nie mają przypisanej nazwy.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25F2128-9227-77B8-211F-477FB7703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3068960"/>
            <a:ext cx="6120680" cy="2397965"/>
          </a:xfrm>
          <a:prstGeom prst="rect">
            <a:avLst/>
          </a:prstGeom>
        </p:spPr>
      </p:pic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56C45C79-257A-F243-D0D0-2C8C908AE5C8}"/>
              </a:ext>
            </a:extLst>
          </p:cNvPr>
          <p:cNvCxnSpPr>
            <a:cxnSpLocks/>
          </p:cNvCxnSpPr>
          <p:nvPr/>
        </p:nvCxnSpPr>
        <p:spPr>
          <a:xfrm>
            <a:off x="4082967" y="2646702"/>
            <a:ext cx="489033" cy="56627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3145FAE-2AD9-FDCA-DA4A-F613E2DA8E71}"/>
              </a:ext>
            </a:extLst>
          </p:cNvPr>
          <p:cNvSpPr txBox="1"/>
          <p:nvPr/>
        </p:nvSpPr>
        <p:spPr>
          <a:xfrm>
            <a:off x="3361411" y="1988840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B502F121-E4FB-BEA0-DF28-EEB8F505E2E9}"/>
              </a:ext>
            </a:extLst>
          </p:cNvPr>
          <p:cNvCxnSpPr>
            <a:cxnSpLocks/>
          </p:cNvCxnSpPr>
          <p:nvPr/>
        </p:nvCxnSpPr>
        <p:spPr>
          <a:xfrm flipH="1">
            <a:off x="6948264" y="2635171"/>
            <a:ext cx="49476" cy="47870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2B954E6-48B9-3104-C03B-FF67DBE1861D}"/>
              </a:ext>
            </a:extLst>
          </p:cNvPr>
          <p:cNvSpPr txBox="1"/>
          <p:nvPr/>
        </p:nvSpPr>
        <p:spPr>
          <a:xfrm>
            <a:off x="6532833" y="1882569"/>
            <a:ext cx="122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zwracany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8295C9E-27C2-71CB-F5EC-A6E5A60147BF}"/>
              </a:ext>
            </a:extLst>
          </p:cNvPr>
          <p:cNvSpPr txBox="1"/>
          <p:nvPr/>
        </p:nvSpPr>
        <p:spPr>
          <a:xfrm>
            <a:off x="4764859" y="2009958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lista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parametrów</a:t>
            </a:r>
          </a:p>
        </p:txBody>
      </p:sp>
      <p:sp>
        <p:nvSpPr>
          <p:cNvPr id="13" name="Nawias klamrowy otwierający 12">
            <a:extLst>
              <a:ext uri="{FF2B5EF4-FFF2-40B4-BE49-F238E27FC236}">
                <a16:creationId xmlns:a16="http://schemas.microsoft.com/office/drawing/2014/main" id="{8E7E3679-10E0-0E9B-1F31-9C338A8BD50D}"/>
              </a:ext>
            </a:extLst>
          </p:cNvPr>
          <p:cNvSpPr/>
          <p:nvPr/>
        </p:nvSpPr>
        <p:spPr>
          <a:xfrm rot="5400000">
            <a:off x="5448935" y="2082272"/>
            <a:ext cx="432048" cy="1537846"/>
          </a:xfrm>
          <a:custGeom>
            <a:avLst/>
            <a:gdLst>
              <a:gd name="connsiteX0" fmla="*/ 432048 w 432048"/>
              <a:gd name="connsiteY0" fmla="*/ 1537846 h 1537846"/>
              <a:gd name="connsiteX1" fmla="*/ 216024 w 432048"/>
              <a:gd name="connsiteY1" fmla="*/ 1501843 h 1537846"/>
              <a:gd name="connsiteX2" fmla="*/ 216024 w 432048"/>
              <a:gd name="connsiteY2" fmla="*/ 804926 h 1537846"/>
              <a:gd name="connsiteX3" fmla="*/ 0 w 432048"/>
              <a:gd name="connsiteY3" fmla="*/ 768923 h 1537846"/>
              <a:gd name="connsiteX4" fmla="*/ 216024 w 432048"/>
              <a:gd name="connsiteY4" fmla="*/ 732920 h 1537846"/>
              <a:gd name="connsiteX5" fmla="*/ 216024 w 432048"/>
              <a:gd name="connsiteY5" fmla="*/ 36003 h 1537846"/>
              <a:gd name="connsiteX6" fmla="*/ 432048 w 432048"/>
              <a:gd name="connsiteY6" fmla="*/ 0 h 1537846"/>
              <a:gd name="connsiteX7" fmla="*/ 432048 w 432048"/>
              <a:gd name="connsiteY7" fmla="*/ 1537846 h 1537846"/>
              <a:gd name="connsiteX0" fmla="*/ 432048 w 432048"/>
              <a:gd name="connsiteY0" fmla="*/ 1537846 h 1537846"/>
              <a:gd name="connsiteX1" fmla="*/ 216024 w 432048"/>
              <a:gd name="connsiteY1" fmla="*/ 1501843 h 1537846"/>
              <a:gd name="connsiteX2" fmla="*/ 216024 w 432048"/>
              <a:gd name="connsiteY2" fmla="*/ 804926 h 1537846"/>
              <a:gd name="connsiteX3" fmla="*/ 0 w 432048"/>
              <a:gd name="connsiteY3" fmla="*/ 768923 h 1537846"/>
              <a:gd name="connsiteX4" fmla="*/ 216024 w 432048"/>
              <a:gd name="connsiteY4" fmla="*/ 732920 h 1537846"/>
              <a:gd name="connsiteX5" fmla="*/ 216024 w 432048"/>
              <a:gd name="connsiteY5" fmla="*/ 36003 h 1537846"/>
              <a:gd name="connsiteX6" fmla="*/ 432048 w 432048"/>
              <a:gd name="connsiteY6" fmla="*/ 0 h 153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048" h="1537846" stroke="0" extrusionOk="0">
                <a:moveTo>
                  <a:pt x="432048" y="1537846"/>
                </a:moveTo>
                <a:cubicBezTo>
                  <a:pt x="312460" y="1537673"/>
                  <a:pt x="214536" y="1522285"/>
                  <a:pt x="216024" y="1501843"/>
                </a:cubicBezTo>
                <a:cubicBezTo>
                  <a:pt x="255068" y="1251419"/>
                  <a:pt x="158091" y="1101721"/>
                  <a:pt x="216024" y="804926"/>
                </a:cubicBezTo>
                <a:cubicBezTo>
                  <a:pt x="203069" y="797694"/>
                  <a:pt x="118715" y="772196"/>
                  <a:pt x="0" y="768923"/>
                </a:cubicBezTo>
                <a:cubicBezTo>
                  <a:pt x="117221" y="767782"/>
                  <a:pt x="219487" y="754459"/>
                  <a:pt x="216024" y="732920"/>
                </a:cubicBezTo>
                <a:cubicBezTo>
                  <a:pt x="258499" y="412942"/>
                  <a:pt x="197127" y="190766"/>
                  <a:pt x="216024" y="36003"/>
                </a:cubicBezTo>
                <a:cubicBezTo>
                  <a:pt x="201189" y="13847"/>
                  <a:pt x="299965" y="12029"/>
                  <a:pt x="432048" y="0"/>
                </a:cubicBezTo>
                <a:cubicBezTo>
                  <a:pt x="385069" y="582138"/>
                  <a:pt x="436864" y="911244"/>
                  <a:pt x="432048" y="1537846"/>
                </a:cubicBezTo>
                <a:close/>
              </a:path>
              <a:path w="432048" h="1537846" fill="none" extrusionOk="0">
                <a:moveTo>
                  <a:pt x="432048" y="1537846"/>
                </a:moveTo>
                <a:cubicBezTo>
                  <a:pt x="309814" y="1537638"/>
                  <a:pt x="215494" y="1520646"/>
                  <a:pt x="216024" y="1501843"/>
                </a:cubicBezTo>
                <a:cubicBezTo>
                  <a:pt x="202339" y="1276309"/>
                  <a:pt x="245959" y="979488"/>
                  <a:pt x="216024" y="804926"/>
                </a:cubicBezTo>
                <a:cubicBezTo>
                  <a:pt x="208097" y="799215"/>
                  <a:pt x="125321" y="773392"/>
                  <a:pt x="0" y="768923"/>
                </a:cubicBezTo>
                <a:cubicBezTo>
                  <a:pt x="119148" y="772708"/>
                  <a:pt x="217770" y="751768"/>
                  <a:pt x="216024" y="732920"/>
                </a:cubicBezTo>
                <a:cubicBezTo>
                  <a:pt x="188944" y="424802"/>
                  <a:pt x="261090" y="364380"/>
                  <a:pt x="216024" y="36003"/>
                </a:cubicBezTo>
                <a:cubicBezTo>
                  <a:pt x="221108" y="26185"/>
                  <a:pt x="302975" y="5150"/>
                  <a:pt x="432048" y="0"/>
                </a:cubicBezTo>
              </a:path>
              <a:path w="432048" h="1537846" fill="none" stroke="0" extrusionOk="0">
                <a:moveTo>
                  <a:pt x="432048" y="1537846"/>
                </a:moveTo>
                <a:cubicBezTo>
                  <a:pt x="315111" y="1539173"/>
                  <a:pt x="218994" y="1522441"/>
                  <a:pt x="216024" y="1501843"/>
                </a:cubicBezTo>
                <a:cubicBezTo>
                  <a:pt x="158946" y="1207868"/>
                  <a:pt x="273064" y="937966"/>
                  <a:pt x="216024" y="804926"/>
                </a:cubicBezTo>
                <a:cubicBezTo>
                  <a:pt x="224247" y="797283"/>
                  <a:pt x="121067" y="787154"/>
                  <a:pt x="0" y="768923"/>
                </a:cubicBezTo>
                <a:cubicBezTo>
                  <a:pt x="120201" y="770301"/>
                  <a:pt x="216504" y="753391"/>
                  <a:pt x="216024" y="732920"/>
                </a:cubicBezTo>
                <a:cubicBezTo>
                  <a:pt x="256003" y="430750"/>
                  <a:pt x="255800" y="255863"/>
                  <a:pt x="216024" y="36003"/>
                </a:cubicBezTo>
                <a:cubicBezTo>
                  <a:pt x="197852" y="19103"/>
                  <a:pt x="299020" y="-9467"/>
                  <a:pt x="432048" y="0"/>
                </a:cubicBezTo>
              </a:path>
            </a:pathLst>
          </a:custGeom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510043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F7908-B8B2-48C4-B294-09E77ED82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6BEBAE-AE3B-DEC4-67E2-D3ADB0A6764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anonimowe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BE04EB7-9EE3-8377-B06A-FC1F2F4F1403}"/>
              </a:ext>
            </a:extLst>
          </p:cNvPr>
          <p:cNvSpPr txBox="1"/>
          <p:nvPr/>
        </p:nvSpPr>
        <p:spPr>
          <a:xfrm>
            <a:off x="1403648" y="908720"/>
            <a:ext cx="7052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/>
              <a:t>Funkcje anonimowe w Kotlinie to funkcje, które nie mają przypisanej nazwy.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8595E9B-11EB-22D9-1D52-D7FB95023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1844824"/>
            <a:ext cx="6120680" cy="2397965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31EF7EE2-70F6-4B30-8F5E-7E2BA0C5DEDE}"/>
              </a:ext>
            </a:extLst>
          </p:cNvPr>
          <p:cNvSpPr txBox="1"/>
          <p:nvPr/>
        </p:nvSpPr>
        <p:spPr>
          <a:xfrm>
            <a:off x="1043608" y="4437112"/>
            <a:ext cx="8100392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funkcja anonimowa jest </a:t>
            </a:r>
            <a:r>
              <a:rPr lang="pl-PL" sz="1600" b="1" dirty="0"/>
              <a:t>wyrażeniem</a:t>
            </a:r>
            <a:r>
              <a:rPr lang="pl-PL" sz="1600" dirty="0"/>
              <a:t>, jak lambda,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można stosować </a:t>
            </a:r>
            <a:r>
              <a:rPr lang="pl-PL" sz="1600" b="1" dirty="0"/>
              <a:t>return</a:t>
            </a:r>
            <a:r>
              <a:rPr lang="pl-PL" sz="1600" dirty="0"/>
              <a:t> tak samo, jak w funkcjach nazwanych,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funkcje anonimowe </a:t>
            </a:r>
            <a:r>
              <a:rPr lang="pl-PL" sz="1600" b="1" dirty="0"/>
              <a:t>wymagają jawnej deklaracji parametrów </a:t>
            </a:r>
            <a:r>
              <a:rPr lang="pl-PL" sz="1600" dirty="0"/>
              <a:t>oraz </a:t>
            </a:r>
            <a:r>
              <a:rPr lang="pl-PL" sz="1600" b="1" dirty="0"/>
              <a:t>typu zwracanego </a:t>
            </a:r>
            <a:r>
              <a:rPr lang="pl-PL" sz="1600" dirty="0"/>
              <a:t>(przy użyciu ciała blokowego).</a:t>
            </a:r>
          </a:p>
        </p:txBody>
      </p:sp>
    </p:spTree>
    <p:extLst>
      <p:ext uri="{BB962C8B-B14F-4D97-AF65-F5344CB8AC3E}">
        <p14:creationId xmlns:p14="http://schemas.microsoft.com/office/powerpoint/2010/main" val="15571880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47B5E-5EC1-1BC1-8EA3-1821175D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9E97BA-D0F9-51C7-5C56-90FF950F258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zakresu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F68B576-2E60-46CB-D11E-E166B7485EE6}"/>
              </a:ext>
            </a:extLst>
          </p:cNvPr>
          <p:cNvSpPr txBox="1"/>
          <p:nvPr/>
        </p:nvSpPr>
        <p:spPr>
          <a:xfrm>
            <a:off x="1259632" y="1268760"/>
            <a:ext cx="7740352" cy="4847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Funkcje zakresu </a:t>
            </a:r>
            <a:r>
              <a:rPr lang="pl-PL" sz="1600" dirty="0"/>
              <a:t>(ang. </a:t>
            </a:r>
            <a:r>
              <a:rPr lang="pl-PL" sz="1600" b="1" dirty="0" err="1"/>
              <a:t>scope</a:t>
            </a:r>
            <a:r>
              <a:rPr lang="pl-PL" sz="1600" b="1" dirty="0"/>
              <a:t> </a:t>
            </a:r>
            <a:r>
              <a:rPr lang="pl-PL" sz="1600" b="1" dirty="0" err="1"/>
              <a:t>functions</a:t>
            </a:r>
            <a:r>
              <a:rPr lang="pl-PL" sz="1600" dirty="0"/>
              <a:t>) to jedne z najbardziej przydatnych narzędzi w Kotlinie, które pozwalają na wykonanie bloku kodu w </a:t>
            </a:r>
            <a:r>
              <a:rPr lang="pl-PL" sz="1600" b="1" dirty="0"/>
              <a:t>kontekście obiektu</a:t>
            </a:r>
            <a:r>
              <a:rPr lang="pl-PL" sz="1600" dirty="0"/>
              <a:t>. </a:t>
            </a:r>
          </a:p>
          <a:p>
            <a:pPr>
              <a:lnSpc>
                <a:spcPct val="150000"/>
              </a:lnSpc>
            </a:pPr>
            <a:endParaRPr lang="pl-PL" sz="1600" dirty="0"/>
          </a:p>
          <a:p>
            <a:pPr>
              <a:lnSpc>
                <a:spcPct val="150000"/>
              </a:lnSpc>
            </a:pPr>
            <a:r>
              <a:rPr lang="pl-PL" sz="1600" dirty="0"/>
              <a:t>Kotlin dostarcza pięć </a:t>
            </a:r>
            <a:r>
              <a:rPr lang="pl-PL" sz="1600" i="1" dirty="0" err="1"/>
              <a:t>scope</a:t>
            </a:r>
            <a:r>
              <a:rPr lang="pl-PL" sz="1600" i="1" dirty="0"/>
              <a:t> </a:t>
            </a:r>
            <a:r>
              <a:rPr lang="pl-PL" sz="1600" i="1" dirty="0" err="1"/>
              <a:t>functions</a:t>
            </a:r>
            <a:r>
              <a:rPr lang="pl-PL" sz="1600" dirty="0"/>
              <a:t>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let</a:t>
            </a:r>
            <a:r>
              <a:rPr lang="pl-PL" sz="1600" b="1" dirty="0"/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run,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with,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apply</a:t>
            </a:r>
            <a:r>
              <a:rPr lang="pl-PL" sz="1600" b="1" dirty="0"/>
              <a:t>,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also</a:t>
            </a:r>
            <a:r>
              <a:rPr lang="pl-PL" sz="1600" b="1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1600" b="1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Działają na obiekcie i tworzą dla niego </a:t>
            </a:r>
            <a:r>
              <a:rPr lang="pl-PL" sz="1600" b="1" dirty="0"/>
              <a:t>tymczasowy zakres (</a:t>
            </a:r>
            <a:r>
              <a:rPr lang="pl-PL" sz="1600" b="1" dirty="0" err="1"/>
              <a:t>scope</a:t>
            </a:r>
            <a:r>
              <a:rPr lang="pl-PL" sz="1600" b="1" dirty="0"/>
              <a:t>), </a:t>
            </a:r>
            <a:r>
              <a:rPr lang="pl-PL" sz="1600" dirty="0"/>
              <a:t>w którym obiekt jest dostępny za pomocą specjalnej referencji</a:t>
            </a:r>
            <a:r>
              <a:rPr lang="pl-PL" sz="1600" b="1" dirty="0"/>
              <a:t> </a:t>
            </a:r>
            <a:r>
              <a:rPr lang="pl-PL" sz="1600" dirty="0"/>
              <a:t> - </a:t>
            </a:r>
            <a:r>
              <a:rPr lang="pl-PL" sz="1600" b="1" dirty="0" err="1"/>
              <a:t>this</a:t>
            </a:r>
            <a:r>
              <a:rPr lang="pl-PL" sz="1600" b="1" dirty="0"/>
              <a:t> </a:t>
            </a:r>
            <a:r>
              <a:rPr lang="pl-PL" sz="1600" dirty="0"/>
              <a:t>lub</a:t>
            </a:r>
            <a:r>
              <a:rPr lang="pl-PL" sz="1600" b="1" dirty="0"/>
              <a:t> </a:t>
            </a:r>
            <a:r>
              <a:rPr lang="pl-PL" sz="1600" b="1" dirty="0" err="1"/>
              <a:t>it</a:t>
            </a:r>
            <a:r>
              <a:rPr lang="pl-PL" sz="1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54303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58FD9-026B-6B1B-13A7-7F79EA6B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84A80-82B4-235F-649F-97012A40F48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zakresu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1CF9E99-2624-C6D8-6816-BA08B27F6087}"/>
              </a:ext>
            </a:extLst>
          </p:cNvPr>
          <p:cNvSpPr txBox="1"/>
          <p:nvPr/>
        </p:nvSpPr>
        <p:spPr>
          <a:xfrm>
            <a:off x="1403648" y="836712"/>
            <a:ext cx="7740352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let</a:t>
            </a:r>
            <a:r>
              <a:rPr lang="pl-PL" sz="1600" dirty="0"/>
              <a:t> jest najczęściej używana do przetwarzania </a:t>
            </a:r>
            <a:r>
              <a:rPr lang="pl-PL" sz="1600" b="1" dirty="0"/>
              <a:t>nie-</a:t>
            </a:r>
            <a:r>
              <a:rPr lang="pl-PL" sz="1600" b="1" dirty="0" err="1"/>
              <a:t>nullowalnych</a:t>
            </a:r>
            <a:r>
              <a:rPr lang="pl-PL" sz="1600" dirty="0"/>
              <a:t> obiektów oraz jako tymczasowe wprowadzenie zmiennych lokalnych. Obiekt wewnątrz bloku jest dostępny jako </a:t>
            </a:r>
            <a:r>
              <a:rPr lang="pl-PL" sz="1600" b="1" dirty="0" err="1"/>
              <a:t>it</a:t>
            </a:r>
            <a:r>
              <a:rPr lang="pl-PL" sz="1600" dirty="0"/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7D9A6B1-6D90-5C2C-1C9D-B34003450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2852936"/>
            <a:ext cx="401955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021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DAF360-95E0-E5DC-3454-1B830DA7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715E6D-BD89-FB53-7A94-524E3151A05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zakresu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8BE09D9-3F86-7DBE-4582-E7AAFC5A08B1}"/>
              </a:ext>
            </a:extLst>
          </p:cNvPr>
          <p:cNvSpPr txBox="1"/>
          <p:nvPr/>
        </p:nvSpPr>
        <p:spPr>
          <a:xfrm>
            <a:off x="1403648" y="836712"/>
            <a:ext cx="7740352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apply</a:t>
            </a:r>
            <a:r>
              <a:rPr lang="pl-PL" sz="1600" dirty="0"/>
              <a:t> zwraca ten sam obiekt, na którym została wywołana. Dzięki temu można </a:t>
            </a:r>
            <a:r>
              <a:rPr lang="pl-PL" sz="1600" b="1" dirty="0"/>
              <a:t>łańcuchować metody </a:t>
            </a:r>
            <a:r>
              <a:rPr lang="pl-PL" sz="1600" dirty="0"/>
              <a:t>i </a:t>
            </a:r>
            <a:r>
              <a:rPr lang="pl-PL" sz="1600" b="1" dirty="0"/>
              <a:t>skonfigurować obiekt </a:t>
            </a:r>
            <a:r>
              <a:rPr lang="pl-PL" sz="1600" dirty="0"/>
              <a:t>w prosty sposób. Obiekt jest dostępny jako </a:t>
            </a:r>
            <a:r>
              <a:rPr lang="pl-PL" sz="1600" b="1" dirty="0" err="1"/>
              <a:t>this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74D245B-63AE-4C93-FBEB-A716BD47E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928" y="1991386"/>
            <a:ext cx="5071955" cy="486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167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2B947-F84C-FFA6-14F0-72257E7EE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8BCD98-7FAC-C385-AABD-DD6E8FB4C76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zakresu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AE7F4AA-2BA0-7DD9-A725-0DD0D512C20E}"/>
              </a:ext>
            </a:extLst>
          </p:cNvPr>
          <p:cNvSpPr txBox="1"/>
          <p:nvPr/>
        </p:nvSpPr>
        <p:spPr>
          <a:xfrm>
            <a:off x="1403648" y="836712"/>
            <a:ext cx="7740352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/>
              <a:t>run</a:t>
            </a:r>
            <a:r>
              <a:rPr lang="pl-PL" sz="1600" dirty="0"/>
              <a:t> jest podobna do </a:t>
            </a:r>
            <a:r>
              <a:rPr lang="pl-PL" sz="1600" dirty="0" err="1"/>
              <a:t>apply</a:t>
            </a:r>
            <a:r>
              <a:rPr lang="pl-PL" sz="1600" dirty="0"/>
              <a:t>, ale zwraca </a:t>
            </a:r>
            <a:r>
              <a:rPr lang="pl-PL" sz="1600" b="1" dirty="0"/>
              <a:t>wynik lambdy</a:t>
            </a:r>
            <a:r>
              <a:rPr lang="pl-PL" sz="1600" dirty="0"/>
              <a:t>, a nie obiekt. Obiekt jest dostępny jako </a:t>
            </a:r>
            <a:r>
              <a:rPr lang="pl-PL" sz="1600" b="1" dirty="0" err="1"/>
              <a:t>this</a:t>
            </a:r>
            <a:r>
              <a:rPr lang="pl-PL" sz="1600" dirty="0"/>
              <a:t>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F4DF740A-C42C-11AC-AB00-2EC178DEB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1988840"/>
            <a:ext cx="52387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226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A2D5A-C5E1-7BC1-CAA3-68DD9865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B183EF-746A-537B-018F-AE11E5A425E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zakresu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FD50ED6-7765-568F-47E3-34F6D54C34E6}"/>
              </a:ext>
            </a:extLst>
          </p:cNvPr>
          <p:cNvSpPr txBox="1"/>
          <p:nvPr/>
        </p:nvSpPr>
        <p:spPr>
          <a:xfrm>
            <a:off x="1403648" y="836712"/>
            <a:ext cx="7740352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also</a:t>
            </a:r>
            <a:r>
              <a:rPr lang="pl-PL" sz="1600" dirty="0"/>
              <a:t> jest używane do wykonywania </a:t>
            </a:r>
            <a:r>
              <a:rPr lang="pl-PL" sz="1600" b="1" dirty="0"/>
              <a:t>dodatkowych operacji </a:t>
            </a:r>
            <a:r>
              <a:rPr lang="pl-PL" sz="1600" dirty="0"/>
              <a:t>na obiekcie, </a:t>
            </a:r>
            <a:r>
              <a:rPr lang="pl-PL" sz="1600" b="1" dirty="0"/>
              <a:t>bez zmiany jego właściwości</a:t>
            </a:r>
            <a:r>
              <a:rPr lang="pl-PL" sz="1600" dirty="0"/>
              <a:t>. W bloku kodu obiekt jest dostępny jako </a:t>
            </a:r>
            <a:r>
              <a:rPr lang="pl-PL" sz="1600" b="1" dirty="0" err="1"/>
              <a:t>it</a:t>
            </a:r>
            <a:r>
              <a:rPr lang="pl-PL" sz="1600" dirty="0"/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01961F0-B72E-2E9B-7E2D-6325D9678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1871662"/>
            <a:ext cx="68770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031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333C7-AA45-2E62-4122-F1AA11F6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B8D955-0AAE-F8EA-D06C-B66CA781406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zakresu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E40194E-A1D2-EBA1-F66D-8D56A7B7EE8C}"/>
              </a:ext>
            </a:extLst>
          </p:cNvPr>
          <p:cNvSpPr txBox="1"/>
          <p:nvPr/>
        </p:nvSpPr>
        <p:spPr>
          <a:xfrm>
            <a:off x="1403648" y="836712"/>
            <a:ext cx="7740352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/>
              <a:t>with</a:t>
            </a:r>
            <a:r>
              <a:rPr lang="pl-PL" sz="1600" dirty="0"/>
              <a:t> jest wywoływana z obiektem przekazywanym jako argument. Jest przydatna, gdy chcemy wykonać kilka operacji na obiekcie i nie potrzebujemy wyniku zwróconego przez funkcję.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9B05623-1AC2-B4F3-BD3C-5E64CED08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040" y="1916832"/>
            <a:ext cx="5377920" cy="49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504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3865A-04E3-6AEB-487E-C8FABC89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F67449-AAE5-9FBF-B990-035B14963B7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zakresu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E9DC631-8FFA-AD26-DABF-A7A72B245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008281"/>
              </p:ext>
            </p:extLst>
          </p:nvPr>
        </p:nvGraphicFramePr>
        <p:xfrm>
          <a:off x="2051720" y="908720"/>
          <a:ext cx="54962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9928">
                  <a:extLst>
                    <a:ext uri="{9D8B030D-6E8A-4147-A177-3AD203B41FA5}">
                      <a16:colId xmlns:a16="http://schemas.microsoft.com/office/drawing/2014/main" val="35237388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8629799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9388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err="1"/>
                        <a:t>this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err="1"/>
                        <a:t>it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23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Zwraca wynik lambdy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 err="1"/>
                        <a:t>let</a:t>
                      </a:r>
                      <a:endParaRPr lang="pl-P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07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Zwraca </a:t>
                      </a:r>
                      <a:r>
                        <a:rPr lang="pl-PL" dirty="0" err="1"/>
                        <a:t>objekt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 err="1"/>
                        <a:t>apply</a:t>
                      </a:r>
                      <a:endParaRPr lang="pl-P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 err="1"/>
                        <a:t>also</a:t>
                      </a:r>
                      <a:endParaRPr lang="pl-P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571770"/>
                  </a:ext>
                </a:extLst>
              </a:tr>
            </a:tbl>
          </a:graphicData>
        </a:graphic>
      </p:graphicFrame>
      <p:sp>
        <p:nvSpPr>
          <p:cNvPr id="5" name="pole tekstowe 4">
            <a:extLst>
              <a:ext uri="{FF2B5EF4-FFF2-40B4-BE49-F238E27FC236}">
                <a16:creationId xmlns:a16="http://schemas.microsoft.com/office/drawing/2014/main" id="{4BA3F277-C33E-2335-68C8-1C0E6A5B1248}"/>
              </a:ext>
            </a:extLst>
          </p:cNvPr>
          <p:cNvSpPr txBox="1"/>
          <p:nvPr/>
        </p:nvSpPr>
        <p:spPr>
          <a:xfrm>
            <a:off x="4427984" y="2132856"/>
            <a:ext cx="14173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co funkcja</a:t>
            </a:r>
          </a:p>
          <a:p>
            <a:pPr algn="ctr"/>
            <a:r>
              <a:rPr lang="pl-PL" sz="1600" b="1" dirty="0">
                <a:solidFill>
                  <a:srgbClr val="7030A0"/>
                </a:solidFill>
              </a:rPr>
              <a:t>ma zwrócić?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835CC75B-1FB2-2310-3D55-67CE99EF0D9A}"/>
              </a:ext>
            </a:extLst>
          </p:cNvPr>
          <p:cNvSpPr/>
          <p:nvPr/>
        </p:nvSpPr>
        <p:spPr>
          <a:xfrm>
            <a:off x="4283968" y="2132856"/>
            <a:ext cx="172819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Dowolny kształt: kształt 7">
            <a:extLst>
              <a:ext uri="{FF2B5EF4-FFF2-40B4-BE49-F238E27FC236}">
                <a16:creationId xmlns:a16="http://schemas.microsoft.com/office/drawing/2014/main" id="{88C2AB86-7591-25B5-2652-964359E57856}"/>
              </a:ext>
            </a:extLst>
          </p:cNvPr>
          <p:cNvSpPr/>
          <p:nvPr/>
        </p:nvSpPr>
        <p:spPr>
          <a:xfrm>
            <a:off x="2554034" y="2284983"/>
            <a:ext cx="1728192" cy="1069963"/>
          </a:xfrm>
          <a:custGeom>
            <a:avLst/>
            <a:gdLst>
              <a:gd name="connsiteX0" fmla="*/ 2182969 w 2182969"/>
              <a:gd name="connsiteY0" fmla="*/ 136245 h 1069963"/>
              <a:gd name="connsiteX1" fmla="*/ 611747 w 2182969"/>
              <a:gd name="connsiteY1" fmla="*/ 78290 h 1069963"/>
              <a:gd name="connsiteX2" fmla="*/ 0 w 2182969"/>
              <a:gd name="connsiteY2" fmla="*/ 1069963 h 106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2969" h="1069963">
                <a:moveTo>
                  <a:pt x="2182969" y="136245"/>
                </a:moveTo>
                <a:cubicBezTo>
                  <a:pt x="1579272" y="29457"/>
                  <a:pt x="975575" y="-77330"/>
                  <a:pt x="611747" y="78290"/>
                </a:cubicBezTo>
                <a:cubicBezTo>
                  <a:pt x="247919" y="233910"/>
                  <a:pt x="123959" y="651936"/>
                  <a:pt x="0" y="1069963"/>
                </a:cubicBezTo>
              </a:path>
            </a:pathLst>
          </a:custGeom>
          <a:noFill/>
          <a:ln w="381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Dowolny kształt: kształt 8">
            <a:extLst>
              <a:ext uri="{FF2B5EF4-FFF2-40B4-BE49-F238E27FC236}">
                <a16:creationId xmlns:a16="http://schemas.microsoft.com/office/drawing/2014/main" id="{A1FABA84-3E16-146A-8572-437804025AB9}"/>
              </a:ext>
            </a:extLst>
          </p:cNvPr>
          <p:cNvSpPr/>
          <p:nvPr/>
        </p:nvSpPr>
        <p:spPr>
          <a:xfrm flipH="1">
            <a:off x="6012160" y="2294265"/>
            <a:ext cx="1584176" cy="1069963"/>
          </a:xfrm>
          <a:custGeom>
            <a:avLst/>
            <a:gdLst>
              <a:gd name="connsiteX0" fmla="*/ 2182969 w 2182969"/>
              <a:gd name="connsiteY0" fmla="*/ 136245 h 1069963"/>
              <a:gd name="connsiteX1" fmla="*/ 611747 w 2182969"/>
              <a:gd name="connsiteY1" fmla="*/ 78290 h 1069963"/>
              <a:gd name="connsiteX2" fmla="*/ 0 w 2182969"/>
              <a:gd name="connsiteY2" fmla="*/ 1069963 h 106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2969" h="1069963">
                <a:moveTo>
                  <a:pt x="2182969" y="136245"/>
                </a:moveTo>
                <a:cubicBezTo>
                  <a:pt x="1579272" y="29457"/>
                  <a:pt x="975575" y="-77330"/>
                  <a:pt x="611747" y="78290"/>
                </a:cubicBezTo>
                <a:cubicBezTo>
                  <a:pt x="247919" y="233910"/>
                  <a:pt x="123959" y="651936"/>
                  <a:pt x="0" y="1069963"/>
                </a:cubicBezTo>
              </a:path>
            </a:pathLst>
          </a:custGeom>
          <a:noFill/>
          <a:ln w="381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12C4D4F-03D8-4E69-6184-CE7EC56B474A}"/>
              </a:ext>
            </a:extLst>
          </p:cNvPr>
          <p:cNvSpPr txBox="1"/>
          <p:nvPr/>
        </p:nvSpPr>
        <p:spPr>
          <a:xfrm>
            <a:off x="3249389" y="2379077"/>
            <a:ext cx="788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obiekt</a:t>
            </a: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9F6E2E75-FD52-76B0-A382-14ADFAF0A055}"/>
              </a:ext>
            </a:extLst>
          </p:cNvPr>
          <p:cNvSpPr/>
          <p:nvPr/>
        </p:nvSpPr>
        <p:spPr>
          <a:xfrm>
            <a:off x="1698466" y="3400179"/>
            <a:ext cx="172819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ED700CC-7C6A-D654-6D80-1BCDE01C1CB4}"/>
              </a:ext>
            </a:extLst>
          </p:cNvPr>
          <p:cNvSpPr txBox="1"/>
          <p:nvPr/>
        </p:nvSpPr>
        <p:spPr>
          <a:xfrm>
            <a:off x="6320757" y="2304617"/>
            <a:ext cx="9028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wynik</a:t>
            </a:r>
          </a:p>
          <a:p>
            <a:pPr algn="ctr"/>
            <a:r>
              <a:rPr lang="pl-PL" sz="1600" b="1" dirty="0">
                <a:solidFill>
                  <a:srgbClr val="7030A0"/>
                </a:solidFill>
              </a:rPr>
              <a:t>lambdy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200036D6-303C-BDDA-20CB-4DB6653881D0}"/>
              </a:ext>
            </a:extLst>
          </p:cNvPr>
          <p:cNvSpPr txBox="1"/>
          <p:nvPr/>
        </p:nvSpPr>
        <p:spPr>
          <a:xfrm>
            <a:off x="1979712" y="3362252"/>
            <a:ext cx="1165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co chcę z </a:t>
            </a:r>
          </a:p>
          <a:p>
            <a:pPr algn="ctr"/>
            <a:r>
              <a:rPr lang="pl-PL" sz="1600" b="1" dirty="0">
                <a:solidFill>
                  <a:srgbClr val="7030A0"/>
                </a:solidFill>
              </a:rPr>
              <a:t>obiektu?</a:t>
            </a:r>
          </a:p>
        </p:txBody>
      </p:sp>
      <p:sp>
        <p:nvSpPr>
          <p:cNvPr id="16" name="Dowolny kształt: kształt 15">
            <a:extLst>
              <a:ext uri="{FF2B5EF4-FFF2-40B4-BE49-F238E27FC236}">
                <a16:creationId xmlns:a16="http://schemas.microsoft.com/office/drawing/2014/main" id="{36DDC9B5-FE10-0B17-EB47-8885198F5114}"/>
              </a:ext>
            </a:extLst>
          </p:cNvPr>
          <p:cNvSpPr/>
          <p:nvPr/>
        </p:nvSpPr>
        <p:spPr>
          <a:xfrm>
            <a:off x="1259632" y="3460819"/>
            <a:ext cx="430536" cy="2209300"/>
          </a:xfrm>
          <a:custGeom>
            <a:avLst/>
            <a:gdLst>
              <a:gd name="connsiteX0" fmla="*/ 2182969 w 2182969"/>
              <a:gd name="connsiteY0" fmla="*/ 136245 h 1069963"/>
              <a:gd name="connsiteX1" fmla="*/ 611747 w 2182969"/>
              <a:gd name="connsiteY1" fmla="*/ 78290 h 1069963"/>
              <a:gd name="connsiteX2" fmla="*/ 0 w 2182969"/>
              <a:gd name="connsiteY2" fmla="*/ 1069963 h 106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2969" h="1069963">
                <a:moveTo>
                  <a:pt x="2182969" y="136245"/>
                </a:moveTo>
                <a:cubicBezTo>
                  <a:pt x="1579272" y="29457"/>
                  <a:pt x="975575" y="-77330"/>
                  <a:pt x="611747" y="78290"/>
                </a:cubicBezTo>
                <a:cubicBezTo>
                  <a:pt x="247919" y="233910"/>
                  <a:pt x="123959" y="651936"/>
                  <a:pt x="0" y="1069963"/>
                </a:cubicBezTo>
              </a:path>
            </a:pathLst>
          </a:custGeom>
          <a:noFill/>
          <a:ln w="381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BADF5753-A940-CE6F-6A05-F5F46332C75A}"/>
              </a:ext>
            </a:extLst>
          </p:cNvPr>
          <p:cNvSpPr txBox="1"/>
          <p:nvPr/>
        </p:nvSpPr>
        <p:spPr>
          <a:xfrm>
            <a:off x="1259632" y="4293096"/>
            <a:ext cx="13724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dostęp do </a:t>
            </a:r>
          </a:p>
          <a:p>
            <a:pPr algn="ctr"/>
            <a:r>
              <a:rPr lang="pl-PL" sz="1600" b="1" dirty="0" err="1">
                <a:solidFill>
                  <a:srgbClr val="7030A0"/>
                </a:solidFill>
              </a:rPr>
              <a:t>funcji</a:t>
            </a:r>
            <a:r>
              <a:rPr lang="pl-PL" sz="1600" b="1" dirty="0">
                <a:solidFill>
                  <a:srgbClr val="7030A0"/>
                </a:solidFill>
              </a:rPr>
              <a:t> lub </a:t>
            </a:r>
          </a:p>
          <a:p>
            <a:pPr algn="ctr"/>
            <a:r>
              <a:rPr lang="pl-PL" sz="1600" b="1" dirty="0">
                <a:solidFill>
                  <a:srgbClr val="7030A0"/>
                </a:solidFill>
              </a:rPr>
              <a:t>właściwości</a:t>
            </a:r>
          </a:p>
        </p:txBody>
      </p:sp>
      <p:sp>
        <p:nvSpPr>
          <p:cNvPr id="18" name="Dowolny kształt: kształt 17">
            <a:extLst>
              <a:ext uri="{FF2B5EF4-FFF2-40B4-BE49-F238E27FC236}">
                <a16:creationId xmlns:a16="http://schemas.microsoft.com/office/drawing/2014/main" id="{88074BC1-FC38-AD31-88A9-8A883C6ED848}"/>
              </a:ext>
            </a:extLst>
          </p:cNvPr>
          <p:cNvSpPr/>
          <p:nvPr/>
        </p:nvSpPr>
        <p:spPr>
          <a:xfrm flipH="1">
            <a:off x="3456746" y="3460819"/>
            <a:ext cx="502313" cy="2257448"/>
          </a:xfrm>
          <a:custGeom>
            <a:avLst/>
            <a:gdLst>
              <a:gd name="connsiteX0" fmla="*/ 2182969 w 2182969"/>
              <a:gd name="connsiteY0" fmla="*/ 136245 h 1069963"/>
              <a:gd name="connsiteX1" fmla="*/ 611747 w 2182969"/>
              <a:gd name="connsiteY1" fmla="*/ 78290 h 1069963"/>
              <a:gd name="connsiteX2" fmla="*/ 0 w 2182969"/>
              <a:gd name="connsiteY2" fmla="*/ 1069963 h 106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2969" h="1069963">
                <a:moveTo>
                  <a:pt x="2182969" y="136245"/>
                </a:moveTo>
                <a:cubicBezTo>
                  <a:pt x="1579272" y="29457"/>
                  <a:pt x="975575" y="-77330"/>
                  <a:pt x="611747" y="78290"/>
                </a:cubicBezTo>
                <a:cubicBezTo>
                  <a:pt x="247919" y="233910"/>
                  <a:pt x="123959" y="651936"/>
                  <a:pt x="0" y="1069963"/>
                </a:cubicBezTo>
              </a:path>
            </a:pathLst>
          </a:custGeom>
          <a:noFill/>
          <a:ln w="381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90FCBFA4-451F-BB3F-A4F7-68F4440FE51C}"/>
              </a:ext>
            </a:extLst>
          </p:cNvPr>
          <p:cNvSpPr txBox="1"/>
          <p:nvPr/>
        </p:nvSpPr>
        <p:spPr>
          <a:xfrm>
            <a:off x="2701985" y="4420266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sam obiekt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FBEA6D32-7A61-6E76-8724-434462DC6722}"/>
              </a:ext>
            </a:extLst>
          </p:cNvPr>
          <p:cNvSpPr/>
          <p:nvPr/>
        </p:nvSpPr>
        <p:spPr>
          <a:xfrm>
            <a:off x="1115616" y="5707281"/>
            <a:ext cx="1080120" cy="584775"/>
          </a:xfrm>
          <a:prstGeom prst="roundRect">
            <a:avLst/>
          </a:prstGeom>
          <a:noFill/>
          <a:ln w="63500">
            <a:solidFill>
              <a:srgbClr val="00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ED0DD32C-84D4-0617-8290-0808B35F7C4C}"/>
              </a:ext>
            </a:extLst>
          </p:cNvPr>
          <p:cNvSpPr txBox="1"/>
          <p:nvPr/>
        </p:nvSpPr>
        <p:spPr>
          <a:xfrm>
            <a:off x="1259632" y="5792436"/>
            <a:ext cx="728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 err="1">
                <a:solidFill>
                  <a:srgbClr val="006600"/>
                </a:solidFill>
              </a:rPr>
              <a:t>apply</a:t>
            </a:r>
            <a:endParaRPr lang="pl-PL" sz="1600" b="1" dirty="0">
              <a:solidFill>
                <a:srgbClr val="006600"/>
              </a:solidFill>
            </a:endParaRP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857CD672-B9AB-0B44-9A06-D60713AE8687}"/>
              </a:ext>
            </a:extLst>
          </p:cNvPr>
          <p:cNvSpPr/>
          <p:nvPr/>
        </p:nvSpPr>
        <p:spPr>
          <a:xfrm>
            <a:off x="3145416" y="5718267"/>
            <a:ext cx="1080120" cy="584775"/>
          </a:xfrm>
          <a:prstGeom prst="roundRect">
            <a:avLst/>
          </a:prstGeom>
          <a:noFill/>
          <a:ln w="63500">
            <a:solidFill>
              <a:srgbClr val="00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FD2C2496-B967-584C-A030-88C0431F6666}"/>
              </a:ext>
            </a:extLst>
          </p:cNvPr>
          <p:cNvSpPr txBox="1"/>
          <p:nvPr/>
        </p:nvSpPr>
        <p:spPr>
          <a:xfrm>
            <a:off x="3309822" y="5815025"/>
            <a:ext cx="728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 err="1">
                <a:solidFill>
                  <a:srgbClr val="006600"/>
                </a:solidFill>
              </a:rPr>
              <a:t>also</a:t>
            </a:r>
            <a:endParaRPr lang="pl-PL" sz="1600" b="1" dirty="0">
              <a:solidFill>
                <a:srgbClr val="006600"/>
              </a:solidFill>
            </a:endParaRPr>
          </a:p>
        </p:txBody>
      </p: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9761B0E9-5D5C-27CE-8339-1E5CFE802EA4}"/>
              </a:ext>
            </a:extLst>
          </p:cNvPr>
          <p:cNvSpPr/>
          <p:nvPr/>
        </p:nvSpPr>
        <p:spPr>
          <a:xfrm>
            <a:off x="6732240" y="3400179"/>
            <a:ext cx="172819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1C996F05-58A6-56C3-942E-DEA8AFF5F8D1}"/>
              </a:ext>
            </a:extLst>
          </p:cNvPr>
          <p:cNvSpPr txBox="1"/>
          <p:nvPr/>
        </p:nvSpPr>
        <p:spPr>
          <a:xfrm>
            <a:off x="7013486" y="3362252"/>
            <a:ext cx="1165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co chcę z </a:t>
            </a:r>
          </a:p>
          <a:p>
            <a:pPr algn="ctr"/>
            <a:r>
              <a:rPr lang="pl-PL" sz="1600" b="1" dirty="0">
                <a:solidFill>
                  <a:srgbClr val="7030A0"/>
                </a:solidFill>
              </a:rPr>
              <a:t>obiektu?</a:t>
            </a:r>
          </a:p>
        </p:txBody>
      </p:sp>
      <p:sp>
        <p:nvSpPr>
          <p:cNvPr id="26" name="Dowolny kształt: kształt 25">
            <a:extLst>
              <a:ext uri="{FF2B5EF4-FFF2-40B4-BE49-F238E27FC236}">
                <a16:creationId xmlns:a16="http://schemas.microsoft.com/office/drawing/2014/main" id="{1B8105C2-4D67-980C-EA1B-029D9B69C81C}"/>
              </a:ext>
            </a:extLst>
          </p:cNvPr>
          <p:cNvSpPr/>
          <p:nvPr/>
        </p:nvSpPr>
        <p:spPr>
          <a:xfrm>
            <a:off x="6284926" y="3437522"/>
            <a:ext cx="430536" cy="982744"/>
          </a:xfrm>
          <a:custGeom>
            <a:avLst/>
            <a:gdLst>
              <a:gd name="connsiteX0" fmla="*/ 2182969 w 2182969"/>
              <a:gd name="connsiteY0" fmla="*/ 136245 h 1069963"/>
              <a:gd name="connsiteX1" fmla="*/ 611747 w 2182969"/>
              <a:gd name="connsiteY1" fmla="*/ 78290 h 1069963"/>
              <a:gd name="connsiteX2" fmla="*/ 0 w 2182969"/>
              <a:gd name="connsiteY2" fmla="*/ 1069963 h 106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2969" h="1069963">
                <a:moveTo>
                  <a:pt x="2182969" y="136245"/>
                </a:moveTo>
                <a:cubicBezTo>
                  <a:pt x="1579272" y="29457"/>
                  <a:pt x="975575" y="-77330"/>
                  <a:pt x="611747" y="78290"/>
                </a:cubicBezTo>
                <a:cubicBezTo>
                  <a:pt x="247919" y="233910"/>
                  <a:pt x="123959" y="651936"/>
                  <a:pt x="0" y="1069963"/>
                </a:cubicBezTo>
              </a:path>
            </a:pathLst>
          </a:custGeom>
          <a:noFill/>
          <a:ln w="381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Dowolny kształt: kształt 26">
            <a:extLst>
              <a:ext uri="{FF2B5EF4-FFF2-40B4-BE49-F238E27FC236}">
                <a16:creationId xmlns:a16="http://schemas.microsoft.com/office/drawing/2014/main" id="{3CAF3CE3-4B64-4FCE-546D-4C8FF39982B2}"/>
              </a:ext>
            </a:extLst>
          </p:cNvPr>
          <p:cNvSpPr/>
          <p:nvPr/>
        </p:nvSpPr>
        <p:spPr>
          <a:xfrm flipH="1">
            <a:off x="8489703" y="3460819"/>
            <a:ext cx="502313" cy="2257448"/>
          </a:xfrm>
          <a:custGeom>
            <a:avLst/>
            <a:gdLst>
              <a:gd name="connsiteX0" fmla="*/ 2182969 w 2182969"/>
              <a:gd name="connsiteY0" fmla="*/ 136245 h 1069963"/>
              <a:gd name="connsiteX1" fmla="*/ 611747 w 2182969"/>
              <a:gd name="connsiteY1" fmla="*/ 78290 h 1069963"/>
              <a:gd name="connsiteX2" fmla="*/ 0 w 2182969"/>
              <a:gd name="connsiteY2" fmla="*/ 1069963 h 106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2969" h="1069963">
                <a:moveTo>
                  <a:pt x="2182969" y="136245"/>
                </a:moveTo>
                <a:cubicBezTo>
                  <a:pt x="1579272" y="29457"/>
                  <a:pt x="975575" y="-77330"/>
                  <a:pt x="611747" y="78290"/>
                </a:cubicBezTo>
                <a:cubicBezTo>
                  <a:pt x="247919" y="233910"/>
                  <a:pt x="123959" y="651936"/>
                  <a:pt x="0" y="1069963"/>
                </a:cubicBezTo>
              </a:path>
            </a:pathLst>
          </a:custGeom>
          <a:noFill/>
          <a:ln w="381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62A9E4D4-984A-9622-2D6B-E0CF47AAE6FF}"/>
              </a:ext>
            </a:extLst>
          </p:cNvPr>
          <p:cNvSpPr/>
          <p:nvPr/>
        </p:nvSpPr>
        <p:spPr>
          <a:xfrm>
            <a:off x="8028384" y="5763128"/>
            <a:ext cx="1080120" cy="584775"/>
          </a:xfrm>
          <a:prstGeom prst="roundRect">
            <a:avLst/>
          </a:prstGeom>
          <a:noFill/>
          <a:ln w="63500">
            <a:solidFill>
              <a:srgbClr val="00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B3C10081-2718-BA10-4AEE-5D77E74268BF}"/>
              </a:ext>
            </a:extLst>
          </p:cNvPr>
          <p:cNvSpPr txBox="1"/>
          <p:nvPr/>
        </p:nvSpPr>
        <p:spPr>
          <a:xfrm>
            <a:off x="8192790" y="5859886"/>
            <a:ext cx="728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 err="1">
                <a:solidFill>
                  <a:srgbClr val="006600"/>
                </a:solidFill>
              </a:rPr>
              <a:t>let</a:t>
            </a:r>
            <a:endParaRPr lang="pl-PL" sz="1600" b="1" dirty="0">
              <a:solidFill>
                <a:srgbClr val="006600"/>
              </a:solidFill>
            </a:endParaRP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ABDC04CB-A689-C1D0-4FB4-6AA27AAF70A6}"/>
              </a:ext>
            </a:extLst>
          </p:cNvPr>
          <p:cNvSpPr txBox="1"/>
          <p:nvPr/>
        </p:nvSpPr>
        <p:spPr>
          <a:xfrm>
            <a:off x="7734941" y="4422955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sam obiekt</a:t>
            </a:r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5855E4D3-EFEE-7F48-A237-5040602A7C45}"/>
              </a:ext>
            </a:extLst>
          </p:cNvPr>
          <p:cNvSpPr txBox="1"/>
          <p:nvPr/>
        </p:nvSpPr>
        <p:spPr>
          <a:xfrm>
            <a:off x="5005734" y="3394606"/>
            <a:ext cx="13724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dostęp do </a:t>
            </a:r>
          </a:p>
          <a:p>
            <a:pPr algn="ctr"/>
            <a:r>
              <a:rPr lang="pl-PL" sz="1600" b="1" dirty="0" err="1">
                <a:solidFill>
                  <a:srgbClr val="7030A0"/>
                </a:solidFill>
              </a:rPr>
              <a:t>funcji</a:t>
            </a:r>
            <a:r>
              <a:rPr lang="pl-PL" sz="1600" b="1" dirty="0">
                <a:solidFill>
                  <a:srgbClr val="7030A0"/>
                </a:solidFill>
              </a:rPr>
              <a:t> lub </a:t>
            </a:r>
          </a:p>
          <a:p>
            <a:pPr algn="ctr"/>
            <a:r>
              <a:rPr lang="pl-PL" sz="1600" b="1" dirty="0">
                <a:solidFill>
                  <a:srgbClr val="7030A0"/>
                </a:solidFill>
              </a:rPr>
              <a:t>właściwości</a:t>
            </a: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C89002B0-B716-532D-8B8A-E9145DE3FAE8}"/>
              </a:ext>
            </a:extLst>
          </p:cNvPr>
          <p:cNvSpPr/>
          <p:nvPr/>
        </p:nvSpPr>
        <p:spPr>
          <a:xfrm>
            <a:off x="5360285" y="4485527"/>
            <a:ext cx="172819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5CD55000-F292-708F-22A4-E5D1B0C8CB05}"/>
              </a:ext>
            </a:extLst>
          </p:cNvPr>
          <p:cNvSpPr txBox="1"/>
          <p:nvPr/>
        </p:nvSpPr>
        <p:spPr>
          <a:xfrm>
            <a:off x="5555779" y="4447600"/>
            <a:ext cx="1337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chcę wynik </a:t>
            </a:r>
          </a:p>
          <a:p>
            <a:pPr algn="ctr"/>
            <a:r>
              <a:rPr lang="pl-PL" sz="1600" b="1" dirty="0">
                <a:solidFill>
                  <a:srgbClr val="7030A0"/>
                </a:solidFill>
              </a:rPr>
              <a:t>lambdy?</a:t>
            </a:r>
          </a:p>
        </p:txBody>
      </p:sp>
      <p:sp>
        <p:nvSpPr>
          <p:cNvPr id="34" name="Dowolny kształt: kształt 33">
            <a:extLst>
              <a:ext uri="{FF2B5EF4-FFF2-40B4-BE49-F238E27FC236}">
                <a16:creationId xmlns:a16="http://schemas.microsoft.com/office/drawing/2014/main" id="{70EB86FA-D669-65CD-70B4-E89CA9DF20B1}"/>
              </a:ext>
            </a:extLst>
          </p:cNvPr>
          <p:cNvSpPr/>
          <p:nvPr/>
        </p:nvSpPr>
        <p:spPr>
          <a:xfrm>
            <a:off x="5049183" y="4632721"/>
            <a:ext cx="311101" cy="982744"/>
          </a:xfrm>
          <a:custGeom>
            <a:avLst/>
            <a:gdLst>
              <a:gd name="connsiteX0" fmla="*/ 2182969 w 2182969"/>
              <a:gd name="connsiteY0" fmla="*/ 136245 h 1069963"/>
              <a:gd name="connsiteX1" fmla="*/ 611747 w 2182969"/>
              <a:gd name="connsiteY1" fmla="*/ 78290 h 1069963"/>
              <a:gd name="connsiteX2" fmla="*/ 0 w 2182969"/>
              <a:gd name="connsiteY2" fmla="*/ 1069963 h 106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2969" h="1069963">
                <a:moveTo>
                  <a:pt x="2182969" y="136245"/>
                </a:moveTo>
                <a:cubicBezTo>
                  <a:pt x="1579272" y="29457"/>
                  <a:pt x="975575" y="-77330"/>
                  <a:pt x="611747" y="78290"/>
                </a:cubicBezTo>
                <a:cubicBezTo>
                  <a:pt x="247919" y="233910"/>
                  <a:pt x="123959" y="651936"/>
                  <a:pt x="0" y="1069963"/>
                </a:cubicBezTo>
              </a:path>
            </a:pathLst>
          </a:custGeom>
          <a:noFill/>
          <a:ln w="381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5" name="Dowolny kształt: kształt 34">
            <a:extLst>
              <a:ext uri="{FF2B5EF4-FFF2-40B4-BE49-F238E27FC236}">
                <a16:creationId xmlns:a16="http://schemas.microsoft.com/office/drawing/2014/main" id="{EAED754F-EF17-6F71-F3E8-685BBC8E83C5}"/>
              </a:ext>
            </a:extLst>
          </p:cNvPr>
          <p:cNvSpPr/>
          <p:nvPr/>
        </p:nvSpPr>
        <p:spPr>
          <a:xfrm flipH="1">
            <a:off x="7088476" y="4623023"/>
            <a:ext cx="349337" cy="1092059"/>
          </a:xfrm>
          <a:custGeom>
            <a:avLst/>
            <a:gdLst>
              <a:gd name="connsiteX0" fmla="*/ 2182969 w 2182969"/>
              <a:gd name="connsiteY0" fmla="*/ 136245 h 1069963"/>
              <a:gd name="connsiteX1" fmla="*/ 611747 w 2182969"/>
              <a:gd name="connsiteY1" fmla="*/ 78290 h 1069963"/>
              <a:gd name="connsiteX2" fmla="*/ 0 w 2182969"/>
              <a:gd name="connsiteY2" fmla="*/ 1069963 h 106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2969" h="1069963">
                <a:moveTo>
                  <a:pt x="2182969" y="136245"/>
                </a:moveTo>
                <a:cubicBezTo>
                  <a:pt x="1579272" y="29457"/>
                  <a:pt x="975575" y="-77330"/>
                  <a:pt x="611747" y="78290"/>
                </a:cubicBezTo>
                <a:cubicBezTo>
                  <a:pt x="247919" y="233910"/>
                  <a:pt x="123959" y="651936"/>
                  <a:pt x="0" y="1069963"/>
                </a:cubicBezTo>
              </a:path>
            </a:pathLst>
          </a:custGeom>
          <a:noFill/>
          <a:ln w="38100"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6" name="Prostokąt: zaokrąglone rogi 35">
            <a:extLst>
              <a:ext uri="{FF2B5EF4-FFF2-40B4-BE49-F238E27FC236}">
                <a16:creationId xmlns:a16="http://schemas.microsoft.com/office/drawing/2014/main" id="{E8E4B351-C129-7065-9F0F-EA0E97274DF3}"/>
              </a:ext>
            </a:extLst>
          </p:cNvPr>
          <p:cNvSpPr/>
          <p:nvPr/>
        </p:nvSpPr>
        <p:spPr>
          <a:xfrm>
            <a:off x="4572000" y="5705182"/>
            <a:ext cx="1080120" cy="584775"/>
          </a:xfrm>
          <a:prstGeom prst="roundRect">
            <a:avLst/>
          </a:prstGeom>
          <a:noFill/>
          <a:ln w="63500">
            <a:solidFill>
              <a:srgbClr val="00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44F3A63F-DB92-3CB4-A919-D938832D10BA}"/>
              </a:ext>
            </a:extLst>
          </p:cNvPr>
          <p:cNvSpPr txBox="1"/>
          <p:nvPr/>
        </p:nvSpPr>
        <p:spPr>
          <a:xfrm>
            <a:off x="4736406" y="5801940"/>
            <a:ext cx="728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rgbClr val="006600"/>
                </a:solidFill>
              </a:rPr>
              <a:t>run</a:t>
            </a:r>
          </a:p>
        </p:txBody>
      </p:sp>
      <p:sp>
        <p:nvSpPr>
          <p:cNvPr id="38" name="pole tekstowe 37">
            <a:extLst>
              <a:ext uri="{FF2B5EF4-FFF2-40B4-BE49-F238E27FC236}">
                <a16:creationId xmlns:a16="http://schemas.microsoft.com/office/drawing/2014/main" id="{2C15EB01-E643-FCD9-127D-687B0F8756B8}"/>
              </a:ext>
            </a:extLst>
          </p:cNvPr>
          <p:cNvSpPr txBox="1"/>
          <p:nvPr/>
        </p:nvSpPr>
        <p:spPr>
          <a:xfrm>
            <a:off x="4605225" y="4670237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tak</a:t>
            </a:r>
          </a:p>
        </p:txBody>
      </p:sp>
      <p:sp>
        <p:nvSpPr>
          <p:cNvPr id="39" name="pole tekstowe 38">
            <a:extLst>
              <a:ext uri="{FF2B5EF4-FFF2-40B4-BE49-F238E27FC236}">
                <a16:creationId xmlns:a16="http://schemas.microsoft.com/office/drawing/2014/main" id="{3449D3C8-07C5-49DE-DD6C-1168F4A745C3}"/>
              </a:ext>
            </a:extLst>
          </p:cNvPr>
          <p:cNvSpPr txBox="1"/>
          <p:nvPr/>
        </p:nvSpPr>
        <p:spPr>
          <a:xfrm>
            <a:off x="7408155" y="4971757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rgbClr val="7030A0"/>
                </a:solidFill>
              </a:rPr>
              <a:t>nie</a:t>
            </a:r>
          </a:p>
        </p:txBody>
      </p: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5147144D-1EFC-C224-A54F-A86E2054908C}"/>
              </a:ext>
            </a:extLst>
          </p:cNvPr>
          <p:cNvSpPr/>
          <p:nvPr/>
        </p:nvSpPr>
        <p:spPr>
          <a:xfrm>
            <a:off x="6840774" y="5753009"/>
            <a:ext cx="1080120" cy="584775"/>
          </a:xfrm>
          <a:prstGeom prst="roundRect">
            <a:avLst/>
          </a:prstGeom>
          <a:noFill/>
          <a:ln w="63500">
            <a:solidFill>
              <a:srgbClr val="00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1" name="pole tekstowe 40">
            <a:extLst>
              <a:ext uri="{FF2B5EF4-FFF2-40B4-BE49-F238E27FC236}">
                <a16:creationId xmlns:a16="http://schemas.microsoft.com/office/drawing/2014/main" id="{20E65F50-3ED5-B66C-BD6C-BE9BDA3E1B55}"/>
              </a:ext>
            </a:extLst>
          </p:cNvPr>
          <p:cNvSpPr txBox="1"/>
          <p:nvPr/>
        </p:nvSpPr>
        <p:spPr>
          <a:xfrm>
            <a:off x="7005180" y="5849767"/>
            <a:ext cx="728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rgbClr val="006600"/>
                </a:solidFill>
              </a:rPr>
              <a:t>with</a:t>
            </a:r>
          </a:p>
        </p:txBody>
      </p:sp>
      <p:sp>
        <p:nvSpPr>
          <p:cNvPr id="43" name="pole tekstowe 42">
            <a:extLst>
              <a:ext uri="{FF2B5EF4-FFF2-40B4-BE49-F238E27FC236}">
                <a16:creationId xmlns:a16="http://schemas.microsoft.com/office/drawing/2014/main" id="{A8F87B0A-9042-C085-2639-312D756B8F62}"/>
              </a:ext>
            </a:extLst>
          </p:cNvPr>
          <p:cNvSpPr txBox="1"/>
          <p:nvPr/>
        </p:nvSpPr>
        <p:spPr>
          <a:xfrm>
            <a:off x="1060802" y="6565550"/>
            <a:ext cx="4591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https://typealias.com/start/kotlin-scopes-and-scope-functions/</a:t>
            </a:r>
          </a:p>
        </p:txBody>
      </p:sp>
    </p:spTree>
    <p:extLst>
      <p:ext uri="{BB962C8B-B14F-4D97-AF65-F5344CB8AC3E}">
        <p14:creationId xmlns:p14="http://schemas.microsoft.com/office/powerpoint/2010/main" val="13597078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88B22-E1B7-F56D-C656-507D0BFC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2279A0-ACEE-CDBC-F67E-3AE2A04424D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operatorskie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8717760-244C-2FA4-3BAD-B76006BE7C47}"/>
              </a:ext>
            </a:extLst>
          </p:cNvPr>
          <p:cNvSpPr txBox="1"/>
          <p:nvPr/>
        </p:nvSpPr>
        <p:spPr>
          <a:xfrm>
            <a:off x="1403648" y="836712"/>
            <a:ext cx="7740352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Przeciążanie operatorów </a:t>
            </a:r>
            <a:r>
              <a:rPr lang="pl-PL" sz="1600" dirty="0"/>
              <a:t>polega na zaimplementowaniu funkcji o określonej nazwie, oznaczonej modyfikatorem </a:t>
            </a:r>
            <a:r>
              <a:rPr lang="pl-PL" sz="1600" b="1" dirty="0"/>
              <a:t>operator</a:t>
            </a:r>
            <a:r>
              <a:rPr lang="pl-PL" sz="1600" dirty="0"/>
              <a:t>. Funkcja może być metodą klasy lub funkcją rozszerzającą.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CF7AD88-0F33-36C6-F47B-8AEF57CB8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1991387"/>
            <a:ext cx="4968552" cy="270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6431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FCCE1-AEB9-12A5-8A61-D0CF6457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15E981-38CE-FF28-5060-FEAC7DC2D4D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Funkcje operatorskie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D570C16-E1F5-EB52-C3E9-03C0982B3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36712"/>
            <a:ext cx="2808312" cy="2615962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2E47C978-A194-0180-6E4F-A5FA036D5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029" y="4005064"/>
            <a:ext cx="2477470" cy="261596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6C9CAF89-814A-5E1E-FD5B-27B262987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994" y="1196752"/>
            <a:ext cx="3608629" cy="565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68595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87906</TotalTime>
  <Pages>0</Pages>
  <Words>1694</Words>
  <Characters>0</Characters>
  <Application>Microsoft Office PowerPoint</Application>
  <PresentationFormat>Pokaz na ekranie (4:3)</PresentationFormat>
  <Lines>0</Lines>
  <Paragraphs>382</Paragraphs>
  <Slides>70</Slides>
  <Notes>70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70</vt:i4>
      </vt:variant>
    </vt:vector>
  </HeadingPairs>
  <TitlesOfParts>
    <vt:vector size="75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1170</cp:revision>
  <dcterms:modified xsi:type="dcterms:W3CDTF">2025-01-13T10:23:29Z</dcterms:modified>
  <cp:category/>
</cp:coreProperties>
</file>